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2"/>
  </p:notesMasterIdLst>
  <p:sldIdLst>
    <p:sldId id="256" r:id="rId2"/>
    <p:sldId id="344" r:id="rId3"/>
    <p:sldId id="345" r:id="rId4"/>
    <p:sldId id="346" r:id="rId5"/>
    <p:sldId id="347" r:id="rId6"/>
    <p:sldId id="348" r:id="rId7"/>
    <p:sldId id="337" r:id="rId8"/>
    <p:sldId id="349" r:id="rId9"/>
    <p:sldId id="338" r:id="rId10"/>
    <p:sldId id="339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E1126"/>
    <a:srgbClr val="006847"/>
    <a:srgbClr val="BB133E"/>
    <a:srgbClr val="002147"/>
    <a:srgbClr val="6F2633"/>
    <a:srgbClr val="0C2340"/>
    <a:srgbClr val="5A2D81"/>
    <a:srgbClr val="DC3B34"/>
    <a:srgbClr val="0028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873CA-4BC7-44B4-AA38-CD7D3250712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62B42A-BA3E-4A50-9F7A-183F50651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034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A03C2-EC49-4825-ADE6-B63AA87BD6BB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00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6CA18-63CE-4CEF-983C-56851B3E6C9F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08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22DE-91A1-4A1B-9029-241589A3BA37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72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EA9F8-47DE-4C17-8368-5AA06ACB131C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45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42038-C8AB-4E09-9A39-60D0D33CF2E1}" type="datetime1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58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A4309-56A7-4421-AA17-D845FCD5F898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21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60B9C-7BE7-4F40-B8FF-D1058DAB2822}" type="datetime1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81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F09B4-22B7-4668-8823-2D98EE6D507D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68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95696-845B-4B6C-962D-4CA71BC0B7D7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3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343FC-3C36-469E-9EEF-40E7873B12A2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671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7444-9DE3-4856-9C4A-8182BF09F9A7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789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34428-EA26-4ED9-8F94-5573FD06C09A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576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95682" y="2362200"/>
            <a:ext cx="6152646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rgbClr val="002857"/>
                </a:solidFill>
              </a:rPr>
              <a:t>MANAGEMENT 312:</a:t>
            </a:r>
          </a:p>
          <a:p>
            <a:pPr algn="ctr"/>
            <a:r>
              <a:rPr lang="en-US" sz="2800" b="1" dirty="0">
                <a:solidFill>
                  <a:srgbClr val="002857"/>
                </a:solidFill>
              </a:rPr>
              <a:t> Negotiation and Conflict Management</a:t>
            </a:r>
            <a:br>
              <a:rPr lang="en-US" sz="2800" b="1" dirty="0">
                <a:solidFill>
                  <a:srgbClr val="002857"/>
                </a:solidFill>
                <a:latin typeface="Times New Roman"/>
                <a:ea typeface="+mj-ea"/>
                <a:cs typeface="+mj-cs"/>
              </a:rPr>
            </a:br>
            <a:br>
              <a:rPr lang="en-US" sz="2800" dirty="0">
                <a:solidFill>
                  <a:srgbClr val="002857"/>
                </a:solidFill>
                <a:latin typeface="Times New Roman"/>
                <a:ea typeface="+mj-ea"/>
                <a:cs typeface="+mj-cs"/>
              </a:rPr>
            </a:br>
            <a:r>
              <a:rPr lang="en-US" sz="2800" dirty="0"/>
              <a:t>Teams and Principal-Agent Relationships</a:t>
            </a:r>
            <a:endParaRPr lang="en-US" sz="3200" dirty="0">
              <a:solidFill>
                <a:srgbClr val="00285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826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75293" y="457200"/>
            <a:ext cx="31934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Working in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188720"/>
            <a:ext cx="86868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Wingdings"/>
              <a:buChar char=""/>
            </a:pPr>
            <a:r>
              <a:rPr lang="en-US" sz="2200" dirty="0">
                <a:ea typeface="Calibri"/>
              </a:rPr>
              <a:t>Negotiating as a team can have many positive effects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Added confidence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Increased information exchange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Improved outcomes</a:t>
            </a:r>
          </a:p>
          <a:p>
            <a:pPr marL="342900" indent="-342900">
              <a:buFont typeface="Wingdings"/>
              <a:buChar char=""/>
            </a:pPr>
            <a:endParaRPr lang="en-US" sz="2200" dirty="0">
              <a:ea typeface="Calibri"/>
            </a:endParaRPr>
          </a:p>
        </p:txBody>
      </p:sp>
      <p:pic>
        <p:nvPicPr>
          <p:cNvPr id="5" name="Picture 2" descr="Image result for tea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987" y="3120569"/>
            <a:ext cx="6550025" cy="2663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70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75293" y="457200"/>
            <a:ext cx="31934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Working in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188720"/>
            <a:ext cx="86868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Success is dependent on several factors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Size of the team</a:t>
            </a:r>
          </a:p>
          <a:p>
            <a:pPr marL="1257300" lvl="2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Bigger is not always better</a:t>
            </a:r>
          </a:p>
          <a:p>
            <a:pPr marL="1714500" lvl="3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Context matters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Communication</a:t>
            </a:r>
          </a:p>
          <a:p>
            <a:pPr marL="1257300" lvl="2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Trust</a:t>
            </a:r>
          </a:p>
          <a:p>
            <a:pPr marL="1257300" lvl="2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Information processing and sharing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Cohesion</a:t>
            </a:r>
          </a:p>
          <a:p>
            <a:pPr marL="1257300" lvl="2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Desire to be in group</a:t>
            </a:r>
          </a:p>
          <a:p>
            <a:pPr marL="1257300" lvl="2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Coordination of efforts</a:t>
            </a:r>
          </a:p>
          <a:p>
            <a:pPr marL="342900" indent="-342900">
              <a:buFont typeface="Wingdings"/>
              <a:buChar char=""/>
            </a:pPr>
            <a:endParaRPr lang="en-US" sz="2200" dirty="0">
              <a:ea typeface="Calibri"/>
            </a:endParaRPr>
          </a:p>
        </p:txBody>
      </p:sp>
      <p:pic>
        <p:nvPicPr>
          <p:cNvPr id="1026" name="Picture 2" descr="Good Teamwork May Mean Having to Hold Hands » Community | GovLoop">
            <a:extLst>
              <a:ext uri="{FF2B5EF4-FFF2-40B4-BE49-F238E27FC236}">
                <a16:creationId xmlns:a16="http://schemas.microsoft.com/office/drawing/2014/main" id="{8F79238F-60E9-40D7-B38C-B92D76647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417" y="3968162"/>
            <a:ext cx="4343400" cy="207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848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75293" y="457200"/>
            <a:ext cx="31934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Working in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188720"/>
            <a:ext cx="868680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Wingdings"/>
              <a:buChar char=""/>
            </a:pPr>
            <a:r>
              <a:rPr lang="en-US" sz="2000" dirty="0">
                <a:ea typeface="Calibri"/>
              </a:rPr>
              <a:t>In order to succeed, groups must become teams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A group of individuals placed together does not equal a team</a:t>
            </a:r>
          </a:p>
          <a:p>
            <a:pPr marL="800100" lvl="1" indent="-342900">
              <a:buFont typeface="Wingdings"/>
              <a:buChar char=""/>
            </a:pPr>
            <a:endParaRPr lang="en-US" sz="2000" dirty="0">
              <a:ea typeface="Calibri"/>
            </a:endParaRPr>
          </a:p>
          <a:p>
            <a:pPr marL="342900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Teams have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Shared goals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Shared strategies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000" u="sng" dirty="0">
                <a:ea typeface="Calibri"/>
              </a:rPr>
              <a:t>Trust in team members to perform duties (accountability)</a:t>
            </a:r>
          </a:p>
          <a:p>
            <a:pPr marL="1257300" lvl="2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Do your job</a:t>
            </a:r>
          </a:p>
          <a:p>
            <a:pPr marL="800100" lvl="1" indent="-342900">
              <a:buFont typeface="Wingdings"/>
              <a:buChar char=""/>
            </a:pPr>
            <a:endParaRPr lang="en-US" sz="2000" dirty="0">
              <a:ea typeface="Calibri"/>
            </a:endParaRPr>
          </a:p>
          <a:p>
            <a:pPr marL="342900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The key to team success is preparation in two steps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ea typeface="Calibri"/>
              </a:rPr>
              <a:t>Individual preparation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000" dirty="0">
                <a:ea typeface="Calibri"/>
              </a:rPr>
              <a:t>Essential to success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ea typeface="Calibri"/>
              </a:rPr>
              <a:t>Team preparation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000" dirty="0">
                <a:ea typeface="Calibri"/>
              </a:rPr>
              <a:t>Prepare together!</a:t>
            </a:r>
          </a:p>
          <a:p>
            <a:pPr marL="342900" indent="-342900">
              <a:buFont typeface="Wingdings"/>
              <a:buChar char=""/>
            </a:pPr>
            <a:endParaRPr lang="en-US" sz="2200" dirty="0">
              <a:ea typeface="Calibri"/>
            </a:endParaRPr>
          </a:p>
        </p:txBody>
      </p:sp>
      <p:pic>
        <p:nvPicPr>
          <p:cNvPr id="1026" name="Picture 2" descr="Image result for tag team wrestl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463135"/>
            <a:ext cx="3584510" cy="2017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180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75293" y="457200"/>
            <a:ext cx="31934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Working in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188720"/>
            <a:ext cx="868680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Wingdings"/>
              <a:buChar char=""/>
            </a:pPr>
            <a:r>
              <a:rPr lang="en-US" sz="2000" dirty="0">
                <a:ea typeface="Calibri"/>
              </a:rPr>
              <a:t>Team procedures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Determine, as a team, the team goals, issues, target, BATNA, etc.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What information can be shared? What can’t be shared?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What information does the team need to obtain?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What strategies do you want to employ?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Plan each team member’s role for the negotiation</a:t>
            </a:r>
          </a:p>
          <a:p>
            <a:pPr marL="1257300" lvl="2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Who is going to be the lead negotiator(s)?</a:t>
            </a:r>
          </a:p>
          <a:p>
            <a:pPr marL="1257300" lvl="2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Who is going to be the lead strategist(s)?</a:t>
            </a:r>
          </a:p>
          <a:p>
            <a:pPr marL="1257300" lvl="2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Who is going to be the accountant(s)?</a:t>
            </a:r>
          </a:p>
          <a:p>
            <a:pPr marL="1257300" lvl="2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Who is going to be the note taker(s)?</a:t>
            </a:r>
          </a:p>
          <a:p>
            <a:pPr marL="1257300" lvl="2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An individual may have more than one role in small teams</a:t>
            </a:r>
          </a:p>
          <a:p>
            <a:pPr lvl="1"/>
            <a:endParaRPr lang="en-US" sz="2000" dirty="0">
              <a:ea typeface="Calibri"/>
            </a:endParaRPr>
          </a:p>
          <a:p>
            <a:pPr marL="342900" indent="-342900">
              <a:buFont typeface="Wingdings"/>
              <a:buChar char=""/>
            </a:pPr>
            <a:endParaRPr lang="en-US" sz="2200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8369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75293" y="457200"/>
            <a:ext cx="31934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Working in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188720"/>
            <a:ext cx="86868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Plan scheduled breaks from the negotiation table</a:t>
            </a:r>
          </a:p>
          <a:p>
            <a:pPr marL="1257300" lvl="2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Regroup</a:t>
            </a:r>
          </a:p>
          <a:p>
            <a:pPr marL="1257300" lvl="2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Share information</a:t>
            </a:r>
          </a:p>
          <a:p>
            <a:pPr marL="1714500" lvl="3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Some people may have information or signals</a:t>
            </a:r>
          </a:p>
          <a:p>
            <a:pPr marL="1257300" lvl="2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Evaluate and reset (if necessary) strategy</a:t>
            </a:r>
          </a:p>
          <a:p>
            <a:pPr marL="1257300" lvl="2" indent="-342900">
              <a:buFont typeface="Wingdings"/>
              <a:buChar char=""/>
            </a:pPr>
            <a:endParaRPr lang="en-US" sz="2000" dirty="0">
              <a:ea typeface="Calibri"/>
            </a:endParaRPr>
          </a:p>
          <a:p>
            <a:pPr marL="342900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Do not allow your team to amplify fixed-pie or false conflict perceptions</a:t>
            </a:r>
          </a:p>
          <a:p>
            <a:pPr marL="342900" indent="-342900">
              <a:buFont typeface="Wingdings"/>
              <a:buChar char=""/>
            </a:pPr>
            <a:endParaRPr lang="en-US" sz="2000" dirty="0">
              <a:ea typeface="Calibri"/>
            </a:endParaRPr>
          </a:p>
          <a:p>
            <a:pPr marL="342900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A unified mindset and comprehensive strategy is key to success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000" dirty="0">
                <a:ea typeface="Calibri"/>
              </a:rPr>
              <a:t>However, encourage within-team questions </a:t>
            </a:r>
            <a:endParaRPr lang="en-US" sz="2200" dirty="0">
              <a:ea typeface="Calibri"/>
            </a:endParaRPr>
          </a:p>
        </p:txBody>
      </p:sp>
      <p:pic>
        <p:nvPicPr>
          <p:cNvPr id="3074" name="Picture 2" descr="Image result for teamwork high fiv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19800" y="4311708"/>
            <a:ext cx="2419350" cy="208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276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99829" y="457200"/>
            <a:ext cx="51443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Principal-Agent Relationships</a:t>
            </a:r>
          </a:p>
        </p:txBody>
      </p:sp>
      <p:pic>
        <p:nvPicPr>
          <p:cNvPr id="2050" name="Picture 2" descr="Image result for bitmo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7048"/>
            <a:ext cx="987425" cy="209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Image result for bitmoji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4" name="Picture 6" descr="Image result for bitmo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165" y="4961083"/>
            <a:ext cx="2122350" cy="171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mage result for bitmo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202" y="4352544"/>
            <a:ext cx="2324989" cy="2324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mage result for black business woman bitmoji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850717" y="1371600"/>
            <a:ext cx="721783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 flipV="1">
            <a:off x="2514600" y="2575773"/>
            <a:ext cx="4629587" cy="15027"/>
          </a:xfrm>
          <a:prstGeom prst="straightConnector1">
            <a:avLst/>
          </a:prstGeom>
          <a:ln w="762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447800" y="3886200"/>
            <a:ext cx="457200" cy="914400"/>
          </a:xfrm>
          <a:prstGeom prst="straightConnector1">
            <a:avLst/>
          </a:prstGeom>
          <a:ln w="762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239000" y="3770376"/>
            <a:ext cx="457200" cy="914400"/>
          </a:xfrm>
          <a:prstGeom prst="straightConnector1">
            <a:avLst/>
          </a:prstGeom>
          <a:ln w="762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612242" y="6160631"/>
            <a:ext cx="914400" cy="7938"/>
          </a:xfrm>
          <a:prstGeom prst="straightConnector1">
            <a:avLst/>
          </a:prstGeom>
          <a:ln w="762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4853993" y="6168569"/>
            <a:ext cx="1005840" cy="3631"/>
          </a:xfrm>
          <a:prstGeom prst="straightConnector1">
            <a:avLst/>
          </a:prstGeom>
          <a:ln w="762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429000" y="1527048"/>
            <a:ext cx="2430833" cy="2359152"/>
          </a:xfrm>
          <a:prstGeom prst="line">
            <a:avLst/>
          </a:prstGeom>
          <a:ln w="44450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3429000" y="1219200"/>
            <a:ext cx="2362200" cy="2667000"/>
          </a:xfrm>
          <a:prstGeom prst="line">
            <a:avLst/>
          </a:prstGeom>
          <a:ln w="44450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60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99829" y="457200"/>
            <a:ext cx="51443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Principal-Agent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188720"/>
            <a:ext cx="86868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Wingdings"/>
              <a:buChar char=""/>
            </a:pPr>
            <a:r>
              <a:rPr lang="en-US" sz="2200" dirty="0">
                <a:ea typeface="Calibri"/>
              </a:rPr>
              <a:t>When a party has an agent represent them in negotiation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Agents typically receive a portion of the principal’s outcome</a:t>
            </a:r>
          </a:p>
          <a:p>
            <a:pPr marL="800100" lvl="1" indent="-342900">
              <a:buFont typeface="Wingdings"/>
              <a:buChar char=""/>
            </a:pPr>
            <a:endParaRPr lang="en-US" sz="2200" dirty="0">
              <a:ea typeface="Calibri"/>
            </a:endParaRPr>
          </a:p>
          <a:p>
            <a:pPr marL="342900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Agents can provide many benefits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Expertise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Emotional detachment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Networks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Ratification opportunities (limited decision making power)</a:t>
            </a:r>
          </a:p>
          <a:p>
            <a:pPr marL="800100" lvl="1" indent="-342900">
              <a:buFont typeface="Wingdings"/>
              <a:buChar char=""/>
            </a:pPr>
            <a:endParaRPr lang="en-US" sz="2200" dirty="0">
              <a:ea typeface="Calibri"/>
            </a:endParaRPr>
          </a:p>
          <a:p>
            <a:pPr marL="342900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But also some negatives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Reduced bargaining zone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Risk of misaligned incentives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Communication errors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Loss of control</a:t>
            </a:r>
          </a:p>
          <a:p>
            <a:pPr marL="342900" indent="-342900">
              <a:buFont typeface="Wingdings"/>
              <a:buChar char=""/>
            </a:pPr>
            <a:endParaRPr lang="en-US" sz="2200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0443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99829" y="457200"/>
            <a:ext cx="51443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Principal-Agent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188720"/>
            <a:ext cx="86868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Wingdings"/>
              <a:buChar char=""/>
            </a:pPr>
            <a:r>
              <a:rPr lang="en-US" sz="2200" dirty="0">
                <a:ea typeface="Calibri"/>
              </a:rPr>
              <a:t>Keys to successfully working with an agent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Wingdings"/>
              <a:buChar char=""/>
            </a:pPr>
            <a:endParaRPr lang="en-US" sz="2200" dirty="0">
              <a:ea typeface="Calibri"/>
            </a:endParaRPr>
          </a:p>
          <a:p>
            <a:pPr marL="800100" lvl="1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Find the right agent (do your research)</a:t>
            </a:r>
          </a:p>
          <a:p>
            <a:pPr marL="800100" lvl="1" indent="-342900">
              <a:buFont typeface="Wingdings"/>
              <a:buChar char=""/>
            </a:pPr>
            <a:endParaRPr lang="en-US" sz="2200" dirty="0">
              <a:ea typeface="Calibri"/>
            </a:endParaRPr>
          </a:p>
          <a:p>
            <a:pPr marL="800100" lvl="1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Know as much information as possible </a:t>
            </a:r>
          </a:p>
          <a:p>
            <a:pPr marL="1257300" lvl="2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Try to know as much as your agent</a:t>
            </a:r>
          </a:p>
          <a:p>
            <a:pPr marL="1257300" lvl="2" indent="-342900">
              <a:buFont typeface="Wingdings"/>
              <a:buChar char=""/>
            </a:pPr>
            <a:endParaRPr lang="en-US" sz="2200" dirty="0">
              <a:ea typeface="Calibri"/>
            </a:endParaRPr>
          </a:p>
          <a:p>
            <a:pPr marL="800100" lvl="1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Know your BATNA before meeting your agent</a:t>
            </a:r>
          </a:p>
          <a:p>
            <a:pPr marL="800100" lvl="1" indent="-342900">
              <a:buFont typeface="Wingdings"/>
              <a:buChar char=""/>
            </a:pPr>
            <a:endParaRPr lang="en-US" sz="2200" dirty="0">
              <a:ea typeface="Calibri"/>
            </a:endParaRPr>
          </a:p>
          <a:p>
            <a:pPr marL="800100" lvl="1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Use your agent to your benefit (remember they work for you)</a:t>
            </a:r>
          </a:p>
          <a:p>
            <a:pPr marL="1257300" lvl="2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Ratification</a:t>
            </a:r>
          </a:p>
          <a:p>
            <a:pPr marL="1257300" lvl="2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Buffer</a:t>
            </a:r>
          </a:p>
          <a:p>
            <a:pPr marL="1257300" lvl="2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Agent’s expertise</a:t>
            </a:r>
          </a:p>
          <a:p>
            <a:pPr marL="1257300" lvl="2" indent="-342900">
              <a:buFont typeface="Wingdings"/>
              <a:buChar char=""/>
            </a:pPr>
            <a:endParaRPr lang="en-US" sz="2200" dirty="0">
              <a:ea typeface="Calibri"/>
            </a:endParaRPr>
          </a:p>
          <a:p>
            <a:pPr marL="800100" lvl="1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Communicate!</a:t>
            </a:r>
          </a:p>
        </p:txBody>
      </p:sp>
    </p:spTree>
    <p:extLst>
      <p:ext uri="{BB962C8B-B14F-4D97-AF65-F5344CB8AC3E}">
        <p14:creationId xmlns:p14="http://schemas.microsoft.com/office/powerpoint/2010/main" val="217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82181" y="449705"/>
            <a:ext cx="17796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188720"/>
            <a:ext cx="8686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Wingdings"/>
              <a:buChar char=""/>
            </a:pPr>
            <a:r>
              <a:rPr lang="en-US" sz="2200" dirty="0">
                <a:ea typeface="Calibri"/>
              </a:rPr>
              <a:t>With more people comes more complications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Teams and principal-agent relationships change the dynamic of negotiation</a:t>
            </a:r>
          </a:p>
          <a:p>
            <a:pPr marL="342900" indent="-342900">
              <a:buFont typeface="Wingdings"/>
              <a:buChar char=""/>
            </a:pPr>
            <a:endParaRPr lang="en-US" sz="2200" dirty="0">
              <a:ea typeface="Calibri"/>
            </a:endParaRPr>
          </a:p>
          <a:p>
            <a:pPr marL="342900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Key to success is planning and clear communication</a:t>
            </a:r>
          </a:p>
          <a:p>
            <a:pPr marL="800100" lvl="1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Clearly communicating with team members, planning for the negotiation, and continued cooperation will lead to success</a:t>
            </a:r>
          </a:p>
          <a:p>
            <a:pPr marL="800100" lvl="1" indent="-342900">
              <a:buFont typeface="Wingdings"/>
              <a:buChar char=""/>
            </a:pPr>
            <a:endParaRPr lang="en-US" sz="2200" dirty="0">
              <a:ea typeface="Calibri"/>
            </a:endParaRPr>
          </a:p>
          <a:p>
            <a:pPr marL="342900" indent="-342900">
              <a:buFont typeface="Wingdings"/>
              <a:buChar char=""/>
            </a:pPr>
            <a:r>
              <a:rPr lang="en-US" sz="2200" dirty="0">
                <a:ea typeface="Calibri"/>
              </a:rPr>
              <a:t>The importance of planning and strategy development is amplified</a:t>
            </a:r>
          </a:p>
        </p:txBody>
      </p:sp>
      <p:pic>
        <p:nvPicPr>
          <p:cNvPr id="3074" name="Picture 2" descr="Image result for multiparty negotiati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563264" y="3967017"/>
            <a:ext cx="2005114" cy="3035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1383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Xavier">
      <a:dk1>
        <a:srgbClr val="002857"/>
      </a:dk1>
      <a:lt1>
        <a:sysClr val="window" lastClr="FFFFFF"/>
      </a:lt1>
      <a:dk2>
        <a:srgbClr val="002857"/>
      </a:dk2>
      <a:lt2>
        <a:srgbClr val="A5ACAF"/>
      </a:lt2>
      <a:accent1>
        <a:srgbClr val="002857"/>
      </a:accent1>
      <a:accent2>
        <a:srgbClr val="A5ACAF"/>
      </a:accent2>
      <a:accent3>
        <a:srgbClr val="0099CC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Xavier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</Words>
  <Application>Microsoft Office PowerPoint</Application>
  <PresentationFormat>On-screen Show (4:3)</PresentationFormat>
  <Paragraphs>106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2023-10-12T14:40:19Z</dcterms:created>
  <dcterms:modified xsi:type="dcterms:W3CDTF">2026-02-23T20:57:34Z</dcterms:modified>
</cp:coreProperties>
</file>