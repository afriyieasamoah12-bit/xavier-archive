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 id="2147483662" r:id="rId2"/>
    <p:sldMasterId id="2147483674" r:id="rId3"/>
  </p:sldMasterIdLst>
  <p:notesMasterIdLst>
    <p:notesMasterId r:id="rId36"/>
  </p:notesMasterIdLst>
  <p:sldIdLst>
    <p:sldId id="337" r:id="rId4"/>
    <p:sldId id="268" r:id="rId5"/>
    <p:sldId id="269" r:id="rId6"/>
    <p:sldId id="339" r:id="rId7"/>
    <p:sldId id="294" r:id="rId8"/>
    <p:sldId id="314" r:id="rId9"/>
    <p:sldId id="295" r:id="rId10"/>
    <p:sldId id="271" r:id="rId11"/>
    <p:sldId id="272" r:id="rId12"/>
    <p:sldId id="317" r:id="rId13"/>
    <p:sldId id="273" r:id="rId14"/>
    <p:sldId id="274" r:id="rId15"/>
    <p:sldId id="275" r:id="rId16"/>
    <p:sldId id="276" r:id="rId17"/>
    <p:sldId id="277" r:id="rId18"/>
    <p:sldId id="280" r:id="rId19"/>
    <p:sldId id="304" r:id="rId20"/>
    <p:sldId id="283" r:id="rId21"/>
    <p:sldId id="284" r:id="rId22"/>
    <p:sldId id="286" r:id="rId23"/>
    <p:sldId id="320" r:id="rId24"/>
    <p:sldId id="338" r:id="rId25"/>
    <p:sldId id="298" r:id="rId26"/>
    <p:sldId id="309" r:id="rId27"/>
    <p:sldId id="287" r:id="rId28"/>
    <p:sldId id="288" r:id="rId29"/>
    <p:sldId id="307" r:id="rId30"/>
    <p:sldId id="305" r:id="rId31"/>
    <p:sldId id="306" r:id="rId32"/>
    <p:sldId id="300" r:id="rId33"/>
    <p:sldId id="292" r:id="rId34"/>
    <p:sldId id="293" r:id="rId3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324F"/>
    <a:srgbClr val="E24A63"/>
    <a:srgbClr val="AC0000"/>
    <a:srgbClr val="A4A6F2"/>
    <a:srgbClr val="AE1C34"/>
    <a:srgbClr val="F7F7F7"/>
    <a:srgbClr val="008080"/>
    <a:srgbClr val="009530"/>
    <a:srgbClr val="000000"/>
    <a:srgbClr val="FF5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78092" autoAdjust="0"/>
  </p:normalViewPr>
  <p:slideViewPr>
    <p:cSldViewPr>
      <p:cViewPr varScale="1">
        <p:scale>
          <a:sx n="60" d="100"/>
          <a:sy n="60" d="100"/>
        </p:scale>
        <p:origin x="1484"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lva, Jorge" userId="c1a77cdc-26a4-48a1-b565-b21e42cdab32" providerId="ADAL" clId="{2B7337F7-D56E-419E-855F-62E211C2EF9A}"/>
    <pc:docChg chg="custSel modSld delSection">
      <pc:chgData name="Selva, Jorge" userId="c1a77cdc-26a4-48a1-b565-b21e42cdab32" providerId="ADAL" clId="{2B7337F7-D56E-419E-855F-62E211C2EF9A}" dt="2025-10-08T03:14:17.487" v="58" actId="17851"/>
      <pc:docMkLst>
        <pc:docMk/>
      </pc:docMkLst>
      <pc:sldChg chg="modSp mod">
        <pc:chgData name="Selva, Jorge" userId="c1a77cdc-26a4-48a1-b565-b21e42cdab32" providerId="ADAL" clId="{2B7337F7-D56E-419E-855F-62E211C2EF9A}" dt="2025-10-08T03:04:53.109" v="18" actId="20577"/>
        <pc:sldMkLst>
          <pc:docMk/>
          <pc:sldMk cId="2484708220" sldId="273"/>
        </pc:sldMkLst>
        <pc:spChg chg="mod">
          <ac:chgData name="Selva, Jorge" userId="c1a77cdc-26a4-48a1-b565-b21e42cdab32" providerId="ADAL" clId="{2B7337F7-D56E-419E-855F-62E211C2EF9A}" dt="2025-10-08T03:02:53.743" v="2" actId="1038"/>
          <ac:spMkLst>
            <pc:docMk/>
            <pc:sldMk cId="2484708220" sldId="273"/>
            <ac:spMk id="3" creationId="{76E54D25-632D-4D8A-B851-FE386C5AFF47}"/>
          </ac:spMkLst>
        </pc:spChg>
        <pc:spChg chg="mod">
          <ac:chgData name="Selva, Jorge" userId="c1a77cdc-26a4-48a1-b565-b21e42cdab32" providerId="ADAL" clId="{2B7337F7-D56E-419E-855F-62E211C2EF9A}" dt="2025-10-08T03:04:53.109" v="18" actId="20577"/>
          <ac:spMkLst>
            <pc:docMk/>
            <pc:sldMk cId="2484708220" sldId="273"/>
            <ac:spMk id="30726" creationId="{00000000-0000-0000-0000-000000000000}"/>
          </ac:spMkLst>
        </pc:spChg>
      </pc:sldChg>
      <pc:sldChg chg="modSp mod">
        <pc:chgData name="Selva, Jorge" userId="c1a77cdc-26a4-48a1-b565-b21e42cdab32" providerId="ADAL" clId="{2B7337F7-D56E-419E-855F-62E211C2EF9A}" dt="2025-10-08T03:10:48.344" v="44" actId="20577"/>
        <pc:sldMkLst>
          <pc:docMk/>
          <pc:sldMk cId="2182475725" sldId="284"/>
        </pc:sldMkLst>
        <pc:spChg chg="mod">
          <ac:chgData name="Selva, Jorge" userId="c1a77cdc-26a4-48a1-b565-b21e42cdab32" providerId="ADAL" clId="{2B7337F7-D56E-419E-855F-62E211C2EF9A}" dt="2025-10-08T03:10:48.344" v="44" actId="20577"/>
          <ac:spMkLst>
            <pc:docMk/>
            <pc:sldMk cId="2182475725" sldId="284"/>
            <ac:spMk id="51210" creationId="{00000000-0000-0000-0000-000000000000}"/>
          </ac:spMkLst>
        </pc:spChg>
      </pc:sldChg>
      <pc:sldChg chg="modSp mod">
        <pc:chgData name="Selva, Jorge" userId="c1a77cdc-26a4-48a1-b565-b21e42cdab32" providerId="ADAL" clId="{2B7337F7-D56E-419E-855F-62E211C2EF9A}" dt="2025-10-08T03:11:49.587" v="57" actId="20577"/>
        <pc:sldMkLst>
          <pc:docMk/>
          <pc:sldMk cId="1737118733" sldId="286"/>
        </pc:sldMkLst>
        <pc:spChg chg="mod">
          <ac:chgData name="Selva, Jorge" userId="c1a77cdc-26a4-48a1-b565-b21e42cdab32" providerId="ADAL" clId="{2B7337F7-D56E-419E-855F-62E211C2EF9A}" dt="2025-10-08T03:11:49.587" v="57" actId="20577"/>
          <ac:spMkLst>
            <pc:docMk/>
            <pc:sldMk cId="1737118733" sldId="286"/>
            <ac:spMk id="55308" creationId="{00000000-0000-0000-0000-000000000000}"/>
          </ac:spMkLst>
        </pc:spChg>
      </pc:sldChg>
      <pc:sldChg chg="modSp mod">
        <pc:chgData name="Selva, Jorge" userId="c1a77cdc-26a4-48a1-b565-b21e42cdab32" providerId="ADAL" clId="{2B7337F7-D56E-419E-855F-62E211C2EF9A}" dt="2025-10-08T03:09:24.788" v="28" actId="20577"/>
        <pc:sldMkLst>
          <pc:docMk/>
          <pc:sldMk cId="2771501987" sldId="304"/>
        </pc:sldMkLst>
        <pc:spChg chg="mod">
          <ac:chgData name="Selva, Jorge" userId="c1a77cdc-26a4-48a1-b565-b21e42cdab32" providerId="ADAL" clId="{2B7337F7-D56E-419E-855F-62E211C2EF9A}" dt="2025-10-08T03:09:24.788" v="28" actId="20577"/>
          <ac:spMkLst>
            <pc:docMk/>
            <pc:sldMk cId="2771501987" sldId="304"/>
            <ac:spMk id="45062" creationId="{00000000-0000-0000-0000-000000000000}"/>
          </ac:spMkLst>
        </pc:spChg>
      </pc:sldChg>
    </pc:docChg>
  </pc:docChgLst>
  <pc:docChgLst>
    <pc:chgData name="Selva, Jorge" userId="c1a77cdc-26a4-48a1-b565-b21e42cdab32" providerId="ADAL" clId="{9D5CFFE9-98A8-41AD-BB7C-88879CF98735}"/>
    <pc:docChg chg="undo custSel addSld delSld modSld modSection">
      <pc:chgData name="Selva, Jorge" userId="c1a77cdc-26a4-48a1-b565-b21e42cdab32" providerId="ADAL" clId="{9D5CFFE9-98A8-41AD-BB7C-88879CF98735}" dt="2025-02-26T17:28:47.997" v="1531" actId="20577"/>
      <pc:docMkLst>
        <pc:docMk/>
      </pc:docMkLst>
      <pc:sldChg chg="modSp mod">
        <pc:chgData name="Selva, Jorge" userId="c1a77cdc-26a4-48a1-b565-b21e42cdab32" providerId="ADAL" clId="{9D5CFFE9-98A8-41AD-BB7C-88879CF98735}" dt="2025-02-26T14:58:46.297" v="1498" actId="20577"/>
        <pc:sldMkLst>
          <pc:docMk/>
          <pc:sldMk cId="2328761439" sldId="268"/>
        </pc:sldMkLst>
        <pc:spChg chg="mod">
          <ac:chgData name="Selva, Jorge" userId="c1a77cdc-26a4-48a1-b565-b21e42cdab32" providerId="ADAL" clId="{9D5CFFE9-98A8-41AD-BB7C-88879CF98735}" dt="2025-02-26T14:58:46.297" v="1498" actId="20577"/>
          <ac:spMkLst>
            <pc:docMk/>
            <pc:sldMk cId="2328761439" sldId="268"/>
            <ac:spMk id="65540" creationId="{00000000-0000-0000-0000-000000000000}"/>
          </ac:spMkLst>
        </pc:spChg>
      </pc:sldChg>
      <pc:sldChg chg="delSp mod modNotesTx">
        <pc:chgData name="Selva, Jorge" userId="c1a77cdc-26a4-48a1-b565-b21e42cdab32" providerId="ADAL" clId="{9D5CFFE9-98A8-41AD-BB7C-88879CF98735}" dt="2025-02-25T20:31:06.042" v="354"/>
        <pc:sldMkLst>
          <pc:docMk/>
          <pc:sldMk cId="3164878322" sldId="271"/>
        </pc:sldMkLst>
        <pc:spChg chg="del">
          <ac:chgData name="Selva, Jorge" userId="c1a77cdc-26a4-48a1-b565-b21e42cdab32" providerId="ADAL" clId="{9D5CFFE9-98A8-41AD-BB7C-88879CF98735}" dt="2025-02-25T19:22:12.176" v="60" actId="478"/>
          <ac:spMkLst>
            <pc:docMk/>
            <pc:sldMk cId="3164878322" sldId="271"/>
            <ac:spMk id="3" creationId="{055B8A99-1CB1-4A9D-85DB-1B2AE6FE1465}"/>
          </ac:spMkLst>
        </pc:spChg>
      </pc:sldChg>
      <pc:sldChg chg="addSp modSp mod modNotesTx">
        <pc:chgData name="Selva, Jorge" userId="c1a77cdc-26a4-48a1-b565-b21e42cdab32" providerId="ADAL" clId="{9D5CFFE9-98A8-41AD-BB7C-88879CF98735}" dt="2025-02-25T20:34:44.018" v="384" actId="20577"/>
        <pc:sldMkLst>
          <pc:docMk/>
          <pc:sldMk cId="953144454" sldId="272"/>
        </pc:sldMkLst>
        <pc:spChg chg="add mod">
          <ac:chgData name="Selva, Jorge" userId="c1a77cdc-26a4-48a1-b565-b21e42cdab32" providerId="ADAL" clId="{9D5CFFE9-98A8-41AD-BB7C-88879CF98735}" dt="2025-02-25T20:34:44.018" v="384" actId="20577"/>
          <ac:spMkLst>
            <pc:docMk/>
            <pc:sldMk cId="953144454" sldId="272"/>
            <ac:spMk id="3" creationId="{3555F083-D259-479A-8908-76F30B95A6E6}"/>
          </ac:spMkLst>
        </pc:spChg>
      </pc:sldChg>
      <pc:sldChg chg="addSp modSp mod modNotesTx">
        <pc:chgData name="Selva, Jorge" userId="c1a77cdc-26a4-48a1-b565-b21e42cdab32" providerId="ADAL" clId="{9D5CFFE9-98A8-41AD-BB7C-88879CF98735}" dt="2025-02-26T14:59:55.461" v="1509" actId="20577"/>
        <pc:sldMkLst>
          <pc:docMk/>
          <pc:sldMk cId="2484708220" sldId="273"/>
        </pc:sldMkLst>
        <pc:spChg chg="mod">
          <ac:chgData name="Selva, Jorge" userId="c1a77cdc-26a4-48a1-b565-b21e42cdab32" providerId="ADAL" clId="{9D5CFFE9-98A8-41AD-BB7C-88879CF98735}" dt="2025-02-25T20:40:41.908" v="686" actId="164"/>
          <ac:spMkLst>
            <pc:docMk/>
            <pc:sldMk cId="2484708220" sldId="273"/>
            <ac:spMk id="3" creationId="{76E54D25-632D-4D8A-B851-FE386C5AFF47}"/>
          </ac:spMkLst>
        </pc:spChg>
        <pc:spChg chg="add mod">
          <ac:chgData name="Selva, Jorge" userId="c1a77cdc-26a4-48a1-b565-b21e42cdab32" providerId="ADAL" clId="{9D5CFFE9-98A8-41AD-BB7C-88879CF98735}" dt="2025-02-25T20:46:32.558" v="767" actId="1076"/>
          <ac:spMkLst>
            <pc:docMk/>
            <pc:sldMk cId="2484708220" sldId="273"/>
            <ac:spMk id="5" creationId="{AE4AD4FA-FB80-44B4-B375-2DBBA050257B}"/>
          </ac:spMkLst>
        </pc:spChg>
        <pc:grpChg chg="add mod">
          <ac:chgData name="Selva, Jorge" userId="c1a77cdc-26a4-48a1-b565-b21e42cdab32" providerId="ADAL" clId="{9D5CFFE9-98A8-41AD-BB7C-88879CF98735}" dt="2025-02-25T20:40:41.908" v="686" actId="164"/>
          <ac:grpSpMkLst>
            <pc:docMk/>
            <pc:sldMk cId="2484708220" sldId="273"/>
            <ac:grpSpMk id="4" creationId="{67FCC69D-0CAC-43FC-AB5A-698D5F5DB649}"/>
          </ac:grpSpMkLst>
        </pc:grpChg>
        <pc:picChg chg="mod">
          <ac:chgData name="Selva, Jorge" userId="c1a77cdc-26a4-48a1-b565-b21e42cdab32" providerId="ADAL" clId="{9D5CFFE9-98A8-41AD-BB7C-88879CF98735}" dt="2025-02-25T20:40:41.908" v="686" actId="164"/>
          <ac:picMkLst>
            <pc:docMk/>
            <pc:sldMk cId="2484708220" sldId="273"/>
            <ac:picMk id="2" creationId="{00000000-0000-0000-0000-000000000000}"/>
          </ac:picMkLst>
        </pc:picChg>
      </pc:sldChg>
      <pc:sldChg chg="modSp mod">
        <pc:chgData name="Selva, Jorge" userId="c1a77cdc-26a4-48a1-b565-b21e42cdab32" providerId="ADAL" clId="{9D5CFFE9-98A8-41AD-BB7C-88879CF98735}" dt="2025-02-25T20:49:53.663" v="815" actId="20577"/>
        <pc:sldMkLst>
          <pc:docMk/>
          <pc:sldMk cId="2583950892" sldId="274"/>
        </pc:sldMkLst>
        <pc:spChg chg="mod">
          <ac:chgData name="Selva, Jorge" userId="c1a77cdc-26a4-48a1-b565-b21e42cdab32" providerId="ADAL" clId="{9D5CFFE9-98A8-41AD-BB7C-88879CF98735}" dt="2025-02-25T20:49:53.663" v="815" actId="20577"/>
          <ac:spMkLst>
            <pc:docMk/>
            <pc:sldMk cId="2583950892" sldId="274"/>
            <ac:spMk id="32776" creationId="{00000000-0000-0000-0000-000000000000}"/>
          </ac:spMkLst>
        </pc:spChg>
      </pc:sldChg>
      <pc:sldChg chg="modSp mod">
        <pc:chgData name="Selva, Jorge" userId="c1a77cdc-26a4-48a1-b565-b21e42cdab32" providerId="ADAL" clId="{9D5CFFE9-98A8-41AD-BB7C-88879CF98735}" dt="2025-02-25T20:51:23.619" v="819" actId="404"/>
        <pc:sldMkLst>
          <pc:docMk/>
          <pc:sldMk cId="1641106061" sldId="275"/>
        </pc:sldMkLst>
        <pc:spChg chg="mod">
          <ac:chgData name="Selva, Jorge" userId="c1a77cdc-26a4-48a1-b565-b21e42cdab32" providerId="ADAL" clId="{9D5CFFE9-98A8-41AD-BB7C-88879CF98735}" dt="2025-02-25T20:51:23.619" v="819" actId="404"/>
          <ac:spMkLst>
            <pc:docMk/>
            <pc:sldMk cId="1641106061" sldId="275"/>
            <ac:spMk id="32776" creationId="{00000000-0000-0000-0000-000000000000}"/>
          </ac:spMkLst>
        </pc:spChg>
      </pc:sldChg>
      <pc:sldChg chg="delSp modSp mod">
        <pc:chgData name="Selva, Jorge" userId="c1a77cdc-26a4-48a1-b565-b21e42cdab32" providerId="ADAL" clId="{9D5CFFE9-98A8-41AD-BB7C-88879CF98735}" dt="2025-02-25T19:22:26.198" v="62" actId="478"/>
        <pc:sldMkLst>
          <pc:docMk/>
          <pc:sldMk cId="1953266967" sldId="277"/>
        </pc:sldMkLst>
        <pc:spChg chg="del mod">
          <ac:chgData name="Selva, Jorge" userId="c1a77cdc-26a4-48a1-b565-b21e42cdab32" providerId="ADAL" clId="{9D5CFFE9-98A8-41AD-BB7C-88879CF98735}" dt="2025-02-25T19:22:26.198" v="62" actId="478"/>
          <ac:spMkLst>
            <pc:docMk/>
            <pc:sldMk cId="1953266967" sldId="277"/>
            <ac:spMk id="3" creationId="{FBBA5983-4BB3-BA02-9CE6-B63D062E1E59}"/>
          </ac:spMkLst>
        </pc:spChg>
      </pc:sldChg>
      <pc:sldChg chg="modSp mod">
        <pc:chgData name="Selva, Jorge" userId="c1a77cdc-26a4-48a1-b565-b21e42cdab32" providerId="ADAL" clId="{9D5CFFE9-98A8-41AD-BB7C-88879CF98735}" dt="2025-02-25T20:54:52.178" v="824" actId="113"/>
        <pc:sldMkLst>
          <pc:docMk/>
          <pc:sldMk cId="1756941749" sldId="280"/>
        </pc:sldMkLst>
        <pc:graphicFrameChg chg="modGraphic">
          <ac:chgData name="Selva, Jorge" userId="c1a77cdc-26a4-48a1-b565-b21e42cdab32" providerId="ADAL" clId="{9D5CFFE9-98A8-41AD-BB7C-88879CF98735}" dt="2025-02-25T20:54:52.178" v="824" actId="113"/>
          <ac:graphicFrameMkLst>
            <pc:docMk/>
            <pc:sldMk cId="1756941749" sldId="280"/>
            <ac:graphicFrameMk id="5" creationId="{00B61941-A39A-43BD-9732-E9ED4143BE91}"/>
          </ac:graphicFrameMkLst>
        </pc:graphicFrameChg>
      </pc:sldChg>
      <pc:sldChg chg="modNotesTx">
        <pc:chgData name="Selva, Jorge" userId="c1a77cdc-26a4-48a1-b565-b21e42cdab32" providerId="ADAL" clId="{9D5CFFE9-98A8-41AD-BB7C-88879CF98735}" dt="2025-02-25T21:01:29.906" v="967" actId="313"/>
        <pc:sldMkLst>
          <pc:docMk/>
          <pc:sldMk cId="2082294655" sldId="283"/>
        </pc:sldMkLst>
      </pc:sldChg>
      <pc:sldChg chg="delSp mod modNotesTx">
        <pc:chgData name="Selva, Jorge" userId="c1a77cdc-26a4-48a1-b565-b21e42cdab32" providerId="ADAL" clId="{9D5CFFE9-98A8-41AD-BB7C-88879CF98735}" dt="2025-02-25T21:02:46.362" v="995" actId="20577"/>
        <pc:sldMkLst>
          <pc:docMk/>
          <pc:sldMk cId="2182475725" sldId="284"/>
        </pc:sldMkLst>
        <pc:spChg chg="del">
          <ac:chgData name="Selva, Jorge" userId="c1a77cdc-26a4-48a1-b565-b21e42cdab32" providerId="ADAL" clId="{9D5CFFE9-98A8-41AD-BB7C-88879CF98735}" dt="2025-02-25T19:22:35.362" v="63" actId="478"/>
          <ac:spMkLst>
            <pc:docMk/>
            <pc:sldMk cId="2182475725" sldId="284"/>
            <ac:spMk id="3" creationId="{623FC8E7-E55B-C2B8-D45C-7AC7E3D81021}"/>
          </ac:spMkLst>
        </pc:spChg>
      </pc:sldChg>
      <pc:sldChg chg="delSp modSp mod modNotesTx">
        <pc:chgData name="Selva, Jorge" userId="c1a77cdc-26a4-48a1-b565-b21e42cdab32" providerId="ADAL" clId="{9D5CFFE9-98A8-41AD-BB7C-88879CF98735}" dt="2025-02-25T21:03:37.077" v="1026" actId="20577"/>
        <pc:sldMkLst>
          <pc:docMk/>
          <pc:sldMk cId="1737118733" sldId="286"/>
        </pc:sldMkLst>
        <pc:spChg chg="del">
          <ac:chgData name="Selva, Jorge" userId="c1a77cdc-26a4-48a1-b565-b21e42cdab32" providerId="ADAL" clId="{9D5CFFE9-98A8-41AD-BB7C-88879CF98735}" dt="2025-02-25T19:22:42.657" v="64" actId="478"/>
          <ac:spMkLst>
            <pc:docMk/>
            <pc:sldMk cId="1737118733" sldId="286"/>
            <ac:spMk id="3" creationId="{2FB61585-0DA9-3F34-44C0-2B055D713B68}"/>
          </ac:spMkLst>
        </pc:spChg>
        <pc:spChg chg="mod">
          <ac:chgData name="Selva, Jorge" userId="c1a77cdc-26a4-48a1-b565-b21e42cdab32" providerId="ADAL" clId="{9D5CFFE9-98A8-41AD-BB7C-88879CF98735}" dt="2025-02-25T21:03:37.077" v="1026" actId="20577"/>
          <ac:spMkLst>
            <pc:docMk/>
            <pc:sldMk cId="1737118733" sldId="286"/>
            <ac:spMk id="55308" creationId="{00000000-0000-0000-0000-000000000000}"/>
          </ac:spMkLst>
        </pc:spChg>
      </pc:sldChg>
      <pc:sldChg chg="delSp modSp mod">
        <pc:chgData name="Selva, Jorge" userId="c1a77cdc-26a4-48a1-b565-b21e42cdab32" providerId="ADAL" clId="{9D5CFFE9-98A8-41AD-BB7C-88879CF98735}" dt="2025-02-25T19:37:58.724" v="255" actId="20577"/>
        <pc:sldMkLst>
          <pc:docMk/>
          <pc:sldMk cId="2385770598" sldId="288"/>
        </pc:sldMkLst>
        <pc:spChg chg="mod">
          <ac:chgData name="Selva, Jorge" userId="c1a77cdc-26a4-48a1-b565-b21e42cdab32" providerId="ADAL" clId="{9D5CFFE9-98A8-41AD-BB7C-88879CF98735}" dt="2025-02-25T19:37:58.724" v="255" actId="20577"/>
          <ac:spMkLst>
            <pc:docMk/>
            <pc:sldMk cId="2385770598" sldId="288"/>
            <ac:spMk id="2" creationId="{00000000-0000-0000-0000-000000000000}"/>
          </ac:spMkLst>
        </pc:spChg>
        <pc:spChg chg="del">
          <ac:chgData name="Selva, Jorge" userId="c1a77cdc-26a4-48a1-b565-b21e42cdab32" providerId="ADAL" clId="{9D5CFFE9-98A8-41AD-BB7C-88879CF98735}" dt="2025-02-25T19:22:57.300" v="65" actId="478"/>
          <ac:spMkLst>
            <pc:docMk/>
            <pc:sldMk cId="2385770598" sldId="288"/>
            <ac:spMk id="3" creationId="{4D9059B3-752C-52CD-C067-9E8894C2851A}"/>
          </ac:spMkLst>
        </pc:spChg>
      </pc:sldChg>
      <pc:sldChg chg="modSp mod">
        <pc:chgData name="Selva, Jorge" userId="c1a77cdc-26a4-48a1-b565-b21e42cdab32" providerId="ADAL" clId="{9D5CFFE9-98A8-41AD-BB7C-88879CF98735}" dt="2025-02-25T19:41:09.514" v="272"/>
        <pc:sldMkLst>
          <pc:docMk/>
          <pc:sldMk cId="2663038916" sldId="292"/>
        </pc:sldMkLst>
        <pc:spChg chg="mod">
          <ac:chgData name="Selva, Jorge" userId="c1a77cdc-26a4-48a1-b565-b21e42cdab32" providerId="ADAL" clId="{9D5CFFE9-98A8-41AD-BB7C-88879CF98735}" dt="2025-02-25T19:41:09.514" v="272"/>
          <ac:spMkLst>
            <pc:docMk/>
            <pc:sldMk cId="2663038916" sldId="292"/>
            <ac:spMk id="3" creationId="{00000000-0000-0000-0000-000000000000}"/>
          </ac:spMkLst>
        </pc:spChg>
      </pc:sldChg>
      <pc:sldChg chg="modSp mod">
        <pc:chgData name="Selva, Jorge" userId="c1a77cdc-26a4-48a1-b565-b21e42cdab32" providerId="ADAL" clId="{9D5CFFE9-98A8-41AD-BB7C-88879CF98735}" dt="2025-02-25T19:41:42.752" v="275" actId="20577"/>
        <pc:sldMkLst>
          <pc:docMk/>
          <pc:sldMk cId="109910064" sldId="293"/>
        </pc:sldMkLst>
        <pc:spChg chg="mod">
          <ac:chgData name="Selva, Jorge" userId="c1a77cdc-26a4-48a1-b565-b21e42cdab32" providerId="ADAL" clId="{9D5CFFE9-98A8-41AD-BB7C-88879CF98735}" dt="2025-02-25T19:41:42.752" v="275" actId="20577"/>
          <ac:spMkLst>
            <pc:docMk/>
            <pc:sldMk cId="109910064" sldId="293"/>
            <ac:spMk id="3" creationId="{00000000-0000-0000-0000-000000000000}"/>
          </ac:spMkLst>
        </pc:spChg>
      </pc:sldChg>
      <pc:sldChg chg="delSp modSp mod modNotesTx">
        <pc:chgData name="Selva, Jorge" userId="c1a77cdc-26a4-48a1-b565-b21e42cdab32" providerId="ADAL" clId="{9D5CFFE9-98A8-41AD-BB7C-88879CF98735}" dt="2025-02-25T20:25:31.784" v="334" actId="113"/>
        <pc:sldMkLst>
          <pc:docMk/>
          <pc:sldMk cId="2430531112" sldId="294"/>
        </pc:sldMkLst>
        <pc:spChg chg="del">
          <ac:chgData name="Selva, Jorge" userId="c1a77cdc-26a4-48a1-b565-b21e42cdab32" providerId="ADAL" clId="{9D5CFFE9-98A8-41AD-BB7C-88879CF98735}" dt="2025-02-25T19:22:04.831" v="59" actId="478"/>
          <ac:spMkLst>
            <pc:docMk/>
            <pc:sldMk cId="2430531112" sldId="294"/>
            <ac:spMk id="3" creationId="{75B9BD05-A20F-0628-2A5C-5C9F0115DCBB}"/>
          </ac:spMkLst>
        </pc:spChg>
        <pc:spChg chg="mod">
          <ac:chgData name="Selva, Jorge" userId="c1a77cdc-26a4-48a1-b565-b21e42cdab32" providerId="ADAL" clId="{9D5CFFE9-98A8-41AD-BB7C-88879CF98735}" dt="2025-02-25T19:26:02.516" v="87" actId="20577"/>
          <ac:spMkLst>
            <pc:docMk/>
            <pc:sldMk cId="2430531112" sldId="294"/>
            <ac:spMk id="4" creationId="{00000000-0000-0000-0000-000000000000}"/>
          </ac:spMkLst>
        </pc:spChg>
        <pc:spChg chg="mod">
          <ac:chgData name="Selva, Jorge" userId="c1a77cdc-26a4-48a1-b565-b21e42cdab32" providerId="ADAL" clId="{9D5CFFE9-98A8-41AD-BB7C-88879CF98735}" dt="2025-02-25T19:27:01.327" v="110" actId="20577"/>
          <ac:spMkLst>
            <pc:docMk/>
            <pc:sldMk cId="2430531112" sldId="294"/>
            <ac:spMk id="5" creationId="{00000000-0000-0000-0000-000000000000}"/>
          </ac:spMkLst>
        </pc:spChg>
      </pc:sldChg>
      <pc:sldChg chg="modNotesTx">
        <pc:chgData name="Selva, Jorge" userId="c1a77cdc-26a4-48a1-b565-b21e42cdab32" providerId="ADAL" clId="{9D5CFFE9-98A8-41AD-BB7C-88879CF98735}" dt="2025-02-25T20:27:17.702" v="339" actId="113"/>
        <pc:sldMkLst>
          <pc:docMk/>
          <pc:sldMk cId="2588520942" sldId="295"/>
        </pc:sldMkLst>
      </pc:sldChg>
      <pc:sldChg chg="delSp modSp mod">
        <pc:chgData name="Selva, Jorge" userId="c1a77cdc-26a4-48a1-b565-b21e42cdab32" providerId="ADAL" clId="{9D5CFFE9-98A8-41AD-BB7C-88879CF98735}" dt="2025-02-25T21:17:12.136" v="1487" actId="404"/>
        <pc:sldMkLst>
          <pc:docMk/>
          <pc:sldMk cId="746521350" sldId="300"/>
        </pc:sldMkLst>
        <pc:spChg chg="mod">
          <ac:chgData name="Selva, Jorge" userId="c1a77cdc-26a4-48a1-b565-b21e42cdab32" providerId="ADAL" clId="{9D5CFFE9-98A8-41AD-BB7C-88879CF98735}" dt="2025-02-25T21:17:12.136" v="1487" actId="404"/>
          <ac:spMkLst>
            <pc:docMk/>
            <pc:sldMk cId="746521350" sldId="300"/>
            <ac:spMk id="4" creationId="{00000000-0000-0000-0000-000000000000}"/>
          </ac:spMkLst>
        </pc:spChg>
        <pc:spChg chg="del mod">
          <ac:chgData name="Selva, Jorge" userId="c1a77cdc-26a4-48a1-b565-b21e42cdab32" providerId="ADAL" clId="{9D5CFFE9-98A8-41AD-BB7C-88879CF98735}" dt="2025-02-25T19:23:14.974" v="68" actId="478"/>
          <ac:spMkLst>
            <pc:docMk/>
            <pc:sldMk cId="746521350" sldId="300"/>
            <ac:spMk id="6" creationId="{37FDAE33-8160-5532-3690-6D1457174B54}"/>
          </ac:spMkLst>
        </pc:spChg>
      </pc:sldChg>
      <pc:sldChg chg="modSp mod modNotesTx">
        <pc:chgData name="Selva, Jorge" userId="c1a77cdc-26a4-48a1-b565-b21e42cdab32" providerId="ADAL" clId="{9D5CFFE9-98A8-41AD-BB7C-88879CF98735}" dt="2025-02-25T21:00:13.880" v="924" actId="113"/>
        <pc:sldMkLst>
          <pc:docMk/>
          <pc:sldMk cId="2771501987" sldId="304"/>
        </pc:sldMkLst>
        <pc:spChg chg="mod">
          <ac:chgData name="Selva, Jorge" userId="c1a77cdc-26a4-48a1-b565-b21e42cdab32" providerId="ADAL" clId="{9D5CFFE9-98A8-41AD-BB7C-88879CF98735}" dt="2025-02-25T19:28:55.099" v="137" actId="1036"/>
          <ac:spMkLst>
            <pc:docMk/>
            <pc:sldMk cId="2771501987" sldId="304"/>
            <ac:spMk id="45064" creationId="{00000000-0000-0000-0000-000000000000}"/>
          </ac:spMkLst>
        </pc:spChg>
        <pc:grpChg chg="mod">
          <ac:chgData name="Selva, Jorge" userId="c1a77cdc-26a4-48a1-b565-b21e42cdab32" providerId="ADAL" clId="{9D5CFFE9-98A8-41AD-BB7C-88879CF98735}" dt="2025-02-25T19:28:45.773" v="136" actId="14100"/>
          <ac:grpSpMkLst>
            <pc:docMk/>
            <pc:sldMk cId="2771501987" sldId="304"/>
            <ac:grpSpMk id="16" creationId="{00000000-0000-0000-0000-000000000000}"/>
          </ac:grpSpMkLst>
        </pc:grpChg>
      </pc:sldChg>
      <pc:sldChg chg="delSp mod">
        <pc:chgData name="Selva, Jorge" userId="c1a77cdc-26a4-48a1-b565-b21e42cdab32" providerId="ADAL" clId="{9D5CFFE9-98A8-41AD-BB7C-88879CF98735}" dt="2025-02-25T19:23:06.459" v="66" actId="478"/>
        <pc:sldMkLst>
          <pc:docMk/>
          <pc:sldMk cId="3008949753" sldId="305"/>
        </pc:sldMkLst>
        <pc:spChg chg="del">
          <ac:chgData name="Selva, Jorge" userId="c1a77cdc-26a4-48a1-b565-b21e42cdab32" providerId="ADAL" clId="{9D5CFFE9-98A8-41AD-BB7C-88879CF98735}" dt="2025-02-25T19:23:06.459" v="66" actId="478"/>
          <ac:spMkLst>
            <pc:docMk/>
            <pc:sldMk cId="3008949753" sldId="305"/>
            <ac:spMk id="3" creationId="{8C219925-3A35-1136-99F9-BAA9C2E45DF4}"/>
          </ac:spMkLst>
        </pc:spChg>
      </pc:sldChg>
      <pc:sldChg chg="addSp modSp mod">
        <pc:chgData name="Selva, Jorge" userId="c1a77cdc-26a4-48a1-b565-b21e42cdab32" providerId="ADAL" clId="{9D5CFFE9-98A8-41AD-BB7C-88879CF98735}" dt="2025-02-25T21:16:01.013" v="1464" actId="20577"/>
        <pc:sldMkLst>
          <pc:docMk/>
          <pc:sldMk cId="1714817650" sldId="306"/>
        </pc:sldMkLst>
        <pc:spChg chg="add mod">
          <ac:chgData name="Selva, Jorge" userId="c1a77cdc-26a4-48a1-b565-b21e42cdab32" providerId="ADAL" clId="{9D5CFFE9-98A8-41AD-BB7C-88879CF98735}" dt="2025-02-25T21:13:12.233" v="1292" actId="1036"/>
          <ac:spMkLst>
            <pc:docMk/>
            <pc:sldMk cId="1714817650" sldId="306"/>
            <ac:spMk id="3" creationId="{ED5D6E8F-F298-4278-A575-D9511D5DBACA}"/>
          </ac:spMkLst>
        </pc:spChg>
        <pc:spChg chg="add mod">
          <ac:chgData name="Selva, Jorge" userId="c1a77cdc-26a4-48a1-b565-b21e42cdab32" providerId="ADAL" clId="{9D5CFFE9-98A8-41AD-BB7C-88879CF98735}" dt="2025-02-25T21:11:46.675" v="1203" actId="20577"/>
          <ac:spMkLst>
            <pc:docMk/>
            <pc:sldMk cId="1714817650" sldId="306"/>
            <ac:spMk id="13" creationId="{EA4DE8AD-ED0D-481E-9E0E-0B879A6EE98C}"/>
          </ac:spMkLst>
        </pc:spChg>
        <pc:spChg chg="add mod">
          <ac:chgData name="Selva, Jorge" userId="c1a77cdc-26a4-48a1-b565-b21e42cdab32" providerId="ADAL" clId="{9D5CFFE9-98A8-41AD-BB7C-88879CF98735}" dt="2025-02-25T21:13:52.884" v="1324" actId="20577"/>
          <ac:spMkLst>
            <pc:docMk/>
            <pc:sldMk cId="1714817650" sldId="306"/>
            <ac:spMk id="14" creationId="{49DF5684-0EF7-4768-8CFB-771606B46390}"/>
          </ac:spMkLst>
        </pc:spChg>
        <pc:spChg chg="add mod">
          <ac:chgData name="Selva, Jorge" userId="c1a77cdc-26a4-48a1-b565-b21e42cdab32" providerId="ADAL" clId="{9D5CFFE9-98A8-41AD-BB7C-88879CF98735}" dt="2025-02-25T21:16:01.013" v="1464" actId="20577"/>
          <ac:spMkLst>
            <pc:docMk/>
            <pc:sldMk cId="1714817650" sldId="306"/>
            <ac:spMk id="15" creationId="{3562458C-3832-4221-88AA-8312E424753C}"/>
          </ac:spMkLst>
        </pc:spChg>
      </pc:sldChg>
      <pc:sldChg chg="modSp mod">
        <pc:chgData name="Selva, Jorge" userId="c1a77cdc-26a4-48a1-b565-b21e42cdab32" providerId="ADAL" clId="{9D5CFFE9-98A8-41AD-BB7C-88879CF98735}" dt="2025-02-25T19:38:18.396" v="257" actId="5793"/>
        <pc:sldMkLst>
          <pc:docMk/>
          <pc:sldMk cId="3557473892" sldId="307"/>
        </pc:sldMkLst>
        <pc:spChg chg="mod">
          <ac:chgData name="Selva, Jorge" userId="c1a77cdc-26a4-48a1-b565-b21e42cdab32" providerId="ADAL" clId="{9D5CFFE9-98A8-41AD-BB7C-88879CF98735}" dt="2025-02-25T19:38:18.396" v="257" actId="5793"/>
          <ac:spMkLst>
            <pc:docMk/>
            <pc:sldMk cId="3557473892" sldId="307"/>
            <ac:spMk id="3" creationId="{A45E665D-EF68-4BB0-A3BB-4717B6923BBF}"/>
          </ac:spMkLst>
        </pc:spChg>
      </pc:sldChg>
      <pc:sldChg chg="mod modShow">
        <pc:chgData name="Selva, Jorge" userId="c1a77cdc-26a4-48a1-b565-b21e42cdab32" providerId="ADAL" clId="{9D5CFFE9-98A8-41AD-BB7C-88879CF98735}" dt="2025-02-26T15:00:38.267" v="1510" actId="729"/>
        <pc:sldMkLst>
          <pc:docMk/>
          <pc:sldMk cId="4231622190" sldId="309"/>
        </pc:sldMkLst>
      </pc:sldChg>
      <pc:sldChg chg="del">
        <pc:chgData name="Selva, Jorge" userId="c1a77cdc-26a4-48a1-b565-b21e42cdab32" providerId="ADAL" clId="{9D5CFFE9-98A8-41AD-BB7C-88879CF98735}" dt="2025-02-25T21:04:37.469" v="1027" actId="47"/>
        <pc:sldMkLst>
          <pc:docMk/>
          <pc:sldMk cId="3222192758" sldId="310"/>
        </pc:sldMkLst>
      </pc:sldChg>
      <pc:sldChg chg="del">
        <pc:chgData name="Selva, Jorge" userId="c1a77cdc-26a4-48a1-b565-b21e42cdab32" providerId="ADAL" clId="{9D5CFFE9-98A8-41AD-BB7C-88879CF98735}" dt="2025-02-25T19:42:13.276" v="276" actId="47"/>
        <pc:sldMkLst>
          <pc:docMk/>
          <pc:sldMk cId="823050899" sldId="312"/>
        </pc:sldMkLst>
      </pc:sldChg>
      <pc:sldChg chg="modSp mod modShow">
        <pc:chgData name="Selva, Jorge" userId="c1a77cdc-26a4-48a1-b565-b21e42cdab32" providerId="ADAL" clId="{9D5CFFE9-98A8-41AD-BB7C-88879CF98735}" dt="2025-02-25T20:31:48.085" v="355" actId="729"/>
        <pc:sldMkLst>
          <pc:docMk/>
          <pc:sldMk cId="4067715288" sldId="314"/>
        </pc:sldMkLst>
        <pc:spChg chg="mod">
          <ac:chgData name="Selva, Jorge" userId="c1a77cdc-26a4-48a1-b565-b21e42cdab32" providerId="ADAL" clId="{9D5CFFE9-98A8-41AD-BB7C-88879CF98735}" dt="2025-02-25T19:27:19.238" v="123" actId="20577"/>
          <ac:spMkLst>
            <pc:docMk/>
            <pc:sldMk cId="4067715288" sldId="314"/>
            <ac:spMk id="4" creationId="{DB32DB32-B6A3-49E1-B57F-E14B90F1FF9C}"/>
          </ac:spMkLst>
        </pc:spChg>
      </pc:sldChg>
      <pc:sldChg chg="modSp mod modNotesTx">
        <pc:chgData name="Selva, Jorge" userId="c1a77cdc-26a4-48a1-b565-b21e42cdab32" providerId="ADAL" clId="{9D5CFFE9-98A8-41AD-BB7C-88879CF98735}" dt="2025-02-25T20:39:52.968" v="685" actId="20577"/>
        <pc:sldMkLst>
          <pc:docMk/>
          <pc:sldMk cId="3002690952" sldId="317"/>
        </pc:sldMkLst>
        <pc:spChg chg="mod">
          <ac:chgData name="Selva, Jorge" userId="c1a77cdc-26a4-48a1-b565-b21e42cdab32" providerId="ADAL" clId="{9D5CFFE9-98A8-41AD-BB7C-88879CF98735}" dt="2025-02-25T20:36:07.159" v="404" actId="20577"/>
          <ac:spMkLst>
            <pc:docMk/>
            <pc:sldMk cId="3002690952" sldId="317"/>
            <ac:spMk id="3" creationId="{FD4ABC18-8884-5C6F-62F5-2020DC5589D0}"/>
          </ac:spMkLst>
        </pc:spChg>
      </pc:sldChg>
      <pc:sldChg chg="addSp modSp mod modNotesTx">
        <pc:chgData name="Selva, Jorge" userId="c1a77cdc-26a4-48a1-b565-b21e42cdab32" providerId="ADAL" clId="{9D5CFFE9-98A8-41AD-BB7C-88879CF98735}" dt="2025-02-26T17:28:47.997" v="1531" actId="20577"/>
        <pc:sldMkLst>
          <pc:docMk/>
          <pc:sldMk cId="1769708333" sldId="320"/>
        </pc:sldMkLst>
        <pc:spChg chg="mod">
          <ac:chgData name="Selva, Jorge" userId="c1a77cdc-26a4-48a1-b565-b21e42cdab32" providerId="ADAL" clId="{9D5CFFE9-98A8-41AD-BB7C-88879CF98735}" dt="2025-02-25T19:32:45.082" v="152" actId="1035"/>
          <ac:spMkLst>
            <pc:docMk/>
            <pc:sldMk cId="1769708333" sldId="320"/>
            <ac:spMk id="2" creationId="{E511AC50-7648-4AD2-8127-B3DABE429248}"/>
          </ac:spMkLst>
        </pc:spChg>
        <pc:spChg chg="mod">
          <ac:chgData name="Selva, Jorge" userId="c1a77cdc-26a4-48a1-b565-b21e42cdab32" providerId="ADAL" clId="{9D5CFFE9-98A8-41AD-BB7C-88879CF98735}" dt="2025-02-26T17:06:17.428" v="1515" actId="20577"/>
          <ac:spMkLst>
            <pc:docMk/>
            <pc:sldMk cId="1769708333" sldId="320"/>
            <ac:spMk id="3" creationId="{D41BA51B-2A62-4E36-9A9C-4A4BD3322962}"/>
          </ac:spMkLst>
        </pc:spChg>
        <pc:spChg chg="add mod ord">
          <ac:chgData name="Selva, Jorge" userId="c1a77cdc-26a4-48a1-b565-b21e42cdab32" providerId="ADAL" clId="{9D5CFFE9-98A8-41AD-BB7C-88879CF98735}" dt="2025-02-25T19:33:59.024" v="170" actId="167"/>
          <ac:spMkLst>
            <pc:docMk/>
            <pc:sldMk cId="1769708333" sldId="320"/>
            <ac:spMk id="4" creationId="{DF7644EC-346E-41BA-804F-71CAE029F76E}"/>
          </ac:spMkLst>
        </pc:spChg>
      </pc:sldChg>
      <pc:sldChg chg="modSp mod">
        <pc:chgData name="Selva, Jorge" userId="c1a77cdc-26a4-48a1-b565-b21e42cdab32" providerId="ADAL" clId="{9D5CFFE9-98A8-41AD-BB7C-88879CF98735}" dt="2025-02-25T19:51:13.174" v="311" actId="20577"/>
        <pc:sldMkLst>
          <pc:docMk/>
          <pc:sldMk cId="2600172073" sldId="338"/>
        </pc:sldMkLst>
        <pc:spChg chg="mod">
          <ac:chgData name="Selva, Jorge" userId="c1a77cdc-26a4-48a1-b565-b21e42cdab32" providerId="ADAL" clId="{9D5CFFE9-98A8-41AD-BB7C-88879CF98735}" dt="2025-02-25T19:51:13.174" v="311" actId="20577"/>
          <ac:spMkLst>
            <pc:docMk/>
            <pc:sldMk cId="2600172073" sldId="338"/>
            <ac:spMk id="3" creationId="{D41BA51B-2A62-4E36-9A9C-4A4BD3322962}"/>
          </ac:spMkLst>
        </pc:spChg>
      </pc:sldChg>
      <pc:sldChg chg="addSp modSp new mod">
        <pc:chgData name="Selva, Jorge" userId="c1a77cdc-26a4-48a1-b565-b21e42cdab32" providerId="ADAL" clId="{9D5CFFE9-98A8-41AD-BB7C-88879CF98735}" dt="2025-02-25T19:45:34.266" v="281" actId="1035"/>
        <pc:sldMkLst>
          <pc:docMk/>
          <pc:sldMk cId="622722143" sldId="339"/>
        </pc:sldMkLst>
        <pc:picChg chg="add mod">
          <ac:chgData name="Selva, Jorge" userId="c1a77cdc-26a4-48a1-b565-b21e42cdab32" providerId="ADAL" clId="{9D5CFFE9-98A8-41AD-BB7C-88879CF98735}" dt="2025-02-25T19:45:34.266" v="281" actId="1035"/>
          <ac:picMkLst>
            <pc:docMk/>
            <pc:sldMk cId="622722143" sldId="339"/>
            <ac:picMk id="2" creationId="{1D083361-2E36-4880-AA81-310944076A4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dirty="0"/>
          </a:p>
        </p:txBody>
      </p:sp>
      <p:sp>
        <p:nvSpPr>
          <p:cNvPr id="112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dirty="0"/>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2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dirty="0"/>
          </a:p>
        </p:txBody>
      </p:sp>
      <p:sp>
        <p:nvSpPr>
          <p:cNvPr id="112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8164E8ED-7D06-4C3E-8BAE-16B93A359B8C}" type="slidenum">
              <a:rPr lang="en-US" altLang="en-US"/>
              <a:pPr/>
              <a:t>‹#›</a:t>
            </a:fld>
            <a:endParaRPr lang="en-US" altLang="en-US" dirty="0"/>
          </a:p>
        </p:txBody>
      </p:sp>
    </p:spTree>
    <p:extLst>
      <p:ext uri="{BB962C8B-B14F-4D97-AF65-F5344CB8AC3E}">
        <p14:creationId xmlns:p14="http://schemas.microsoft.com/office/powerpoint/2010/main" val="253390799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F1C8950-4EAD-475C-8143-D3C582BC5981}"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476777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70F500-04E0-4942-AB9E-C726BD641816}" type="slidenum">
              <a:rPr lang="en-US" smtClean="0"/>
              <a:pPr/>
              <a:t>2</a:t>
            </a:fld>
            <a:endParaRPr lang="en-US" dirty="0"/>
          </a:p>
        </p:txBody>
      </p:sp>
    </p:spTree>
    <p:extLst>
      <p:ext uri="{BB962C8B-B14F-4D97-AF65-F5344CB8AC3E}">
        <p14:creationId xmlns:p14="http://schemas.microsoft.com/office/powerpoint/2010/main" val="1707860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70F500-04E0-4942-AB9E-C726BD641816}" type="slidenum">
              <a:rPr lang="en-US" smtClean="0"/>
              <a:pPr/>
              <a:t>3</a:t>
            </a:fld>
            <a:endParaRPr lang="en-US" dirty="0"/>
          </a:p>
        </p:txBody>
      </p:sp>
    </p:spTree>
    <p:extLst>
      <p:ext uri="{BB962C8B-B14F-4D97-AF65-F5344CB8AC3E}">
        <p14:creationId xmlns:p14="http://schemas.microsoft.com/office/powerpoint/2010/main" val="4146997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Salesforce socialization/onboarding refers to the process by which sales-people acquire the knowledge, skills, and values essential to perform their jobs</a:t>
            </a:r>
            <a:r>
              <a:rPr lang="en-US" dirty="0"/>
              <a:t>. Training plays a key role in this process.</a:t>
            </a:r>
          </a:p>
          <a:p>
            <a:endParaRPr lang="en-US" dirty="0"/>
          </a:p>
          <a:p>
            <a:r>
              <a:rPr lang="en-US" dirty="0"/>
              <a:t>A study of industrial salespeople found that </a:t>
            </a:r>
            <a:r>
              <a:rPr lang="en-US" b="1" dirty="0"/>
              <a:t>when salespeople believe the company is taking certain actions to support the salesforce and reduce the difficulties associated with a sales position, they are more committed to and satisfied with the job</a:t>
            </a:r>
            <a:r>
              <a:rPr lang="en-US" dirty="0"/>
              <a:t>.</a:t>
            </a:r>
          </a:p>
        </p:txBody>
      </p:sp>
      <p:sp>
        <p:nvSpPr>
          <p:cNvPr id="4" name="Slide Number Placeholder 3"/>
          <p:cNvSpPr>
            <a:spLocks noGrp="1"/>
          </p:cNvSpPr>
          <p:nvPr>
            <p:ph type="sldNum" sz="quarter" idx="5"/>
          </p:nvPr>
        </p:nvSpPr>
        <p:spPr/>
        <p:txBody>
          <a:bodyPr/>
          <a:lstStyle/>
          <a:p>
            <a:fld id="{8164E8ED-7D06-4C3E-8BAE-16B93A359B8C}" type="slidenum">
              <a:rPr lang="en-US" altLang="en-US" smtClean="0"/>
              <a:pPr/>
              <a:t>5</a:t>
            </a:fld>
            <a:endParaRPr lang="en-US" altLang="en-US" dirty="0"/>
          </a:p>
        </p:txBody>
      </p:sp>
    </p:spTree>
    <p:extLst>
      <p:ext uri="{BB962C8B-B14F-4D97-AF65-F5344CB8AC3E}">
        <p14:creationId xmlns:p14="http://schemas.microsoft.com/office/powerpoint/2010/main" val="1058344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F0AFE12A-ED2B-4FCB-8482-68C5570218E2}" type="slidenum">
              <a:rPr lang="en-US"/>
              <a:pPr/>
              <a:t>6</a:t>
            </a:fld>
            <a:endParaRPr lang="en-US" dirty="0"/>
          </a:p>
        </p:txBody>
      </p:sp>
      <p:sp>
        <p:nvSpPr>
          <p:cNvPr id="27650"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27651"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dirty="0">
                <a:latin typeface="Times New Roman" pitchFamily="18" charset="0"/>
              </a:rPr>
              <a:t>2</a:t>
            </a:r>
          </a:p>
        </p:txBody>
      </p:sp>
      <p:sp>
        <p:nvSpPr>
          <p:cNvPr id="27652"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27653"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27654" name="Rectangle 6"/>
          <p:cNvSpPr>
            <a:spLocks noGrp="1" noRot="1" noChangeAspect="1" noChangeArrowheads="1" noTextEdit="1"/>
          </p:cNvSpPr>
          <p:nvPr>
            <p:ph type="sldImg"/>
          </p:nvPr>
        </p:nvSpPr>
        <p:spPr>
          <a:xfrm>
            <a:off x="1150938" y="692150"/>
            <a:ext cx="4556125" cy="3416300"/>
          </a:xfrm>
          <a:ln w="12700" cap="flat"/>
        </p:spPr>
      </p:sp>
      <p:sp>
        <p:nvSpPr>
          <p:cNvPr id="27655" name="Rectangle 7"/>
          <p:cNvSpPr>
            <a:spLocks noGrp="1" noChangeArrowheads="1"/>
          </p:cNvSpPr>
          <p:nvPr>
            <p:ph type="body" idx="1"/>
          </p:nvPr>
        </p:nvSpPr>
        <p:spPr>
          <a:xfrm>
            <a:off x="914400" y="4343400"/>
            <a:ext cx="5029200" cy="4114800"/>
          </a:xfrm>
          <a:ln/>
        </p:spPr>
        <p:txBody>
          <a:bodyPr lIns="92075" tIns="46038" rIns="92075" bIns="46038"/>
          <a:lstStyle/>
          <a:p>
            <a:endParaRPr lang="en-US" dirty="0"/>
          </a:p>
        </p:txBody>
      </p:sp>
    </p:spTree>
    <p:extLst>
      <p:ext uri="{BB962C8B-B14F-4D97-AF65-F5344CB8AC3E}">
        <p14:creationId xmlns:p14="http://schemas.microsoft.com/office/powerpoint/2010/main" val="614243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07A64F18-2483-4299-980B-2F064A292394}" type="slidenum">
              <a:rPr lang="en-US"/>
              <a:pPr/>
              <a:t>7</a:t>
            </a:fld>
            <a:endParaRPr lang="en-US" dirty="0"/>
          </a:p>
        </p:txBody>
      </p:sp>
      <p:sp>
        <p:nvSpPr>
          <p:cNvPr id="25602"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25603"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2</a:t>
            </a:r>
          </a:p>
        </p:txBody>
      </p:sp>
      <p:sp>
        <p:nvSpPr>
          <p:cNvPr id="25604"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25605"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25606" name="Rectangle 6"/>
          <p:cNvSpPr>
            <a:spLocks noGrp="1" noRot="1" noChangeAspect="1" noChangeArrowheads="1" noTextEdit="1"/>
          </p:cNvSpPr>
          <p:nvPr>
            <p:ph type="sldImg"/>
          </p:nvPr>
        </p:nvSpPr>
        <p:spPr>
          <a:xfrm>
            <a:off x="1150938" y="692150"/>
            <a:ext cx="4556125" cy="3416300"/>
          </a:xfrm>
          <a:ln w="12700" cap="flat"/>
        </p:spPr>
      </p:sp>
      <p:sp>
        <p:nvSpPr>
          <p:cNvPr id="25607" name="Rectangle 7"/>
          <p:cNvSpPr>
            <a:spLocks noGrp="1" noChangeArrowheads="1"/>
          </p:cNvSpPr>
          <p:nvPr>
            <p:ph type="body" idx="1"/>
          </p:nvPr>
        </p:nvSpPr>
        <p:spPr>
          <a:xfrm>
            <a:off x="914400" y="4343400"/>
            <a:ext cx="5029200" cy="4114800"/>
          </a:xfrm>
          <a:ln/>
        </p:spPr>
        <p:txBody>
          <a:bodyPr lIns="92075" tIns="46038" rIns="92075" bIns="46038"/>
          <a:lstStyle/>
          <a:p>
            <a:r>
              <a:rPr lang="en-US" dirty="0"/>
              <a:t>A survey of 70,000 business decision makers found that </a:t>
            </a:r>
            <a:r>
              <a:rPr lang="en-US" b="1" dirty="0"/>
              <a:t>39 percent of purchasing decisions depend on the effectiveness of the sales rep, a larger portion than any other aspect, including price, product, or service</a:t>
            </a:r>
            <a:r>
              <a:rPr lang="en-US" dirty="0"/>
              <a:t>. </a:t>
            </a:r>
          </a:p>
          <a:p>
            <a:r>
              <a:rPr lang="en-US" dirty="0"/>
              <a:t>Not only is training important in developing effective salespeople, but also in keeping them. </a:t>
            </a:r>
            <a:r>
              <a:rPr lang="en-US" b="1" dirty="0"/>
              <a:t>One comprehensive study of salesforce effectiveness found inadequate sales training to be a driving force in turnover</a:t>
            </a:r>
            <a:r>
              <a:rPr lang="en-US" dirty="0"/>
              <a:t>.</a:t>
            </a:r>
          </a:p>
        </p:txBody>
      </p:sp>
    </p:spTree>
    <p:extLst>
      <p:ext uri="{BB962C8B-B14F-4D97-AF65-F5344CB8AC3E}">
        <p14:creationId xmlns:p14="http://schemas.microsoft.com/office/powerpoint/2010/main" val="4289349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07A64F18-2483-4299-980B-2F064A292394}" type="slidenum">
              <a:rPr lang="en-US"/>
              <a:pPr/>
              <a:t>8</a:t>
            </a:fld>
            <a:endParaRPr lang="en-US" dirty="0"/>
          </a:p>
        </p:txBody>
      </p:sp>
      <p:sp>
        <p:nvSpPr>
          <p:cNvPr id="25602"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25603"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2</a:t>
            </a:r>
          </a:p>
        </p:txBody>
      </p:sp>
      <p:sp>
        <p:nvSpPr>
          <p:cNvPr id="25604"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25605"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25606" name="Rectangle 6"/>
          <p:cNvSpPr>
            <a:spLocks noGrp="1" noRot="1" noChangeAspect="1" noChangeArrowheads="1" noTextEdit="1"/>
          </p:cNvSpPr>
          <p:nvPr>
            <p:ph type="sldImg"/>
          </p:nvPr>
        </p:nvSpPr>
        <p:spPr>
          <a:xfrm>
            <a:off x="1150938" y="692150"/>
            <a:ext cx="4556125" cy="3416300"/>
          </a:xfrm>
          <a:ln w="12700" cap="flat"/>
        </p:spPr>
      </p:sp>
      <p:sp>
        <p:nvSpPr>
          <p:cNvPr id="25607" name="Rectangle 7"/>
          <p:cNvSpPr>
            <a:spLocks noGrp="1" noChangeArrowheads="1"/>
          </p:cNvSpPr>
          <p:nvPr>
            <p:ph type="body" idx="1"/>
          </p:nvPr>
        </p:nvSpPr>
        <p:spPr>
          <a:xfrm>
            <a:off x="914400" y="4343400"/>
            <a:ext cx="5029200" cy="4114800"/>
          </a:xfrm>
          <a:ln/>
        </p:spPr>
        <p:txBody>
          <a:bodyPr lIns="92075" tIns="46038" rIns="92075" bIns="46038"/>
          <a:lstStyle/>
          <a:p>
            <a:r>
              <a:rPr lang="en-US" dirty="0"/>
              <a:t>According to a study conducted by the Association for Talent Development, </a:t>
            </a:r>
            <a:r>
              <a:rPr lang="en-US" b="1" dirty="0"/>
              <a:t>organizations spend an average of approximately $2,000 per salesperson per year on sales training</a:t>
            </a:r>
            <a:r>
              <a:rPr lang="en-US" b="0" dirty="0"/>
              <a:t>.</a:t>
            </a:r>
          </a:p>
          <a:p>
            <a:endParaRPr lang="en-US" b="0" dirty="0"/>
          </a:p>
        </p:txBody>
      </p:sp>
    </p:spTree>
    <p:extLst>
      <p:ext uri="{BB962C8B-B14F-4D97-AF65-F5344CB8AC3E}">
        <p14:creationId xmlns:p14="http://schemas.microsoft.com/office/powerpoint/2010/main" val="2345416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583182EC-FCD5-4A0F-B104-FAE9A55D3472}" type="slidenum">
              <a:rPr lang="en-US"/>
              <a:pPr/>
              <a:t>9</a:t>
            </a:fld>
            <a:endParaRPr lang="en-US" dirty="0"/>
          </a:p>
        </p:txBody>
      </p:sp>
      <p:sp>
        <p:nvSpPr>
          <p:cNvPr id="27650"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27651"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5</a:t>
            </a:r>
          </a:p>
        </p:txBody>
      </p:sp>
      <p:sp>
        <p:nvSpPr>
          <p:cNvPr id="27652"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27653"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27654" name="Rectangle 6"/>
          <p:cNvSpPr>
            <a:spLocks noGrp="1" noRot="1" noChangeAspect="1" noChangeArrowheads="1" noTextEdit="1"/>
          </p:cNvSpPr>
          <p:nvPr>
            <p:ph type="sldImg"/>
          </p:nvPr>
        </p:nvSpPr>
        <p:spPr>
          <a:xfrm>
            <a:off x="1150938" y="692150"/>
            <a:ext cx="4556125" cy="3416300"/>
          </a:xfrm>
          <a:ln w="12700" cap="flat"/>
        </p:spPr>
      </p:sp>
      <p:sp>
        <p:nvSpPr>
          <p:cNvPr id="27655" name="Rectangle 7"/>
          <p:cNvSpPr>
            <a:spLocks noGrp="1" noChangeArrowheads="1"/>
          </p:cNvSpPr>
          <p:nvPr>
            <p:ph type="body" idx="1"/>
          </p:nvPr>
        </p:nvSpPr>
        <p:spPr>
          <a:xfrm>
            <a:off x="914400" y="4343400"/>
            <a:ext cx="5029200" cy="4114800"/>
          </a:xfrm>
          <a:ln/>
        </p:spPr>
        <p:txBody>
          <a:bodyPr lIns="92075" tIns="46038" rIns="92075" bIns="46038"/>
          <a:lstStyle/>
          <a:p>
            <a:r>
              <a:rPr lang="en-US" dirty="0"/>
              <a:t>Companies view training as an important means for protecting their investments in their salesforces. Consequently, they spend a lot of time and money training salespeople. </a:t>
            </a:r>
            <a:r>
              <a:rPr lang="en-US" b="1" dirty="0"/>
              <a:t>One study finds that to onboard new sales reps it takes three months of sales training to initially ready salespeople to interact with buyers, nine months for them to perform competently, and 15 months to become a top performer</a:t>
            </a:r>
            <a:r>
              <a:rPr lang="en-US" b="0" dirty="0"/>
              <a:t>.</a:t>
            </a:r>
          </a:p>
          <a:p>
            <a:endParaRPr lang="en-US" b="0" dirty="0"/>
          </a:p>
          <a:p>
            <a:endParaRPr lang="en-US" b="0" dirty="0"/>
          </a:p>
        </p:txBody>
      </p:sp>
    </p:spTree>
    <p:extLst>
      <p:ext uri="{BB962C8B-B14F-4D97-AF65-F5344CB8AC3E}">
        <p14:creationId xmlns:p14="http://schemas.microsoft.com/office/powerpoint/2010/main" val="591929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Needs assessment requires that sales managers consider the training appropriate for both sales trainees and experienced salespeople</a:t>
            </a:r>
            <a:r>
              <a:rPr lang="en-US" dirty="0"/>
              <a:t>.</a:t>
            </a:r>
          </a:p>
          <a:p>
            <a:endParaRPr lang="en-US" dirty="0"/>
          </a:p>
          <a:p>
            <a:r>
              <a:rPr lang="en-US" dirty="0"/>
              <a:t>What are the </a:t>
            </a:r>
            <a:r>
              <a:rPr lang="en-US" b="1" dirty="0"/>
              <a:t>KNOWLEDGE</a:t>
            </a:r>
            <a:r>
              <a:rPr lang="en-US" dirty="0"/>
              <a:t>, </a:t>
            </a:r>
            <a:r>
              <a:rPr lang="en-US" b="1" dirty="0"/>
              <a:t>SKILLS</a:t>
            </a:r>
            <a:r>
              <a:rPr lang="en-US" dirty="0"/>
              <a:t>, and </a:t>
            </a:r>
            <a:r>
              <a:rPr lang="en-US" b="1" dirty="0"/>
              <a:t>ABILITIES</a:t>
            </a:r>
            <a:r>
              <a:rPr lang="en-US" dirty="0"/>
              <a:t> needed to fulfill selling responsibilities, as well as organizational responsibilities.</a:t>
            </a:r>
          </a:p>
          <a:p>
            <a:endParaRPr lang="en-US" dirty="0"/>
          </a:p>
          <a:p>
            <a:r>
              <a:rPr lang="en-US" dirty="0"/>
              <a:t>Don’t wait to assess when there is a business decline, or decrease in morale to do this assessment! This should be an ongoing process.</a:t>
            </a:r>
          </a:p>
        </p:txBody>
      </p:sp>
      <p:sp>
        <p:nvSpPr>
          <p:cNvPr id="4" name="Slide Number Placeholder 3"/>
          <p:cNvSpPr>
            <a:spLocks noGrp="1"/>
          </p:cNvSpPr>
          <p:nvPr>
            <p:ph type="sldNum" sz="quarter" idx="5"/>
          </p:nvPr>
        </p:nvSpPr>
        <p:spPr/>
        <p:txBody>
          <a:bodyPr/>
          <a:lstStyle/>
          <a:p>
            <a:fld id="{8164E8ED-7D06-4C3E-8BAE-16B93A359B8C}" type="slidenum">
              <a:rPr lang="en-US" altLang="en-US" smtClean="0"/>
              <a:pPr/>
              <a:t>10</a:t>
            </a:fld>
            <a:endParaRPr lang="en-US" altLang="en-US" dirty="0"/>
          </a:p>
        </p:txBody>
      </p:sp>
    </p:spTree>
    <p:extLst>
      <p:ext uri="{BB962C8B-B14F-4D97-AF65-F5344CB8AC3E}">
        <p14:creationId xmlns:p14="http://schemas.microsoft.com/office/powerpoint/2010/main" val="108987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04EDD040-AAAF-4DDB-B469-7D07F58F7498}" type="slidenum">
              <a:rPr lang="en-US"/>
              <a:pPr/>
              <a:t>11</a:t>
            </a:fld>
            <a:endParaRPr lang="en-US" dirty="0"/>
          </a:p>
        </p:txBody>
      </p:sp>
      <p:sp>
        <p:nvSpPr>
          <p:cNvPr id="31746"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31747"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5</a:t>
            </a:r>
          </a:p>
        </p:txBody>
      </p:sp>
      <p:sp>
        <p:nvSpPr>
          <p:cNvPr id="31748"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31749"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31750" name="Rectangle 6"/>
          <p:cNvSpPr>
            <a:spLocks noGrp="1" noRot="1" noChangeAspect="1" noChangeArrowheads="1" noTextEdit="1"/>
          </p:cNvSpPr>
          <p:nvPr>
            <p:ph type="sldImg"/>
          </p:nvPr>
        </p:nvSpPr>
        <p:spPr>
          <a:xfrm>
            <a:off x="1150938" y="692150"/>
            <a:ext cx="4556125" cy="3416300"/>
          </a:xfrm>
          <a:ln w="12700" cap="flat"/>
        </p:spPr>
      </p:sp>
      <p:sp>
        <p:nvSpPr>
          <p:cNvPr id="31751" name="Rectangle 7"/>
          <p:cNvSpPr>
            <a:spLocks noGrp="1" noChangeArrowheads="1"/>
          </p:cNvSpPr>
          <p:nvPr>
            <p:ph type="body" idx="1"/>
          </p:nvPr>
        </p:nvSpPr>
        <p:spPr>
          <a:xfrm>
            <a:off x="914400" y="4343400"/>
            <a:ext cx="5029200" cy="4114800"/>
          </a:xfrm>
          <a:ln/>
        </p:spPr>
        <p:txBody>
          <a:bodyPr lIns="92075" tIns="46038" rIns="92075" bIns="46038"/>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a:t>Salesforce Audit: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To be effective, a salesforce audit should be conducted annually.</a:t>
            </a:r>
          </a:p>
          <a:p>
            <a:pPr marL="171450" indent="-171450">
              <a:buFont typeface="Arial" panose="020B0604020202020204" pitchFamily="34" charset="0"/>
              <a:buChar char="•"/>
            </a:pPr>
            <a:r>
              <a:rPr lang="en-US" dirty="0"/>
              <a:t>Is the training program adequate in light of objectives and resources?</a:t>
            </a:r>
          </a:p>
          <a:p>
            <a:pPr marL="171450" indent="-171450">
              <a:buFont typeface="Arial" panose="020B0604020202020204" pitchFamily="34" charset="0"/>
              <a:buChar char="•"/>
            </a:pPr>
            <a:r>
              <a:rPr lang="en-US" dirty="0"/>
              <a:t>Does the training program need revision?</a:t>
            </a:r>
          </a:p>
          <a:p>
            <a:pPr marL="171450" indent="-171450">
              <a:buFont typeface="Arial" panose="020B0604020202020204" pitchFamily="34" charset="0"/>
              <a:buChar char="•"/>
            </a:pPr>
            <a:r>
              <a:rPr lang="en-US" dirty="0"/>
              <a:t>Is an ongoing training program available for senior salespeople?</a:t>
            </a:r>
          </a:p>
          <a:p>
            <a:pPr marL="171450" indent="-171450">
              <a:buFont typeface="Arial" panose="020B0604020202020204" pitchFamily="34" charset="0"/>
              <a:buChar char="•"/>
            </a:pPr>
            <a:r>
              <a:rPr lang="en-US" dirty="0"/>
              <a:t>Does the training program positively contribute to the socialization/onboarding of sales trainees?</a:t>
            </a:r>
          </a:p>
          <a:p>
            <a:endParaRPr lang="en-US" dirty="0"/>
          </a:p>
        </p:txBody>
      </p:sp>
    </p:spTree>
    <p:extLst>
      <p:ext uri="{BB962C8B-B14F-4D97-AF65-F5344CB8AC3E}">
        <p14:creationId xmlns:p14="http://schemas.microsoft.com/office/powerpoint/2010/main" val="2133500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E026F671-2A6E-4199-B2C3-1880E1D12397}" type="slidenum">
              <a:rPr lang="en-US"/>
              <a:pPr/>
              <a:t>12</a:t>
            </a:fld>
            <a:endParaRPr lang="en-US" dirty="0"/>
          </a:p>
        </p:txBody>
      </p:sp>
      <p:sp>
        <p:nvSpPr>
          <p:cNvPr id="33794"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33795"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7</a:t>
            </a:r>
          </a:p>
        </p:txBody>
      </p:sp>
      <p:sp>
        <p:nvSpPr>
          <p:cNvPr id="33796"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33797"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33798" name="Rectangle 6"/>
          <p:cNvSpPr>
            <a:spLocks noGrp="1" noRot="1" noChangeAspect="1" noChangeArrowheads="1" noTextEdit="1"/>
          </p:cNvSpPr>
          <p:nvPr>
            <p:ph type="sldImg"/>
          </p:nvPr>
        </p:nvSpPr>
        <p:spPr>
          <a:xfrm>
            <a:off x="1150938" y="692150"/>
            <a:ext cx="4556125" cy="3416300"/>
          </a:xfrm>
          <a:ln w="12700" cap="flat"/>
        </p:spPr>
      </p:sp>
      <p:sp>
        <p:nvSpPr>
          <p:cNvPr id="33799" name="Rectangle 7"/>
          <p:cNvSpPr>
            <a:spLocks noGrp="1" noChangeArrowheads="1"/>
          </p:cNvSpPr>
          <p:nvPr>
            <p:ph type="body" idx="1"/>
          </p:nvPr>
        </p:nvSpPr>
        <p:spPr>
          <a:xfrm>
            <a:off x="914400" y="4343400"/>
            <a:ext cx="5029200" cy="4114800"/>
          </a:xfrm>
          <a:ln/>
        </p:spPr>
        <p:txBody>
          <a:bodyPr lIns="92075" tIns="46038" rIns="92075" bIns="46038"/>
          <a:lstStyle/>
          <a:p>
            <a:endParaRPr lang="en-US" dirty="0"/>
          </a:p>
        </p:txBody>
      </p:sp>
    </p:spTree>
    <p:extLst>
      <p:ext uri="{BB962C8B-B14F-4D97-AF65-F5344CB8AC3E}">
        <p14:creationId xmlns:p14="http://schemas.microsoft.com/office/powerpoint/2010/main" val="2722723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E026F671-2A6E-4199-B2C3-1880E1D12397}" type="slidenum">
              <a:rPr lang="en-US"/>
              <a:pPr/>
              <a:t>13</a:t>
            </a:fld>
            <a:endParaRPr lang="en-US" dirty="0"/>
          </a:p>
        </p:txBody>
      </p:sp>
      <p:sp>
        <p:nvSpPr>
          <p:cNvPr id="33794"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33795"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7</a:t>
            </a:r>
          </a:p>
        </p:txBody>
      </p:sp>
      <p:sp>
        <p:nvSpPr>
          <p:cNvPr id="33796"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33797"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33798" name="Rectangle 6"/>
          <p:cNvSpPr>
            <a:spLocks noGrp="1" noRot="1" noChangeAspect="1" noChangeArrowheads="1" noTextEdit="1"/>
          </p:cNvSpPr>
          <p:nvPr>
            <p:ph type="sldImg"/>
          </p:nvPr>
        </p:nvSpPr>
        <p:spPr>
          <a:xfrm>
            <a:off x="1150938" y="692150"/>
            <a:ext cx="4556125" cy="3416300"/>
          </a:xfrm>
          <a:ln w="12700" cap="flat"/>
        </p:spPr>
      </p:sp>
      <p:sp>
        <p:nvSpPr>
          <p:cNvPr id="33799" name="Rectangle 7"/>
          <p:cNvSpPr>
            <a:spLocks noGrp="1" noChangeArrowheads="1"/>
          </p:cNvSpPr>
          <p:nvPr>
            <p:ph type="body" idx="1"/>
          </p:nvPr>
        </p:nvSpPr>
        <p:spPr>
          <a:xfrm>
            <a:off x="914400" y="4343400"/>
            <a:ext cx="5029200" cy="4114800"/>
          </a:xfrm>
          <a:ln/>
        </p:spPr>
        <p:txBody>
          <a:bodyPr lIns="92075" tIns="46038" rIns="92075" bIns="46038"/>
          <a:lstStyle/>
          <a:p>
            <a:endParaRPr lang="en-US" dirty="0"/>
          </a:p>
        </p:txBody>
      </p:sp>
    </p:spTree>
    <p:extLst>
      <p:ext uri="{BB962C8B-B14F-4D97-AF65-F5344CB8AC3E}">
        <p14:creationId xmlns:p14="http://schemas.microsoft.com/office/powerpoint/2010/main" val="2053922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E026F671-2A6E-4199-B2C3-1880E1D12397}" type="slidenum">
              <a:rPr lang="en-US"/>
              <a:pPr/>
              <a:t>14</a:t>
            </a:fld>
            <a:endParaRPr lang="en-US" dirty="0"/>
          </a:p>
        </p:txBody>
      </p:sp>
      <p:sp>
        <p:nvSpPr>
          <p:cNvPr id="33794"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33795"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7</a:t>
            </a:r>
          </a:p>
        </p:txBody>
      </p:sp>
      <p:sp>
        <p:nvSpPr>
          <p:cNvPr id="33796"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33797"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33798" name="Rectangle 6"/>
          <p:cNvSpPr>
            <a:spLocks noGrp="1" noRot="1" noChangeAspect="1" noChangeArrowheads="1" noTextEdit="1"/>
          </p:cNvSpPr>
          <p:nvPr>
            <p:ph type="sldImg"/>
          </p:nvPr>
        </p:nvSpPr>
        <p:spPr>
          <a:xfrm>
            <a:off x="1150938" y="692150"/>
            <a:ext cx="4556125" cy="3416300"/>
          </a:xfrm>
          <a:ln w="12700" cap="flat"/>
        </p:spPr>
      </p:sp>
      <p:sp>
        <p:nvSpPr>
          <p:cNvPr id="33799" name="Rectangle 7"/>
          <p:cNvSpPr>
            <a:spLocks noGrp="1" noChangeArrowheads="1"/>
          </p:cNvSpPr>
          <p:nvPr>
            <p:ph type="body" idx="1"/>
          </p:nvPr>
        </p:nvSpPr>
        <p:spPr>
          <a:xfrm>
            <a:off x="914400" y="4343400"/>
            <a:ext cx="5029200" cy="4114800"/>
          </a:xfrm>
          <a:ln/>
        </p:spPr>
        <p:txBody>
          <a:bodyPr lIns="92075" tIns="46038" rIns="92075" bIns="46038"/>
          <a:lstStyle/>
          <a:p>
            <a:endParaRPr lang="en-US" dirty="0"/>
          </a:p>
        </p:txBody>
      </p:sp>
    </p:spTree>
    <p:extLst>
      <p:ext uri="{BB962C8B-B14F-4D97-AF65-F5344CB8AC3E}">
        <p14:creationId xmlns:p14="http://schemas.microsoft.com/office/powerpoint/2010/main" val="1736970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80C56331-9884-4C66-A76D-340790F01890}" type="slidenum">
              <a:rPr lang="en-US"/>
              <a:pPr/>
              <a:t>15</a:t>
            </a:fld>
            <a:endParaRPr lang="en-US" dirty="0"/>
          </a:p>
        </p:txBody>
      </p:sp>
      <p:sp>
        <p:nvSpPr>
          <p:cNvPr id="39938"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7</a:t>
            </a:r>
          </a:p>
        </p:txBody>
      </p:sp>
      <p:sp>
        <p:nvSpPr>
          <p:cNvPr id="39940"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39941"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w="12700" cap="flat"/>
        </p:spPr>
      </p:sp>
      <p:sp>
        <p:nvSpPr>
          <p:cNvPr id="39943" name="Rectangle 7"/>
          <p:cNvSpPr>
            <a:spLocks noGrp="1" noChangeArrowheads="1"/>
          </p:cNvSpPr>
          <p:nvPr>
            <p:ph type="body" idx="1"/>
          </p:nvPr>
        </p:nvSpPr>
        <p:spPr>
          <a:xfrm>
            <a:off x="914400" y="4343400"/>
            <a:ext cx="5029200" cy="4114800"/>
          </a:xfrm>
          <a:ln/>
        </p:spPr>
        <p:txBody>
          <a:bodyPr lIns="92075" tIns="46038" rIns="92075" bIns="46038"/>
          <a:lstStyle/>
          <a:p>
            <a:endParaRPr lang="en-US" dirty="0"/>
          </a:p>
        </p:txBody>
      </p:sp>
    </p:spTree>
    <p:extLst>
      <p:ext uri="{BB962C8B-B14F-4D97-AF65-F5344CB8AC3E}">
        <p14:creationId xmlns:p14="http://schemas.microsoft.com/office/powerpoint/2010/main" val="1106218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70F500-04E0-4942-AB9E-C726BD641816}" type="slidenum">
              <a:rPr lang="en-US" smtClean="0"/>
              <a:pPr/>
              <a:t>16</a:t>
            </a:fld>
            <a:endParaRPr lang="en-US" dirty="0"/>
          </a:p>
        </p:txBody>
      </p:sp>
    </p:spTree>
    <p:extLst>
      <p:ext uri="{BB962C8B-B14F-4D97-AF65-F5344CB8AC3E}">
        <p14:creationId xmlns:p14="http://schemas.microsoft.com/office/powerpoint/2010/main" val="28479332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A22E4BB-A31B-4245-BF76-EFB414C0DF4E}" type="slidenum">
              <a:rPr kumimoji="0" lang="en-US" sz="1200" b="0" i="0" u="none" strike="noStrike" kern="1200" cap="none" spc="0" normalizeH="0" baseline="0" noProof="0">
                <a:ln>
                  <a:noFill/>
                </a:ln>
                <a:solidFill>
                  <a:srgbClr val="000000"/>
                </a:solidFill>
                <a:effectLst/>
                <a:uLnTx/>
                <a:uFillTx/>
                <a:latin typeface="Times"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sz="12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46082"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46083"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Times New Roman" pitchFamily="18" charset="0"/>
                <a:ea typeface="+mn-ea"/>
                <a:cs typeface="+mn-cs"/>
              </a:rPr>
              <a:t>8</a:t>
            </a:r>
          </a:p>
        </p:txBody>
      </p:sp>
      <p:sp>
        <p:nvSpPr>
          <p:cNvPr id="46084"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46085"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46086" name="Rectangle 6"/>
          <p:cNvSpPr>
            <a:spLocks noGrp="1" noRot="1" noChangeAspect="1" noChangeArrowheads="1" noTextEdit="1"/>
          </p:cNvSpPr>
          <p:nvPr>
            <p:ph type="sldImg"/>
          </p:nvPr>
        </p:nvSpPr>
        <p:spPr>
          <a:xfrm>
            <a:off x="1150938" y="692150"/>
            <a:ext cx="4556125" cy="3416300"/>
          </a:xfrm>
          <a:ln w="12700" cap="flat"/>
        </p:spPr>
      </p:sp>
      <p:sp>
        <p:nvSpPr>
          <p:cNvPr id="46087" name="Rectangle 7"/>
          <p:cNvSpPr>
            <a:spLocks noGrp="1" noChangeArrowheads="1"/>
          </p:cNvSpPr>
          <p:nvPr>
            <p:ph type="body" idx="1"/>
          </p:nvPr>
        </p:nvSpPr>
        <p:spPr>
          <a:xfrm>
            <a:off x="914400" y="4343400"/>
            <a:ext cx="5029200" cy="4114800"/>
          </a:xfrm>
          <a:ln/>
        </p:spPr>
        <p:txBody>
          <a:bodyPr lIns="92075" tIns="46038" rIns="92075" bIns="46038"/>
          <a:lstStyle/>
          <a:p>
            <a:r>
              <a:rPr lang="en-US" dirty="0"/>
              <a:t>Setting specific, measurable, and obtainable </a:t>
            </a:r>
            <a:r>
              <a:rPr lang="en-US" b="1" dirty="0"/>
              <a:t>sales training objectives</a:t>
            </a:r>
            <a:r>
              <a:rPr lang="en-US" dirty="0"/>
              <a:t>. Or “</a:t>
            </a:r>
            <a:r>
              <a:rPr lang="en-US" b="1" dirty="0"/>
              <a:t>SMAC</a:t>
            </a:r>
            <a:r>
              <a:rPr lang="en-US" dirty="0"/>
              <a:t>”– specific, measurable, achievable, compatible (to the main goal)</a:t>
            </a:r>
          </a:p>
        </p:txBody>
      </p:sp>
    </p:spTree>
    <p:extLst>
      <p:ext uri="{BB962C8B-B14F-4D97-AF65-F5344CB8AC3E}">
        <p14:creationId xmlns:p14="http://schemas.microsoft.com/office/powerpoint/2010/main" val="1078172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5A22E4BB-A31B-4245-BF76-EFB414C0DF4E}" type="slidenum">
              <a:rPr lang="en-US"/>
              <a:pPr/>
              <a:t>18</a:t>
            </a:fld>
            <a:endParaRPr lang="en-US" dirty="0"/>
          </a:p>
        </p:txBody>
      </p:sp>
      <p:sp>
        <p:nvSpPr>
          <p:cNvPr id="46082"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46083"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8</a:t>
            </a:r>
          </a:p>
        </p:txBody>
      </p:sp>
      <p:sp>
        <p:nvSpPr>
          <p:cNvPr id="46084"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46085"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46086" name="Rectangle 6"/>
          <p:cNvSpPr>
            <a:spLocks noGrp="1" noRot="1" noChangeAspect="1" noChangeArrowheads="1" noTextEdit="1"/>
          </p:cNvSpPr>
          <p:nvPr>
            <p:ph type="sldImg"/>
          </p:nvPr>
        </p:nvSpPr>
        <p:spPr>
          <a:xfrm>
            <a:off x="1150938" y="692150"/>
            <a:ext cx="4556125" cy="3416300"/>
          </a:xfrm>
          <a:ln w="12700" cap="flat"/>
        </p:spPr>
      </p:sp>
      <p:sp>
        <p:nvSpPr>
          <p:cNvPr id="46087" name="Rectangle 7"/>
          <p:cNvSpPr>
            <a:spLocks noGrp="1" noChangeArrowheads="1"/>
          </p:cNvSpPr>
          <p:nvPr>
            <p:ph type="body" idx="1"/>
          </p:nvPr>
        </p:nvSpPr>
        <p:spPr>
          <a:xfrm>
            <a:off x="914400" y="4343400"/>
            <a:ext cx="5029200" cy="4114800"/>
          </a:xfrm>
          <a:ln/>
        </p:spPr>
        <p:txBody>
          <a:bodyPr lIns="92075" tIns="46038" rIns="92075" bIns="46038"/>
          <a:lstStyle/>
          <a:p>
            <a:r>
              <a:rPr lang="en-US" dirty="0"/>
              <a:t>Objectives are interrelated.</a:t>
            </a:r>
          </a:p>
          <a:p>
            <a:endParaRPr lang="en-US" dirty="0"/>
          </a:p>
        </p:txBody>
      </p:sp>
    </p:spTree>
    <p:extLst>
      <p:ext uri="{BB962C8B-B14F-4D97-AF65-F5344CB8AC3E}">
        <p14:creationId xmlns:p14="http://schemas.microsoft.com/office/powerpoint/2010/main" val="414740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869BADDC-0F43-41EF-8A5E-82FC3ED3946E}" type="slidenum">
              <a:rPr lang="en-US"/>
              <a:pPr/>
              <a:t>19</a:t>
            </a:fld>
            <a:endParaRPr lang="en-US" dirty="0"/>
          </a:p>
        </p:txBody>
      </p:sp>
      <p:sp>
        <p:nvSpPr>
          <p:cNvPr id="52226"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52227"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9</a:t>
            </a:r>
          </a:p>
        </p:txBody>
      </p:sp>
      <p:sp>
        <p:nvSpPr>
          <p:cNvPr id="52228"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52229"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52230" name="Rectangle 6"/>
          <p:cNvSpPr>
            <a:spLocks noGrp="1" noRot="1" noChangeAspect="1" noChangeArrowheads="1" noTextEdit="1"/>
          </p:cNvSpPr>
          <p:nvPr>
            <p:ph type="sldImg"/>
          </p:nvPr>
        </p:nvSpPr>
        <p:spPr>
          <a:xfrm>
            <a:off x="1150938" y="692150"/>
            <a:ext cx="4556125" cy="3416300"/>
          </a:xfrm>
          <a:ln w="12700" cap="flat"/>
        </p:spPr>
      </p:sp>
      <p:sp>
        <p:nvSpPr>
          <p:cNvPr id="52231" name="Rectangle 7"/>
          <p:cNvSpPr>
            <a:spLocks noGrp="1" noChangeArrowheads="1"/>
          </p:cNvSpPr>
          <p:nvPr>
            <p:ph type="body" idx="1"/>
          </p:nvPr>
        </p:nvSpPr>
        <p:spPr>
          <a:xfrm>
            <a:off x="914400" y="4343400"/>
            <a:ext cx="5029200" cy="4114800"/>
          </a:xfrm>
          <a:ln/>
        </p:spPr>
        <p:txBody>
          <a:bodyPr lIns="92075" tIns="46038" rIns="92075" bIns="46038"/>
          <a:lstStyle/>
          <a:p>
            <a:r>
              <a:rPr lang="en-US" dirty="0"/>
              <a:t>Consider cost!</a:t>
            </a:r>
          </a:p>
        </p:txBody>
      </p:sp>
    </p:spTree>
    <p:extLst>
      <p:ext uri="{BB962C8B-B14F-4D97-AF65-F5344CB8AC3E}">
        <p14:creationId xmlns:p14="http://schemas.microsoft.com/office/powerpoint/2010/main" val="647183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3A182CAE-D5AC-4330-955C-CF1E1E5316A2}" type="slidenum">
              <a:rPr lang="en-US"/>
              <a:pPr/>
              <a:t>20</a:t>
            </a:fld>
            <a:endParaRPr lang="en-US" dirty="0"/>
          </a:p>
        </p:txBody>
      </p:sp>
      <p:sp>
        <p:nvSpPr>
          <p:cNvPr id="56322"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56323"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9</a:t>
            </a:r>
          </a:p>
        </p:txBody>
      </p:sp>
      <p:sp>
        <p:nvSpPr>
          <p:cNvPr id="56324"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56325"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56326" name="Rectangle 6"/>
          <p:cNvSpPr>
            <a:spLocks noGrp="1" noRot="1" noChangeAspect="1" noChangeArrowheads="1" noTextEdit="1"/>
          </p:cNvSpPr>
          <p:nvPr>
            <p:ph type="sldImg"/>
          </p:nvPr>
        </p:nvSpPr>
        <p:spPr>
          <a:xfrm>
            <a:off x="1150938" y="692150"/>
            <a:ext cx="4556125" cy="3416300"/>
          </a:xfrm>
          <a:ln w="12700" cap="flat"/>
        </p:spPr>
      </p:sp>
      <p:sp>
        <p:nvSpPr>
          <p:cNvPr id="56327" name="Rectangle 7"/>
          <p:cNvSpPr>
            <a:spLocks noGrp="1" noChangeArrowheads="1"/>
          </p:cNvSpPr>
          <p:nvPr>
            <p:ph type="body" idx="1"/>
          </p:nvPr>
        </p:nvSpPr>
        <p:spPr>
          <a:xfrm>
            <a:off x="914400" y="4343400"/>
            <a:ext cx="5029200" cy="4114800"/>
          </a:xfrm>
          <a:ln/>
        </p:spPr>
        <p:txBody>
          <a:bodyPr lIns="92075" tIns="46038" rIns="92075" bIns="46038"/>
          <a:lstStyle/>
          <a:p>
            <a:r>
              <a:rPr lang="en-US" dirty="0"/>
              <a:t>Consider cost!</a:t>
            </a:r>
          </a:p>
        </p:txBody>
      </p:sp>
    </p:spTree>
    <p:extLst>
      <p:ext uri="{BB962C8B-B14F-4D97-AF65-F5344CB8AC3E}">
        <p14:creationId xmlns:p14="http://schemas.microsoft.com/office/powerpoint/2010/main" val="27111322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ENDED HERE</a:t>
            </a:r>
          </a:p>
        </p:txBody>
      </p:sp>
      <p:sp>
        <p:nvSpPr>
          <p:cNvPr id="4" name="Slide Number Placeholder 3"/>
          <p:cNvSpPr>
            <a:spLocks noGrp="1"/>
          </p:cNvSpPr>
          <p:nvPr>
            <p:ph type="sldNum" sz="quarter" idx="5"/>
          </p:nvPr>
        </p:nvSpPr>
        <p:spPr/>
        <p:txBody>
          <a:bodyPr/>
          <a:lstStyle/>
          <a:p>
            <a:fld id="{8164E8ED-7D06-4C3E-8BAE-16B93A359B8C}" type="slidenum">
              <a:rPr lang="en-US" altLang="en-US" smtClean="0"/>
              <a:pPr/>
              <a:t>21</a:t>
            </a:fld>
            <a:endParaRPr lang="en-US" altLang="en-US" dirty="0"/>
          </a:p>
        </p:txBody>
      </p:sp>
    </p:spTree>
    <p:extLst>
      <p:ext uri="{BB962C8B-B14F-4D97-AF65-F5344CB8AC3E}">
        <p14:creationId xmlns:p14="http://schemas.microsoft.com/office/powerpoint/2010/main" val="818985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57A5C6EA-3ECE-4C8A-A2D1-19CB82E78D96}" type="slidenum">
              <a:rPr lang="en-US"/>
              <a:pPr/>
              <a:t>25</a:t>
            </a:fld>
            <a:endParaRPr lang="en-US" dirty="0"/>
          </a:p>
        </p:txBody>
      </p:sp>
      <p:sp>
        <p:nvSpPr>
          <p:cNvPr id="58370"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58371"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9</a:t>
            </a:r>
          </a:p>
        </p:txBody>
      </p:sp>
      <p:sp>
        <p:nvSpPr>
          <p:cNvPr id="58372"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58373"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58374" name="Rectangle 6"/>
          <p:cNvSpPr>
            <a:spLocks noGrp="1" noRot="1" noChangeAspect="1" noChangeArrowheads="1" noTextEdit="1"/>
          </p:cNvSpPr>
          <p:nvPr>
            <p:ph type="sldImg"/>
          </p:nvPr>
        </p:nvSpPr>
        <p:spPr>
          <a:xfrm>
            <a:off x="1150938" y="692150"/>
            <a:ext cx="4556125" cy="3416300"/>
          </a:xfrm>
          <a:ln w="12700" cap="flat"/>
        </p:spPr>
      </p:sp>
      <p:sp>
        <p:nvSpPr>
          <p:cNvPr id="58375" name="Rectangle 7"/>
          <p:cNvSpPr>
            <a:spLocks noGrp="1" noChangeArrowheads="1"/>
          </p:cNvSpPr>
          <p:nvPr>
            <p:ph type="body" idx="1"/>
          </p:nvPr>
        </p:nvSpPr>
        <p:spPr>
          <a:xfrm>
            <a:off x="914400" y="4343400"/>
            <a:ext cx="5029200" cy="4114800"/>
          </a:xfrm>
          <a:ln/>
        </p:spPr>
        <p:txBody>
          <a:bodyPr lIns="92075" tIns="46038" rIns="92075" bIns="46038"/>
          <a:lstStyle/>
          <a:p>
            <a:endParaRPr lang="en-US" dirty="0"/>
          </a:p>
        </p:txBody>
      </p:sp>
    </p:spTree>
    <p:extLst>
      <p:ext uri="{BB962C8B-B14F-4D97-AF65-F5344CB8AC3E}">
        <p14:creationId xmlns:p14="http://schemas.microsoft.com/office/powerpoint/2010/main" val="30691550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E115491C-E519-41A4-BFCC-742C9AD6551E}" type="slidenum">
              <a:rPr lang="en-US"/>
              <a:pPr/>
              <a:t>26</a:t>
            </a:fld>
            <a:endParaRPr lang="en-US" dirty="0"/>
          </a:p>
        </p:txBody>
      </p:sp>
      <p:sp>
        <p:nvSpPr>
          <p:cNvPr id="60418"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dirty="0"/>
          </a:p>
        </p:txBody>
      </p:sp>
      <p:sp>
        <p:nvSpPr>
          <p:cNvPr id="60419"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b="0" dirty="0">
                <a:latin typeface="Times New Roman" pitchFamily="18" charset="0"/>
              </a:rPr>
              <a:t>9</a:t>
            </a:r>
          </a:p>
        </p:txBody>
      </p:sp>
      <p:sp>
        <p:nvSpPr>
          <p:cNvPr id="60420"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dirty="0"/>
          </a:p>
        </p:txBody>
      </p:sp>
      <p:sp>
        <p:nvSpPr>
          <p:cNvPr id="60421"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dirty="0"/>
          </a:p>
        </p:txBody>
      </p:sp>
      <p:sp>
        <p:nvSpPr>
          <p:cNvPr id="60422" name="Rectangle 6"/>
          <p:cNvSpPr>
            <a:spLocks noGrp="1" noRot="1" noChangeAspect="1" noChangeArrowheads="1" noTextEdit="1"/>
          </p:cNvSpPr>
          <p:nvPr>
            <p:ph type="sldImg"/>
          </p:nvPr>
        </p:nvSpPr>
        <p:spPr>
          <a:xfrm>
            <a:off x="1150938" y="692150"/>
            <a:ext cx="4556125" cy="3416300"/>
          </a:xfrm>
          <a:ln w="12700" cap="flat"/>
        </p:spPr>
      </p:sp>
      <p:sp>
        <p:nvSpPr>
          <p:cNvPr id="60423" name="Rectangle 7"/>
          <p:cNvSpPr>
            <a:spLocks noGrp="1" noChangeArrowheads="1"/>
          </p:cNvSpPr>
          <p:nvPr>
            <p:ph type="body" idx="1"/>
          </p:nvPr>
        </p:nvSpPr>
        <p:spPr>
          <a:xfrm>
            <a:off x="914400" y="4343400"/>
            <a:ext cx="5029200" cy="4114800"/>
          </a:xfrm>
          <a:ln/>
        </p:spPr>
        <p:txBody>
          <a:bodyPr lIns="92075" tIns="46038" rIns="92075" bIns="46038"/>
          <a:lstStyle/>
          <a:p>
            <a:endParaRPr lang="en-US" dirty="0"/>
          </a:p>
        </p:txBody>
      </p:sp>
    </p:spTree>
    <p:extLst>
      <p:ext uri="{BB962C8B-B14F-4D97-AF65-F5344CB8AC3E}">
        <p14:creationId xmlns:p14="http://schemas.microsoft.com/office/powerpoint/2010/main" val="4182303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70F500-04E0-4942-AB9E-C726BD641816}" type="slidenum">
              <a:rPr lang="en-US" smtClean="0"/>
              <a:pPr/>
              <a:t>31</a:t>
            </a:fld>
            <a:endParaRPr lang="en-US" dirty="0"/>
          </a:p>
        </p:txBody>
      </p:sp>
    </p:spTree>
    <p:extLst>
      <p:ext uri="{BB962C8B-B14F-4D97-AF65-F5344CB8AC3E}">
        <p14:creationId xmlns:p14="http://schemas.microsoft.com/office/powerpoint/2010/main" val="34626811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70F500-04E0-4942-AB9E-C726BD641816}" type="slidenum">
              <a:rPr lang="en-US" smtClean="0"/>
              <a:pPr/>
              <a:t>32</a:t>
            </a:fld>
            <a:endParaRPr lang="en-US" dirty="0"/>
          </a:p>
        </p:txBody>
      </p:sp>
    </p:spTree>
    <p:extLst>
      <p:ext uri="{BB962C8B-B14F-4D97-AF65-F5344CB8AC3E}">
        <p14:creationId xmlns:p14="http://schemas.microsoft.com/office/powerpoint/2010/main" val="19356704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155" name="Rectangle 3"/>
          <p:cNvSpPr>
            <a:spLocks noGrp="1" noChangeArrowheads="1"/>
          </p:cNvSpPr>
          <p:nvPr>
            <p:ph type="ctrTitle"/>
          </p:nvPr>
        </p:nvSpPr>
        <p:spPr>
          <a:xfrm>
            <a:off x="228600" y="2514600"/>
            <a:ext cx="7467600" cy="1295400"/>
          </a:xfrm>
        </p:spPr>
        <p:txBody>
          <a:bodyPr anchor="t"/>
          <a:lstStyle>
            <a:lvl1pPr>
              <a:defRPr/>
            </a:lvl1pPr>
          </a:lstStyle>
          <a:p>
            <a:pPr lvl="0"/>
            <a:r>
              <a:rPr lang="en-US" altLang="en-US" noProof="0"/>
              <a:t>Click to edit Master title style</a:t>
            </a:r>
          </a:p>
        </p:txBody>
      </p:sp>
      <p:pic>
        <p:nvPicPr>
          <p:cNvPr id="5" name="Picture 18" descr="Routledge_RGB.jpg                                              0003463BMacintosh HD                   BC35053E:"/>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22761"/>
            <a:ext cx="1905000" cy="5348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cene3d>
            <a:camera prst="orthographicFront"/>
            <a:lightRig rig="threePt" dir="t"/>
          </a:scene3d>
          <a:sp3d>
            <a:bevelT w="69850"/>
          </a:sp3d>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820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95097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sz="half" idx="1"/>
          </p:nvPr>
        </p:nvSpPr>
        <p:spPr>
          <a:xfrm>
            <a:off x="406400" y="1557338"/>
            <a:ext cx="4025900"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4700" y="1557338"/>
            <a:ext cx="4027488"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0529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scene3d>
            <a:camera prst="orthographicFront"/>
            <a:lightRig rig="threePt" dir="t"/>
          </a:scene3d>
          <a:sp3d>
            <a:bevelT w="69850"/>
          </a:sp3d>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42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cene3d>
            <a:camera prst="orthographicFront"/>
            <a:lightRig rig="threePt" dir="t"/>
          </a:scene3d>
          <a:sp3d>
            <a:bevelT w="69850"/>
          </a:sp3d>
        </p:spPr>
        <p:txBody>
          <a:bodyPr/>
          <a:lstStyle/>
          <a:p>
            <a:r>
              <a:rPr lang="en-US" dirty="0"/>
              <a:t>Click to edit Master title style</a:t>
            </a:r>
          </a:p>
        </p:txBody>
      </p:sp>
    </p:spTree>
    <p:extLst>
      <p:ext uri="{BB962C8B-B14F-4D97-AF65-F5344CB8AC3E}">
        <p14:creationId xmlns:p14="http://schemas.microsoft.com/office/powerpoint/2010/main" val="70264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87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202862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276008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scene3d>
            <a:camera prst="orthographicFront"/>
            <a:lightRig rig="threePt" dir="t"/>
          </a:scene3d>
          <a:sp3d>
            <a:bevelT w="69850"/>
          </a:sp3d>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7786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1526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304800"/>
            <a:ext cx="63055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0597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155" name="Rectangle 3"/>
          <p:cNvSpPr>
            <a:spLocks noGrp="1" noChangeArrowheads="1"/>
          </p:cNvSpPr>
          <p:nvPr>
            <p:ph type="ctrTitle"/>
          </p:nvPr>
        </p:nvSpPr>
        <p:spPr>
          <a:xfrm>
            <a:off x="228600" y="2514600"/>
            <a:ext cx="7467600" cy="1295400"/>
          </a:xfrm>
          <a:solidFill>
            <a:schemeClr val="bg1">
              <a:lumMod val="85000"/>
            </a:schemeClr>
          </a:solidFill>
          <a:scene3d>
            <a:camera prst="orthographicFront"/>
            <a:lightRig rig="threePt" dir="t"/>
          </a:scene3d>
          <a:sp3d>
            <a:bevelT w="69850"/>
          </a:sp3d>
        </p:spPr>
        <p:txBody>
          <a:bodyPr anchor="t"/>
          <a:lstStyle>
            <a:lvl1pPr>
              <a:defRPr/>
            </a:lvl1pPr>
          </a:lstStyle>
          <a:p>
            <a:pPr lvl="0"/>
            <a:r>
              <a:rPr lang="en-US" altLang="en-US" noProof="0" dirty="0"/>
              <a:t>Click to edit Master title style</a:t>
            </a:r>
          </a:p>
        </p:txBody>
      </p:sp>
      <p:pic>
        <p:nvPicPr>
          <p:cNvPr id="5" name="Picture 18" descr="Routledge_RGB.jpg                                              0003463BMacintosh HD                   BC35053E:"/>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22761"/>
            <a:ext cx="1905000" cy="534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1552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5754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816810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sz="half" idx="1"/>
          </p:nvPr>
        </p:nvSpPr>
        <p:spPr>
          <a:xfrm>
            <a:off x="406400" y="1557338"/>
            <a:ext cx="4025900"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4700" y="1557338"/>
            <a:ext cx="4027488"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35196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25907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Tree>
    <p:extLst>
      <p:ext uri="{BB962C8B-B14F-4D97-AF65-F5344CB8AC3E}">
        <p14:creationId xmlns:p14="http://schemas.microsoft.com/office/powerpoint/2010/main" val="10733722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29202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5887094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383545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33100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1526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304800"/>
            <a:ext cx="63055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71870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155" name="Rectangle 3"/>
          <p:cNvSpPr>
            <a:spLocks noGrp="1" noChangeArrowheads="1"/>
          </p:cNvSpPr>
          <p:nvPr>
            <p:ph type="ctrTitle"/>
          </p:nvPr>
        </p:nvSpPr>
        <p:spPr>
          <a:xfrm>
            <a:off x="228600" y="2514600"/>
            <a:ext cx="7467600" cy="1295400"/>
          </a:xfrm>
        </p:spPr>
        <p:txBody>
          <a:bodyPr anchor="t"/>
          <a:lstStyle>
            <a:lvl1pPr>
              <a:defRPr/>
            </a:lvl1pPr>
          </a:lstStyle>
          <a:p>
            <a:pPr lvl="0"/>
            <a:r>
              <a:rPr lang="en-US" altLang="en-US" noProof="0"/>
              <a:t>Click to edit Master title style</a:t>
            </a:r>
          </a:p>
        </p:txBody>
      </p:sp>
      <p:pic>
        <p:nvPicPr>
          <p:cNvPr id="49170" name="Picture 18" descr="Routledge_RGB.jpg                                              0003463BMacintosh HD                   BC35053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2761"/>
            <a:ext cx="1905000" cy="534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833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30555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984927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557338"/>
            <a:ext cx="4025900" cy="4233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4700" y="1557338"/>
            <a:ext cx="4027488" cy="4233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76626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17174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Tree>
    <p:extLst>
      <p:ext uri="{BB962C8B-B14F-4D97-AF65-F5344CB8AC3E}">
        <p14:creationId xmlns:p14="http://schemas.microsoft.com/office/powerpoint/2010/main" val="24747982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69243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094121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407008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37229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1526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304800"/>
            <a:ext cx="63055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0515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bwMode="auto">
          <a:xfrm>
            <a:off x="152400" y="304800"/>
            <a:ext cx="8610600" cy="1066800"/>
          </a:xfrm>
          <a:prstGeom prst="rect">
            <a:avLst/>
          </a:prstGeom>
          <a:noFill/>
          <a:ln>
            <a:noFill/>
          </a:ln>
          <a:effectLst/>
          <a:scene3d>
            <a:camera prst="orthographicFront"/>
            <a:lightRig rig="threePt" dir="t"/>
          </a:scene3d>
          <a:sp3d>
            <a:bevelT w="69850"/>
          </a:sp3d>
          <a:extLst>
            <a:ext uri="{909E8E84-426E-40DD-AFC4-6F175D3DCCD1}">
              <a14:hiddenFill xmlns:a14="http://schemas.microsoft.com/office/drawing/2010/main">
                <a:solidFill>
                  <a:srgbClr val="11147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48132" name="Rectangle 4"/>
          <p:cNvSpPr>
            <a:spLocks noGrp="1" noChangeArrowheads="1"/>
          </p:cNvSpPr>
          <p:nvPr>
            <p:ph type="body" idx="1"/>
          </p:nvPr>
        </p:nvSpPr>
        <p:spPr bwMode="auto">
          <a:xfrm>
            <a:off x="406400" y="1557338"/>
            <a:ext cx="8205788"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5" name="Picture 18" descr="Routledge_RGB.jpg                                              0003463BMacintosh HD                   BC35053E:"/>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6448389"/>
            <a:ext cx="1447800" cy="4061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E1FED97-4E68-BA2E-41F9-E85F2677856B}"/>
              </a:ext>
            </a:extLst>
          </p:cNvPr>
          <p:cNvSpPr txBox="1"/>
          <p:nvPr userDrawn="1">
            <p:extLst>
              <p:ext uri="{1162E1C5-73C7-4A58-AE30-91384D911F3F}">
                <p184:classification xmlns:p184="http://schemas.microsoft.com/office/powerpoint/2018/4/main" val="ftr"/>
              </p:ext>
            </p:extLst>
          </p:nvPr>
        </p:nvSpPr>
        <p:spPr>
          <a:xfrm>
            <a:off x="190500" y="6530340"/>
            <a:ext cx="1857375" cy="137160"/>
          </a:xfrm>
          <a:prstGeom prst="rect">
            <a:avLst/>
          </a:prstGeom>
        </p:spPr>
        <p:txBody>
          <a:bodyPr horzOverflow="overflow" lIns="0" tIns="0" rIns="0" bIns="0">
            <a:spAutoFit/>
          </a:bodyPr>
          <a:lstStyle/>
          <a:p>
            <a:pPr algn="l"/>
            <a:r>
              <a:rPr lang="en-GB" sz="900">
                <a:solidFill>
                  <a:srgbClr val="0078D7"/>
                </a:solidFill>
                <a:latin typeface="Rockwell" panose="02060603020205020403" pitchFamily="18" charset="0"/>
              </a:rPr>
              <a:t>Information Classification: General</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p:titleStyle>
    <p:bodyStyle>
      <a:lvl1pPr marL="292100" indent="-292100" algn="l" rtl="0" eaLnBrk="1" fontAlgn="base" hangingPunct="1">
        <a:spcBef>
          <a:spcPct val="20000"/>
        </a:spcBef>
        <a:spcAft>
          <a:spcPct val="0"/>
        </a:spcAft>
        <a:buClr>
          <a:srgbClr val="0A57A5"/>
        </a:buClr>
        <a:buChar char="•"/>
        <a:defRPr sz="2400" kern="1200">
          <a:solidFill>
            <a:schemeClr val="tx2"/>
          </a:solidFill>
          <a:latin typeface="Arial" panose="020B0604020202020204" pitchFamily="34" charset="0"/>
          <a:ea typeface="+mn-ea"/>
          <a:cs typeface="Arial" panose="020B0604020202020204" pitchFamily="34" charset="0"/>
        </a:defRPr>
      </a:lvl1pPr>
      <a:lvl2pPr marL="673100" indent="-190500" algn="l" rtl="0" eaLnBrk="1" fontAlgn="base" hangingPunct="1">
        <a:spcBef>
          <a:spcPct val="20000"/>
        </a:spcBef>
        <a:spcAft>
          <a:spcPct val="0"/>
        </a:spcAft>
        <a:buClr>
          <a:srgbClr val="0A57A5"/>
        </a:buClr>
        <a:buFont typeface="Times" panose="02020603050405020304" pitchFamily="18" charset="0"/>
        <a:buChar char="•"/>
        <a:defRPr sz="2000" kern="1200">
          <a:solidFill>
            <a:srgbClr val="1A137B"/>
          </a:solidFill>
          <a:latin typeface="Arial" panose="020B0604020202020204" pitchFamily="34" charset="0"/>
          <a:ea typeface="+mn-ea"/>
          <a:cs typeface="Arial" panose="020B0604020202020204" pitchFamily="34" charset="0"/>
        </a:defRPr>
      </a:lvl2pPr>
      <a:lvl3pPr marL="1054100" indent="-190500" algn="l" rtl="0" eaLnBrk="1" fontAlgn="base" hangingPunct="1">
        <a:spcBef>
          <a:spcPct val="20000"/>
        </a:spcBef>
        <a:spcAft>
          <a:spcPct val="0"/>
        </a:spcAft>
        <a:buClr>
          <a:srgbClr val="0A57A5"/>
        </a:buClr>
        <a:buFont typeface="Times" panose="02020603050405020304" pitchFamily="18" charset="0"/>
        <a:buChar char="•"/>
        <a:defRPr kern="1200">
          <a:solidFill>
            <a:srgbClr val="1A137B"/>
          </a:solidFill>
          <a:latin typeface="Arial" panose="020B0604020202020204" pitchFamily="34" charset="0"/>
          <a:ea typeface="+mn-ea"/>
          <a:cs typeface="Arial" panose="020B0604020202020204" pitchFamily="34" charset="0"/>
        </a:defRPr>
      </a:lvl3pPr>
      <a:lvl4pPr marL="1435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4pPr>
      <a:lvl5pPr marL="1816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bwMode="auto">
          <a:xfrm>
            <a:off x="152400" y="304800"/>
            <a:ext cx="8610600" cy="1066800"/>
          </a:xfrm>
          <a:prstGeom prst="rect">
            <a:avLst/>
          </a:prstGeom>
          <a:noFill/>
          <a:ln>
            <a:noFill/>
          </a:ln>
          <a:effectLst/>
          <a:extLst>
            <a:ext uri="{909E8E84-426E-40DD-AFC4-6F175D3DCCD1}">
              <a14:hiddenFill xmlns:a14="http://schemas.microsoft.com/office/drawing/2010/main">
                <a:solidFill>
                  <a:srgbClr val="11147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48132" name="Rectangle 4"/>
          <p:cNvSpPr>
            <a:spLocks noGrp="1" noChangeArrowheads="1"/>
          </p:cNvSpPr>
          <p:nvPr>
            <p:ph type="body" idx="1"/>
          </p:nvPr>
        </p:nvSpPr>
        <p:spPr bwMode="auto">
          <a:xfrm>
            <a:off x="406400" y="1557338"/>
            <a:ext cx="8205788"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5" name="Picture 18" descr="Routledge_RGB.jpg                                              0003463BMacintosh HD                   BC35053E:"/>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6448389"/>
            <a:ext cx="1447800" cy="4061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F988922-BDE1-839F-DD60-03D1DA89BF8E}"/>
              </a:ext>
            </a:extLst>
          </p:cNvPr>
          <p:cNvSpPr txBox="1"/>
          <p:nvPr userDrawn="1">
            <p:extLst>
              <p:ext uri="{1162E1C5-73C7-4A58-AE30-91384D911F3F}">
                <p184:classification xmlns:p184="http://schemas.microsoft.com/office/powerpoint/2018/4/main" val="ftr"/>
              </p:ext>
            </p:extLst>
          </p:nvPr>
        </p:nvSpPr>
        <p:spPr>
          <a:xfrm>
            <a:off x="190500" y="6530340"/>
            <a:ext cx="1857375" cy="137160"/>
          </a:xfrm>
          <a:prstGeom prst="rect">
            <a:avLst/>
          </a:prstGeom>
        </p:spPr>
        <p:txBody>
          <a:bodyPr horzOverflow="overflow" lIns="0" tIns="0" rIns="0" bIns="0">
            <a:spAutoFit/>
          </a:bodyPr>
          <a:lstStyle/>
          <a:p>
            <a:pPr algn="l"/>
            <a:r>
              <a:rPr lang="en-GB" sz="900">
                <a:solidFill>
                  <a:srgbClr val="0078D7"/>
                </a:solidFill>
                <a:latin typeface="Rockwell" panose="02060603020205020403" pitchFamily="18" charset="0"/>
              </a:rPr>
              <a:t>Information Classification: General</a:t>
            </a:r>
          </a:p>
        </p:txBody>
      </p:sp>
    </p:spTree>
    <p:extLst>
      <p:ext uri="{BB962C8B-B14F-4D97-AF65-F5344CB8AC3E}">
        <p14:creationId xmlns:p14="http://schemas.microsoft.com/office/powerpoint/2010/main" val="232710510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p:titleStyle>
    <p:bodyStyle>
      <a:lvl1pPr marL="292100" indent="-292100" algn="l" rtl="0" eaLnBrk="1" fontAlgn="base" hangingPunct="1">
        <a:spcBef>
          <a:spcPct val="20000"/>
        </a:spcBef>
        <a:spcAft>
          <a:spcPct val="0"/>
        </a:spcAft>
        <a:buClr>
          <a:srgbClr val="0A57A5"/>
        </a:buClr>
        <a:buChar char="•"/>
        <a:defRPr sz="2400" kern="1200">
          <a:solidFill>
            <a:schemeClr val="tx2"/>
          </a:solidFill>
          <a:latin typeface="Arial" panose="020B0604020202020204" pitchFamily="34" charset="0"/>
          <a:ea typeface="+mn-ea"/>
          <a:cs typeface="Arial" panose="020B0604020202020204" pitchFamily="34" charset="0"/>
        </a:defRPr>
      </a:lvl1pPr>
      <a:lvl2pPr marL="673100" indent="-190500" algn="l" rtl="0" eaLnBrk="1" fontAlgn="base" hangingPunct="1">
        <a:spcBef>
          <a:spcPct val="20000"/>
        </a:spcBef>
        <a:spcAft>
          <a:spcPct val="0"/>
        </a:spcAft>
        <a:buClr>
          <a:srgbClr val="0A57A5"/>
        </a:buClr>
        <a:buFont typeface="Times" panose="02020603050405020304" pitchFamily="18" charset="0"/>
        <a:buChar char="•"/>
        <a:defRPr sz="2000" kern="1200">
          <a:solidFill>
            <a:srgbClr val="1A137B"/>
          </a:solidFill>
          <a:latin typeface="Arial" panose="020B0604020202020204" pitchFamily="34" charset="0"/>
          <a:ea typeface="+mn-ea"/>
          <a:cs typeface="Arial" panose="020B0604020202020204" pitchFamily="34" charset="0"/>
        </a:defRPr>
      </a:lvl2pPr>
      <a:lvl3pPr marL="1054100" indent="-190500" algn="l" rtl="0" eaLnBrk="1" fontAlgn="base" hangingPunct="1">
        <a:spcBef>
          <a:spcPct val="20000"/>
        </a:spcBef>
        <a:spcAft>
          <a:spcPct val="0"/>
        </a:spcAft>
        <a:buClr>
          <a:srgbClr val="0A57A5"/>
        </a:buClr>
        <a:buFont typeface="Times" panose="02020603050405020304" pitchFamily="18" charset="0"/>
        <a:buChar char="•"/>
        <a:defRPr kern="1200">
          <a:solidFill>
            <a:srgbClr val="1A137B"/>
          </a:solidFill>
          <a:latin typeface="Arial" panose="020B0604020202020204" pitchFamily="34" charset="0"/>
          <a:ea typeface="+mn-ea"/>
          <a:cs typeface="Arial" panose="020B0604020202020204" pitchFamily="34" charset="0"/>
        </a:defRPr>
      </a:lvl3pPr>
      <a:lvl4pPr marL="1435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4pPr>
      <a:lvl5pPr marL="1816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bwMode="auto">
          <a:xfrm>
            <a:off x="152400" y="304800"/>
            <a:ext cx="8610600" cy="1066800"/>
          </a:xfrm>
          <a:prstGeom prst="rect">
            <a:avLst/>
          </a:prstGeom>
          <a:noFill/>
          <a:ln>
            <a:noFill/>
          </a:ln>
          <a:effectLst/>
          <a:extLst>
            <a:ext uri="{909E8E84-426E-40DD-AFC4-6F175D3DCCD1}">
              <a14:hiddenFill xmlns:a14="http://schemas.microsoft.com/office/drawing/2010/main">
                <a:solidFill>
                  <a:srgbClr val="11147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8132" name="Rectangle 4"/>
          <p:cNvSpPr>
            <a:spLocks noGrp="1" noChangeArrowheads="1"/>
          </p:cNvSpPr>
          <p:nvPr>
            <p:ph type="body" idx="1"/>
          </p:nvPr>
        </p:nvSpPr>
        <p:spPr bwMode="auto">
          <a:xfrm>
            <a:off x="406400" y="1557338"/>
            <a:ext cx="8205788"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48146" name="Picture 18" descr="Routledge_RGB.jpg                                              0003463BMacintosh HD                   BC35053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6448389"/>
            <a:ext cx="1447800" cy="4061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77E7745-66A2-911B-D14F-F810F7CDBEFC}"/>
              </a:ext>
            </a:extLst>
          </p:cNvPr>
          <p:cNvSpPr txBox="1"/>
          <p:nvPr userDrawn="1">
            <p:extLst>
              <p:ext uri="{1162E1C5-73C7-4A58-AE30-91384D911F3F}">
                <p184:classification xmlns:p184="http://schemas.microsoft.com/office/powerpoint/2018/4/main" val="ftr"/>
              </p:ext>
            </p:extLst>
          </p:nvPr>
        </p:nvSpPr>
        <p:spPr>
          <a:xfrm>
            <a:off x="190500" y="6530340"/>
            <a:ext cx="1857375" cy="137160"/>
          </a:xfrm>
          <a:prstGeom prst="rect">
            <a:avLst/>
          </a:prstGeom>
        </p:spPr>
        <p:txBody>
          <a:bodyPr horzOverflow="overflow" lIns="0" tIns="0" rIns="0" bIns="0">
            <a:spAutoFit/>
          </a:bodyPr>
          <a:lstStyle/>
          <a:p>
            <a:pPr algn="l"/>
            <a:r>
              <a:rPr lang="en-GB" sz="900">
                <a:solidFill>
                  <a:srgbClr val="0078D7"/>
                </a:solidFill>
                <a:latin typeface="Rockwell" panose="02060603020205020403" pitchFamily="18" charset="0"/>
              </a:rPr>
              <a:t>Information Classification: General</a:t>
            </a:r>
          </a:p>
        </p:txBody>
      </p:sp>
    </p:spTree>
    <p:extLst>
      <p:ext uri="{BB962C8B-B14F-4D97-AF65-F5344CB8AC3E}">
        <p14:creationId xmlns:p14="http://schemas.microsoft.com/office/powerpoint/2010/main" val="22696876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marL="192088" algn="l" rtl="0" eaLnBrk="1" fontAlgn="base" hangingPunct="1">
        <a:spcBef>
          <a:spcPct val="0"/>
        </a:spcBef>
        <a:spcAft>
          <a:spcPct val="0"/>
        </a:spcAft>
        <a:defRPr sz="3600">
          <a:solidFill>
            <a:schemeClr val="tx2"/>
          </a:solidFill>
          <a:latin typeface="+mj-lt"/>
          <a:ea typeface="+mj-ea"/>
          <a:cs typeface="+mj-cs"/>
        </a:defRPr>
      </a:lvl1pPr>
      <a:lvl2pPr marL="192088" algn="l" rtl="0" eaLnBrk="1" fontAlgn="base" hangingPunct="1">
        <a:spcBef>
          <a:spcPct val="0"/>
        </a:spcBef>
        <a:spcAft>
          <a:spcPct val="0"/>
        </a:spcAft>
        <a:defRPr sz="3600">
          <a:solidFill>
            <a:schemeClr val="tx2"/>
          </a:solidFill>
          <a:latin typeface="Verdana" pitchFamily="66" charset="0"/>
        </a:defRPr>
      </a:lvl2pPr>
      <a:lvl3pPr marL="192088" algn="l" rtl="0" eaLnBrk="1" fontAlgn="base" hangingPunct="1">
        <a:spcBef>
          <a:spcPct val="0"/>
        </a:spcBef>
        <a:spcAft>
          <a:spcPct val="0"/>
        </a:spcAft>
        <a:defRPr sz="3600">
          <a:solidFill>
            <a:schemeClr val="tx2"/>
          </a:solidFill>
          <a:latin typeface="Verdana" pitchFamily="66" charset="0"/>
        </a:defRPr>
      </a:lvl3pPr>
      <a:lvl4pPr marL="192088" algn="l" rtl="0" eaLnBrk="1" fontAlgn="base" hangingPunct="1">
        <a:spcBef>
          <a:spcPct val="0"/>
        </a:spcBef>
        <a:spcAft>
          <a:spcPct val="0"/>
        </a:spcAft>
        <a:defRPr sz="3600">
          <a:solidFill>
            <a:schemeClr val="tx2"/>
          </a:solidFill>
          <a:latin typeface="Verdana" pitchFamily="66" charset="0"/>
        </a:defRPr>
      </a:lvl4pPr>
      <a:lvl5pPr marL="192088" algn="l" rtl="0" eaLnBrk="1" fontAlgn="base" hangingPunct="1">
        <a:spcBef>
          <a:spcPct val="0"/>
        </a:spcBef>
        <a:spcAft>
          <a:spcPct val="0"/>
        </a:spcAft>
        <a:defRPr sz="3600">
          <a:solidFill>
            <a:schemeClr val="tx2"/>
          </a:solidFill>
          <a:latin typeface="Verdana" pitchFamily="66" charset="0"/>
        </a:defRPr>
      </a:lvl5pPr>
      <a:lvl6pPr marL="649288" algn="l" rtl="0" eaLnBrk="1" fontAlgn="base" hangingPunct="1">
        <a:spcBef>
          <a:spcPct val="0"/>
        </a:spcBef>
        <a:spcAft>
          <a:spcPct val="0"/>
        </a:spcAft>
        <a:defRPr sz="3600">
          <a:solidFill>
            <a:schemeClr val="tx2"/>
          </a:solidFill>
          <a:latin typeface="Verdana" pitchFamily="66" charset="0"/>
        </a:defRPr>
      </a:lvl6pPr>
      <a:lvl7pPr marL="1106488" algn="l" rtl="0" eaLnBrk="1" fontAlgn="base" hangingPunct="1">
        <a:spcBef>
          <a:spcPct val="0"/>
        </a:spcBef>
        <a:spcAft>
          <a:spcPct val="0"/>
        </a:spcAft>
        <a:defRPr sz="3600">
          <a:solidFill>
            <a:schemeClr val="tx2"/>
          </a:solidFill>
          <a:latin typeface="Verdana" pitchFamily="66" charset="0"/>
        </a:defRPr>
      </a:lvl7pPr>
      <a:lvl8pPr marL="1563688" algn="l" rtl="0" eaLnBrk="1" fontAlgn="base" hangingPunct="1">
        <a:spcBef>
          <a:spcPct val="0"/>
        </a:spcBef>
        <a:spcAft>
          <a:spcPct val="0"/>
        </a:spcAft>
        <a:defRPr sz="3600">
          <a:solidFill>
            <a:schemeClr val="tx2"/>
          </a:solidFill>
          <a:latin typeface="Verdana" pitchFamily="66" charset="0"/>
        </a:defRPr>
      </a:lvl8pPr>
      <a:lvl9pPr marL="2020888" algn="l" rtl="0" eaLnBrk="1" fontAlgn="base" hangingPunct="1">
        <a:spcBef>
          <a:spcPct val="0"/>
        </a:spcBef>
        <a:spcAft>
          <a:spcPct val="0"/>
        </a:spcAft>
        <a:defRPr sz="3600">
          <a:solidFill>
            <a:schemeClr val="tx2"/>
          </a:solidFill>
          <a:latin typeface="Verdana" pitchFamily="66" charset="0"/>
        </a:defRPr>
      </a:lvl9pPr>
    </p:titleStyle>
    <p:bodyStyle>
      <a:lvl1pPr marL="292100" indent="-292100" algn="l" rtl="0" eaLnBrk="1" fontAlgn="base" hangingPunct="1">
        <a:spcBef>
          <a:spcPct val="20000"/>
        </a:spcBef>
        <a:spcAft>
          <a:spcPct val="0"/>
        </a:spcAft>
        <a:buClr>
          <a:srgbClr val="0A57A5"/>
        </a:buClr>
        <a:buChar char="•"/>
        <a:defRPr sz="2400">
          <a:solidFill>
            <a:schemeClr val="tx2"/>
          </a:solidFill>
          <a:latin typeface="+mn-lt"/>
          <a:ea typeface="+mn-ea"/>
          <a:cs typeface="+mn-cs"/>
        </a:defRPr>
      </a:lvl1pPr>
      <a:lvl2pPr marL="673100" indent="-190500" algn="l" rtl="0" eaLnBrk="1" fontAlgn="base" hangingPunct="1">
        <a:spcBef>
          <a:spcPct val="20000"/>
        </a:spcBef>
        <a:spcAft>
          <a:spcPct val="0"/>
        </a:spcAft>
        <a:buClr>
          <a:srgbClr val="0A57A5"/>
        </a:buClr>
        <a:buFont typeface="Times"/>
        <a:buChar char="•"/>
        <a:defRPr sz="2000">
          <a:solidFill>
            <a:srgbClr val="1A137B"/>
          </a:solidFill>
          <a:latin typeface="+mn-lt"/>
        </a:defRPr>
      </a:lvl2pPr>
      <a:lvl3pPr marL="1054100" indent="-190500" algn="l" rtl="0" eaLnBrk="1" fontAlgn="base" hangingPunct="1">
        <a:spcBef>
          <a:spcPct val="20000"/>
        </a:spcBef>
        <a:spcAft>
          <a:spcPct val="0"/>
        </a:spcAft>
        <a:buClr>
          <a:srgbClr val="0A57A5"/>
        </a:buClr>
        <a:buFont typeface="Times"/>
        <a:buChar char="•"/>
        <a:defRPr>
          <a:solidFill>
            <a:srgbClr val="1A137B"/>
          </a:solidFill>
          <a:latin typeface="+mn-lt"/>
        </a:defRPr>
      </a:lvl3pPr>
      <a:lvl4pPr marL="14351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4pPr>
      <a:lvl5pPr marL="18161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5pPr>
      <a:lvl6pPr marL="22733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6pPr>
      <a:lvl7pPr marL="27305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7pPr>
      <a:lvl8pPr marL="31877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8pPr>
      <a:lvl9pPr marL="36449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16A8ED4-9B1B-44CB-B7F3-49C8019E0B0B}"/>
              </a:ext>
            </a:extLst>
          </p:cNvPr>
          <p:cNvSpPr>
            <a:spLocks noGrp="1"/>
          </p:cNvSpPr>
          <p:nvPr>
            <p:ph sz="half" idx="2"/>
          </p:nvPr>
        </p:nvSpPr>
        <p:spPr>
          <a:xfrm>
            <a:off x="4876801" y="1447800"/>
            <a:ext cx="4190999" cy="4233862"/>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0" indent="0">
              <a:buNone/>
            </a:pPr>
            <a:r>
              <a:rPr lang="en-US" altLang="en-US" sz="4000" kern="0" dirty="0"/>
              <a:t>Chapter 6</a:t>
            </a:r>
          </a:p>
          <a:p>
            <a:pPr marL="0" indent="0">
              <a:buNone/>
            </a:pPr>
            <a:br>
              <a:rPr lang="en-US" altLang="en-US" sz="4000" kern="0" dirty="0"/>
            </a:br>
            <a:r>
              <a:rPr lang="en-US" altLang="en-US" sz="4000" kern="0" dirty="0"/>
              <a:t>Continual Development of the Salesforce:  Sales Training</a:t>
            </a:r>
            <a:endParaRPr lang="en-US" sz="4000" dirty="0"/>
          </a:p>
        </p:txBody>
      </p:sp>
      <p:pic>
        <p:nvPicPr>
          <p:cNvPr id="1026" name="Picture 2" descr="Sales Management: Analysis and Decision Making book cover">
            <a:extLst>
              <a:ext uri="{FF2B5EF4-FFF2-40B4-BE49-F238E27FC236}">
                <a16:creationId xmlns:a16="http://schemas.microsoft.com/office/drawing/2014/main" id="{6D3AF07B-1154-91B5-CD7F-1D908FE0F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609600"/>
            <a:ext cx="3724275" cy="49798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title"/>
          </p:nvPr>
        </p:nvSpPr>
        <p:spPr>
          <a:xfrm>
            <a:off x="152400" y="304800"/>
            <a:ext cx="8610600" cy="1066800"/>
          </a:xfrm>
          <a:solidFill>
            <a:schemeClr val="bg2">
              <a:lumMod val="60000"/>
              <a:lumOff val="40000"/>
            </a:schemeClr>
          </a:solidFill>
          <a:scene3d>
            <a:camera prst="orthographicFront"/>
            <a:lightRig rig="threePt" dir="t"/>
          </a:scene3d>
          <a:sp3d>
            <a:bevelT w="69850"/>
          </a:sp3d>
        </p:spPr>
        <p:txBody>
          <a:bodyPr/>
          <a:lstStyle/>
          <a:p>
            <a:r>
              <a:rPr lang="en-US" dirty="0"/>
              <a:t>Learning Objectives</a:t>
            </a:r>
          </a:p>
        </p:txBody>
      </p:sp>
      <p:sp>
        <p:nvSpPr>
          <p:cNvPr id="65540" name="Rectangle 4"/>
          <p:cNvSpPr>
            <a:spLocks noGrp="1" noChangeArrowheads="1"/>
          </p:cNvSpPr>
          <p:nvPr>
            <p:ph idx="1"/>
          </p:nvPr>
        </p:nvSpPr>
        <p:spPr>
          <a:effectLst/>
        </p:spPr>
        <p:txBody>
          <a:bodyPr/>
          <a:lstStyle/>
          <a:p>
            <a:pPr marL="533400" indent="-533400">
              <a:lnSpc>
                <a:spcPct val="90000"/>
              </a:lnSpc>
              <a:buFontTx/>
              <a:buAutoNum type="arabicPeriod"/>
            </a:pPr>
            <a:r>
              <a:rPr lang="en-US" sz="2200" dirty="0"/>
              <a:t>Understand the role of sales training in salesforce socialization/onboarding. </a:t>
            </a:r>
            <a:br>
              <a:rPr lang="en-US" sz="2200" dirty="0"/>
            </a:br>
            <a:endParaRPr lang="en-US" sz="2200" dirty="0"/>
          </a:p>
          <a:p>
            <a:pPr marL="533400" indent="-533400">
              <a:lnSpc>
                <a:spcPct val="90000"/>
              </a:lnSpc>
              <a:buFontTx/>
              <a:buAutoNum type="arabicPeriod"/>
            </a:pPr>
            <a:r>
              <a:rPr lang="en-US" sz="2200" dirty="0"/>
              <a:t>Explain the importance of sales training and the sales manager’s role in sales training.   </a:t>
            </a:r>
            <a:br>
              <a:rPr lang="en-US" sz="2200" dirty="0"/>
            </a:br>
            <a:endParaRPr lang="en-US" sz="2200" dirty="0"/>
          </a:p>
          <a:p>
            <a:pPr marL="533400" indent="-533400">
              <a:lnSpc>
                <a:spcPct val="90000"/>
              </a:lnSpc>
              <a:buFontTx/>
              <a:buAutoNum type="arabicPeriod"/>
            </a:pPr>
            <a:r>
              <a:rPr lang="en-US" sz="2200" dirty="0"/>
              <a:t>Describe the sales training process as a series of six interrelated steps.  </a:t>
            </a:r>
            <a:br>
              <a:rPr lang="en-US" sz="2200" dirty="0"/>
            </a:br>
            <a:endParaRPr lang="en-US" sz="2200" dirty="0"/>
          </a:p>
          <a:p>
            <a:pPr marL="533400" indent="-533400">
              <a:lnSpc>
                <a:spcPct val="90000"/>
              </a:lnSpc>
              <a:buFontTx/>
              <a:buAutoNum type="arabicPeriod"/>
            </a:pPr>
            <a:r>
              <a:rPr lang="en-US" sz="2200" dirty="0"/>
              <a:t>Discuss six methods for assessing sales training needs and identify typical sales training needs.  </a:t>
            </a:r>
          </a:p>
        </p:txBody>
      </p:sp>
    </p:spTree>
    <p:extLst>
      <p:ext uri="{BB962C8B-B14F-4D97-AF65-F5344CB8AC3E}">
        <p14:creationId xmlns:p14="http://schemas.microsoft.com/office/powerpoint/2010/main" val="2328761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type="title"/>
          </p:nvPr>
        </p:nvSpPr>
        <p:spPr>
          <a:xfrm>
            <a:off x="152399" y="304799"/>
            <a:ext cx="8630873" cy="1079383"/>
          </a:xfrm>
          <a:solidFill>
            <a:schemeClr val="bg2">
              <a:lumMod val="60000"/>
              <a:lumOff val="40000"/>
            </a:schemeClr>
          </a:solidFill>
        </p:spPr>
        <p:txBody>
          <a:bodyPr/>
          <a:lstStyle/>
          <a:p>
            <a:r>
              <a:rPr lang="en-US" dirty="0"/>
              <a:t>Learning Objectives</a:t>
            </a:r>
          </a:p>
        </p:txBody>
      </p:sp>
      <p:sp>
        <p:nvSpPr>
          <p:cNvPr id="66564" name="Rectangle 4"/>
          <p:cNvSpPr>
            <a:spLocks noGrp="1" noChangeArrowheads="1"/>
          </p:cNvSpPr>
          <p:nvPr>
            <p:ph idx="1"/>
          </p:nvPr>
        </p:nvSpPr>
        <p:spPr/>
        <p:txBody>
          <a:bodyPr/>
          <a:lstStyle/>
          <a:p>
            <a:pPr marL="533400" indent="-533400">
              <a:lnSpc>
                <a:spcPct val="90000"/>
              </a:lnSpc>
              <a:buFontTx/>
              <a:buAutoNum type="arabicPeriod" startAt="5"/>
            </a:pPr>
            <a:r>
              <a:rPr lang="en-US" sz="2200" dirty="0"/>
              <a:t>Name some typical objectives of sales training programs, and explain how setting objectives for sales training is beneficial to sales managers.  </a:t>
            </a:r>
            <a:br>
              <a:rPr lang="en-US" sz="2200" dirty="0"/>
            </a:br>
            <a:endParaRPr lang="en-US" sz="2200" dirty="0"/>
          </a:p>
          <a:p>
            <a:pPr marL="533400" indent="-533400">
              <a:lnSpc>
                <a:spcPct val="90000"/>
              </a:lnSpc>
              <a:buFontTx/>
              <a:buAutoNum type="arabicPeriod" startAt="5"/>
            </a:pPr>
            <a:r>
              <a:rPr lang="en-US" sz="2200" dirty="0"/>
              <a:t>Identify the key issues in evaluating sales training alternatives.  </a:t>
            </a:r>
            <a:br>
              <a:rPr lang="en-US" sz="2200" dirty="0"/>
            </a:br>
            <a:endParaRPr lang="en-US" sz="2200" dirty="0"/>
          </a:p>
          <a:p>
            <a:pPr marL="533400" indent="-533400">
              <a:lnSpc>
                <a:spcPct val="90000"/>
              </a:lnSpc>
              <a:buFontTx/>
              <a:buAutoNum type="arabicPeriod" startAt="5"/>
            </a:pPr>
            <a:r>
              <a:rPr lang="en-US" sz="2200" dirty="0"/>
              <a:t>Identify key ethical and legal issues in sales training.         </a:t>
            </a:r>
          </a:p>
        </p:txBody>
      </p:sp>
    </p:spTree>
    <p:extLst>
      <p:ext uri="{BB962C8B-B14F-4D97-AF65-F5344CB8AC3E}">
        <p14:creationId xmlns:p14="http://schemas.microsoft.com/office/powerpoint/2010/main" val="2699885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2">
            <a:extLst>
              <a:ext uri="{FF2B5EF4-FFF2-40B4-BE49-F238E27FC236}">
                <a16:creationId xmlns:a16="http://schemas.microsoft.com/office/drawing/2014/main" id="{1D083361-2E36-4880-AA81-310944076A49}"/>
              </a:ext>
            </a:extLst>
          </p:cNvPr>
          <p:cNvPicPr>
            <a:picLocks noChangeAspect="1"/>
          </p:cNvPicPr>
          <p:nvPr/>
        </p:nvPicPr>
        <p:blipFill>
          <a:blip r:embed="rId2"/>
          <a:stretch>
            <a:fillRect/>
          </a:stretch>
        </p:blipFill>
        <p:spPr>
          <a:xfrm>
            <a:off x="544894" y="1219200"/>
            <a:ext cx="8054211" cy="4171156"/>
          </a:xfrm>
          <a:prstGeom prst="rect">
            <a:avLst/>
          </a:prstGeom>
        </p:spPr>
      </p:pic>
    </p:spTree>
    <p:extLst>
      <p:ext uri="{BB962C8B-B14F-4D97-AF65-F5344CB8AC3E}">
        <p14:creationId xmlns:p14="http://schemas.microsoft.com/office/powerpoint/2010/main" val="622722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03994" y="152400"/>
            <a:ext cx="8610600" cy="1066800"/>
          </a:xfrm>
          <a:solidFill>
            <a:schemeClr val="bg2">
              <a:lumMod val="60000"/>
              <a:lumOff val="40000"/>
            </a:schemeClr>
          </a:solidFill>
        </p:spPr>
        <p:txBody>
          <a:bodyPr/>
          <a:lstStyle/>
          <a:p>
            <a:r>
              <a:rPr lang="en-US" sz="3400" dirty="0"/>
              <a:t>Role of Sales Training in </a:t>
            </a:r>
            <a:br>
              <a:rPr lang="en-US" sz="3400" dirty="0"/>
            </a:br>
            <a:r>
              <a:rPr lang="en-US" sz="3400" dirty="0"/>
              <a:t>Salesforce Socialization/Onboarding</a:t>
            </a:r>
          </a:p>
        </p:txBody>
      </p:sp>
      <p:sp>
        <p:nvSpPr>
          <p:cNvPr id="5" name="Content Placeholder 4"/>
          <p:cNvSpPr>
            <a:spLocks noGrp="1"/>
          </p:cNvSpPr>
          <p:nvPr>
            <p:ph idx="1"/>
          </p:nvPr>
        </p:nvSpPr>
        <p:spPr>
          <a:xfrm>
            <a:off x="406400" y="1312069"/>
            <a:ext cx="8205788" cy="5164931"/>
          </a:xfrm>
          <a:noFill/>
        </p:spPr>
        <p:txBody>
          <a:bodyPr/>
          <a:lstStyle/>
          <a:p>
            <a:pPr marL="0" indent="0">
              <a:buNone/>
            </a:pPr>
            <a:r>
              <a:rPr lang="en-US" dirty="0"/>
              <a:t>Sales training helps socialize/onboard new hires, providing them with a positive:</a:t>
            </a:r>
          </a:p>
          <a:p>
            <a:r>
              <a:rPr lang="en-US" b="1" dirty="0"/>
              <a:t>Initiation to Task </a:t>
            </a:r>
            <a:r>
              <a:rPr lang="en-US" dirty="0"/>
              <a:t>— The degree to which a sales trainee feels competent and accepted as a working partner.</a:t>
            </a:r>
          </a:p>
          <a:p>
            <a:r>
              <a:rPr lang="en-US" b="1" dirty="0"/>
              <a:t>Role Definition </a:t>
            </a:r>
            <a:r>
              <a:rPr lang="en-US" dirty="0"/>
              <a:t>— An understanding of what tasks are to be performed, what the </a:t>
            </a:r>
            <a:br>
              <a:rPr lang="en-US" dirty="0"/>
            </a:br>
            <a:r>
              <a:rPr lang="en-US" dirty="0"/>
              <a:t>priorities of the tasks are, </a:t>
            </a:r>
            <a:br>
              <a:rPr lang="en-US" dirty="0"/>
            </a:br>
            <a:r>
              <a:rPr lang="en-US" dirty="0"/>
              <a:t>and how time should be </a:t>
            </a:r>
            <a:br>
              <a:rPr lang="en-US" dirty="0"/>
            </a:br>
            <a:r>
              <a:rPr lang="en-US" dirty="0"/>
              <a:t>allocated among the tasks.</a:t>
            </a:r>
          </a:p>
          <a:p>
            <a:endParaRPr lang="en-US" dirty="0"/>
          </a:p>
          <a:p>
            <a:pPr marL="0" indent="0">
              <a:spcBef>
                <a:spcPts val="0"/>
              </a:spcBef>
              <a:buNone/>
            </a:pPr>
            <a:r>
              <a:rPr lang="en-US" dirty="0">
                <a:solidFill>
                  <a:srgbClr val="FF0000"/>
                </a:solidFill>
              </a:rPr>
              <a:t>What have your socialization / </a:t>
            </a:r>
          </a:p>
          <a:p>
            <a:pPr marL="0" indent="0">
              <a:spcBef>
                <a:spcPts val="0"/>
              </a:spcBef>
              <a:buNone/>
            </a:pPr>
            <a:r>
              <a:rPr lang="en-US" dirty="0">
                <a:solidFill>
                  <a:srgbClr val="FF0000"/>
                </a:solidFill>
              </a:rPr>
              <a:t>onboarding experiences been </a:t>
            </a:r>
          </a:p>
          <a:p>
            <a:pPr marL="0" indent="0">
              <a:spcBef>
                <a:spcPts val="0"/>
              </a:spcBef>
              <a:buNone/>
            </a:pPr>
            <a:r>
              <a:rPr lang="en-US" dirty="0">
                <a:solidFill>
                  <a:srgbClr val="FF0000"/>
                </a:solidFill>
              </a:rPr>
              <a:t>like? How did training play a role? </a:t>
            </a:r>
          </a:p>
          <a:p>
            <a:endParaRPr lang="en-US" dirty="0"/>
          </a:p>
        </p:txBody>
      </p:sp>
      <p:pic>
        <p:nvPicPr>
          <p:cNvPr id="1026" name="Picture 2" descr="Free photo manager woman leading a brainstorming meeting">
            <a:extLst>
              <a:ext uri="{FF2B5EF4-FFF2-40B4-BE49-F238E27FC236}">
                <a16:creationId xmlns:a16="http://schemas.microsoft.com/office/drawing/2014/main" id="{D594C11D-7743-BE31-EF61-E9A984249D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3657600"/>
            <a:ext cx="3929933" cy="2624141"/>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0531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tretch>
            <a:fillRect/>
          </a:stretch>
        </p:blipFill>
        <p:spPr>
          <a:xfrm>
            <a:off x="175515" y="1600200"/>
            <a:ext cx="8792970" cy="4369632"/>
          </a:xfrm>
          <a:prstGeom prst="rect">
            <a:avLst/>
          </a:prstGeom>
          <a:scene3d>
            <a:camera prst="orthographicFront"/>
            <a:lightRig rig="threePt" dir="t"/>
          </a:scene3d>
          <a:sp3d>
            <a:bevelT/>
          </a:sp3d>
        </p:spPr>
      </p:pic>
      <p:sp>
        <p:nvSpPr>
          <p:cNvPr id="4" name="Title 3">
            <a:extLst>
              <a:ext uri="{FF2B5EF4-FFF2-40B4-BE49-F238E27FC236}">
                <a16:creationId xmlns:a16="http://schemas.microsoft.com/office/drawing/2014/main" id="{DB32DB32-B6A3-49E1-B57F-E14B90F1FF9C}"/>
              </a:ext>
            </a:extLst>
          </p:cNvPr>
          <p:cNvSpPr txBox="1">
            <a:spLocks/>
          </p:cNvSpPr>
          <p:nvPr/>
        </p:nvSpPr>
        <p:spPr bwMode="auto">
          <a:xfrm>
            <a:off x="266700" y="304800"/>
            <a:ext cx="8610600" cy="1066800"/>
          </a:xfrm>
          <a:prstGeom prst="rect">
            <a:avLst/>
          </a:prstGeom>
          <a:solidFill>
            <a:schemeClr val="bg2">
              <a:lumMod val="60000"/>
              <a:lumOff val="40000"/>
            </a:schemeClr>
          </a:solidFill>
          <a:ln>
            <a:noFill/>
          </a:ln>
          <a:effectLst/>
          <a:scene3d>
            <a:camera prst="orthographicFront"/>
            <a:lightRig rig="threePt" dir="t"/>
          </a:scene3d>
          <a:sp3d>
            <a:bevelT w="69850"/>
          </a:sp3d>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a:lstStyle>
          <a:p>
            <a:r>
              <a:rPr lang="en-US" sz="3200" dirty="0"/>
              <a:t>Proposed Model of</a:t>
            </a:r>
            <a:br>
              <a:rPr lang="en-US" sz="3400" dirty="0"/>
            </a:br>
            <a:r>
              <a:rPr lang="en-US" sz="3400" dirty="0"/>
              <a:t>Salesforce Socialization/Onboarding</a:t>
            </a:r>
          </a:p>
        </p:txBody>
      </p:sp>
    </p:spTree>
    <p:extLst>
      <p:ext uri="{BB962C8B-B14F-4D97-AF65-F5344CB8AC3E}">
        <p14:creationId xmlns:p14="http://schemas.microsoft.com/office/powerpoint/2010/main" val="406771528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solidFill>
            <a:schemeClr val="bg2">
              <a:lumMod val="60000"/>
              <a:lumOff val="40000"/>
            </a:schemeClr>
          </a:solidFill>
          <a:ln/>
        </p:spPr>
        <p:txBody>
          <a:bodyPr lIns="92075" tIns="46038" rIns="92075" bIns="46038"/>
          <a:lstStyle/>
          <a:p>
            <a:r>
              <a:rPr lang="en-US" dirty="0"/>
              <a:t>Sales Training as a Crucial Investment</a:t>
            </a:r>
          </a:p>
        </p:txBody>
      </p:sp>
      <p:sp>
        <p:nvSpPr>
          <p:cNvPr id="24579" name="Rectangle 3"/>
          <p:cNvSpPr>
            <a:spLocks noGrp="1" noChangeArrowheads="1"/>
          </p:cNvSpPr>
          <p:nvPr>
            <p:ph idx="1"/>
          </p:nvPr>
        </p:nvSpPr>
        <p:spPr>
          <a:xfrm>
            <a:off x="406400" y="1557338"/>
            <a:ext cx="7213600" cy="4233862"/>
          </a:xfrm>
        </p:spPr>
        <p:txBody>
          <a:bodyPr/>
          <a:lstStyle/>
          <a:p>
            <a:r>
              <a:rPr lang="en-US" sz="2400" dirty="0"/>
              <a:t>Most organizations see a link between sales training and salesperson productivity.</a:t>
            </a:r>
          </a:p>
          <a:p>
            <a:pPr>
              <a:buFontTx/>
              <a:buNone/>
            </a:pPr>
            <a:endParaRPr lang="en-US" sz="900" dirty="0"/>
          </a:p>
          <a:p>
            <a:r>
              <a:rPr lang="en-US" sz="2400" dirty="0"/>
              <a:t>U.S. companies spend billions annually on training.</a:t>
            </a:r>
          </a:p>
          <a:p>
            <a:pPr>
              <a:buFontTx/>
              <a:buNone/>
            </a:pPr>
            <a:endParaRPr lang="en-US" sz="900" dirty="0"/>
          </a:p>
          <a:p>
            <a:r>
              <a:rPr lang="en-US" sz="2400" dirty="0"/>
              <a:t>The need for sales training is continual.</a:t>
            </a:r>
          </a:p>
          <a:p>
            <a:endParaRPr lang="en-US" sz="2400" dirty="0"/>
          </a:p>
          <a:p>
            <a:pPr marL="0" indent="0">
              <a:buNone/>
            </a:pPr>
            <a:r>
              <a:rPr lang="en-US" dirty="0">
                <a:solidFill>
                  <a:srgbClr val="FF0000"/>
                </a:solidFill>
              </a:rPr>
              <a:t>What makes a good teacher/trainer?</a:t>
            </a:r>
          </a:p>
          <a:p>
            <a:pPr marL="0" indent="0">
              <a:buNone/>
            </a:pPr>
            <a:r>
              <a:rPr lang="en-US" sz="2400" dirty="0">
                <a:solidFill>
                  <a:srgbClr val="FF0000"/>
                </a:solidFill>
              </a:rPr>
              <a:t>How do you learn best?</a:t>
            </a:r>
          </a:p>
          <a:p>
            <a:pPr>
              <a:buFontTx/>
              <a:buNone/>
            </a:pPr>
            <a:endParaRPr lang="en-US" sz="900" dirty="0"/>
          </a:p>
        </p:txBody>
      </p:sp>
    </p:spTree>
    <p:extLst>
      <p:ext uri="{BB962C8B-B14F-4D97-AF65-F5344CB8AC3E}">
        <p14:creationId xmlns:p14="http://schemas.microsoft.com/office/powerpoint/2010/main" val="258852094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solidFill>
            <a:schemeClr val="bg2">
              <a:lumMod val="60000"/>
              <a:lumOff val="40000"/>
            </a:schemeClr>
          </a:solidFill>
          <a:ln/>
        </p:spPr>
        <p:txBody>
          <a:bodyPr lIns="92075" tIns="46038" rIns="92075" bIns="46038"/>
          <a:lstStyle/>
          <a:p>
            <a:r>
              <a:rPr lang="en-US" dirty="0"/>
              <a:t>Sales Training as a Crucial Investment</a:t>
            </a:r>
          </a:p>
        </p:txBody>
      </p:sp>
      <p:sp>
        <p:nvSpPr>
          <p:cNvPr id="6" name="Rectangle 5"/>
          <p:cNvSpPr/>
          <p:nvPr/>
        </p:nvSpPr>
        <p:spPr>
          <a:xfrm>
            <a:off x="2200806" y="5722203"/>
            <a:ext cx="4435830" cy="830997"/>
          </a:xfrm>
          <a:prstGeom prst="rect">
            <a:avLst/>
          </a:prstGeom>
          <a:noFill/>
        </p:spPr>
        <p:txBody>
          <a:bodyPr wrap="none" lIns="91440" tIns="45720" rIns="91440" bIns="45720">
            <a:spAutoFit/>
          </a:bodyPr>
          <a:lstStyle/>
          <a:p>
            <a:pPr algn="ctr"/>
            <a:r>
              <a:rPr lang="en-US" sz="4800" b="1" spc="50" dirty="0">
                <a:ln w="0"/>
                <a:solidFill>
                  <a:schemeClr val="bg2"/>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 Positive ROI</a:t>
            </a:r>
          </a:p>
        </p:txBody>
      </p:sp>
      <p:sp>
        <p:nvSpPr>
          <p:cNvPr id="7" name="Rectangle 6"/>
          <p:cNvSpPr/>
          <p:nvPr/>
        </p:nvSpPr>
        <p:spPr>
          <a:xfrm>
            <a:off x="984287" y="1524000"/>
            <a:ext cx="6868868" cy="830997"/>
          </a:xfrm>
          <a:prstGeom prst="rect">
            <a:avLst/>
          </a:prstGeom>
          <a:noFill/>
        </p:spPr>
        <p:txBody>
          <a:bodyPr wrap="none" lIns="91440" tIns="45720" rIns="91440" bIns="45720">
            <a:spAutoFit/>
          </a:bodyPr>
          <a:lstStyle/>
          <a:p>
            <a:pPr algn="ctr"/>
            <a:r>
              <a:rPr lang="en-US" sz="4800" b="1" spc="50" dirty="0">
                <a:ln w="0"/>
                <a:solidFill>
                  <a:schemeClr val="bg2"/>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Investment in Training</a:t>
            </a:r>
          </a:p>
        </p:txBody>
      </p:sp>
      <p:pic>
        <p:nvPicPr>
          <p:cNvPr id="2050" name="Picture 2" descr="Photo shot of handsome businessman explaining a project to his colleagues on coworking place.">
            <a:extLst>
              <a:ext uri="{FF2B5EF4-FFF2-40B4-BE49-F238E27FC236}">
                <a16:creationId xmlns:a16="http://schemas.microsoft.com/office/drawing/2014/main" id="{33B53B89-9FA8-2ECB-3D55-A3F2199854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6197" y="2389667"/>
            <a:ext cx="4563006" cy="3039575"/>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487832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1" name="Rectangle 7"/>
          <p:cNvSpPr>
            <a:spLocks noGrp="1" noChangeArrowheads="1"/>
          </p:cNvSpPr>
          <p:nvPr>
            <p:ph type="title"/>
          </p:nvPr>
        </p:nvSpPr>
        <p:spPr>
          <a:xfrm>
            <a:off x="228600" y="228600"/>
            <a:ext cx="8610600" cy="1066800"/>
          </a:xfrm>
          <a:solidFill>
            <a:schemeClr val="bg2">
              <a:lumMod val="60000"/>
              <a:lumOff val="40000"/>
            </a:schemeClr>
          </a:solidFill>
          <a:ln/>
        </p:spPr>
        <p:txBody>
          <a:bodyPr lIns="92075" tIns="46038" rIns="92075" bIns="46038"/>
          <a:lstStyle/>
          <a:p>
            <a:pPr>
              <a:lnSpc>
                <a:spcPct val="80000"/>
              </a:lnSpc>
            </a:pPr>
            <a:r>
              <a:rPr lang="en-US" dirty="0"/>
              <a:t>Managing the Sales Training Process</a:t>
            </a:r>
            <a:endParaRPr lang="en-US" sz="2800" dirty="0"/>
          </a:p>
        </p:txBody>
      </p:sp>
      <p:pic>
        <p:nvPicPr>
          <p:cNvPr id="2" name="Picture 1"/>
          <p:cNvPicPr>
            <a:picLocks noChangeAspect="1"/>
          </p:cNvPicPr>
          <p:nvPr/>
        </p:nvPicPr>
        <p:blipFill>
          <a:blip r:embed="rId3"/>
          <a:stretch>
            <a:fillRect/>
          </a:stretch>
        </p:blipFill>
        <p:spPr>
          <a:xfrm>
            <a:off x="761670" y="1483930"/>
            <a:ext cx="7620660" cy="5145470"/>
          </a:xfrm>
          <a:prstGeom prst="rect">
            <a:avLst/>
          </a:prstGeom>
        </p:spPr>
      </p:pic>
      <p:sp>
        <p:nvSpPr>
          <p:cNvPr id="3" name="TextBox 2">
            <a:extLst>
              <a:ext uri="{FF2B5EF4-FFF2-40B4-BE49-F238E27FC236}">
                <a16:creationId xmlns:a16="http://schemas.microsoft.com/office/drawing/2014/main" id="{3555F083-D259-479A-8908-76F30B95A6E6}"/>
              </a:ext>
            </a:extLst>
          </p:cNvPr>
          <p:cNvSpPr txBox="1"/>
          <p:nvPr/>
        </p:nvSpPr>
        <p:spPr>
          <a:xfrm>
            <a:off x="26581" y="2819400"/>
            <a:ext cx="1954253" cy="369332"/>
          </a:xfrm>
          <a:prstGeom prst="rect">
            <a:avLst/>
          </a:prstGeom>
          <a:noFill/>
        </p:spPr>
        <p:txBody>
          <a:bodyPr wrap="none" rtlCol="0">
            <a:spAutoFit/>
          </a:bodyPr>
          <a:lstStyle/>
          <a:p>
            <a:r>
              <a:rPr lang="en-US" sz="1800" dirty="0">
                <a:latin typeface="Arial Black" panose="020B0A04020102020204" pitchFamily="34" charset="0"/>
              </a:rPr>
              <a:t>FEEDBACK </a:t>
            </a:r>
            <a:r>
              <a:rPr lang="en-US" sz="1800" dirty="0">
                <a:latin typeface="Arial Black" panose="020B0A04020102020204" pitchFamily="34" charset="0"/>
                <a:sym typeface="Wingdings" panose="05000000000000000000" pitchFamily="2" charset="2"/>
              </a:rPr>
              <a:t> </a:t>
            </a:r>
            <a:endParaRPr lang="en-US" sz="1800" dirty="0">
              <a:latin typeface="Arial Black" panose="020B0A04020102020204" pitchFamily="34" charset="0"/>
            </a:endParaRPr>
          </a:p>
        </p:txBody>
      </p:sp>
    </p:spTree>
    <p:extLst>
      <p:ext uri="{BB962C8B-B14F-4D97-AF65-F5344CB8AC3E}">
        <p14:creationId xmlns:p14="http://schemas.microsoft.com/office/powerpoint/2010/main" val="95314445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3AF43-59E7-30AC-23FF-E15ED15ED30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D4ABC18-8884-5C6F-62F5-2020DC5589D0}"/>
              </a:ext>
            </a:extLst>
          </p:cNvPr>
          <p:cNvSpPr>
            <a:spLocks noGrp="1"/>
          </p:cNvSpPr>
          <p:nvPr>
            <p:ph idx="1"/>
          </p:nvPr>
        </p:nvSpPr>
        <p:spPr/>
        <p:txBody>
          <a:bodyPr/>
          <a:lstStyle/>
          <a:p>
            <a:endParaRPr lang="en-US" dirty="0"/>
          </a:p>
          <a:p>
            <a:r>
              <a:rPr lang="en-US" sz="3600" dirty="0"/>
              <a:t>Determine the gap between where you are and where you need to be regarding sales knowledge, skills and competencies.</a:t>
            </a:r>
          </a:p>
        </p:txBody>
      </p:sp>
      <p:sp>
        <p:nvSpPr>
          <p:cNvPr id="4" name="Rectangle 6">
            <a:extLst>
              <a:ext uri="{FF2B5EF4-FFF2-40B4-BE49-F238E27FC236}">
                <a16:creationId xmlns:a16="http://schemas.microsoft.com/office/drawing/2014/main" id="{A9A11AAA-7BDA-868B-C63A-94A2964D1D57}"/>
              </a:ext>
            </a:extLst>
          </p:cNvPr>
          <p:cNvSpPr txBox="1">
            <a:spLocks noChangeArrowheads="1"/>
          </p:cNvSpPr>
          <p:nvPr/>
        </p:nvSpPr>
        <p:spPr bwMode="auto">
          <a:xfrm>
            <a:off x="304800" y="457200"/>
            <a:ext cx="8610600" cy="1066800"/>
          </a:xfrm>
          <a:prstGeom prst="rect">
            <a:avLst/>
          </a:prstGeom>
          <a:solidFill>
            <a:schemeClr val="bg2">
              <a:lumMod val="60000"/>
              <a:lumOff val="40000"/>
            </a:schemeClr>
          </a:solidFill>
          <a:ln>
            <a:noFill/>
          </a:ln>
          <a:effectLst/>
          <a:scene3d>
            <a:camera prst="orthographicFront"/>
            <a:lightRig rig="threePt" dir="t"/>
          </a:scene3d>
          <a:sp3d>
            <a:bevelT w="69850"/>
          </a:sp3d>
        </p:spPr>
        <p:txBody>
          <a:bodyPr vert="horz" wrap="square" lIns="92075" tIns="46038" rIns="92075" bIns="46038" numCol="1" anchor="ctr" anchorCtr="0" compatLnSpc="1">
            <a:prstTxWarp prst="textNoShape">
              <a:avLst/>
            </a:prstTxWarp>
          </a:bodyPr>
          <a:lst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a:lstStyle>
          <a:p>
            <a:pPr>
              <a:lnSpc>
                <a:spcPct val="80000"/>
              </a:lnSpc>
            </a:pPr>
            <a:r>
              <a:rPr lang="en-US" dirty="0"/>
              <a:t>Assess Sales Training Needs</a:t>
            </a:r>
          </a:p>
        </p:txBody>
      </p:sp>
    </p:spTree>
    <p:extLst>
      <p:ext uri="{BB962C8B-B14F-4D97-AF65-F5344CB8AC3E}">
        <p14:creationId xmlns:p14="http://schemas.microsoft.com/office/powerpoint/2010/main" val="3002690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6"/>
          <p:cNvSpPr>
            <a:spLocks noGrp="1" noChangeArrowheads="1"/>
          </p:cNvSpPr>
          <p:nvPr>
            <p:ph type="title"/>
          </p:nvPr>
        </p:nvSpPr>
        <p:spPr>
          <a:xfrm>
            <a:off x="152400" y="228600"/>
            <a:ext cx="8801101" cy="1066800"/>
          </a:xfrm>
          <a:solidFill>
            <a:schemeClr val="bg2">
              <a:lumMod val="60000"/>
              <a:lumOff val="40000"/>
            </a:schemeClr>
          </a:solidFill>
          <a:ln/>
        </p:spPr>
        <p:txBody>
          <a:bodyPr lIns="92075" tIns="46038" rIns="92075" bIns="46038"/>
          <a:lstStyle/>
          <a:p>
            <a:pPr>
              <a:lnSpc>
                <a:spcPct val="80000"/>
              </a:lnSpc>
            </a:pPr>
            <a:r>
              <a:rPr lang="en-US" dirty="0"/>
              <a:t>Assess Training Needs: Various Methods</a:t>
            </a:r>
          </a:p>
        </p:txBody>
      </p:sp>
      <p:grpSp>
        <p:nvGrpSpPr>
          <p:cNvPr id="4" name="Group 3">
            <a:extLst>
              <a:ext uri="{FF2B5EF4-FFF2-40B4-BE49-F238E27FC236}">
                <a16:creationId xmlns:a16="http://schemas.microsoft.com/office/drawing/2014/main" id="{67FCC69D-0CAC-43FC-AB5A-698D5F5DB649}"/>
              </a:ext>
            </a:extLst>
          </p:cNvPr>
          <p:cNvGrpSpPr/>
          <p:nvPr/>
        </p:nvGrpSpPr>
        <p:grpSpPr>
          <a:xfrm>
            <a:off x="703751" y="1524000"/>
            <a:ext cx="7736495" cy="4560203"/>
            <a:chOff x="703751" y="1524000"/>
            <a:chExt cx="7736495" cy="4560203"/>
          </a:xfrm>
        </p:grpSpPr>
        <p:pic>
          <p:nvPicPr>
            <p:cNvPr id="2" name="Picture 1"/>
            <p:cNvPicPr>
              <a:picLocks noChangeAspect="1"/>
            </p:cNvPicPr>
            <p:nvPr/>
          </p:nvPicPr>
          <p:blipFill>
            <a:blip r:embed="rId3"/>
            <a:stretch>
              <a:fillRect/>
            </a:stretch>
          </p:blipFill>
          <p:spPr>
            <a:xfrm>
              <a:off x="703751" y="1524000"/>
              <a:ext cx="7736495" cy="4560203"/>
            </a:xfrm>
            <a:prstGeom prst="rect">
              <a:avLst/>
            </a:prstGeom>
          </p:spPr>
        </p:pic>
        <p:sp>
          <p:nvSpPr>
            <p:cNvPr id="3" name="TextBox 2">
              <a:extLst>
                <a:ext uri="{FF2B5EF4-FFF2-40B4-BE49-F238E27FC236}">
                  <a16:creationId xmlns:a16="http://schemas.microsoft.com/office/drawing/2014/main" id="{76E54D25-632D-4D8A-B851-FE386C5AFF47}"/>
                </a:ext>
              </a:extLst>
            </p:cNvPr>
            <p:cNvSpPr txBox="1"/>
            <p:nvPr/>
          </p:nvSpPr>
          <p:spPr>
            <a:xfrm>
              <a:off x="990600" y="1698866"/>
              <a:ext cx="1676400" cy="415498"/>
            </a:xfrm>
            <a:prstGeom prst="rect">
              <a:avLst/>
            </a:prstGeom>
            <a:solidFill>
              <a:srgbClr val="DE324F"/>
            </a:solidFill>
            <a:ln>
              <a:solidFill>
                <a:srgbClr val="FFFFFF"/>
              </a:solidFill>
            </a:ln>
            <a:effectLst>
              <a:softEdge rad="127000"/>
            </a:effectLst>
          </p:spPr>
          <p:txBody>
            <a:bodyPr wrap="square" rtlCol="0">
              <a:spAutoFit/>
            </a:bodyPr>
            <a:lstStyle/>
            <a:p>
              <a:r>
                <a:rPr lang="en-US" sz="2100" b="1" dirty="0">
                  <a:solidFill>
                    <a:schemeClr val="bg1"/>
                  </a:solidFill>
                  <a:latin typeface="Arial" panose="020B0604020202020204" pitchFamily="34" charset="0"/>
                  <a:cs typeface="Arial" panose="020B0604020202020204" pitchFamily="34" charset="0"/>
                </a:rPr>
                <a:t>Salesforce</a:t>
              </a:r>
            </a:p>
          </p:txBody>
        </p:sp>
      </p:grpSp>
      <p:sp>
        <p:nvSpPr>
          <p:cNvPr id="5" name="TextBox 4">
            <a:extLst>
              <a:ext uri="{FF2B5EF4-FFF2-40B4-BE49-F238E27FC236}">
                <a16:creationId xmlns:a16="http://schemas.microsoft.com/office/drawing/2014/main" id="{AE4AD4FA-FB80-44B4-B375-2DBBA050257B}"/>
              </a:ext>
            </a:extLst>
          </p:cNvPr>
          <p:cNvSpPr txBox="1"/>
          <p:nvPr/>
        </p:nvSpPr>
        <p:spPr>
          <a:xfrm>
            <a:off x="4724400" y="4800600"/>
            <a:ext cx="3015569" cy="307777"/>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Can also gauge competitiveness!</a:t>
            </a:r>
          </a:p>
        </p:txBody>
      </p:sp>
    </p:spTree>
    <p:extLst>
      <p:ext uri="{BB962C8B-B14F-4D97-AF65-F5344CB8AC3E}">
        <p14:creationId xmlns:p14="http://schemas.microsoft.com/office/powerpoint/2010/main" val="248470822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A2311.jpg"/>
          <p:cNvPicPr>
            <a:picLocks noChangeAspect="1"/>
          </p:cNvPicPr>
          <p:nvPr/>
        </p:nvPicPr>
        <p:blipFill>
          <a:blip r:embed="rId3"/>
          <a:stretch>
            <a:fillRect/>
          </a:stretch>
        </p:blipFill>
        <p:spPr>
          <a:xfrm>
            <a:off x="-76200" y="1371600"/>
            <a:ext cx="9144000" cy="5723466"/>
          </a:xfrm>
          <a:prstGeom prst="rect">
            <a:avLst/>
          </a:prstGeom>
          <a:effectLst>
            <a:softEdge rad="635000"/>
          </a:effectLst>
        </p:spPr>
      </p:pic>
      <p:sp>
        <p:nvSpPr>
          <p:cNvPr id="32776" name="Rectangle 8"/>
          <p:cNvSpPr>
            <a:spLocks noGrp="1" noChangeArrowheads="1"/>
          </p:cNvSpPr>
          <p:nvPr>
            <p:ph idx="1"/>
          </p:nvPr>
        </p:nvSpPr>
        <p:spPr>
          <a:xfrm>
            <a:off x="228600" y="2438400"/>
            <a:ext cx="5562600" cy="4038600"/>
          </a:xfrm>
        </p:spPr>
        <p:txBody>
          <a:bodyPr/>
          <a:lstStyle/>
          <a:p>
            <a:r>
              <a:rPr lang="en-US" b="1" dirty="0"/>
              <a:t>Sales Techniques:</a:t>
            </a:r>
            <a:br>
              <a:rPr lang="en-US" sz="2400" dirty="0">
                <a:solidFill>
                  <a:schemeClr val="folHlink"/>
                </a:solidFill>
              </a:rPr>
            </a:br>
            <a:r>
              <a:rPr lang="en-US" sz="2400" dirty="0"/>
              <a:t>Salespeople have an ongoing need to learn “how to sell,” including questioning, listening, developing trust, managing relationships, and Emotional Intelligence (EI).</a:t>
            </a:r>
          </a:p>
          <a:p>
            <a:r>
              <a:rPr lang="en-US" b="1" dirty="0"/>
              <a:t>Product Knowledge:</a:t>
            </a:r>
            <a:br>
              <a:rPr lang="en-US" sz="2400" dirty="0"/>
            </a:br>
            <a:r>
              <a:rPr lang="en-US" sz="2400" dirty="0"/>
              <a:t>Salespeople must know their product’s benefits, applications, competitive strengths, and limitations.</a:t>
            </a:r>
          </a:p>
        </p:txBody>
      </p:sp>
      <p:sp>
        <p:nvSpPr>
          <p:cNvPr id="6" name="Title 3">
            <a:extLst>
              <a:ext uri="{FF2B5EF4-FFF2-40B4-BE49-F238E27FC236}">
                <a16:creationId xmlns:a16="http://schemas.microsoft.com/office/drawing/2014/main" id="{7578279A-3CD1-44C4-BD29-185A2CB3FFBB}"/>
              </a:ext>
            </a:extLst>
          </p:cNvPr>
          <p:cNvSpPr txBox="1">
            <a:spLocks/>
          </p:cNvSpPr>
          <p:nvPr/>
        </p:nvSpPr>
        <p:spPr bwMode="auto">
          <a:xfrm>
            <a:off x="266700" y="304800"/>
            <a:ext cx="8610600" cy="1066800"/>
          </a:xfrm>
          <a:prstGeom prst="rect">
            <a:avLst/>
          </a:prstGeom>
          <a:solidFill>
            <a:schemeClr val="bg2">
              <a:lumMod val="60000"/>
              <a:lumOff val="40000"/>
            </a:schemeClr>
          </a:solidFill>
          <a:ln>
            <a:noFill/>
          </a:ln>
          <a:effectLst/>
          <a:scene3d>
            <a:camera prst="orthographicFront"/>
            <a:lightRig rig="threePt" dir="t"/>
          </a:scene3d>
          <a:sp3d>
            <a:bevelT w="69850"/>
          </a:sp3d>
        </p:spPr>
        <p:txBody>
          <a:bodyPr vert="horz" wrap="square" lIns="91440" tIns="45720" rIns="91440" bIns="45720" numCol="1" anchor="ctr" anchorCtr="0" compatLnSpc="1">
            <a:prstTxWarp prst="textNoShape">
              <a:avLst/>
            </a:prstTxWarp>
          </a:bodyPr>
          <a:lst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a:lstStyle>
          <a:p>
            <a:r>
              <a:rPr lang="en-US" sz="3400" dirty="0"/>
              <a:t>Typical Sales Training Needs</a:t>
            </a:r>
          </a:p>
        </p:txBody>
      </p:sp>
    </p:spTree>
    <p:extLst>
      <p:ext uri="{BB962C8B-B14F-4D97-AF65-F5344CB8AC3E}">
        <p14:creationId xmlns:p14="http://schemas.microsoft.com/office/powerpoint/2010/main" val="258395089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A2311.jpg"/>
          <p:cNvPicPr>
            <a:picLocks noChangeAspect="1"/>
          </p:cNvPicPr>
          <p:nvPr/>
        </p:nvPicPr>
        <p:blipFill>
          <a:blip r:embed="rId3"/>
          <a:stretch>
            <a:fillRect/>
          </a:stretch>
        </p:blipFill>
        <p:spPr>
          <a:xfrm>
            <a:off x="0" y="1219201"/>
            <a:ext cx="9144000" cy="5723466"/>
          </a:xfrm>
          <a:prstGeom prst="rect">
            <a:avLst/>
          </a:prstGeom>
          <a:effectLst>
            <a:softEdge rad="635000"/>
          </a:effectLst>
        </p:spPr>
      </p:pic>
      <p:sp>
        <p:nvSpPr>
          <p:cNvPr id="32776" name="Rectangle 8"/>
          <p:cNvSpPr>
            <a:spLocks noGrp="1" noChangeArrowheads="1"/>
          </p:cNvSpPr>
          <p:nvPr>
            <p:ph idx="1"/>
          </p:nvPr>
        </p:nvSpPr>
        <p:spPr>
          <a:xfrm>
            <a:off x="228600" y="2590800"/>
            <a:ext cx="5562600" cy="4038600"/>
          </a:xfrm>
        </p:spPr>
        <p:txBody>
          <a:bodyPr/>
          <a:lstStyle/>
          <a:p>
            <a:r>
              <a:rPr lang="en-US" b="1" dirty="0"/>
              <a:t>Customer Knowledge:</a:t>
            </a:r>
            <a:br>
              <a:rPr lang="en-US" sz="2400" dirty="0"/>
            </a:br>
            <a:r>
              <a:rPr lang="en-US" sz="2400" dirty="0"/>
              <a:t>Salespeople should know their customer needs, buying motives, buying procedures, and personalities.</a:t>
            </a:r>
          </a:p>
          <a:p>
            <a:pPr>
              <a:buFontTx/>
              <a:buNone/>
            </a:pPr>
            <a:endParaRPr lang="en-US" sz="2400" dirty="0"/>
          </a:p>
          <a:p>
            <a:pPr>
              <a:buFontTx/>
              <a:buNone/>
            </a:pPr>
            <a:endParaRPr lang="en-US" sz="1600" dirty="0"/>
          </a:p>
          <a:p>
            <a:r>
              <a:rPr lang="en-US" b="1" dirty="0"/>
              <a:t>Competitive Knowledge:</a:t>
            </a:r>
            <a:br>
              <a:rPr lang="en-US" sz="2400" dirty="0"/>
            </a:br>
            <a:r>
              <a:rPr lang="en-US" sz="2400" dirty="0"/>
              <a:t>Salespeople must know competitive offerings in terms of strengths and weaknesses.</a:t>
            </a:r>
            <a:endParaRPr lang="en-US" sz="2400" b="1" dirty="0"/>
          </a:p>
        </p:txBody>
      </p:sp>
      <p:sp>
        <p:nvSpPr>
          <p:cNvPr id="5" name="Title 3">
            <a:extLst>
              <a:ext uri="{FF2B5EF4-FFF2-40B4-BE49-F238E27FC236}">
                <a16:creationId xmlns:a16="http://schemas.microsoft.com/office/drawing/2014/main" id="{4011B12E-CC0E-4521-914B-D5E00726F25F}"/>
              </a:ext>
            </a:extLst>
          </p:cNvPr>
          <p:cNvSpPr txBox="1">
            <a:spLocks/>
          </p:cNvSpPr>
          <p:nvPr/>
        </p:nvSpPr>
        <p:spPr bwMode="auto">
          <a:xfrm>
            <a:off x="266700" y="304801"/>
            <a:ext cx="8610600" cy="1066800"/>
          </a:xfrm>
          <a:prstGeom prst="rect">
            <a:avLst/>
          </a:prstGeom>
          <a:solidFill>
            <a:schemeClr val="bg2">
              <a:lumMod val="60000"/>
              <a:lumOff val="40000"/>
            </a:schemeClr>
          </a:solidFill>
          <a:ln>
            <a:noFill/>
          </a:ln>
          <a:effectLst/>
          <a:scene3d>
            <a:camera prst="orthographicFront"/>
            <a:lightRig rig="threePt" dir="t"/>
          </a:scene3d>
          <a:sp3d>
            <a:bevelT w="69850"/>
          </a:sp3d>
        </p:spPr>
        <p:txBody>
          <a:bodyPr vert="horz" wrap="square" lIns="91440" tIns="45720" rIns="91440" bIns="45720" numCol="1" anchor="ctr" anchorCtr="0" compatLnSpc="1">
            <a:prstTxWarp prst="textNoShape">
              <a:avLst/>
            </a:prstTxWarp>
          </a:bodyPr>
          <a:lst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a:lstStyle>
          <a:p>
            <a:r>
              <a:rPr lang="en-US" sz="3400" dirty="0"/>
              <a:t>Typical Sales Training Needs</a:t>
            </a:r>
          </a:p>
        </p:txBody>
      </p:sp>
    </p:spTree>
    <p:extLst>
      <p:ext uri="{BB962C8B-B14F-4D97-AF65-F5344CB8AC3E}">
        <p14:creationId xmlns:p14="http://schemas.microsoft.com/office/powerpoint/2010/main" val="164110606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A2311.jpg"/>
          <p:cNvPicPr>
            <a:picLocks noChangeAspect="1"/>
          </p:cNvPicPr>
          <p:nvPr/>
        </p:nvPicPr>
        <p:blipFill>
          <a:blip r:embed="rId3"/>
          <a:stretch>
            <a:fillRect/>
          </a:stretch>
        </p:blipFill>
        <p:spPr>
          <a:xfrm>
            <a:off x="0" y="1219201"/>
            <a:ext cx="9144000" cy="5723466"/>
          </a:xfrm>
          <a:prstGeom prst="rect">
            <a:avLst/>
          </a:prstGeom>
          <a:effectLst>
            <a:softEdge rad="635000"/>
          </a:effectLst>
        </p:spPr>
      </p:pic>
      <p:sp>
        <p:nvSpPr>
          <p:cNvPr id="32776" name="Rectangle 8"/>
          <p:cNvSpPr>
            <a:spLocks noGrp="1" noChangeArrowheads="1"/>
          </p:cNvSpPr>
          <p:nvPr>
            <p:ph idx="1"/>
          </p:nvPr>
        </p:nvSpPr>
        <p:spPr>
          <a:xfrm>
            <a:off x="228600" y="2590800"/>
            <a:ext cx="5638800" cy="3657600"/>
          </a:xfrm>
        </p:spPr>
        <p:txBody>
          <a:bodyPr/>
          <a:lstStyle/>
          <a:p>
            <a:r>
              <a:rPr lang="en-US" b="1" dirty="0"/>
              <a:t>Time &amp; Territory Management: </a:t>
            </a:r>
            <a:br>
              <a:rPr lang="en-US" b="1" dirty="0"/>
            </a:br>
            <a:r>
              <a:rPr lang="en-US" sz="2400" dirty="0"/>
              <a:t>Salespeople should learn to maximize work efficiency.</a:t>
            </a:r>
          </a:p>
          <a:p>
            <a:endParaRPr lang="en-US" sz="2400" dirty="0"/>
          </a:p>
          <a:p>
            <a:r>
              <a:rPr lang="en-US" sz="2400" b="1" dirty="0">
                <a:effectLst/>
                <a:latin typeface="Arial" panose="020B0604020202020204" pitchFamily="34" charset="0"/>
                <a:ea typeface="Calibri" panose="020F0502020204030204" pitchFamily="34" charset="0"/>
              </a:rPr>
              <a:t>Sales technology </a:t>
            </a:r>
            <a:r>
              <a:rPr lang="en-US" b="1" dirty="0"/>
              <a:t>:</a:t>
            </a:r>
            <a:br>
              <a:rPr lang="en-US" sz="2400" dirty="0"/>
            </a:br>
            <a:r>
              <a:rPr lang="en-US" sz="2400" dirty="0"/>
              <a:t>Salespeople should learn</a:t>
            </a:r>
          </a:p>
          <a:p>
            <a:pPr marL="0" indent="0">
              <a:buNone/>
            </a:pPr>
            <a:r>
              <a:rPr lang="en-US" dirty="0">
                <a:effectLst/>
                <a:latin typeface="Arial" panose="020B0604020202020204" pitchFamily="34" charset="0"/>
                <a:ea typeface="Calibri" panose="020F0502020204030204" pitchFamily="34" charset="0"/>
              </a:rPr>
              <a:t>    to use </a:t>
            </a:r>
            <a:r>
              <a:rPr lang="en-US" sz="2400" dirty="0">
                <a:effectLst/>
                <a:latin typeface="Arial" panose="020B0604020202020204" pitchFamily="34" charset="0"/>
                <a:ea typeface="Calibri" panose="020F0502020204030204" pitchFamily="34" charset="0"/>
              </a:rPr>
              <a:t>various tools to boost</a:t>
            </a:r>
          </a:p>
          <a:p>
            <a:pPr marL="0" indent="0">
              <a:buNone/>
            </a:pPr>
            <a:r>
              <a:rPr lang="en-US" dirty="0">
                <a:ea typeface="Calibri" panose="020F0502020204030204" pitchFamily="34" charset="0"/>
              </a:rPr>
              <a:t> </a:t>
            </a:r>
            <a:r>
              <a:rPr lang="en-US" sz="2400" dirty="0">
                <a:effectLst/>
                <a:latin typeface="Arial" panose="020B0604020202020204" pitchFamily="34" charset="0"/>
                <a:ea typeface="Calibri" panose="020F0502020204030204" pitchFamily="34" charset="0"/>
              </a:rPr>
              <a:t>   productivity.</a:t>
            </a:r>
            <a:r>
              <a:rPr lang="en-US" sz="2400" dirty="0"/>
              <a:t> </a:t>
            </a:r>
            <a:br>
              <a:rPr lang="en-US" sz="2400" dirty="0"/>
            </a:br>
            <a:endParaRPr lang="en-US" sz="2400" dirty="0"/>
          </a:p>
        </p:txBody>
      </p:sp>
      <p:sp>
        <p:nvSpPr>
          <p:cNvPr id="5" name="Title 3">
            <a:extLst>
              <a:ext uri="{FF2B5EF4-FFF2-40B4-BE49-F238E27FC236}">
                <a16:creationId xmlns:a16="http://schemas.microsoft.com/office/drawing/2014/main" id="{FC97A0C9-59C9-4AD7-B14A-5484E3010FF9}"/>
              </a:ext>
            </a:extLst>
          </p:cNvPr>
          <p:cNvSpPr txBox="1">
            <a:spLocks/>
          </p:cNvSpPr>
          <p:nvPr/>
        </p:nvSpPr>
        <p:spPr bwMode="auto">
          <a:xfrm>
            <a:off x="384495" y="295712"/>
            <a:ext cx="8610600" cy="1066800"/>
          </a:xfrm>
          <a:prstGeom prst="rect">
            <a:avLst/>
          </a:prstGeom>
          <a:solidFill>
            <a:schemeClr val="bg2">
              <a:lumMod val="60000"/>
              <a:lumOff val="40000"/>
            </a:schemeClr>
          </a:solidFill>
          <a:ln>
            <a:noFill/>
          </a:ln>
          <a:effectLst/>
          <a:scene3d>
            <a:camera prst="orthographicFront"/>
            <a:lightRig rig="threePt" dir="t"/>
          </a:scene3d>
          <a:sp3d>
            <a:bevelT w="69850"/>
          </a:sp3d>
        </p:spPr>
        <p:txBody>
          <a:bodyPr vert="horz" wrap="square" lIns="91440" tIns="45720" rIns="91440" bIns="45720" numCol="1" anchor="ctr" anchorCtr="0" compatLnSpc="1">
            <a:prstTxWarp prst="textNoShape">
              <a:avLst/>
            </a:prstTxWarp>
          </a:bodyPr>
          <a:lst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a:lstStyle>
          <a:p>
            <a:r>
              <a:rPr lang="en-US" sz="3400" dirty="0"/>
              <a:t>Typical Sales Training Needs</a:t>
            </a:r>
          </a:p>
        </p:txBody>
      </p:sp>
    </p:spTree>
    <p:extLst>
      <p:ext uri="{BB962C8B-B14F-4D97-AF65-F5344CB8AC3E}">
        <p14:creationId xmlns:p14="http://schemas.microsoft.com/office/powerpoint/2010/main" val="20136143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Customers want salespeople who:</a:t>
            </a:r>
          </a:p>
          <a:p>
            <a:pPr lvl="0"/>
            <a:r>
              <a:rPr lang="en-US" dirty="0"/>
              <a:t>personally manage the customer’s desired results.</a:t>
            </a:r>
          </a:p>
          <a:p>
            <a:pPr lvl="0"/>
            <a:r>
              <a:rPr lang="en-US" dirty="0"/>
              <a:t>fully understand the customer’s business.</a:t>
            </a:r>
          </a:p>
          <a:p>
            <a:pPr lvl="0"/>
            <a:r>
              <a:rPr lang="en-US" dirty="0"/>
              <a:t>act as a customer advocate.</a:t>
            </a:r>
          </a:p>
          <a:p>
            <a:pPr lvl="0">
              <a:spcBef>
                <a:spcPts val="0"/>
              </a:spcBef>
            </a:pPr>
            <a:r>
              <a:rPr lang="en-US" dirty="0"/>
              <a:t>are knowledgeable of product</a:t>
            </a:r>
          </a:p>
          <a:p>
            <a:pPr marL="0" lvl="0" indent="0">
              <a:spcBef>
                <a:spcPts val="0"/>
              </a:spcBef>
              <a:buNone/>
            </a:pPr>
            <a:r>
              <a:rPr lang="en-US" dirty="0"/>
              <a:t>   applications.</a:t>
            </a:r>
          </a:p>
          <a:p>
            <a:pPr lvl="0"/>
            <a:r>
              <a:rPr lang="en-US" dirty="0"/>
              <a:t>are easily accessible.</a:t>
            </a:r>
          </a:p>
          <a:p>
            <a:pPr lvl="0"/>
            <a:r>
              <a:rPr lang="en-US" dirty="0"/>
              <a:t>solve the customer’s problems.</a:t>
            </a:r>
          </a:p>
          <a:p>
            <a:pPr>
              <a:spcBef>
                <a:spcPts val="0"/>
              </a:spcBef>
            </a:pPr>
            <a:r>
              <a:rPr lang="en-US" dirty="0"/>
              <a:t>provide innovative responses</a:t>
            </a:r>
          </a:p>
          <a:p>
            <a:pPr marL="0" indent="0">
              <a:spcBef>
                <a:spcPts val="0"/>
              </a:spcBef>
              <a:buNone/>
            </a:pPr>
            <a:r>
              <a:rPr lang="en-US" dirty="0"/>
              <a:t>   to customer needs.</a:t>
            </a:r>
          </a:p>
        </p:txBody>
      </p:sp>
      <p:sp>
        <p:nvSpPr>
          <p:cNvPr id="5" name="Title 3">
            <a:extLst>
              <a:ext uri="{FF2B5EF4-FFF2-40B4-BE49-F238E27FC236}">
                <a16:creationId xmlns:a16="http://schemas.microsoft.com/office/drawing/2014/main" id="{DE6A8473-D554-40D5-82F5-AED48C7B3BD4}"/>
              </a:ext>
            </a:extLst>
          </p:cNvPr>
          <p:cNvSpPr txBox="1">
            <a:spLocks/>
          </p:cNvSpPr>
          <p:nvPr/>
        </p:nvSpPr>
        <p:spPr bwMode="auto">
          <a:xfrm>
            <a:off x="266700" y="228600"/>
            <a:ext cx="8610600" cy="1066800"/>
          </a:xfrm>
          <a:prstGeom prst="rect">
            <a:avLst/>
          </a:prstGeom>
          <a:solidFill>
            <a:schemeClr val="bg2">
              <a:lumMod val="60000"/>
              <a:lumOff val="40000"/>
            </a:schemeClr>
          </a:solidFill>
          <a:ln>
            <a:noFill/>
          </a:ln>
          <a:effectLst/>
          <a:scene3d>
            <a:camera prst="orthographicFront"/>
            <a:lightRig rig="threePt" dir="t"/>
          </a:scene3d>
          <a:sp3d>
            <a:bevelT w="69850"/>
          </a:sp3d>
        </p:spPr>
        <p:txBody>
          <a:bodyPr vert="horz" wrap="square" lIns="91440" tIns="45720" rIns="91440" bIns="45720" numCol="1" anchor="ctr" anchorCtr="0" compatLnSpc="1">
            <a:prstTxWarp prst="textNoShape">
              <a:avLst/>
            </a:prstTxWarp>
          </a:bodyPr>
          <a:lst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a:lstStyle>
          <a:p>
            <a:r>
              <a:rPr lang="en-US" sz="3200" dirty="0"/>
              <a:t>Relationship Building Characteristics Required of Salespeople</a:t>
            </a:r>
          </a:p>
        </p:txBody>
      </p:sp>
      <p:pic>
        <p:nvPicPr>
          <p:cNvPr id="3074" name="Picture 2" descr="Free photo two women entrepreneurs working together in office">
            <a:extLst>
              <a:ext uri="{FF2B5EF4-FFF2-40B4-BE49-F238E27FC236}">
                <a16:creationId xmlns:a16="http://schemas.microsoft.com/office/drawing/2014/main" id="{AE469DF0-305E-CC91-AAC0-E13A46470C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8640" y="3223382"/>
            <a:ext cx="3846410" cy="2562225"/>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26696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76200"/>
            <a:ext cx="8610600" cy="1066800"/>
          </a:xfrm>
          <a:solidFill>
            <a:schemeClr val="bg2">
              <a:lumMod val="60000"/>
              <a:lumOff val="40000"/>
            </a:schemeClr>
          </a:solidFill>
        </p:spPr>
        <p:txBody>
          <a:bodyPr/>
          <a:lstStyle/>
          <a:p>
            <a:r>
              <a:rPr lang="en-US" sz="3200" dirty="0"/>
              <a:t>Sales Training Topics for </a:t>
            </a:r>
            <a:br>
              <a:rPr lang="en-US" sz="3200" dirty="0"/>
            </a:br>
            <a:r>
              <a:rPr lang="en-US" sz="3200" dirty="0"/>
              <a:t>Different Buyer Types</a:t>
            </a:r>
          </a:p>
        </p:txBody>
      </p:sp>
      <p:sp>
        <p:nvSpPr>
          <p:cNvPr id="3" name="TextBox 2">
            <a:extLst>
              <a:ext uri="{FF2B5EF4-FFF2-40B4-BE49-F238E27FC236}">
                <a16:creationId xmlns:a16="http://schemas.microsoft.com/office/drawing/2014/main" id="{D5AAFA0F-10D8-4A48-AFAE-F3BB33266797}"/>
              </a:ext>
            </a:extLst>
          </p:cNvPr>
          <p:cNvSpPr txBox="1"/>
          <p:nvPr/>
        </p:nvSpPr>
        <p:spPr>
          <a:xfrm>
            <a:off x="533400" y="3429000"/>
            <a:ext cx="7696200" cy="461665"/>
          </a:xfrm>
          <a:prstGeom prst="rect">
            <a:avLst/>
          </a:prstGeom>
          <a:noFill/>
        </p:spPr>
        <p:txBody>
          <a:bodyPr wrap="square" rtlCol="0">
            <a:spAutoFit/>
          </a:bodyPr>
          <a:lstStyle/>
          <a:p>
            <a:endParaRPr lang="en-US" dirty="0"/>
          </a:p>
        </p:txBody>
      </p:sp>
      <p:graphicFrame>
        <p:nvGraphicFramePr>
          <p:cNvPr id="5" name="Table 4">
            <a:extLst>
              <a:ext uri="{FF2B5EF4-FFF2-40B4-BE49-F238E27FC236}">
                <a16:creationId xmlns:a16="http://schemas.microsoft.com/office/drawing/2014/main" id="{00B61941-A39A-43BD-9732-E9ED4143BE91}"/>
              </a:ext>
            </a:extLst>
          </p:cNvPr>
          <p:cNvGraphicFramePr>
            <a:graphicFrameLocks noGrp="1"/>
          </p:cNvGraphicFramePr>
          <p:nvPr>
            <p:extLst>
              <p:ext uri="{D42A27DB-BD31-4B8C-83A1-F6EECF244321}">
                <p14:modId xmlns:p14="http://schemas.microsoft.com/office/powerpoint/2010/main" val="253304707"/>
              </p:ext>
            </p:extLst>
          </p:nvPr>
        </p:nvGraphicFramePr>
        <p:xfrm>
          <a:off x="381001" y="1219200"/>
          <a:ext cx="8610601" cy="5069535"/>
        </p:xfrm>
        <a:graphic>
          <a:graphicData uri="http://schemas.openxmlformats.org/drawingml/2006/table">
            <a:tbl>
              <a:tblPr firstRow="1" firstCol="1" bandRow="1">
                <a:tableStyleId>{5C22544A-7EE6-4342-B048-85BDC9FD1C3A}</a:tableStyleId>
              </a:tblPr>
              <a:tblGrid>
                <a:gridCol w="1676399">
                  <a:extLst>
                    <a:ext uri="{9D8B030D-6E8A-4147-A177-3AD203B41FA5}">
                      <a16:colId xmlns:a16="http://schemas.microsoft.com/office/drawing/2014/main" val="4212084928"/>
                    </a:ext>
                  </a:extLst>
                </a:gridCol>
                <a:gridCol w="2628900">
                  <a:extLst>
                    <a:ext uri="{9D8B030D-6E8A-4147-A177-3AD203B41FA5}">
                      <a16:colId xmlns:a16="http://schemas.microsoft.com/office/drawing/2014/main" val="2789516248"/>
                    </a:ext>
                  </a:extLst>
                </a:gridCol>
                <a:gridCol w="4305302">
                  <a:extLst>
                    <a:ext uri="{9D8B030D-6E8A-4147-A177-3AD203B41FA5}">
                      <a16:colId xmlns:a16="http://schemas.microsoft.com/office/drawing/2014/main" val="396263681"/>
                    </a:ext>
                  </a:extLst>
                </a:gridCol>
              </a:tblGrid>
              <a:tr h="526774">
                <a:tc>
                  <a:txBody>
                    <a:bodyPr/>
                    <a:lstStyle/>
                    <a:p>
                      <a:pPr marL="0" marR="0">
                        <a:lnSpc>
                          <a:spcPct val="107000"/>
                        </a:lnSpc>
                        <a:spcBef>
                          <a:spcPts val="0"/>
                        </a:spcBef>
                        <a:spcAft>
                          <a:spcPts val="0"/>
                        </a:spcAft>
                      </a:pPr>
                      <a:r>
                        <a:rPr lang="en-US" sz="1600" dirty="0">
                          <a:effectLst/>
                        </a:rPr>
                        <a:t>Buyer Type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tc>
                  <a:txBody>
                    <a:bodyPr/>
                    <a:lstStyle/>
                    <a:p>
                      <a:pPr marL="0" marR="0">
                        <a:lnSpc>
                          <a:spcPct val="107000"/>
                        </a:lnSpc>
                        <a:spcBef>
                          <a:spcPts val="0"/>
                        </a:spcBef>
                        <a:spcAft>
                          <a:spcPts val="0"/>
                        </a:spcAft>
                      </a:pPr>
                      <a:r>
                        <a:rPr lang="en-US" sz="1600" dirty="0">
                          <a:effectLst/>
                        </a:rPr>
                        <a:t>Solution Type and</a:t>
                      </a:r>
                    </a:p>
                    <a:p>
                      <a:pPr marL="0" marR="0">
                        <a:lnSpc>
                          <a:spcPct val="107000"/>
                        </a:lnSpc>
                        <a:spcBef>
                          <a:spcPts val="0"/>
                        </a:spcBef>
                        <a:spcAft>
                          <a:spcPts val="0"/>
                        </a:spcAft>
                      </a:pPr>
                      <a:r>
                        <a:rPr lang="en-US" sz="1600" dirty="0">
                          <a:effectLst/>
                        </a:rPr>
                        <a:t>Buying Environment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tc>
                  <a:txBody>
                    <a:bodyPr/>
                    <a:lstStyle/>
                    <a:p>
                      <a:pPr marL="0" marR="0">
                        <a:lnSpc>
                          <a:spcPct val="107000"/>
                        </a:lnSpc>
                        <a:spcBef>
                          <a:spcPts val="0"/>
                        </a:spcBef>
                        <a:spcAft>
                          <a:spcPts val="0"/>
                        </a:spcAft>
                      </a:pPr>
                      <a:r>
                        <a:rPr lang="en-US" sz="1600" dirty="0">
                          <a:effectLst/>
                        </a:rPr>
                        <a:t>Sales Training Topic</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extLst>
                  <a:ext uri="{0D108BD9-81ED-4DB2-BD59-A6C34878D82A}">
                    <a16:rowId xmlns:a16="http://schemas.microsoft.com/office/drawing/2014/main" val="2949467845"/>
                  </a:ext>
                </a:extLst>
              </a:tr>
              <a:tr h="1068033">
                <a:tc>
                  <a:txBody>
                    <a:bodyPr/>
                    <a:lstStyle/>
                    <a:p>
                      <a:pPr marL="0" marR="0">
                        <a:lnSpc>
                          <a:spcPct val="107000"/>
                        </a:lnSpc>
                        <a:spcBef>
                          <a:spcPts val="0"/>
                        </a:spcBef>
                        <a:spcAft>
                          <a:spcPts val="0"/>
                        </a:spcAft>
                      </a:pPr>
                      <a:r>
                        <a:rPr lang="en-US" sz="1600" dirty="0">
                          <a:effectLst/>
                        </a:rPr>
                        <a:t>Serve Me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tc>
                  <a:txBody>
                    <a:bodyPr/>
                    <a:lstStyle/>
                    <a:p>
                      <a:pPr marL="0" marR="0">
                        <a:lnSpc>
                          <a:spcPct val="107000"/>
                        </a:lnSpc>
                        <a:spcBef>
                          <a:spcPts val="0"/>
                        </a:spcBef>
                        <a:spcAft>
                          <a:spcPts val="0"/>
                        </a:spcAft>
                      </a:pPr>
                      <a:r>
                        <a:rPr lang="en-US" sz="1600" dirty="0">
                          <a:effectLst/>
                        </a:rPr>
                        <a:t>Simple/Simple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tc>
                  <a:txBody>
                    <a:bodyPr/>
                    <a:lstStyle/>
                    <a:p>
                      <a:pPr marL="0" marR="0">
                        <a:lnSpc>
                          <a:spcPct val="107000"/>
                        </a:lnSpc>
                        <a:spcBef>
                          <a:spcPts val="0"/>
                        </a:spcBef>
                        <a:spcAft>
                          <a:spcPts val="0"/>
                        </a:spcAft>
                      </a:pPr>
                      <a:r>
                        <a:rPr lang="en-US" sz="1400" b="1" dirty="0">
                          <a:effectLst/>
                        </a:rPr>
                        <a:t>How to facilitate the buyer to execute a purchase in-person or online</a:t>
                      </a:r>
                      <a:r>
                        <a:rPr lang="en-US" sz="1400" dirty="0">
                          <a:effectLst/>
                        </a:rPr>
                        <a:t>.</a:t>
                      </a:r>
                    </a:p>
                    <a:p>
                      <a:pPr marL="0" marR="0">
                        <a:lnSpc>
                          <a:spcPct val="107000"/>
                        </a:lnSpc>
                        <a:spcBef>
                          <a:spcPts val="0"/>
                        </a:spcBef>
                        <a:spcAft>
                          <a:spcPts val="0"/>
                        </a:spcAft>
                      </a:pPr>
                      <a:r>
                        <a:rPr lang="en-US" sz="1400" dirty="0">
                          <a:effectLst/>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extLst>
                  <a:ext uri="{0D108BD9-81ED-4DB2-BD59-A6C34878D82A}">
                    <a16:rowId xmlns:a16="http://schemas.microsoft.com/office/drawing/2014/main" val="3991694019"/>
                  </a:ext>
                </a:extLst>
              </a:tr>
              <a:tr h="1338662">
                <a:tc>
                  <a:txBody>
                    <a:bodyPr/>
                    <a:lstStyle/>
                    <a:p>
                      <a:pPr marL="0" marR="0">
                        <a:lnSpc>
                          <a:spcPct val="107000"/>
                        </a:lnSpc>
                        <a:spcBef>
                          <a:spcPts val="0"/>
                        </a:spcBef>
                        <a:spcAft>
                          <a:spcPts val="0"/>
                        </a:spcAft>
                      </a:pPr>
                      <a:r>
                        <a:rPr lang="en-US" sz="1600" dirty="0">
                          <a:effectLst/>
                        </a:rPr>
                        <a:t>Show Me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tc>
                  <a:txBody>
                    <a:bodyPr/>
                    <a:lstStyle/>
                    <a:p>
                      <a:pPr marL="0" marR="0">
                        <a:lnSpc>
                          <a:spcPct val="107000"/>
                        </a:lnSpc>
                        <a:spcBef>
                          <a:spcPts val="0"/>
                        </a:spcBef>
                        <a:spcAft>
                          <a:spcPts val="0"/>
                        </a:spcAft>
                      </a:pPr>
                      <a:r>
                        <a:rPr lang="en-US" sz="1600" dirty="0">
                          <a:effectLst/>
                        </a:rPr>
                        <a:t>Complex/Simple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tc>
                  <a:txBody>
                    <a:bodyPr/>
                    <a:lstStyle/>
                    <a:p>
                      <a:pPr marL="0" marR="0">
                        <a:lnSpc>
                          <a:spcPct val="107000"/>
                        </a:lnSpc>
                        <a:spcBef>
                          <a:spcPts val="0"/>
                        </a:spcBef>
                        <a:spcAft>
                          <a:spcPts val="0"/>
                        </a:spcAft>
                      </a:pPr>
                      <a:r>
                        <a:rPr lang="en-US" sz="1400" b="1" dirty="0">
                          <a:effectLst/>
                        </a:rPr>
                        <a:t>Deep understanding of solutions</a:t>
                      </a:r>
                      <a:r>
                        <a:rPr lang="en-US" sz="1400" dirty="0">
                          <a:effectLst/>
                        </a:rPr>
                        <a:t>.  How to assist the prospect in collecting and understanding information to evaluate and choose among alternatives.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extLst>
                  <a:ext uri="{0D108BD9-81ED-4DB2-BD59-A6C34878D82A}">
                    <a16:rowId xmlns:a16="http://schemas.microsoft.com/office/drawing/2014/main" val="3829141659"/>
                  </a:ext>
                </a:extLst>
              </a:tr>
              <a:tr h="1068033">
                <a:tc>
                  <a:txBody>
                    <a:bodyPr/>
                    <a:lstStyle/>
                    <a:p>
                      <a:pPr marL="0" marR="0">
                        <a:lnSpc>
                          <a:spcPct val="107000"/>
                        </a:lnSpc>
                        <a:spcBef>
                          <a:spcPts val="0"/>
                        </a:spcBef>
                        <a:spcAft>
                          <a:spcPts val="0"/>
                        </a:spcAft>
                      </a:pPr>
                      <a:r>
                        <a:rPr lang="en-US" sz="1600" dirty="0">
                          <a:effectLst/>
                        </a:rPr>
                        <a:t>Guide Me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tc>
                  <a:txBody>
                    <a:bodyPr/>
                    <a:lstStyle/>
                    <a:p>
                      <a:pPr marL="0" marR="0">
                        <a:lnSpc>
                          <a:spcPct val="107000"/>
                        </a:lnSpc>
                        <a:spcBef>
                          <a:spcPts val="0"/>
                        </a:spcBef>
                        <a:spcAft>
                          <a:spcPts val="0"/>
                        </a:spcAft>
                      </a:pPr>
                      <a:r>
                        <a:rPr lang="en-US" sz="1600" dirty="0">
                          <a:effectLst/>
                        </a:rPr>
                        <a:t>Simple/Complex</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tc>
                  <a:txBody>
                    <a:bodyPr/>
                    <a:lstStyle/>
                    <a:p>
                      <a:pPr marL="0" marR="0">
                        <a:lnSpc>
                          <a:spcPct val="107000"/>
                        </a:lnSpc>
                        <a:spcBef>
                          <a:spcPts val="0"/>
                        </a:spcBef>
                        <a:spcAft>
                          <a:spcPts val="0"/>
                        </a:spcAft>
                      </a:pPr>
                      <a:r>
                        <a:rPr lang="en-US" sz="1400" b="1" dirty="0">
                          <a:effectLst/>
                        </a:rPr>
                        <a:t>Political skill to help the buyer navigate </a:t>
                      </a:r>
                      <a:r>
                        <a:rPr lang="en-US" sz="1400" dirty="0">
                          <a:effectLst/>
                        </a:rPr>
                        <a:t>various internal stakeholders and/or acquire budget resources.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extLst>
                  <a:ext uri="{0D108BD9-81ED-4DB2-BD59-A6C34878D82A}">
                    <a16:rowId xmlns:a16="http://schemas.microsoft.com/office/drawing/2014/main" val="435121344"/>
                  </a:ext>
                </a:extLst>
              </a:tr>
              <a:tr h="1068033">
                <a:tc>
                  <a:txBody>
                    <a:bodyPr/>
                    <a:lstStyle/>
                    <a:p>
                      <a:pPr marL="0" marR="0">
                        <a:lnSpc>
                          <a:spcPct val="107000"/>
                        </a:lnSpc>
                        <a:spcBef>
                          <a:spcPts val="0"/>
                        </a:spcBef>
                        <a:spcAft>
                          <a:spcPts val="0"/>
                        </a:spcAft>
                      </a:pPr>
                      <a:r>
                        <a:rPr lang="en-US" sz="1600" dirty="0">
                          <a:effectLst/>
                        </a:rPr>
                        <a:t>Enlighten Me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tc>
                  <a:txBody>
                    <a:bodyPr/>
                    <a:lstStyle/>
                    <a:p>
                      <a:pPr marL="0" marR="0">
                        <a:lnSpc>
                          <a:spcPct val="107000"/>
                        </a:lnSpc>
                        <a:spcBef>
                          <a:spcPts val="0"/>
                        </a:spcBef>
                        <a:spcAft>
                          <a:spcPts val="0"/>
                        </a:spcAft>
                      </a:pPr>
                      <a:r>
                        <a:rPr lang="en-US" sz="1600" dirty="0">
                          <a:effectLst/>
                        </a:rPr>
                        <a:t>Complex/Complex</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tc>
                  <a:txBody>
                    <a:bodyPr/>
                    <a:lstStyle/>
                    <a:p>
                      <a:pPr marL="0" marR="0">
                        <a:lnSpc>
                          <a:spcPct val="107000"/>
                        </a:lnSpc>
                        <a:spcBef>
                          <a:spcPts val="0"/>
                        </a:spcBef>
                        <a:spcAft>
                          <a:spcPts val="0"/>
                        </a:spcAft>
                      </a:pPr>
                      <a:r>
                        <a:rPr lang="en-US" sz="1400" b="1" dirty="0">
                          <a:effectLst/>
                        </a:rPr>
                        <a:t>Consultative selling</a:t>
                      </a:r>
                      <a:r>
                        <a:rPr lang="en-US" sz="1400" dirty="0">
                          <a:effectLst/>
                        </a:rPr>
                        <a:t>.  Must have deep understanding of solutions and political skill to deal with multiple stakeholders in the buying process.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75000"/>
                      </a:schemeClr>
                    </a:solidFill>
                  </a:tcPr>
                </a:tc>
                <a:extLst>
                  <a:ext uri="{0D108BD9-81ED-4DB2-BD59-A6C34878D82A}">
                    <a16:rowId xmlns:a16="http://schemas.microsoft.com/office/drawing/2014/main" val="901262772"/>
                  </a:ext>
                </a:extLst>
              </a:tr>
            </a:tbl>
          </a:graphicData>
        </a:graphic>
      </p:graphicFrame>
      <p:sp>
        <p:nvSpPr>
          <p:cNvPr id="6" name="Rectangle 1">
            <a:extLst>
              <a:ext uri="{FF2B5EF4-FFF2-40B4-BE49-F238E27FC236}">
                <a16:creationId xmlns:a16="http://schemas.microsoft.com/office/drawing/2014/main" id="{C6D6BB7C-A855-4C32-8EF9-5AADB53BE4B5}"/>
              </a:ext>
            </a:extLst>
          </p:cNvPr>
          <p:cNvSpPr>
            <a:spLocks noChangeArrowheads="1"/>
          </p:cNvSpPr>
          <p:nvPr/>
        </p:nvSpPr>
        <p:spPr bwMode="auto">
          <a:xfrm>
            <a:off x="1541462" y="2105138"/>
            <a:ext cx="10301669" cy="48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Tree>
    <p:extLst>
      <p:ext uri="{BB962C8B-B14F-4D97-AF65-F5344CB8AC3E}">
        <p14:creationId xmlns:p14="http://schemas.microsoft.com/office/powerpoint/2010/main" val="1756941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2496599" y="990600"/>
            <a:ext cx="4191000" cy="5638800"/>
            <a:chOff x="2514600" y="1005840"/>
            <a:chExt cx="4191000" cy="5242560"/>
          </a:xfrm>
        </p:grpSpPr>
        <p:pic>
          <p:nvPicPr>
            <p:cNvPr id="9" name="Picture 8" descr="Clipboard Blank.jpg"/>
            <p:cNvPicPr>
              <a:picLocks noChangeAspect="1"/>
            </p:cNvPicPr>
            <p:nvPr/>
          </p:nvPicPr>
          <p:blipFill>
            <a:blip r:embed="rId3">
              <a:clrChange>
                <a:clrFrom>
                  <a:srgbClr val="FFFFFF"/>
                </a:clrFrom>
                <a:clrTo>
                  <a:srgbClr val="FFFFFF">
                    <a:alpha val="0"/>
                  </a:srgbClr>
                </a:clrTo>
              </a:clrChange>
            </a:blip>
            <a:srcRect l="5020" r="2945" b="10417"/>
            <a:stretch>
              <a:fillRect/>
            </a:stretch>
          </p:blipFill>
          <p:spPr>
            <a:xfrm>
              <a:off x="2514600" y="1005840"/>
              <a:ext cx="4191000" cy="5242560"/>
            </a:xfrm>
            <a:prstGeom prst="rect">
              <a:avLst/>
            </a:prstGeom>
          </p:spPr>
        </p:pic>
        <p:sp>
          <p:nvSpPr>
            <p:cNvPr id="10" name="Rectangle 9"/>
            <p:cNvSpPr/>
            <p:nvPr/>
          </p:nvSpPr>
          <p:spPr>
            <a:xfrm>
              <a:off x="2533650" y="1676400"/>
              <a:ext cx="4114800" cy="43434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Verdana"/>
                <a:ea typeface="+mn-ea"/>
                <a:cs typeface="+mn-cs"/>
              </a:endParaRPr>
            </a:p>
          </p:txBody>
        </p:sp>
      </p:grpSp>
      <p:sp>
        <p:nvSpPr>
          <p:cNvPr id="45062" name="Rectangle 6"/>
          <p:cNvSpPr>
            <a:spLocks noGrp="1" noChangeArrowheads="1"/>
          </p:cNvSpPr>
          <p:nvPr>
            <p:ph type="title"/>
          </p:nvPr>
        </p:nvSpPr>
        <p:spPr>
          <a:xfrm>
            <a:off x="152400" y="106680"/>
            <a:ext cx="8610600" cy="1066800"/>
          </a:xfrm>
          <a:solidFill>
            <a:schemeClr val="bg2">
              <a:lumMod val="60000"/>
              <a:lumOff val="40000"/>
            </a:schemeClr>
          </a:solidFill>
          <a:ln/>
        </p:spPr>
        <p:txBody>
          <a:bodyPr lIns="92075" tIns="46038" rIns="92075" bIns="46038"/>
          <a:lstStyle/>
          <a:p>
            <a:pPr>
              <a:lnSpc>
                <a:spcPct val="80000"/>
              </a:lnSpc>
            </a:pPr>
            <a:r>
              <a:rPr lang="en-US" dirty="0"/>
              <a:t>Set Training Objectives… SMAC</a:t>
            </a:r>
            <a:endParaRPr lang="en-US" sz="2800" b="1" dirty="0">
              <a:solidFill>
                <a:schemeClr val="accent2"/>
              </a:solidFill>
            </a:endParaRPr>
          </a:p>
        </p:txBody>
      </p:sp>
      <p:sp>
        <p:nvSpPr>
          <p:cNvPr id="45064" name="Rectangle 8"/>
          <p:cNvSpPr>
            <a:spLocks noGrp="1" noChangeArrowheads="1"/>
          </p:cNvSpPr>
          <p:nvPr>
            <p:ph idx="1"/>
          </p:nvPr>
        </p:nvSpPr>
        <p:spPr>
          <a:xfrm>
            <a:off x="2590800" y="1600881"/>
            <a:ext cx="4212771" cy="2818719"/>
          </a:xfrm>
        </p:spPr>
        <p:txBody>
          <a:bodyPr/>
          <a:lstStyle/>
          <a:p>
            <a:pPr>
              <a:spcBef>
                <a:spcPts val="0"/>
              </a:spcBef>
              <a:spcAft>
                <a:spcPts val="1200"/>
              </a:spcAft>
            </a:pPr>
            <a:r>
              <a:rPr lang="en-US" sz="1900" dirty="0"/>
              <a:t>Increase sales or profits.</a:t>
            </a:r>
          </a:p>
          <a:p>
            <a:pPr>
              <a:spcBef>
                <a:spcPts val="0"/>
              </a:spcBef>
              <a:spcAft>
                <a:spcPts val="1200"/>
              </a:spcAft>
            </a:pPr>
            <a:r>
              <a:rPr lang="en-US" sz="1900" dirty="0"/>
              <a:t>Create positive attitudes and improve salesforce morale.</a:t>
            </a:r>
          </a:p>
          <a:p>
            <a:pPr>
              <a:spcBef>
                <a:spcPts val="0"/>
              </a:spcBef>
              <a:spcAft>
                <a:spcPts val="1200"/>
              </a:spcAft>
            </a:pPr>
            <a:r>
              <a:rPr lang="en-US" sz="1900" dirty="0"/>
              <a:t>Assist in salesforce socialization/onboarding.</a:t>
            </a:r>
          </a:p>
          <a:p>
            <a:pPr>
              <a:spcBef>
                <a:spcPts val="0"/>
              </a:spcBef>
              <a:spcAft>
                <a:spcPts val="1200"/>
              </a:spcAft>
            </a:pPr>
            <a:r>
              <a:rPr lang="en-US" sz="1900" dirty="0"/>
              <a:t>Reduce role conflict and ambiguity.</a:t>
            </a:r>
          </a:p>
          <a:p>
            <a:pPr>
              <a:spcBef>
                <a:spcPts val="0"/>
              </a:spcBef>
              <a:spcAft>
                <a:spcPts val="1200"/>
              </a:spcAft>
            </a:pPr>
            <a:r>
              <a:rPr lang="en-US" sz="1900" dirty="0"/>
              <a:t>Introduce new products, markets, and promotional programs.</a:t>
            </a:r>
          </a:p>
          <a:p>
            <a:pPr>
              <a:spcBef>
                <a:spcPts val="0"/>
              </a:spcBef>
              <a:spcAft>
                <a:spcPts val="1200"/>
              </a:spcAft>
            </a:pPr>
            <a:r>
              <a:rPr lang="en-US" sz="1900" dirty="0"/>
              <a:t>Develop salespeople for future management positions.</a:t>
            </a:r>
          </a:p>
          <a:p>
            <a:pPr>
              <a:spcBef>
                <a:spcPts val="0"/>
              </a:spcBef>
              <a:spcAft>
                <a:spcPts val="1200"/>
              </a:spcAft>
            </a:pPr>
            <a:r>
              <a:rPr lang="en-US" sz="1900" dirty="0"/>
              <a:t>Ensure awareness of ethical </a:t>
            </a:r>
            <a:br>
              <a:rPr lang="en-US" sz="1900" dirty="0"/>
            </a:br>
            <a:r>
              <a:rPr lang="en-US" sz="1900" dirty="0"/>
              <a:t>and legal responsibilities.</a:t>
            </a:r>
          </a:p>
          <a:p>
            <a:pPr>
              <a:spcBef>
                <a:spcPts val="0"/>
              </a:spcBef>
              <a:spcAft>
                <a:spcPts val="1200"/>
              </a:spcAft>
            </a:pPr>
            <a:endParaRPr lang="en-US" sz="2000" dirty="0"/>
          </a:p>
          <a:p>
            <a:pPr>
              <a:spcBef>
                <a:spcPts val="0"/>
              </a:spcBef>
              <a:spcAft>
                <a:spcPts val="1200"/>
              </a:spcAft>
            </a:pPr>
            <a:endParaRPr lang="en-US" sz="2000" dirty="0"/>
          </a:p>
          <a:p>
            <a:pPr>
              <a:spcBef>
                <a:spcPts val="0"/>
              </a:spcBef>
              <a:spcAft>
                <a:spcPts val="1200"/>
              </a:spcAft>
            </a:pPr>
            <a:endParaRPr lang="en-US" sz="2000" dirty="0"/>
          </a:p>
          <a:p>
            <a:pPr>
              <a:spcBef>
                <a:spcPts val="0"/>
              </a:spcBef>
              <a:spcAft>
                <a:spcPts val="1200"/>
              </a:spcAft>
            </a:pPr>
            <a:endParaRPr lang="en-US" sz="2000" dirty="0"/>
          </a:p>
        </p:txBody>
      </p:sp>
    </p:spTree>
    <p:extLst>
      <p:ext uri="{BB962C8B-B14F-4D97-AF65-F5344CB8AC3E}">
        <p14:creationId xmlns:p14="http://schemas.microsoft.com/office/powerpoint/2010/main" val="277150198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
          <p:cNvGrpSpPr/>
          <p:nvPr/>
        </p:nvGrpSpPr>
        <p:grpSpPr>
          <a:xfrm>
            <a:off x="2514600" y="1005840"/>
            <a:ext cx="4191000" cy="5242560"/>
            <a:chOff x="2514600" y="1005840"/>
            <a:chExt cx="4191000" cy="5242560"/>
          </a:xfrm>
        </p:grpSpPr>
        <p:pic>
          <p:nvPicPr>
            <p:cNvPr id="9" name="Picture 8" descr="Clipboard Blank.jpg"/>
            <p:cNvPicPr>
              <a:picLocks noChangeAspect="1"/>
            </p:cNvPicPr>
            <p:nvPr/>
          </p:nvPicPr>
          <p:blipFill>
            <a:blip r:embed="rId3">
              <a:clrChange>
                <a:clrFrom>
                  <a:srgbClr val="FFFFFF"/>
                </a:clrFrom>
                <a:clrTo>
                  <a:srgbClr val="FFFFFF">
                    <a:alpha val="0"/>
                  </a:srgbClr>
                </a:clrTo>
              </a:clrChange>
            </a:blip>
            <a:srcRect l="5020" r="2945" b="10417"/>
            <a:stretch>
              <a:fillRect/>
            </a:stretch>
          </p:blipFill>
          <p:spPr>
            <a:xfrm>
              <a:off x="2514600" y="1005840"/>
              <a:ext cx="4191000" cy="5242560"/>
            </a:xfrm>
            <a:prstGeom prst="rect">
              <a:avLst/>
            </a:prstGeom>
          </p:spPr>
        </p:pic>
        <p:sp>
          <p:nvSpPr>
            <p:cNvPr id="10" name="Rectangle 9"/>
            <p:cNvSpPr/>
            <p:nvPr/>
          </p:nvSpPr>
          <p:spPr>
            <a:xfrm>
              <a:off x="2533650" y="1676400"/>
              <a:ext cx="4114800" cy="43434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5062" name="Rectangle 6"/>
          <p:cNvSpPr>
            <a:spLocks noGrp="1" noChangeArrowheads="1"/>
          </p:cNvSpPr>
          <p:nvPr>
            <p:ph type="title"/>
          </p:nvPr>
        </p:nvSpPr>
        <p:spPr>
          <a:xfrm>
            <a:off x="266700" y="106381"/>
            <a:ext cx="8610600" cy="1066800"/>
          </a:xfrm>
          <a:solidFill>
            <a:schemeClr val="bg2">
              <a:lumMod val="60000"/>
              <a:lumOff val="40000"/>
            </a:schemeClr>
          </a:solidFill>
          <a:ln/>
        </p:spPr>
        <p:txBody>
          <a:bodyPr lIns="92075" tIns="46038" rIns="92075" bIns="46038"/>
          <a:lstStyle/>
          <a:p>
            <a:pPr>
              <a:lnSpc>
                <a:spcPct val="80000"/>
              </a:lnSpc>
            </a:pPr>
            <a:r>
              <a:rPr lang="en-US" dirty="0"/>
              <a:t>Set Training Objectives</a:t>
            </a:r>
            <a:endParaRPr lang="en-US" sz="2800" b="1" dirty="0">
              <a:solidFill>
                <a:schemeClr val="accent2"/>
              </a:solidFill>
            </a:endParaRPr>
          </a:p>
        </p:txBody>
      </p:sp>
      <p:sp>
        <p:nvSpPr>
          <p:cNvPr id="45064" name="Rectangle 8"/>
          <p:cNvSpPr>
            <a:spLocks noGrp="1" noChangeArrowheads="1"/>
          </p:cNvSpPr>
          <p:nvPr>
            <p:ph idx="1"/>
          </p:nvPr>
        </p:nvSpPr>
        <p:spPr>
          <a:xfrm>
            <a:off x="2679700" y="1731169"/>
            <a:ext cx="3860800" cy="4233862"/>
          </a:xfrm>
        </p:spPr>
        <p:txBody>
          <a:bodyPr/>
          <a:lstStyle/>
          <a:p>
            <a:pPr>
              <a:spcBef>
                <a:spcPts val="0"/>
              </a:spcBef>
              <a:spcAft>
                <a:spcPts val="1200"/>
              </a:spcAft>
            </a:pPr>
            <a:r>
              <a:rPr lang="en-US" sz="1900" dirty="0"/>
              <a:t>Teach administrative procedures (e.g., expense accounts, call reports).</a:t>
            </a:r>
          </a:p>
          <a:p>
            <a:pPr>
              <a:spcBef>
                <a:spcPts val="0"/>
              </a:spcBef>
              <a:spcAft>
                <a:spcPts val="1200"/>
              </a:spcAft>
            </a:pPr>
            <a:r>
              <a:rPr lang="en-US" sz="1900" dirty="0"/>
              <a:t>Ensure competence in the use of sales and sales support tools, such as CRM technology.</a:t>
            </a:r>
          </a:p>
          <a:p>
            <a:pPr>
              <a:spcBef>
                <a:spcPts val="0"/>
              </a:spcBef>
              <a:spcAft>
                <a:spcPts val="1200"/>
              </a:spcAft>
            </a:pPr>
            <a:r>
              <a:rPr lang="en-US" sz="1900" dirty="0"/>
              <a:t>Minimize salesforce turnover rate.</a:t>
            </a:r>
          </a:p>
          <a:p>
            <a:pPr>
              <a:spcBef>
                <a:spcPts val="0"/>
              </a:spcBef>
              <a:spcAft>
                <a:spcPts val="1200"/>
              </a:spcAft>
            </a:pPr>
            <a:r>
              <a:rPr lang="en-US" sz="1900" dirty="0"/>
              <a:t>Prepare new salespeople for assignment to a sales territory.</a:t>
            </a:r>
          </a:p>
          <a:p>
            <a:pPr>
              <a:spcBef>
                <a:spcPts val="0"/>
              </a:spcBef>
              <a:spcAft>
                <a:spcPts val="1200"/>
              </a:spcAft>
            </a:pPr>
            <a:r>
              <a:rPr lang="en-US" sz="1900" dirty="0"/>
              <a:t>Improve teamwork and </a:t>
            </a:r>
            <a:br>
              <a:rPr lang="en-US" sz="1900" dirty="0"/>
            </a:br>
            <a:r>
              <a:rPr lang="en-US" sz="1900" dirty="0"/>
              <a:t>cooperative efforts.</a:t>
            </a:r>
          </a:p>
        </p:txBody>
      </p:sp>
    </p:spTree>
    <p:extLst>
      <p:ext uri="{BB962C8B-B14F-4D97-AF65-F5344CB8AC3E}">
        <p14:creationId xmlns:p14="http://schemas.microsoft.com/office/powerpoint/2010/main" val="208229465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6" name="Rectangle 6"/>
          <p:cNvSpPr>
            <a:spLocks noGrp="1" noChangeArrowheads="1"/>
          </p:cNvSpPr>
          <p:nvPr>
            <p:ph type="title"/>
          </p:nvPr>
        </p:nvSpPr>
        <p:spPr>
          <a:xfrm>
            <a:off x="152400" y="304800"/>
            <a:ext cx="8610600" cy="1066800"/>
          </a:xfrm>
          <a:solidFill>
            <a:schemeClr val="bg2">
              <a:lumMod val="60000"/>
              <a:lumOff val="40000"/>
            </a:schemeClr>
          </a:solidFill>
        </p:spPr>
        <p:txBody>
          <a:bodyPr/>
          <a:lstStyle/>
          <a:p>
            <a:r>
              <a:rPr lang="en-US" dirty="0"/>
              <a:t>Evaluate Training Alternatives</a:t>
            </a:r>
            <a:endParaRPr lang="en-US" sz="2800" dirty="0">
              <a:solidFill>
                <a:schemeClr val="accent2"/>
              </a:solidFill>
            </a:endParaRPr>
          </a:p>
        </p:txBody>
      </p:sp>
      <p:sp>
        <p:nvSpPr>
          <p:cNvPr id="51210" name="Rectangle 10"/>
          <p:cNvSpPr>
            <a:spLocks noGrp="1" noChangeArrowheads="1"/>
          </p:cNvSpPr>
          <p:nvPr>
            <p:ph idx="1"/>
          </p:nvPr>
        </p:nvSpPr>
        <p:spPr>
          <a:xfrm>
            <a:off x="406400" y="1557338"/>
            <a:ext cx="8205788" cy="4233862"/>
          </a:xfrm>
        </p:spPr>
        <p:txBody>
          <a:bodyPr/>
          <a:lstStyle/>
          <a:p>
            <a:pPr>
              <a:buNone/>
            </a:pPr>
            <a:r>
              <a:rPr lang="en-US" sz="2400" dirty="0"/>
              <a:t>Consider cost!</a:t>
            </a:r>
          </a:p>
          <a:p>
            <a:pPr>
              <a:buNone/>
            </a:pPr>
            <a:endParaRPr lang="en-US" sz="2400" dirty="0"/>
          </a:p>
          <a:p>
            <a:pPr>
              <a:buNone/>
            </a:pPr>
            <a:r>
              <a:rPr lang="en-US" sz="2400" dirty="0"/>
              <a:t>Selecting Sales Trainers</a:t>
            </a:r>
          </a:p>
          <a:p>
            <a:r>
              <a:rPr lang="en-US" sz="2000" dirty="0"/>
              <a:t>Internal</a:t>
            </a:r>
          </a:p>
          <a:p>
            <a:r>
              <a:rPr lang="en-US" sz="2000" dirty="0"/>
              <a:t>External</a:t>
            </a:r>
          </a:p>
          <a:p>
            <a:pPr lvl="1">
              <a:buFontTx/>
              <a:buNone/>
            </a:pPr>
            <a:endParaRPr lang="en-US" dirty="0"/>
          </a:p>
          <a:p>
            <a:pPr>
              <a:buNone/>
            </a:pPr>
            <a:endParaRPr lang="en-US" sz="2400" dirty="0"/>
          </a:p>
          <a:p>
            <a:pPr>
              <a:buNone/>
            </a:pPr>
            <a:r>
              <a:rPr lang="en-US" sz="2400" dirty="0"/>
              <a:t>Selecting Sales Training Locations</a:t>
            </a:r>
          </a:p>
          <a:p>
            <a:r>
              <a:rPr lang="en-US" sz="2000" dirty="0"/>
              <a:t>Decentralized</a:t>
            </a:r>
            <a:br>
              <a:rPr lang="en-US" sz="2000" dirty="0"/>
            </a:br>
            <a:r>
              <a:rPr lang="en-US" sz="2000" dirty="0"/>
              <a:t>(e.g., district or regional offices; Fastenal)</a:t>
            </a:r>
          </a:p>
          <a:p>
            <a:r>
              <a:rPr lang="en-US" sz="2000" dirty="0"/>
              <a:t>Centralized</a:t>
            </a:r>
            <a:br>
              <a:rPr lang="en-US" sz="2000" dirty="0"/>
            </a:br>
            <a:r>
              <a:rPr lang="en-US" sz="2000" dirty="0"/>
              <a:t>(e.g., corporate headquarters; Edward Jones) </a:t>
            </a:r>
            <a:r>
              <a:rPr lang="en-US" sz="1600" dirty="0"/>
              <a:t> </a:t>
            </a:r>
            <a:endParaRPr lang="en-US" sz="1000" dirty="0"/>
          </a:p>
        </p:txBody>
      </p:sp>
      <p:pic>
        <p:nvPicPr>
          <p:cNvPr id="2" name="Picture 2" descr="Free photo conference room with televisions for presentations">
            <a:extLst>
              <a:ext uri="{FF2B5EF4-FFF2-40B4-BE49-F238E27FC236}">
                <a16:creationId xmlns:a16="http://schemas.microsoft.com/office/drawing/2014/main" id="{88AA35AF-8C3E-D05E-93A0-7137BC89D3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7700" y="1548840"/>
            <a:ext cx="4279900" cy="2850987"/>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47572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2" name="Rectangle 6"/>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dirty="0"/>
          </a:p>
        </p:txBody>
      </p:sp>
      <p:sp>
        <p:nvSpPr>
          <p:cNvPr id="55303" name="Rectangle 7"/>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dirty="0"/>
          </a:p>
        </p:txBody>
      </p:sp>
      <p:sp>
        <p:nvSpPr>
          <p:cNvPr id="55304" name="Rectangle 8"/>
          <p:cNvSpPr>
            <a:spLocks noGrp="1" noChangeArrowheads="1"/>
          </p:cNvSpPr>
          <p:nvPr>
            <p:ph type="title"/>
          </p:nvPr>
        </p:nvSpPr>
        <p:spPr>
          <a:solidFill>
            <a:schemeClr val="bg2">
              <a:lumMod val="60000"/>
              <a:lumOff val="40000"/>
            </a:schemeClr>
          </a:solidFill>
        </p:spPr>
        <p:txBody>
          <a:bodyPr>
            <a:scene3d>
              <a:camera prst="orthographicFront"/>
              <a:lightRig rig="threePt" dir="t"/>
            </a:scene3d>
            <a:sp3d extrusionH="57150">
              <a:bevelT w="38100" h="38100"/>
            </a:sp3d>
          </a:bodyPr>
          <a:lstStyle/>
          <a:p>
            <a:r>
              <a:rPr lang="en-US" dirty="0"/>
              <a:t>Evaluate Training Alternatives</a:t>
            </a:r>
            <a:endParaRPr lang="en-US" sz="2800" dirty="0">
              <a:solidFill>
                <a:schemeClr val="accent2"/>
              </a:solidFill>
            </a:endParaRPr>
          </a:p>
        </p:txBody>
      </p:sp>
      <p:sp>
        <p:nvSpPr>
          <p:cNvPr id="55308" name="Rectangle 12"/>
          <p:cNvSpPr>
            <a:spLocks noGrp="1" noChangeArrowheads="1"/>
          </p:cNvSpPr>
          <p:nvPr>
            <p:ph idx="1"/>
          </p:nvPr>
        </p:nvSpPr>
        <p:spPr>
          <a:xfrm>
            <a:off x="228600" y="1554542"/>
            <a:ext cx="4851400" cy="4691062"/>
          </a:xfrm>
          <a:solidFill>
            <a:schemeClr val="bg2">
              <a:lumMod val="20000"/>
              <a:lumOff val="80000"/>
            </a:schemeClr>
          </a:solidFill>
          <a:scene3d>
            <a:camera prst="orthographicFront"/>
            <a:lightRig rig="threePt" dir="t"/>
          </a:scene3d>
          <a:sp3d>
            <a:bevelT/>
          </a:sp3d>
        </p:spPr>
        <p:txBody>
          <a:bodyPr/>
          <a:lstStyle/>
          <a:p>
            <a:pPr lvl="1">
              <a:lnSpc>
                <a:spcPct val="90000"/>
              </a:lnSpc>
              <a:buFontTx/>
              <a:buNone/>
            </a:pPr>
            <a:endParaRPr lang="en-US" sz="800" b="1" dirty="0"/>
          </a:p>
          <a:p>
            <a:pPr>
              <a:buNone/>
            </a:pPr>
            <a:r>
              <a:rPr lang="en-US" dirty="0"/>
              <a:t>Selecting Sales Training </a:t>
            </a:r>
            <a:r>
              <a:rPr lang="en-US" b="1" dirty="0"/>
              <a:t>Methods</a:t>
            </a:r>
          </a:p>
          <a:p>
            <a:r>
              <a:rPr lang="en-US" sz="2000" dirty="0"/>
              <a:t>Classroom/Conference Training</a:t>
            </a:r>
          </a:p>
          <a:p>
            <a:r>
              <a:rPr lang="en-US" sz="2000" dirty="0"/>
              <a:t>On-the-job Training (OJT)</a:t>
            </a:r>
          </a:p>
          <a:p>
            <a:r>
              <a:rPr lang="en-US" sz="2000" dirty="0"/>
              <a:t>Behavioral Simulations</a:t>
            </a:r>
          </a:p>
          <a:p>
            <a:r>
              <a:rPr lang="en-US" sz="2000" dirty="0"/>
              <a:t>Absorption Training</a:t>
            </a:r>
            <a:br>
              <a:rPr lang="en-US" sz="2000" dirty="0"/>
            </a:br>
            <a:endParaRPr lang="en-US" sz="2000" dirty="0"/>
          </a:p>
          <a:p>
            <a:pPr>
              <a:lnSpc>
                <a:spcPct val="90000"/>
              </a:lnSpc>
              <a:buNone/>
            </a:pPr>
            <a:r>
              <a:rPr lang="en-US" sz="2400" dirty="0"/>
              <a:t>Selecting Sales Training </a:t>
            </a:r>
            <a:r>
              <a:rPr lang="en-US" sz="2400" b="1" dirty="0"/>
              <a:t>Media</a:t>
            </a:r>
          </a:p>
          <a:p>
            <a:pPr>
              <a:lnSpc>
                <a:spcPct val="90000"/>
              </a:lnSpc>
            </a:pPr>
            <a:r>
              <a:rPr lang="en-US" sz="2000" dirty="0"/>
              <a:t>e-Learning (synchronous or asynchronous)</a:t>
            </a:r>
          </a:p>
          <a:p>
            <a:pPr>
              <a:lnSpc>
                <a:spcPct val="90000"/>
              </a:lnSpc>
            </a:pPr>
            <a:r>
              <a:rPr lang="en-US" sz="2000" dirty="0"/>
              <a:t>Videoconferencing</a:t>
            </a:r>
          </a:p>
          <a:p>
            <a:pPr>
              <a:lnSpc>
                <a:spcPct val="90000"/>
              </a:lnSpc>
            </a:pPr>
            <a:r>
              <a:rPr lang="en-US" sz="2000" dirty="0"/>
              <a:t>Flash Drives/Shared Drives</a:t>
            </a:r>
          </a:p>
          <a:p>
            <a:pPr>
              <a:lnSpc>
                <a:spcPct val="90000"/>
              </a:lnSpc>
            </a:pPr>
            <a:r>
              <a:rPr lang="en-US" sz="2000" dirty="0"/>
              <a:t>Paper-Based</a:t>
            </a:r>
          </a:p>
        </p:txBody>
      </p:sp>
      <p:pic>
        <p:nvPicPr>
          <p:cNvPr id="5122" name="Picture 2" descr="Free vector online education banner collection in purple color">
            <a:extLst>
              <a:ext uri="{FF2B5EF4-FFF2-40B4-BE49-F238E27FC236}">
                <a16:creationId xmlns:a16="http://schemas.microsoft.com/office/drawing/2014/main" id="{D1E8A5ED-014B-0D49-BB7A-CCB879EE40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973641"/>
            <a:ext cx="3852863" cy="3852863"/>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711873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7644EC-346E-41BA-804F-71CAE029F76E}"/>
              </a:ext>
            </a:extLst>
          </p:cNvPr>
          <p:cNvSpPr/>
          <p:nvPr/>
        </p:nvSpPr>
        <p:spPr bwMode="auto">
          <a:xfrm>
            <a:off x="0" y="6324600"/>
            <a:ext cx="2286000" cy="5334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 name="Title 1">
            <a:extLst>
              <a:ext uri="{FF2B5EF4-FFF2-40B4-BE49-F238E27FC236}">
                <a16:creationId xmlns:a16="http://schemas.microsoft.com/office/drawing/2014/main" id="{E511AC50-7648-4AD2-8127-B3DABE429248}"/>
              </a:ext>
            </a:extLst>
          </p:cNvPr>
          <p:cNvSpPr>
            <a:spLocks noGrp="1"/>
          </p:cNvSpPr>
          <p:nvPr>
            <p:ph type="title"/>
          </p:nvPr>
        </p:nvSpPr>
        <p:spPr>
          <a:xfrm>
            <a:off x="203994" y="0"/>
            <a:ext cx="8610600" cy="1066800"/>
          </a:xfrm>
          <a:solidFill>
            <a:schemeClr val="bg2">
              <a:lumMod val="60000"/>
              <a:lumOff val="40000"/>
            </a:schemeClr>
          </a:solidFill>
        </p:spPr>
        <p:txBody>
          <a:bodyPr/>
          <a:lstStyle/>
          <a:p>
            <a:r>
              <a:rPr lang="en-US" dirty="0"/>
              <a:t>An Ethical Dilemma</a:t>
            </a:r>
          </a:p>
        </p:txBody>
      </p:sp>
      <p:sp>
        <p:nvSpPr>
          <p:cNvPr id="3" name="Content Placeholder 2">
            <a:extLst>
              <a:ext uri="{FF2B5EF4-FFF2-40B4-BE49-F238E27FC236}">
                <a16:creationId xmlns:a16="http://schemas.microsoft.com/office/drawing/2014/main" id="{D41BA51B-2A62-4E36-9A9C-4A4BD3322962}"/>
              </a:ext>
            </a:extLst>
          </p:cNvPr>
          <p:cNvSpPr>
            <a:spLocks noGrp="1"/>
          </p:cNvSpPr>
          <p:nvPr>
            <p:ph idx="1"/>
          </p:nvPr>
        </p:nvSpPr>
        <p:spPr>
          <a:xfrm>
            <a:off x="203994" y="1066800"/>
            <a:ext cx="8736012" cy="4233862"/>
          </a:xfrm>
        </p:spPr>
        <p:txBody>
          <a:bodyPr/>
          <a:lstStyle/>
          <a:p>
            <a:pPr marL="0" marR="0" indent="0">
              <a:spcBef>
                <a:spcPts val="0"/>
              </a:spcBef>
              <a:spcAft>
                <a:spcPts val="0"/>
              </a:spcAft>
              <a:buNone/>
            </a:pP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As a senior sales rep at the ABC Company, Roger is always more than willing to help out</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Roger is a hard-working, high-performing Salesperson who is both well liked and well respected by his colleagues. So, when sales manager Carl asked Roger to mentor a new trainee, Keiko, as part of the company’s new sales mentorship program, he gladly stepped up to the challenge.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Roger was asked to take Keiko, a recent college grad embarking on her first sales position, under his wings and show her the ropes</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In doing so,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Roger became very attracted to Keiko and wanted more than simply a “working” relationship</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Keiko felt Roger was a nice guy, but she was not interested in a relationship.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She began to feel uncomfortable with Roger’s advances but was afraid to complain, feeling that it might jeopardize her job</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Moreover, Keiko felt that her sales manager Carl, being a male, would likely brush it off as Roger just being friendly. Keiko finally got up enough nerve to approach Carl with her concern. Upon hearing this,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Carl was dismayed. Having known Roger for five years he believed this conduct to be completely out of character for Roger. In fact, he had his doubts about the truthfulness of Keiko’s accusation.</a:t>
            </a:r>
          </a:p>
          <a:p>
            <a:pPr marL="0" marR="0" indent="0">
              <a:spcBef>
                <a:spcPts val="0"/>
              </a:spcBef>
              <a:spcAft>
                <a:spcPts val="0"/>
              </a:spcAft>
              <a:buNone/>
            </a:pPr>
            <a:endParaRPr lang="en-US" sz="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What should Carl do?</a:t>
            </a:r>
          </a:p>
          <a:p>
            <a:pPr marL="342900" marR="0" indent="-342900">
              <a:spcBef>
                <a:spcPts val="0"/>
              </a:spcBef>
              <a:spcAft>
                <a:spcPts val="0"/>
              </a:spcAft>
              <a:buAutoNum type="alphaLcPeriod"/>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Tell Keiko that he will look into it but never do so, fearing it could upset Roger and possibly</a:t>
            </a:r>
          </a:p>
          <a:p>
            <a:pPr marL="0" marR="0" indent="0">
              <a:spcBef>
                <a:spcPts val="0"/>
              </a:spcBef>
              <a:spcAft>
                <a:spcPts val="0"/>
              </a:spcAft>
              <a:buNone/>
            </a:pPr>
            <a:r>
              <a:rPr lang="en-US" sz="1700" dirty="0">
                <a:latin typeface="Times New Roman" panose="02020603050405020304" pitchFamily="18" charset="0"/>
                <a:ea typeface="Calibri" panose="020F0502020204030204" pitchFamily="34" charset="0"/>
                <a:cs typeface="Times New Roman" panose="02020603050405020304" pitchFamily="18" charset="0"/>
              </a:rPr>
              <a:t>       </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lead to him leaving.</a:t>
            </a: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b.   Visit with Roger to get his feedback on how the mentorship is going. If Carl determines that</a:t>
            </a: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Roger is making unwanted advances toward Keiko he should fire him for sexual harassment.</a:t>
            </a: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c.   He should immediately assign Keiko a different mentor.</a:t>
            </a: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d.   Do something else not listed here.</a:t>
            </a: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indent="0">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p>
          <a:p>
            <a:endParaRPr lang="en-US" sz="1800" dirty="0">
              <a:solidFill>
                <a:srgbClr val="0070C0"/>
              </a:solidFill>
            </a:endParaRPr>
          </a:p>
        </p:txBody>
      </p:sp>
    </p:spTree>
    <p:extLst>
      <p:ext uri="{BB962C8B-B14F-4D97-AF65-F5344CB8AC3E}">
        <p14:creationId xmlns:p14="http://schemas.microsoft.com/office/powerpoint/2010/main" val="1769708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1AC50-7648-4AD2-8127-B3DABE429248}"/>
              </a:ext>
            </a:extLst>
          </p:cNvPr>
          <p:cNvSpPr>
            <a:spLocks noGrp="1"/>
          </p:cNvSpPr>
          <p:nvPr>
            <p:ph type="title"/>
          </p:nvPr>
        </p:nvSpPr>
        <p:spPr>
          <a:xfrm>
            <a:off x="203994" y="152400"/>
            <a:ext cx="8610600" cy="1066800"/>
          </a:xfrm>
          <a:solidFill>
            <a:schemeClr val="bg2">
              <a:lumMod val="60000"/>
              <a:lumOff val="40000"/>
            </a:schemeClr>
          </a:solidFill>
        </p:spPr>
        <p:txBody>
          <a:bodyPr/>
          <a:lstStyle/>
          <a:p>
            <a:r>
              <a:rPr lang="en-US" dirty="0"/>
              <a:t>An Ethical Dilemma</a:t>
            </a:r>
          </a:p>
        </p:txBody>
      </p:sp>
      <p:sp>
        <p:nvSpPr>
          <p:cNvPr id="3" name="Content Placeholder 2">
            <a:extLst>
              <a:ext uri="{FF2B5EF4-FFF2-40B4-BE49-F238E27FC236}">
                <a16:creationId xmlns:a16="http://schemas.microsoft.com/office/drawing/2014/main" id="{D41BA51B-2A62-4E36-9A9C-4A4BD3322962}"/>
              </a:ext>
            </a:extLst>
          </p:cNvPr>
          <p:cNvSpPr>
            <a:spLocks noGrp="1"/>
          </p:cNvSpPr>
          <p:nvPr>
            <p:ph idx="1"/>
          </p:nvPr>
        </p:nvSpPr>
        <p:spPr>
          <a:xfrm>
            <a:off x="203994" y="1219200"/>
            <a:ext cx="8736012" cy="4233862"/>
          </a:xfrm>
        </p:spPr>
        <p:txBody>
          <a:bodyPr/>
          <a:lstStyle/>
          <a:p>
            <a:pPr marL="0" marR="0" indent="0">
              <a:spcBef>
                <a:spcPts val="0"/>
              </a:spcBef>
              <a:spcAft>
                <a:spcPts val="0"/>
              </a:spcAft>
              <a:buNone/>
            </a:pPr>
            <a:endParaRPr lang="en-US" sz="17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During a recent training session, national sales manager Chad was not happy with trainee </a:t>
            </a:r>
            <a:r>
              <a:rPr lang="en-US" sz="1700" b="1" dirty="0">
                <a:latin typeface="Times New Roman" panose="02020603050405020304" pitchFamily="18" charset="0"/>
                <a:ea typeface="Calibri" panose="020F0502020204030204" pitchFamily="34" charset="0"/>
                <a:cs typeface="Times New Roman" panose="02020603050405020304" pitchFamily="18" charset="0"/>
              </a:rPr>
              <a:t>Gin</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a’s performance in a role-playing exercise</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Upon conclusion of the exercise,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Chad began to mock </a:t>
            </a:r>
            <a:r>
              <a:rPr lang="en-US" sz="1700" b="1" dirty="0">
                <a:latin typeface="Times New Roman" panose="02020603050405020304" pitchFamily="18" charset="0"/>
                <a:ea typeface="Calibri" panose="020F0502020204030204" pitchFamily="34" charset="0"/>
                <a:cs typeface="Times New Roman" panose="02020603050405020304" pitchFamily="18" charset="0"/>
              </a:rPr>
              <a:t>Gin</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a’s role-playing behavior in front of the other trainees to illustrate how inadequate her performance was</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Chad believed that his gesture would leave a lasting impression on the trainees and help make his point stick.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Furthermore, he informed </a:t>
            </a:r>
            <a:r>
              <a:rPr lang="en-US" sz="1700" b="1" dirty="0">
                <a:latin typeface="Times New Roman" panose="02020603050405020304" pitchFamily="18" charset="0"/>
                <a:ea typeface="Calibri" panose="020F0502020204030204" pitchFamily="34" charset="0"/>
                <a:cs typeface="Times New Roman" panose="02020603050405020304" pitchFamily="18" charset="0"/>
              </a:rPr>
              <a:t>Gin</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a and the trainees that if they performed like that on a sales call, they would be looking for a new job very soon</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indent="0">
              <a:spcBef>
                <a:spcPts val="0"/>
              </a:spcBef>
              <a:spcAft>
                <a:spcPts val="0"/>
              </a:spcAft>
              <a:buNone/>
            </a:pP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How do you think that Chad should have handled this situation?</a:t>
            </a:r>
          </a:p>
          <a:p>
            <a:pPr marL="0" marR="0" indent="0">
              <a:spcBef>
                <a:spcPts val="0"/>
              </a:spcBef>
              <a:spcAft>
                <a:spcPts val="0"/>
              </a:spcAft>
              <a:buNone/>
            </a:pP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spcBef>
                <a:spcPts val="0"/>
              </a:spcBef>
              <a:spcAft>
                <a:spcPts val="0"/>
              </a:spcAft>
              <a:buAutoNum type="alphaLcParenR"/>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Chad should have asked another trainee to perform the role-play to show everyone the proper</a:t>
            </a:r>
          </a:p>
          <a:p>
            <a:pPr marL="0" marR="0" indent="0">
              <a:spcBef>
                <a:spcPts val="0"/>
              </a:spcBef>
              <a:spcAft>
                <a:spcPts val="0"/>
              </a:spcAft>
              <a:buNone/>
            </a:pPr>
            <a:r>
              <a:rPr lang="en-US" sz="1700" dirty="0">
                <a:latin typeface="Times New Roman" panose="02020603050405020304" pitchFamily="18" charset="0"/>
                <a:ea typeface="Calibri" panose="020F0502020204030204" pitchFamily="34" charset="0"/>
                <a:cs typeface="Times New Roman" panose="02020603050405020304" pitchFamily="18" charset="0"/>
              </a:rPr>
              <a:t>      </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way to perform.</a:t>
            </a:r>
          </a:p>
          <a:p>
            <a:pPr marL="342900" marR="0" indent="-342900">
              <a:spcBef>
                <a:spcPts val="0"/>
              </a:spcBef>
              <a:spcAft>
                <a:spcPts val="0"/>
              </a:spcAft>
              <a:buAutoNum type="alphaLcParenR" startAt="2"/>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Chad should have asked </a:t>
            </a:r>
            <a:r>
              <a:rPr lang="en-US" sz="1700" dirty="0">
                <a:latin typeface="Times New Roman" panose="02020603050405020304" pitchFamily="18" charset="0"/>
                <a:ea typeface="Calibri" panose="020F0502020204030204" pitchFamily="34" charset="0"/>
                <a:cs typeface="Times New Roman" panose="02020603050405020304" pitchFamily="18" charset="0"/>
              </a:rPr>
              <a:t>Gin</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a to self-critique and then provided her with constructive criticism</a:t>
            </a: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for how to improve her performance.</a:t>
            </a:r>
          </a:p>
          <a:p>
            <a:pPr marL="342900" marR="0" indent="-342900">
              <a:spcBef>
                <a:spcPts val="0"/>
              </a:spcBef>
              <a:spcAft>
                <a:spcPts val="0"/>
              </a:spcAft>
              <a:buAutoNum type="alphaLcParenR" startAt="3"/>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Chad should have asked the trainees to provide feedback to </a:t>
            </a:r>
            <a:r>
              <a:rPr lang="en-US" sz="1700" dirty="0">
                <a:latin typeface="Times New Roman" panose="02020603050405020304" pitchFamily="18" charset="0"/>
                <a:ea typeface="Calibri" panose="020F0502020204030204" pitchFamily="34" charset="0"/>
                <a:cs typeface="Times New Roman" panose="02020603050405020304" pitchFamily="18" charset="0"/>
              </a:rPr>
              <a:t>Gin</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a.</a:t>
            </a:r>
          </a:p>
          <a:p>
            <a:pPr marL="342900" marR="0" indent="-342900">
              <a:spcBef>
                <a:spcPts val="0"/>
              </a:spcBef>
              <a:spcAft>
                <a:spcPts val="0"/>
              </a:spcAft>
              <a:buAutoNum type="alphaLcParenR" startAt="3"/>
            </a:pPr>
            <a:r>
              <a:rPr lang="en-US" sz="1700" dirty="0">
                <a:latin typeface="Times New Roman" panose="02020603050405020304" pitchFamily="18" charset="0"/>
                <a:ea typeface="Calibri" panose="020F0502020204030204" pitchFamily="34" charset="0"/>
                <a:cs typeface="Times New Roman" panose="02020603050405020304" pitchFamily="18" charset="0"/>
              </a:rPr>
              <a:t>Do something else not mentioned here.</a:t>
            </a: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indent="0">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p>
          <a:p>
            <a:endParaRPr lang="en-US" sz="1800" dirty="0">
              <a:solidFill>
                <a:srgbClr val="0070C0"/>
              </a:solidFill>
            </a:endParaRPr>
          </a:p>
        </p:txBody>
      </p:sp>
    </p:spTree>
    <p:extLst>
      <p:ext uri="{BB962C8B-B14F-4D97-AF65-F5344CB8AC3E}">
        <p14:creationId xmlns:p14="http://schemas.microsoft.com/office/powerpoint/2010/main" val="2600172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610600" cy="1066800"/>
          </a:xfrm>
          <a:solidFill>
            <a:schemeClr val="bg2">
              <a:lumMod val="60000"/>
              <a:lumOff val="40000"/>
            </a:schemeClr>
          </a:solidFill>
        </p:spPr>
        <p:txBody>
          <a:bodyPr/>
          <a:lstStyle/>
          <a:p>
            <a:r>
              <a:rPr lang="en-US" dirty="0"/>
              <a:t>Training – Using Mobile</a:t>
            </a:r>
          </a:p>
        </p:txBody>
      </p:sp>
      <p:sp>
        <p:nvSpPr>
          <p:cNvPr id="5" name="Rectangle 4">
            <a:extLst>
              <a:ext uri="{FF2B5EF4-FFF2-40B4-BE49-F238E27FC236}">
                <a16:creationId xmlns:a16="http://schemas.microsoft.com/office/drawing/2014/main" id="{BCEDF6D7-DF74-4378-9B76-10F411BDD22D}"/>
              </a:ext>
            </a:extLst>
          </p:cNvPr>
          <p:cNvSpPr/>
          <p:nvPr/>
        </p:nvSpPr>
        <p:spPr>
          <a:xfrm>
            <a:off x="457200" y="1180267"/>
            <a:ext cx="8305800" cy="5601533"/>
          </a:xfrm>
          <a:prstGeom prst="rect">
            <a:avLst/>
          </a:prstGeom>
          <a:solidFill>
            <a:schemeClr val="bg2">
              <a:lumMod val="20000"/>
              <a:lumOff val="80000"/>
            </a:schemeClr>
          </a:solidFill>
          <a:scene3d>
            <a:camera prst="orthographicFront"/>
            <a:lightRig rig="threePt" dir="t"/>
          </a:scene3d>
          <a:sp3d>
            <a:bevelT/>
          </a:sp3d>
        </p:spPr>
        <p:txBody>
          <a:bodyPr wrap="square">
            <a:spAutoFit/>
          </a:bodyPr>
          <a:lstStyle/>
          <a:p>
            <a:r>
              <a:rPr lang="en-US" sz="2200" dirty="0"/>
              <a:t>  1. Limit content from two to ten minutes.	</a:t>
            </a:r>
          </a:p>
          <a:p>
            <a:r>
              <a:rPr lang="en-US" sz="2200" dirty="0"/>
              <a:t>  2. Offer customized content in a conversational style.</a:t>
            </a:r>
          </a:p>
          <a:p>
            <a:r>
              <a:rPr lang="en-US" sz="2200" dirty="0"/>
              <a:t>  3. Offer information to make the user better, smarter or faster; only</a:t>
            </a:r>
          </a:p>
          <a:p>
            <a:r>
              <a:rPr lang="en-US" sz="2200" dirty="0"/>
              <a:t>      include must know information.</a:t>
            </a:r>
          </a:p>
          <a:p>
            <a:r>
              <a:rPr lang="en-US" sz="2200" dirty="0"/>
              <a:t>  4. Focus on areas of work that are done incorrectly or lack compliance.</a:t>
            </a:r>
          </a:p>
          <a:p>
            <a:r>
              <a:rPr lang="en-US" sz="2200" dirty="0"/>
              <a:t>  5. Invite users to help design content to encourage participation.</a:t>
            </a:r>
          </a:p>
          <a:p>
            <a:r>
              <a:rPr lang="en-US" sz="2200" dirty="0"/>
              <a:t>  6. Encourage users to look for the content, rather than push it on them.</a:t>
            </a:r>
          </a:p>
          <a:p>
            <a:r>
              <a:rPr lang="en-US" sz="2200" dirty="0"/>
              <a:t>  7. Encourage users to diagnose their own training needs.</a:t>
            </a:r>
          </a:p>
          <a:p>
            <a:r>
              <a:rPr lang="en-US" sz="2200" dirty="0"/>
              <a:t>  8. Make the content readily available so that users can quickly access it</a:t>
            </a:r>
          </a:p>
          <a:p>
            <a:r>
              <a:rPr lang="en-US" sz="2200" dirty="0"/>
              <a:t>      when and where they need it.</a:t>
            </a:r>
          </a:p>
          <a:p>
            <a:r>
              <a:rPr lang="en-US" sz="2200" dirty="0"/>
              <a:t>  9. Make the content interactive.</a:t>
            </a:r>
          </a:p>
          <a:p>
            <a:r>
              <a:rPr lang="en-US" sz="2200" dirty="0"/>
              <a:t>10. Incorporate images and videos</a:t>
            </a:r>
            <a:r>
              <a:rPr lang="en-US" dirty="0"/>
              <a:t>; use animation, even for serious</a:t>
            </a:r>
          </a:p>
          <a:p>
            <a:r>
              <a:rPr lang="en-US" dirty="0"/>
              <a:t>      content.</a:t>
            </a:r>
            <a:endParaRPr lang="en-US" sz="2200" dirty="0"/>
          </a:p>
          <a:p>
            <a:r>
              <a:rPr lang="en-US" sz="2200" dirty="0"/>
              <a:t>11. Provide clear instructions for how to navigate the content.</a:t>
            </a:r>
          </a:p>
          <a:p>
            <a:r>
              <a:rPr lang="en-US" sz="2200" dirty="0"/>
              <a:t>12. </a:t>
            </a:r>
            <a:r>
              <a:rPr lang="en-US" dirty="0"/>
              <a:t>Capture learner feedback through short surveys.</a:t>
            </a:r>
          </a:p>
          <a:p>
            <a:endParaRPr lang="en-US" sz="2200" dirty="0"/>
          </a:p>
        </p:txBody>
      </p:sp>
    </p:spTree>
    <p:extLst>
      <p:ext uri="{BB962C8B-B14F-4D97-AF65-F5344CB8AC3E}">
        <p14:creationId xmlns:p14="http://schemas.microsoft.com/office/powerpoint/2010/main" val="17324571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16DDDC-7553-4DFE-A233-09F8762EF9B9}"/>
              </a:ext>
            </a:extLst>
          </p:cNvPr>
          <p:cNvSpPr>
            <a:spLocks noGrp="1"/>
          </p:cNvSpPr>
          <p:nvPr>
            <p:ph idx="1"/>
          </p:nvPr>
        </p:nvSpPr>
        <p:spPr/>
        <p:txBody>
          <a:bodyPr/>
          <a:lstStyle/>
          <a:p>
            <a:r>
              <a:rPr lang="en-US" dirty="0">
                <a:solidFill>
                  <a:srgbClr val="FF0000"/>
                </a:solidFill>
              </a:rPr>
              <a:t>Explain at least one idea for utilizing mobile technology in sales training.</a:t>
            </a:r>
          </a:p>
        </p:txBody>
      </p:sp>
      <p:sp>
        <p:nvSpPr>
          <p:cNvPr id="4" name="Rectangle 6">
            <a:extLst>
              <a:ext uri="{FF2B5EF4-FFF2-40B4-BE49-F238E27FC236}">
                <a16:creationId xmlns:a16="http://schemas.microsoft.com/office/drawing/2014/main" id="{0CE6C445-D15A-4DAE-BCB6-09FB14FA679E}"/>
              </a:ext>
            </a:extLst>
          </p:cNvPr>
          <p:cNvSpPr txBox="1">
            <a:spLocks noChangeArrowheads="1"/>
          </p:cNvSpPr>
          <p:nvPr/>
        </p:nvSpPr>
        <p:spPr bwMode="auto">
          <a:xfrm>
            <a:off x="406400" y="228600"/>
            <a:ext cx="8610600" cy="1066800"/>
          </a:xfrm>
          <a:prstGeom prst="rect">
            <a:avLst/>
          </a:prstGeom>
          <a:solidFill>
            <a:schemeClr val="bg2">
              <a:lumMod val="60000"/>
              <a:lumOff val="40000"/>
            </a:schemeClr>
          </a:solidFill>
          <a:ln>
            <a:noFill/>
          </a:ln>
          <a:effectLst/>
          <a:scene3d>
            <a:camera prst="orthographicFront"/>
            <a:lightRig rig="threePt" dir="t"/>
          </a:scene3d>
          <a:sp3d>
            <a:bevelT w="69850"/>
          </a:sp3d>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a:lstStyle>
          <a:p>
            <a:r>
              <a:rPr lang="en-US" dirty="0">
                <a:solidFill>
                  <a:srgbClr val="FF0000"/>
                </a:solidFill>
              </a:rPr>
              <a:t>Sales Management Exercise</a:t>
            </a:r>
            <a:endParaRPr lang="en-US" sz="2800" dirty="0">
              <a:solidFill>
                <a:schemeClr val="accent2"/>
              </a:solidFill>
            </a:endParaRPr>
          </a:p>
        </p:txBody>
      </p:sp>
    </p:spTree>
    <p:extLst>
      <p:ext uri="{BB962C8B-B14F-4D97-AF65-F5344CB8AC3E}">
        <p14:creationId xmlns:p14="http://schemas.microsoft.com/office/powerpoint/2010/main" val="4231622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0" name="Rectangle 6"/>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dirty="0"/>
          </a:p>
        </p:txBody>
      </p:sp>
      <p:sp>
        <p:nvSpPr>
          <p:cNvPr id="57351" name="Rectangle 7"/>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dirty="0"/>
          </a:p>
        </p:txBody>
      </p:sp>
      <p:sp>
        <p:nvSpPr>
          <p:cNvPr id="57352" name="Rectangle 8"/>
          <p:cNvSpPr>
            <a:spLocks noGrp="1" noChangeArrowheads="1"/>
          </p:cNvSpPr>
          <p:nvPr>
            <p:ph type="title"/>
          </p:nvPr>
        </p:nvSpPr>
        <p:spPr>
          <a:solidFill>
            <a:schemeClr val="bg2">
              <a:lumMod val="60000"/>
              <a:lumOff val="40000"/>
            </a:schemeClr>
          </a:solidFill>
        </p:spPr>
        <p:txBody>
          <a:bodyPr/>
          <a:lstStyle/>
          <a:p>
            <a:r>
              <a:rPr lang="en-US" dirty="0"/>
              <a:t>Design the Sales Training Program</a:t>
            </a:r>
          </a:p>
        </p:txBody>
      </p:sp>
      <p:grpSp>
        <p:nvGrpSpPr>
          <p:cNvPr id="5" name="Group 4"/>
          <p:cNvGrpSpPr/>
          <p:nvPr/>
        </p:nvGrpSpPr>
        <p:grpSpPr>
          <a:xfrm>
            <a:off x="1576945" y="1447800"/>
            <a:ext cx="5888443" cy="5105400"/>
            <a:chOff x="1295400" y="1447800"/>
            <a:chExt cx="5888443" cy="5105400"/>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447800"/>
              <a:ext cx="5833392" cy="5105400"/>
            </a:xfrm>
            <a:prstGeom prst="rect">
              <a:avLst/>
            </a:prstGeom>
            <a:effectLst>
              <a:softEdge rad="127000"/>
            </a:effectLst>
          </p:spPr>
        </p:pic>
        <p:sp>
          <p:nvSpPr>
            <p:cNvPr id="4" name="TextBox 3"/>
            <p:cNvSpPr txBox="1"/>
            <p:nvPr/>
          </p:nvSpPr>
          <p:spPr>
            <a:xfrm rot="21058391">
              <a:off x="3889656" y="3768857"/>
              <a:ext cx="3294187" cy="1508105"/>
            </a:xfrm>
            <a:prstGeom prst="rect">
              <a:avLst/>
            </a:prstGeom>
            <a:noFill/>
          </p:spPr>
          <p:txBody>
            <a:bodyPr wrap="square" rtlCol="0">
              <a:spAutoFit/>
            </a:bodyPr>
            <a:lstStyle/>
            <a:p>
              <a:pPr marL="0" indent="0">
                <a:buNone/>
              </a:pPr>
              <a:r>
                <a:rPr lang="en-US" sz="1600" dirty="0">
                  <a:solidFill>
                    <a:schemeClr val="tx2"/>
                  </a:solidFill>
                  <a:latin typeface="Arial" panose="020B0604020202020204" pitchFamily="34" charset="0"/>
                  <a:cs typeface="Arial" panose="020B0604020202020204" pitchFamily="34" charset="0"/>
                </a:rPr>
                <a:t>* Finalize the training program</a:t>
              </a:r>
            </a:p>
            <a:p>
              <a:pPr marL="0" indent="0">
                <a:buNone/>
              </a:pPr>
              <a:r>
                <a:rPr lang="en-US" sz="1600" dirty="0">
                  <a:solidFill>
                    <a:schemeClr val="tx2"/>
                  </a:solidFill>
                  <a:latin typeface="Arial" panose="020B0604020202020204" pitchFamily="34" charset="0"/>
                  <a:cs typeface="Arial" panose="020B0604020202020204" pitchFamily="34" charset="0"/>
                </a:rPr>
                <a:t>* Schedule training sessions</a:t>
              </a:r>
            </a:p>
            <a:p>
              <a:pPr marL="0" indent="0">
                <a:buNone/>
              </a:pPr>
              <a:r>
                <a:rPr lang="en-US" sz="1600" dirty="0">
                  <a:solidFill>
                    <a:schemeClr val="tx2"/>
                  </a:solidFill>
                  <a:latin typeface="Arial" panose="020B0604020202020204" pitchFamily="34" charset="0"/>
                  <a:cs typeface="Arial" panose="020B0604020202020204" pitchFamily="34" charset="0"/>
                </a:rPr>
                <a:t>* Make travel arrangements                                     </a:t>
              </a:r>
            </a:p>
            <a:p>
              <a:pPr marL="0" indent="0">
                <a:buNone/>
              </a:pPr>
              <a:r>
                <a:rPr lang="en-US" sz="1600" dirty="0">
                  <a:solidFill>
                    <a:schemeClr val="tx2"/>
                  </a:solidFill>
                  <a:latin typeface="Arial" panose="020B0604020202020204" pitchFamily="34" charset="0"/>
                  <a:cs typeface="Arial" panose="020B0604020202020204" pitchFamily="34" charset="0"/>
                </a:rPr>
                <a:t>* Book accommodations </a:t>
              </a:r>
              <a:br>
                <a:rPr lang="en-US" sz="1600" dirty="0">
                  <a:latin typeface="Arial" panose="020B0604020202020204" pitchFamily="34" charset="0"/>
                  <a:cs typeface="Arial" panose="020B0604020202020204" pitchFamily="34" charset="0"/>
                </a:rPr>
              </a:br>
              <a:endParaRPr lang="en-US" sz="2800" dirty="0"/>
            </a:p>
          </p:txBody>
        </p:sp>
      </p:grpSp>
    </p:spTree>
    <p:extLst>
      <p:ext uri="{BB962C8B-B14F-4D97-AF65-F5344CB8AC3E}">
        <p14:creationId xmlns:p14="http://schemas.microsoft.com/office/powerpoint/2010/main" val="295326349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8" name="Rectangle 6"/>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dirty="0"/>
          </a:p>
        </p:txBody>
      </p:sp>
      <p:sp>
        <p:nvSpPr>
          <p:cNvPr id="59399" name="Rectangle 7"/>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dirty="0"/>
          </a:p>
        </p:txBody>
      </p:sp>
      <p:sp>
        <p:nvSpPr>
          <p:cNvPr id="59400" name="Rectangle 8"/>
          <p:cNvSpPr>
            <a:spLocks noGrp="1" noChangeArrowheads="1"/>
          </p:cNvSpPr>
          <p:nvPr>
            <p:ph type="title"/>
          </p:nvPr>
        </p:nvSpPr>
        <p:spPr>
          <a:solidFill>
            <a:schemeClr val="bg2">
              <a:lumMod val="60000"/>
              <a:lumOff val="40000"/>
            </a:schemeClr>
          </a:solidFill>
        </p:spPr>
        <p:txBody>
          <a:bodyPr/>
          <a:lstStyle/>
          <a:p>
            <a:r>
              <a:rPr lang="en-US" dirty="0"/>
              <a:t>Perform Sales Training</a:t>
            </a:r>
            <a:endParaRPr lang="en-US" sz="2800" dirty="0">
              <a:solidFill>
                <a:schemeClr val="accent2"/>
              </a:solidFill>
            </a:endParaRPr>
          </a:p>
        </p:txBody>
      </p:sp>
      <p:sp>
        <p:nvSpPr>
          <p:cNvPr id="2" name="Content Placeholder 1"/>
          <p:cNvSpPr>
            <a:spLocks noGrp="1"/>
          </p:cNvSpPr>
          <p:nvPr>
            <p:ph idx="1"/>
          </p:nvPr>
        </p:nvSpPr>
        <p:spPr>
          <a:xfrm>
            <a:off x="533400" y="1526787"/>
            <a:ext cx="5638800" cy="2496848"/>
          </a:xfrm>
          <a:solidFill>
            <a:schemeClr val="bg2">
              <a:lumMod val="20000"/>
              <a:lumOff val="80000"/>
            </a:schemeClr>
          </a:solidFill>
          <a:scene3d>
            <a:camera prst="orthographicFront"/>
            <a:lightRig rig="threePt" dir="t"/>
          </a:scene3d>
          <a:sp3d>
            <a:bevelT/>
          </a:sp3d>
        </p:spPr>
        <p:txBody>
          <a:bodyPr/>
          <a:lstStyle/>
          <a:p>
            <a:pPr marL="0" indent="0">
              <a:buNone/>
            </a:pPr>
            <a:r>
              <a:rPr lang="en-US" dirty="0"/>
              <a:t>The sales manager’s primary responsibility during sales training is to:</a:t>
            </a:r>
          </a:p>
          <a:p>
            <a:pPr marL="860425"/>
            <a:r>
              <a:rPr lang="en-US" dirty="0"/>
              <a:t>monitor progress of the trainees</a:t>
            </a:r>
          </a:p>
          <a:p>
            <a:pPr marL="860425"/>
            <a:r>
              <a:rPr lang="en-US" dirty="0"/>
              <a:t>ensure adequate presentation of the training topics</a:t>
            </a:r>
          </a:p>
          <a:p>
            <a:pPr marL="860425"/>
            <a:r>
              <a:rPr lang="en-US" dirty="0"/>
              <a:t>keep trainees motivated to learn</a:t>
            </a:r>
          </a:p>
          <a:p>
            <a:pPr marL="860425"/>
            <a:endParaRPr lang="en-US" dirty="0"/>
          </a:p>
        </p:txBody>
      </p:sp>
      <p:pic>
        <p:nvPicPr>
          <p:cNvPr id="6146" name="Picture 2" descr="Free photo focused team leader presenting marketing plan to interested multiracial coworkers. serious speaker boss executive, business trainer explaining development strategy to motivated mixed race employees.">
            <a:extLst>
              <a:ext uri="{FF2B5EF4-FFF2-40B4-BE49-F238E27FC236}">
                <a16:creationId xmlns:a16="http://schemas.microsoft.com/office/drawing/2014/main" id="{521219BC-76C4-9B71-6864-4D3F38831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4165443"/>
            <a:ext cx="4343400" cy="2442295"/>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577059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5E665D-EF68-4BB0-A3BB-4717B6923BBF}"/>
              </a:ext>
            </a:extLst>
          </p:cNvPr>
          <p:cNvSpPr>
            <a:spLocks noGrp="1"/>
          </p:cNvSpPr>
          <p:nvPr>
            <p:ph idx="1"/>
          </p:nvPr>
        </p:nvSpPr>
        <p:spPr>
          <a:xfrm>
            <a:off x="531917" y="1191587"/>
            <a:ext cx="6096000" cy="5189427"/>
          </a:xfrm>
          <a:solidFill>
            <a:schemeClr val="bg2">
              <a:lumMod val="20000"/>
              <a:lumOff val="80000"/>
            </a:schemeClr>
          </a:solidFill>
          <a:scene3d>
            <a:camera prst="orthographicFront"/>
            <a:lightRig rig="threePt" dir="t"/>
          </a:scene3d>
          <a:sp3d>
            <a:bevelT/>
          </a:sp3d>
        </p:spPr>
        <p:txBody>
          <a:bodyPr anchor="ctr">
            <a:normAutofit lnSpcReduction="10000"/>
          </a:bodyPr>
          <a:lstStyle/>
          <a:p>
            <a:pPr marL="0" marR="0">
              <a:lnSpc>
                <a:spcPct val="107000"/>
              </a:lnSpc>
              <a:spcBef>
                <a:spcPts val="0"/>
              </a:spcBef>
              <a:spcAft>
                <a:spcPts val="0"/>
              </a:spcAft>
            </a:pPr>
            <a:r>
              <a:rPr lang="en-US" sz="1800" dirty="0"/>
              <a:t>Include refresher training throughout the year. </a:t>
            </a:r>
          </a:p>
          <a:p>
            <a:pPr marL="0" marR="0" indent="0">
              <a:lnSpc>
                <a:spcPct val="107000"/>
              </a:lnSpc>
              <a:spcBef>
                <a:spcPts val="0"/>
              </a:spcBef>
              <a:spcAft>
                <a:spcPts val="0"/>
              </a:spcAft>
              <a:buNone/>
            </a:pPr>
            <a:r>
              <a:rPr lang="en-US" sz="1800" dirty="0"/>
              <a:t>    Facilitated reinforcement sessions should occur at</a:t>
            </a:r>
          </a:p>
          <a:p>
            <a:pPr marL="0" marR="0" indent="0">
              <a:lnSpc>
                <a:spcPct val="107000"/>
              </a:lnSpc>
              <a:spcBef>
                <a:spcPts val="0"/>
              </a:spcBef>
              <a:spcAft>
                <a:spcPts val="0"/>
              </a:spcAft>
              <a:buNone/>
            </a:pPr>
            <a:r>
              <a:rPr lang="en-US" sz="1800" dirty="0"/>
              <a:t>    30/60/90-day intervals following the initial training. </a:t>
            </a:r>
          </a:p>
          <a:p>
            <a:pPr marL="0" marR="0">
              <a:lnSpc>
                <a:spcPct val="107000"/>
              </a:lnSpc>
              <a:spcBef>
                <a:spcPts val="0"/>
              </a:spcBef>
              <a:spcAft>
                <a:spcPts val="0"/>
              </a:spcAft>
            </a:pPr>
            <a:endParaRPr lang="en-US" sz="1800" dirty="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a typeface="Calibri" panose="020F0502020204030204" pitchFamily="34" charset="0"/>
                <a:cs typeface="Times New Roman" panose="02020603050405020304" pitchFamily="18" charset="0"/>
              </a:rPr>
              <a:t>Focus on reinforcing one or two key items at a time.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lvl="0">
              <a:lnSpc>
                <a:spcPct val="90000"/>
              </a:lnSpc>
            </a:pPr>
            <a:endParaRPr lang="en-US" sz="1800" dirty="0"/>
          </a:p>
          <a:p>
            <a:pPr lvl="0">
              <a:lnSpc>
                <a:spcPct val="90000"/>
              </a:lnSpc>
            </a:pPr>
            <a:r>
              <a:rPr lang="en-US" sz="1800" dirty="0"/>
              <a:t>Provide short (five minutes or less) learning modules that are easily accessible.  Try to integrate these into the customer relationship management program.</a:t>
            </a:r>
          </a:p>
          <a:p>
            <a:pPr lvl="0">
              <a:lnSpc>
                <a:spcPct val="90000"/>
              </a:lnSpc>
            </a:pPr>
            <a:endParaRPr lang="en-US" sz="1800" dirty="0"/>
          </a:p>
          <a:p>
            <a:pPr lvl="0">
              <a:lnSpc>
                <a:spcPct val="90000"/>
              </a:lnSpc>
            </a:pPr>
            <a:r>
              <a:rPr lang="en-US" sz="1800" dirty="0"/>
              <a:t>Provide coaching and mentoring to reinforce what was learned.</a:t>
            </a:r>
          </a:p>
          <a:p>
            <a:pPr lvl="0">
              <a:lnSpc>
                <a:spcPct val="90000"/>
              </a:lnSpc>
            </a:pPr>
            <a:endParaRPr lang="en-US" sz="1800" dirty="0"/>
          </a:p>
          <a:p>
            <a:pPr lvl="0">
              <a:lnSpc>
                <a:spcPct val="90000"/>
              </a:lnSpc>
            </a:pPr>
            <a:r>
              <a:rPr lang="en-US" sz="1800" dirty="0"/>
              <a:t>Use gamification to motivate and reinforce learned information.  Periodic quizzes and games can help reinforce material.</a:t>
            </a:r>
          </a:p>
          <a:p>
            <a:pPr lvl="0">
              <a:lnSpc>
                <a:spcPct val="90000"/>
              </a:lnSpc>
            </a:pPr>
            <a:endParaRPr lang="en-US" sz="1800" dirty="0"/>
          </a:p>
          <a:p>
            <a:pPr lvl="0">
              <a:lnSpc>
                <a:spcPct val="90000"/>
              </a:lnSpc>
            </a:pPr>
            <a:r>
              <a:rPr lang="en-US" sz="1800" dirty="0"/>
              <a:t>Review learner progress periodically to determine if material is sticking.</a:t>
            </a:r>
          </a:p>
          <a:p>
            <a:pPr>
              <a:lnSpc>
                <a:spcPct val="90000"/>
              </a:lnSpc>
            </a:pPr>
            <a:endParaRPr lang="en-US" sz="15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6660" y="0"/>
            <a:ext cx="157734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6550" y="2358913"/>
            <a:ext cx="1605129"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Checkmark">
            <a:extLst>
              <a:ext uri="{FF2B5EF4-FFF2-40B4-BE49-F238E27FC236}">
                <a16:creationId xmlns:a16="http://schemas.microsoft.com/office/drawing/2014/main" id="{BCF1D370-EAF8-4501-A19D-DB386BEB1F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40831" y="2880717"/>
            <a:ext cx="1096566" cy="1096566"/>
          </a:xfrm>
          <a:prstGeom prst="rect">
            <a:avLst/>
          </a:prstGeom>
        </p:spPr>
      </p:pic>
      <p:sp>
        <p:nvSpPr>
          <p:cNvPr id="8" name="Title 1">
            <a:extLst>
              <a:ext uri="{FF2B5EF4-FFF2-40B4-BE49-F238E27FC236}">
                <a16:creationId xmlns:a16="http://schemas.microsoft.com/office/drawing/2014/main" id="{4F1E3A2D-0EA9-4482-A251-FBE0FD4FD76B}"/>
              </a:ext>
            </a:extLst>
          </p:cNvPr>
          <p:cNvSpPr txBox="1">
            <a:spLocks/>
          </p:cNvSpPr>
          <p:nvPr/>
        </p:nvSpPr>
        <p:spPr bwMode="auto">
          <a:xfrm>
            <a:off x="266700" y="54867"/>
            <a:ext cx="8610600" cy="1066800"/>
          </a:xfrm>
          <a:prstGeom prst="rect">
            <a:avLst/>
          </a:prstGeom>
          <a:solidFill>
            <a:schemeClr val="bg2">
              <a:lumMod val="60000"/>
              <a:lumOff val="40000"/>
            </a:schemeClr>
          </a:solidFill>
          <a:ln>
            <a:noFill/>
          </a:ln>
          <a:effectLst/>
          <a:scene3d>
            <a:camera prst="orthographicFront"/>
            <a:lightRig rig="threePt" dir="t"/>
          </a:scene3d>
          <a:sp3d>
            <a:bevelT w="69850"/>
          </a:sp3d>
        </p:spPr>
        <p:txBody>
          <a:bodyPr vert="horz" wrap="square" lIns="91440" tIns="45720" rIns="91440" bIns="45720" numCol="1" anchor="ctr" anchorCtr="0" compatLnSpc="1">
            <a:prstTxWarp prst="textNoShape">
              <a:avLst/>
            </a:prstTxWarp>
          </a:bodyPr>
          <a:lst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a:lstStyle>
          <a:p>
            <a:r>
              <a:rPr lang="en-US" dirty="0"/>
              <a:t>Tips for Reinforcing Sales Training</a:t>
            </a:r>
          </a:p>
        </p:txBody>
      </p:sp>
    </p:spTree>
    <p:extLst>
      <p:ext uri="{BB962C8B-B14F-4D97-AF65-F5344CB8AC3E}">
        <p14:creationId xmlns:p14="http://schemas.microsoft.com/office/powerpoint/2010/main" val="3557473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519E-B43D-4BFA-9D73-03598695E399}"/>
              </a:ext>
            </a:extLst>
          </p:cNvPr>
          <p:cNvSpPr>
            <a:spLocks noGrp="1"/>
          </p:cNvSpPr>
          <p:nvPr>
            <p:ph type="title"/>
          </p:nvPr>
        </p:nvSpPr>
        <p:spPr>
          <a:xfrm>
            <a:off x="157993" y="248655"/>
            <a:ext cx="8610600" cy="1066800"/>
          </a:xfrm>
          <a:solidFill>
            <a:schemeClr val="bg2">
              <a:lumMod val="60000"/>
              <a:lumOff val="40000"/>
            </a:schemeClr>
          </a:solidFill>
        </p:spPr>
        <p:txBody>
          <a:bodyPr/>
          <a:lstStyle/>
          <a:p>
            <a:r>
              <a:rPr lang="en-US" dirty="0"/>
              <a:t>Conduct Follow-Up and Evaluation</a:t>
            </a:r>
          </a:p>
        </p:txBody>
      </p:sp>
      <p:sp>
        <p:nvSpPr>
          <p:cNvPr id="5" name="Content Placeholder 4">
            <a:extLst>
              <a:ext uri="{FF2B5EF4-FFF2-40B4-BE49-F238E27FC236}">
                <a16:creationId xmlns:a16="http://schemas.microsoft.com/office/drawing/2014/main" id="{BED83C61-B2D4-4007-8FDE-C8F9AA34095E}"/>
              </a:ext>
            </a:extLst>
          </p:cNvPr>
          <p:cNvSpPr>
            <a:spLocks noGrp="1"/>
          </p:cNvSpPr>
          <p:nvPr>
            <p:ph idx="1"/>
          </p:nvPr>
        </p:nvSpPr>
        <p:spPr>
          <a:xfrm>
            <a:off x="469106" y="1828800"/>
            <a:ext cx="8205788" cy="2672593"/>
          </a:xfrm>
          <a:solidFill>
            <a:schemeClr val="bg2">
              <a:lumMod val="20000"/>
              <a:lumOff val="80000"/>
            </a:schemeClr>
          </a:solidFill>
          <a:scene3d>
            <a:camera prst="orthographicFront"/>
            <a:lightRig rig="threePt" dir="t"/>
          </a:scene3d>
          <a:sp3d>
            <a:bevelT/>
          </a:sp3d>
        </p:spPr>
        <p:txBody>
          <a:bodyPr/>
          <a:lstStyle/>
          <a:p>
            <a:pPr marL="342900" indent="-342900">
              <a:buFont typeface="Arial" pitchFamily="34" charset="0"/>
              <a:buChar char="•"/>
            </a:pPr>
            <a:r>
              <a:rPr lang="en-US" dirty="0">
                <a:solidFill>
                  <a:schemeClr val="accent2"/>
                </a:solidFill>
              </a:rPr>
              <a:t>Effort should be made to measure the effectiveness of sales training.</a:t>
            </a:r>
          </a:p>
          <a:p>
            <a:pPr marL="342900" indent="-342900">
              <a:buFont typeface="Arial" pitchFamily="34" charset="0"/>
              <a:buChar char="•"/>
            </a:pPr>
            <a:r>
              <a:rPr lang="en-US" dirty="0">
                <a:solidFill>
                  <a:schemeClr val="accent2"/>
                </a:solidFill>
              </a:rPr>
              <a:t>A reasonable attempt must be made to assess whether current training expenditures are worthwhile and whether future modification is warranted.</a:t>
            </a:r>
          </a:p>
          <a:p>
            <a:pPr marL="342900" indent="-342900">
              <a:buFont typeface="Arial" pitchFamily="34" charset="0"/>
              <a:buChar char="•"/>
            </a:pPr>
            <a:r>
              <a:rPr lang="en-US" dirty="0">
                <a:solidFill>
                  <a:schemeClr val="accent2"/>
                </a:solidFill>
              </a:rPr>
              <a:t>Sales training should be reinforced.</a:t>
            </a:r>
          </a:p>
        </p:txBody>
      </p:sp>
      <p:pic>
        <p:nvPicPr>
          <p:cNvPr id="8194" name="Picture 2" descr="Photo hand writing inscription follow up with marker, concept">
            <a:extLst>
              <a:ext uri="{FF2B5EF4-FFF2-40B4-BE49-F238E27FC236}">
                <a16:creationId xmlns:a16="http://schemas.microsoft.com/office/drawing/2014/main" id="{1A3DCD3C-1420-06CE-9AE8-9B9A71849D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9593" y="4504189"/>
            <a:ext cx="3429000" cy="2223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949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E448E-9A2E-43DD-A6AC-6E430E166490}"/>
              </a:ext>
            </a:extLst>
          </p:cNvPr>
          <p:cNvSpPr>
            <a:spLocks noGrp="1"/>
          </p:cNvSpPr>
          <p:nvPr>
            <p:ph type="title"/>
          </p:nvPr>
        </p:nvSpPr>
        <p:spPr>
          <a:solidFill>
            <a:schemeClr val="bg2">
              <a:lumMod val="60000"/>
              <a:lumOff val="40000"/>
            </a:schemeClr>
          </a:solidFill>
        </p:spPr>
        <p:txBody>
          <a:bodyPr/>
          <a:lstStyle/>
          <a:p>
            <a:r>
              <a:rPr lang="en-US" sz="3400" dirty="0"/>
              <a:t>Evaluating Training and </a:t>
            </a:r>
            <a:br>
              <a:rPr lang="en-US" sz="3400" dirty="0"/>
            </a:br>
            <a:r>
              <a:rPr lang="en-US" sz="3400" dirty="0"/>
              <a:t>Development Programs</a:t>
            </a:r>
          </a:p>
        </p:txBody>
      </p:sp>
      <p:sp>
        <p:nvSpPr>
          <p:cNvPr id="4" name="AutoShape 7">
            <a:extLst>
              <a:ext uri="{FF2B5EF4-FFF2-40B4-BE49-F238E27FC236}">
                <a16:creationId xmlns:a16="http://schemas.microsoft.com/office/drawing/2014/main" id="{F0C89FDB-3E17-4ACE-8B38-0C41D83AE84E}"/>
              </a:ext>
            </a:extLst>
          </p:cNvPr>
          <p:cNvSpPr>
            <a:spLocks noChangeArrowheads="1"/>
          </p:cNvSpPr>
          <p:nvPr/>
        </p:nvSpPr>
        <p:spPr bwMode="auto">
          <a:xfrm>
            <a:off x="412079" y="2226889"/>
            <a:ext cx="1638179" cy="1581150"/>
          </a:xfrm>
          <a:prstGeom prst="roundRect">
            <a:avLst>
              <a:gd name="adj" fmla="val 16667"/>
            </a:avLst>
          </a:prstGeom>
          <a:solidFill>
            <a:srgbClr val="E24A63"/>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Assess participant satisfaction with training</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AutoShape 6">
            <a:extLst>
              <a:ext uri="{FF2B5EF4-FFF2-40B4-BE49-F238E27FC236}">
                <a16:creationId xmlns:a16="http://schemas.microsoft.com/office/drawing/2014/main" id="{B6B5F461-60F1-4C79-AF38-4E3B8D8A8E70}"/>
              </a:ext>
            </a:extLst>
          </p:cNvPr>
          <p:cNvSpPr>
            <a:spLocks noChangeArrowheads="1"/>
          </p:cNvSpPr>
          <p:nvPr/>
        </p:nvSpPr>
        <p:spPr bwMode="auto">
          <a:xfrm>
            <a:off x="2497688" y="2252800"/>
            <a:ext cx="1746010" cy="1581150"/>
          </a:xfrm>
          <a:prstGeom prst="roundRect">
            <a:avLst>
              <a:gd name="adj" fmla="val 16667"/>
            </a:avLst>
          </a:prstGeom>
          <a:solidFill>
            <a:srgbClr val="92D05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Determine  principles, techniques and facts that were learned</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6" name="AutoShape 5">
            <a:extLst>
              <a:ext uri="{FF2B5EF4-FFF2-40B4-BE49-F238E27FC236}">
                <a16:creationId xmlns:a16="http://schemas.microsoft.com/office/drawing/2014/main" id="{A16D1C0B-65C0-48B5-8CA1-E9643E9DE967}"/>
              </a:ext>
            </a:extLst>
          </p:cNvPr>
          <p:cNvSpPr>
            <a:spLocks noChangeArrowheads="1"/>
          </p:cNvSpPr>
          <p:nvPr/>
        </p:nvSpPr>
        <p:spPr bwMode="auto">
          <a:xfrm>
            <a:off x="4744326" y="2240029"/>
            <a:ext cx="1627067" cy="1593921"/>
          </a:xfrm>
          <a:prstGeom prst="roundRect">
            <a:avLst>
              <a:gd name="adj" fmla="val 16667"/>
            </a:avLst>
          </a:prstGeom>
          <a:solidFill>
            <a:srgbClr val="A4A6F2"/>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Assess changes in job behavior resulting from training</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7" name="AutoShape 4">
            <a:extLst>
              <a:ext uri="{FF2B5EF4-FFF2-40B4-BE49-F238E27FC236}">
                <a16:creationId xmlns:a16="http://schemas.microsoft.com/office/drawing/2014/main" id="{D1957D18-63C4-4FCF-9B2D-868FBD94CF8E}"/>
              </a:ext>
            </a:extLst>
          </p:cNvPr>
          <p:cNvSpPr>
            <a:spLocks noChangeArrowheads="1"/>
          </p:cNvSpPr>
          <p:nvPr/>
        </p:nvSpPr>
        <p:spPr bwMode="auto">
          <a:xfrm>
            <a:off x="6831134" y="2244366"/>
            <a:ext cx="1627066" cy="1607268"/>
          </a:xfrm>
          <a:prstGeom prst="roundRect">
            <a:avLst>
              <a:gd name="adj" fmla="val 16667"/>
            </a:avLst>
          </a:prstGeom>
          <a:solidFill>
            <a:srgbClr val="00B0F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Determine outcomes resulting from using what was learned</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8" name="AutoShape 3">
            <a:extLst>
              <a:ext uri="{FF2B5EF4-FFF2-40B4-BE49-F238E27FC236}">
                <a16:creationId xmlns:a16="http://schemas.microsoft.com/office/drawing/2014/main" id="{70BE60C1-90C3-4141-81B2-8786EC6F035B}"/>
              </a:ext>
            </a:extLst>
          </p:cNvPr>
          <p:cNvSpPr>
            <a:spLocks noChangeArrowheads="1"/>
          </p:cNvSpPr>
          <p:nvPr/>
        </p:nvSpPr>
        <p:spPr bwMode="auto">
          <a:xfrm>
            <a:off x="2050258" y="2857920"/>
            <a:ext cx="419100" cy="319088"/>
          </a:xfrm>
          <a:prstGeom prst="rightArrow">
            <a:avLst>
              <a:gd name="adj1" fmla="val 50000"/>
              <a:gd name="adj2" fmla="val 32836"/>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AutoShape 2">
            <a:extLst>
              <a:ext uri="{FF2B5EF4-FFF2-40B4-BE49-F238E27FC236}">
                <a16:creationId xmlns:a16="http://schemas.microsoft.com/office/drawing/2014/main" id="{1FC731B9-5182-4D0F-853F-94A801D21F01}"/>
              </a:ext>
            </a:extLst>
          </p:cNvPr>
          <p:cNvSpPr>
            <a:spLocks noChangeArrowheads="1"/>
          </p:cNvSpPr>
          <p:nvPr/>
        </p:nvSpPr>
        <p:spPr bwMode="auto">
          <a:xfrm>
            <a:off x="4272028" y="2857920"/>
            <a:ext cx="419100" cy="319088"/>
          </a:xfrm>
          <a:prstGeom prst="rightArrow">
            <a:avLst>
              <a:gd name="adj1" fmla="val 50000"/>
              <a:gd name="adj2" fmla="val 32836"/>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AutoShape 1">
            <a:extLst>
              <a:ext uri="{FF2B5EF4-FFF2-40B4-BE49-F238E27FC236}">
                <a16:creationId xmlns:a16="http://schemas.microsoft.com/office/drawing/2014/main" id="{B0C16444-BE76-4441-94F0-288F880B0AF3}"/>
              </a:ext>
            </a:extLst>
          </p:cNvPr>
          <p:cNvSpPr>
            <a:spLocks noChangeArrowheads="1"/>
          </p:cNvSpPr>
          <p:nvPr/>
        </p:nvSpPr>
        <p:spPr bwMode="auto">
          <a:xfrm>
            <a:off x="6391713" y="2857920"/>
            <a:ext cx="419100" cy="319088"/>
          </a:xfrm>
          <a:prstGeom prst="rightArrow">
            <a:avLst>
              <a:gd name="adj1" fmla="val 50000"/>
              <a:gd name="adj2" fmla="val 32836"/>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Rectangle 8">
            <a:extLst>
              <a:ext uri="{FF2B5EF4-FFF2-40B4-BE49-F238E27FC236}">
                <a16:creationId xmlns:a16="http://schemas.microsoft.com/office/drawing/2014/main" id="{D6122248-0F8C-423A-A5A3-D5C9AECBAD87}"/>
              </a:ext>
            </a:extLst>
          </p:cNvPr>
          <p:cNvSpPr>
            <a:spLocks noChangeArrowheads="1"/>
          </p:cNvSpPr>
          <p:nvPr/>
        </p:nvSpPr>
        <p:spPr bwMode="auto">
          <a:xfrm>
            <a:off x="685800" y="25908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13">
            <a:extLst>
              <a:ext uri="{FF2B5EF4-FFF2-40B4-BE49-F238E27FC236}">
                <a16:creationId xmlns:a16="http://schemas.microsoft.com/office/drawing/2014/main" id="{2260475A-40CB-4673-ADD6-F518F0A42B9D}"/>
              </a:ext>
            </a:extLst>
          </p:cNvPr>
          <p:cNvSpPr>
            <a:spLocks noChangeArrowheads="1"/>
          </p:cNvSpPr>
          <p:nvPr/>
        </p:nvSpPr>
        <p:spPr bwMode="auto">
          <a:xfrm>
            <a:off x="685800" y="3048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D5D6E8F-F298-4278-A575-D9511D5DBACA}"/>
              </a:ext>
            </a:extLst>
          </p:cNvPr>
          <p:cNvSpPr txBox="1"/>
          <p:nvPr/>
        </p:nvSpPr>
        <p:spPr>
          <a:xfrm>
            <a:off x="323449" y="3931384"/>
            <a:ext cx="1923925" cy="1631216"/>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Did they like it?</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Trainer</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Content</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Facilities</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Etc.</a:t>
            </a:r>
          </a:p>
        </p:txBody>
      </p:sp>
      <p:sp>
        <p:nvSpPr>
          <p:cNvPr id="13" name="TextBox 12">
            <a:extLst>
              <a:ext uri="{FF2B5EF4-FFF2-40B4-BE49-F238E27FC236}">
                <a16:creationId xmlns:a16="http://schemas.microsoft.com/office/drawing/2014/main" id="{EA4DE8AD-ED0D-481E-9E0E-0B879A6EE98C}"/>
              </a:ext>
            </a:extLst>
          </p:cNvPr>
          <p:cNvSpPr txBox="1"/>
          <p:nvPr/>
        </p:nvSpPr>
        <p:spPr>
          <a:xfrm>
            <a:off x="2497689" y="3899542"/>
            <a:ext cx="1923926" cy="1938992"/>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Was there a transfer of knowledge and skills?</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Pre-test</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Post-test</a:t>
            </a:r>
          </a:p>
        </p:txBody>
      </p:sp>
      <p:sp>
        <p:nvSpPr>
          <p:cNvPr id="14" name="TextBox 13">
            <a:extLst>
              <a:ext uri="{FF2B5EF4-FFF2-40B4-BE49-F238E27FC236}">
                <a16:creationId xmlns:a16="http://schemas.microsoft.com/office/drawing/2014/main" id="{49DF5684-0EF7-4768-8CFB-771606B46390}"/>
              </a:ext>
            </a:extLst>
          </p:cNvPr>
          <p:cNvSpPr txBox="1"/>
          <p:nvPr/>
        </p:nvSpPr>
        <p:spPr>
          <a:xfrm>
            <a:off x="4762407" y="3886200"/>
            <a:ext cx="1746010" cy="2246769"/>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Was learning put into action?</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Observe in field</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Ask customers</a:t>
            </a:r>
          </a:p>
        </p:txBody>
      </p:sp>
      <p:sp>
        <p:nvSpPr>
          <p:cNvPr id="15" name="TextBox 14">
            <a:extLst>
              <a:ext uri="{FF2B5EF4-FFF2-40B4-BE49-F238E27FC236}">
                <a16:creationId xmlns:a16="http://schemas.microsoft.com/office/drawing/2014/main" id="{3562458C-3832-4221-88AA-8312E424753C}"/>
              </a:ext>
            </a:extLst>
          </p:cNvPr>
          <p:cNvSpPr txBox="1"/>
          <p:nvPr/>
        </p:nvSpPr>
        <p:spPr>
          <a:xfrm>
            <a:off x="6804084" y="3871127"/>
            <a:ext cx="2111315" cy="2862322"/>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Tangible results?</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Increased sales?</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Higher </a:t>
            </a:r>
            <a:r>
              <a:rPr lang="en-US" sz="2000" dirty="0" err="1">
                <a:latin typeface="Arial" panose="020B0604020202020204" pitchFamily="34" charset="0"/>
                <a:cs typeface="Arial" panose="020B0604020202020204" pitchFamily="34" charset="0"/>
              </a:rPr>
              <a:t>cuotas</a:t>
            </a:r>
            <a:r>
              <a:rPr lang="en-US" sz="2000"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New customers acquired?</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Etc.</a:t>
            </a:r>
          </a:p>
        </p:txBody>
      </p:sp>
    </p:spTree>
    <p:extLst>
      <p:ext uri="{BB962C8B-B14F-4D97-AF65-F5344CB8AC3E}">
        <p14:creationId xmlns:p14="http://schemas.microsoft.com/office/powerpoint/2010/main" val="1714817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60000"/>
              <a:lumOff val="40000"/>
            </a:schemeClr>
          </a:solidFill>
        </p:spPr>
        <p:txBody>
          <a:bodyPr/>
          <a:lstStyle/>
          <a:p>
            <a:r>
              <a:rPr lang="en-US" dirty="0"/>
              <a:t>Ethical and Legal Issues</a:t>
            </a:r>
          </a:p>
        </p:txBody>
      </p:sp>
      <p:sp>
        <p:nvSpPr>
          <p:cNvPr id="4" name="Rectangle 3"/>
          <p:cNvSpPr/>
          <p:nvPr/>
        </p:nvSpPr>
        <p:spPr>
          <a:xfrm>
            <a:off x="1620415" y="5562600"/>
            <a:ext cx="5674567" cy="1261884"/>
          </a:xfrm>
          <a:prstGeom prst="rect">
            <a:avLst/>
          </a:prstGeom>
          <a:noFill/>
        </p:spPr>
        <p:txBody>
          <a:bodyPr wrap="none" lIns="91440" tIns="45720" rIns="91440" bIns="45720">
            <a:spAutoFit/>
          </a:bodyPr>
          <a:lstStyle/>
          <a:p>
            <a:pPr algn="ctr"/>
            <a:r>
              <a:rPr lang="en-US" sz="4800" dirty="0">
                <a:ln w="0"/>
                <a:solidFill>
                  <a:schemeClr val="tx2"/>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Training is Essential</a:t>
            </a:r>
          </a:p>
          <a:p>
            <a:pPr algn="ctr"/>
            <a:r>
              <a:rPr lang="en-US" sz="2800" dirty="0">
                <a:ln w="0"/>
                <a:solidFill>
                  <a:schemeClr val="tx2"/>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(e.g. WSJ test)</a:t>
            </a:r>
          </a:p>
        </p:txBody>
      </p:sp>
      <p:pic>
        <p:nvPicPr>
          <p:cNvPr id="7170" name="Picture 2" descr="Free vector opposite words with right and wrong">
            <a:extLst>
              <a:ext uri="{FF2B5EF4-FFF2-40B4-BE49-F238E27FC236}">
                <a16:creationId xmlns:a16="http://schemas.microsoft.com/office/drawing/2014/main" id="{D0DAA6B6-C1CD-BEBF-5158-1CD3EDBE65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9261" y="1529896"/>
            <a:ext cx="3916875" cy="3735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521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610600" cy="1066800"/>
          </a:xfrm>
          <a:solidFill>
            <a:schemeClr val="bg2">
              <a:lumMod val="60000"/>
              <a:lumOff val="40000"/>
            </a:schemeClr>
          </a:solidFill>
        </p:spPr>
        <p:txBody>
          <a:bodyPr/>
          <a:lstStyle/>
          <a:p>
            <a:r>
              <a:rPr lang="en-US" dirty="0"/>
              <a:t>Ethically Troubling Situations</a:t>
            </a:r>
          </a:p>
        </p:txBody>
      </p:sp>
      <p:sp>
        <p:nvSpPr>
          <p:cNvPr id="3" name="Content Placeholder 2"/>
          <p:cNvSpPr>
            <a:spLocks noGrp="1"/>
          </p:cNvSpPr>
          <p:nvPr>
            <p:ph idx="1"/>
          </p:nvPr>
        </p:nvSpPr>
        <p:spPr>
          <a:xfrm>
            <a:off x="304800" y="1447800"/>
            <a:ext cx="8686800" cy="4953000"/>
          </a:xfrm>
          <a:solidFill>
            <a:schemeClr val="bg2">
              <a:lumMod val="20000"/>
              <a:lumOff val="80000"/>
            </a:schemeClr>
          </a:solidFill>
          <a:scene3d>
            <a:camera prst="orthographicFront"/>
            <a:lightRig rig="threePt" dir="t"/>
          </a:scene3d>
          <a:sp3d>
            <a:bevelT w="69850"/>
          </a:sp3d>
        </p:spPr>
        <p:txBody>
          <a:bodyPr/>
          <a:lstStyle/>
          <a:p>
            <a:pPr>
              <a:spcBef>
                <a:spcPts val="0"/>
              </a:spcBef>
              <a:spcAft>
                <a:spcPts val="1200"/>
              </a:spcAft>
            </a:pPr>
            <a:r>
              <a:rPr lang="en-US" sz="2000" dirty="0"/>
              <a:t>Giving physical gifts such as free sales promotion prizes or “purchase-volume incentive bonuses” to a purchaser.</a:t>
            </a:r>
          </a:p>
          <a:p>
            <a:pPr>
              <a:spcBef>
                <a:spcPts val="0"/>
              </a:spcBef>
              <a:spcAft>
                <a:spcPts val="1200"/>
              </a:spcAft>
            </a:pPr>
            <a:r>
              <a:rPr lang="en-US" sz="2000" dirty="0"/>
              <a:t>Providing free trips, free luncheons or dinners, or other free entertainment to a purchaser.</a:t>
            </a:r>
          </a:p>
          <a:p>
            <a:pPr>
              <a:spcBef>
                <a:spcPts val="0"/>
              </a:spcBef>
              <a:spcAft>
                <a:spcPts val="1200"/>
              </a:spcAft>
            </a:pPr>
            <a:r>
              <a:rPr lang="en-US" sz="2000" dirty="0"/>
              <a:t>Using the firm’s economic power to obtain premium prices or other concessions from buyers.</a:t>
            </a:r>
          </a:p>
          <a:p>
            <a:pPr>
              <a:spcBef>
                <a:spcPts val="0"/>
              </a:spcBef>
              <a:spcAft>
                <a:spcPts val="1200"/>
              </a:spcAft>
            </a:pPr>
            <a:r>
              <a:rPr lang="en-US" sz="2000" dirty="0"/>
              <a:t>Gaining information about competitors by asking purchasers. </a:t>
            </a:r>
            <a:r>
              <a:rPr lang="en-US" sz="2000" i="1" u="sng" dirty="0"/>
              <a:t>CONTEXT</a:t>
            </a:r>
          </a:p>
          <a:p>
            <a:pPr>
              <a:spcBef>
                <a:spcPts val="0"/>
              </a:spcBef>
              <a:spcAft>
                <a:spcPts val="1200"/>
              </a:spcAft>
            </a:pPr>
            <a:r>
              <a:rPr lang="en-US" sz="2000" dirty="0"/>
              <a:t>Giving preferential treatment to purchasers whom higher levels of the firm’s own management prefer or recommend.</a:t>
            </a:r>
          </a:p>
          <a:p>
            <a:pPr>
              <a:spcBef>
                <a:spcPts val="0"/>
              </a:spcBef>
              <a:spcAft>
                <a:spcPts val="1200"/>
              </a:spcAft>
            </a:pPr>
            <a:r>
              <a:rPr lang="en-US" sz="2000" dirty="0"/>
              <a:t>Attempting to reach and influence other departments directly rather than going through the purchasing department when such avoidance of the purchasing department increases the likelihood of a sale. </a:t>
            </a:r>
            <a:r>
              <a:rPr lang="en-US" sz="2000" i="1" u="sng" dirty="0"/>
              <a:t>CONTEXT</a:t>
            </a:r>
          </a:p>
          <a:p>
            <a:pPr>
              <a:spcBef>
                <a:spcPts val="0"/>
              </a:spcBef>
              <a:spcAft>
                <a:spcPts val="1200"/>
              </a:spcAft>
            </a:pPr>
            <a:endParaRPr lang="en-US" sz="2000" dirty="0"/>
          </a:p>
        </p:txBody>
      </p:sp>
    </p:spTree>
    <p:extLst>
      <p:ext uri="{BB962C8B-B14F-4D97-AF65-F5344CB8AC3E}">
        <p14:creationId xmlns:p14="http://schemas.microsoft.com/office/powerpoint/2010/main" val="26630389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4835" y="1473666"/>
            <a:ext cx="4634079" cy="4724400"/>
          </a:xfrm>
          <a:solidFill>
            <a:schemeClr val="bg2">
              <a:lumMod val="20000"/>
              <a:lumOff val="80000"/>
            </a:schemeClr>
          </a:solidFill>
          <a:scene3d>
            <a:camera prst="orthographicFront"/>
            <a:lightRig rig="threePt" dir="t"/>
          </a:scene3d>
          <a:sp3d>
            <a:bevelT/>
          </a:sp3d>
        </p:spPr>
        <p:txBody>
          <a:bodyPr anchor="ctr">
            <a:noAutofit/>
          </a:bodyPr>
          <a:lstStyle/>
          <a:p>
            <a:pPr>
              <a:lnSpc>
                <a:spcPct val="90000"/>
              </a:lnSpc>
              <a:spcBef>
                <a:spcPts val="0"/>
              </a:spcBef>
              <a:spcAft>
                <a:spcPts val="1200"/>
              </a:spcAft>
            </a:pPr>
            <a:r>
              <a:rPr lang="en-US" sz="1800" dirty="0"/>
              <a:t>Use factual data.</a:t>
            </a:r>
          </a:p>
          <a:p>
            <a:pPr>
              <a:lnSpc>
                <a:spcPct val="90000"/>
              </a:lnSpc>
              <a:spcBef>
                <a:spcPts val="0"/>
              </a:spcBef>
              <a:spcAft>
                <a:spcPts val="1200"/>
              </a:spcAft>
            </a:pPr>
            <a:r>
              <a:rPr lang="en-US" sz="1800" dirty="0"/>
              <a:t>Thoroughly educate customers.</a:t>
            </a:r>
          </a:p>
          <a:p>
            <a:pPr>
              <a:lnSpc>
                <a:spcPct val="90000"/>
              </a:lnSpc>
              <a:spcBef>
                <a:spcPts val="0"/>
              </a:spcBef>
              <a:spcAft>
                <a:spcPts val="1200"/>
              </a:spcAft>
            </a:pPr>
            <a:r>
              <a:rPr lang="en-US" sz="1800" dirty="0"/>
              <a:t>Don’t overstep authority.</a:t>
            </a:r>
          </a:p>
          <a:p>
            <a:pPr>
              <a:lnSpc>
                <a:spcPct val="90000"/>
              </a:lnSpc>
              <a:spcBef>
                <a:spcPts val="0"/>
              </a:spcBef>
              <a:spcAft>
                <a:spcPts val="1200"/>
              </a:spcAft>
            </a:pPr>
            <a:r>
              <a:rPr lang="en-US" sz="1800" dirty="0"/>
              <a:t>Be careful when communicating with competitors.</a:t>
            </a:r>
          </a:p>
          <a:p>
            <a:pPr>
              <a:lnSpc>
                <a:spcPct val="90000"/>
              </a:lnSpc>
              <a:spcBef>
                <a:spcPts val="0"/>
              </a:spcBef>
              <a:spcAft>
                <a:spcPts val="1200"/>
              </a:spcAft>
            </a:pPr>
            <a:r>
              <a:rPr lang="en-US" sz="1800" dirty="0"/>
              <a:t>Don’t engage in “bait and switch.”</a:t>
            </a:r>
          </a:p>
          <a:p>
            <a:pPr>
              <a:lnSpc>
                <a:spcPct val="90000"/>
              </a:lnSpc>
              <a:spcBef>
                <a:spcPts val="0"/>
              </a:spcBef>
              <a:spcAft>
                <a:spcPts val="1200"/>
              </a:spcAft>
            </a:pPr>
            <a:r>
              <a:rPr lang="en-US" sz="1800" dirty="0"/>
              <a:t>Don’t try to force the customer to buy only from your organization.</a:t>
            </a:r>
          </a:p>
          <a:p>
            <a:pPr>
              <a:lnSpc>
                <a:spcPct val="90000"/>
              </a:lnSpc>
              <a:spcBef>
                <a:spcPts val="0"/>
              </a:spcBef>
              <a:spcAft>
                <a:spcPts val="1200"/>
              </a:spcAft>
            </a:pPr>
            <a:r>
              <a:rPr lang="en-US" sz="1800" dirty="0"/>
              <a:t>Don’t engage in discrimination.</a:t>
            </a:r>
          </a:p>
          <a:p>
            <a:pPr>
              <a:lnSpc>
                <a:spcPct val="90000"/>
              </a:lnSpc>
              <a:spcBef>
                <a:spcPts val="0"/>
              </a:spcBef>
              <a:spcAft>
                <a:spcPts val="1200"/>
              </a:spcAft>
            </a:pPr>
            <a:r>
              <a:rPr lang="en-US" sz="1800" dirty="0"/>
              <a:t>Don’t tamper with a competitor’s product.</a:t>
            </a:r>
          </a:p>
          <a:p>
            <a:pPr>
              <a:lnSpc>
                <a:spcPct val="90000"/>
              </a:lnSpc>
              <a:spcBef>
                <a:spcPts val="0"/>
              </a:spcBef>
              <a:spcAft>
                <a:spcPts val="1200"/>
              </a:spcAft>
            </a:pPr>
            <a:r>
              <a:rPr lang="en-US" sz="1800" dirty="0"/>
              <a:t>Do not disparage a competitor’s product.</a:t>
            </a:r>
          </a:p>
          <a:p>
            <a:pPr>
              <a:lnSpc>
                <a:spcPct val="90000"/>
              </a:lnSpc>
              <a:spcBef>
                <a:spcPts val="0"/>
              </a:spcBef>
              <a:spcAft>
                <a:spcPts val="1200"/>
              </a:spcAft>
            </a:pPr>
            <a:r>
              <a:rPr lang="en-US" sz="1800" dirty="0"/>
              <a:t>Avoid promises that will be difficult or impossible to honor.</a:t>
            </a:r>
          </a:p>
        </p:txBody>
      </p:sp>
      <p:sp>
        <p:nvSpPr>
          <p:cNvPr id="19"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6660" y="0"/>
            <a:ext cx="157734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6550" y="2358913"/>
            <a:ext cx="1605129"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Checkmark">
            <a:extLst>
              <a:ext uri="{FF2B5EF4-FFF2-40B4-BE49-F238E27FC236}">
                <a16:creationId xmlns:a16="http://schemas.microsoft.com/office/drawing/2014/main" id="{08D1CB9F-543B-4E29-ADBB-41287B4FF98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40831" y="2880717"/>
            <a:ext cx="1096566" cy="1096566"/>
          </a:xfrm>
          <a:prstGeom prst="rect">
            <a:avLst/>
          </a:prstGeom>
        </p:spPr>
      </p:pic>
      <p:sp>
        <p:nvSpPr>
          <p:cNvPr id="18" name="Title 1">
            <a:extLst>
              <a:ext uri="{FF2B5EF4-FFF2-40B4-BE49-F238E27FC236}">
                <a16:creationId xmlns:a16="http://schemas.microsoft.com/office/drawing/2014/main" id="{795EE86C-7768-469A-A48F-3C84DE90C38A}"/>
              </a:ext>
            </a:extLst>
          </p:cNvPr>
          <p:cNvSpPr>
            <a:spLocks noGrp="1"/>
          </p:cNvSpPr>
          <p:nvPr>
            <p:ph type="title"/>
          </p:nvPr>
        </p:nvSpPr>
        <p:spPr>
          <a:xfrm>
            <a:off x="266700" y="203433"/>
            <a:ext cx="8610600" cy="1066800"/>
          </a:xfrm>
          <a:solidFill>
            <a:schemeClr val="bg2">
              <a:lumMod val="60000"/>
              <a:lumOff val="40000"/>
            </a:schemeClr>
          </a:solidFill>
        </p:spPr>
        <p:txBody>
          <a:bodyPr/>
          <a:lstStyle/>
          <a:p>
            <a:r>
              <a:rPr lang="en-US" dirty="0"/>
              <a:t>Legal Reminders for Salespeople</a:t>
            </a:r>
          </a:p>
        </p:txBody>
      </p:sp>
    </p:spTree>
    <p:extLst>
      <p:ext uri="{BB962C8B-B14F-4D97-AF65-F5344CB8AC3E}">
        <p14:creationId xmlns:p14="http://schemas.microsoft.com/office/powerpoint/2010/main" val="109910064"/>
      </p:ext>
    </p:extLst>
  </p:cSld>
  <p:clrMapOvr>
    <a:masterClrMapping/>
  </p:clrMapOvr>
</p:sld>
</file>

<file path=ppt/theme/theme1.xml><?xml version="1.0" encoding="utf-8"?>
<a:theme xmlns:a="http://schemas.openxmlformats.org/drawingml/2006/main" name="Office Theme">
  <a:themeElements>
    <a:clrScheme name="">
      <a:dk1>
        <a:srgbClr val="000000"/>
      </a:dk1>
      <a:lt1>
        <a:srgbClr val="FFFFFF"/>
      </a:lt1>
      <a:dk2>
        <a:srgbClr val="11147D"/>
      </a:dk2>
      <a:lt2>
        <a:srgbClr val="9DBCDB"/>
      </a:lt2>
      <a:accent1>
        <a:srgbClr val="DEF0FC"/>
      </a:accent1>
      <a:accent2>
        <a:srgbClr val="11147D"/>
      </a:accent2>
      <a:accent3>
        <a:srgbClr val="FFFFFF"/>
      </a:accent3>
      <a:accent4>
        <a:srgbClr val="000000"/>
      </a:accent4>
      <a:accent5>
        <a:srgbClr val="ECF6FD"/>
      </a:accent5>
      <a:accent6>
        <a:srgbClr val="0E1171"/>
      </a:accent6>
      <a:hlink>
        <a:srgbClr val="ADDAF7"/>
      </a:hlink>
      <a:folHlink>
        <a:srgbClr val="3E7AB8"/>
      </a:folHlink>
    </a:clrScheme>
    <a:fontScheme name="Office Them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routledge_master.potx" id="{9A77C883-1095-4854-8E7E-82E4EE26E2F8}" vid="{0FC05ABE-6AF4-47F1-8D35-2814AB325C2D}"/>
    </a:ext>
  </a:extLst>
</a:theme>
</file>

<file path=ppt/theme/theme2.xml><?xml version="1.0" encoding="utf-8"?>
<a:theme xmlns:a="http://schemas.openxmlformats.org/drawingml/2006/main" name="1_Office Theme">
  <a:themeElements>
    <a:clrScheme name="">
      <a:dk1>
        <a:srgbClr val="000000"/>
      </a:dk1>
      <a:lt1>
        <a:srgbClr val="FFFFFF"/>
      </a:lt1>
      <a:dk2>
        <a:srgbClr val="11147D"/>
      </a:dk2>
      <a:lt2>
        <a:srgbClr val="9DBCDB"/>
      </a:lt2>
      <a:accent1>
        <a:srgbClr val="DEF0FC"/>
      </a:accent1>
      <a:accent2>
        <a:srgbClr val="11147D"/>
      </a:accent2>
      <a:accent3>
        <a:srgbClr val="FFFFFF"/>
      </a:accent3>
      <a:accent4>
        <a:srgbClr val="000000"/>
      </a:accent4>
      <a:accent5>
        <a:srgbClr val="ECF6FD"/>
      </a:accent5>
      <a:accent6>
        <a:srgbClr val="0E1171"/>
      </a:accent6>
      <a:hlink>
        <a:srgbClr val="ADDAF7"/>
      </a:hlink>
      <a:folHlink>
        <a:srgbClr val="3E7AB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routledge_master.potx" id="{9A77C883-1095-4854-8E7E-82E4EE26E2F8}" vid="{0FC05ABE-6AF4-47F1-8D35-2814AB325C2D}"/>
    </a:ext>
  </a:extLst>
</a:theme>
</file>

<file path=ppt/theme/theme3.xml><?xml version="1.0" encoding="utf-8"?>
<a:theme xmlns:a="http://schemas.openxmlformats.org/drawingml/2006/main" name="1_Sales Management 2015 Routledge">
  <a:themeElements>
    <a:clrScheme name="">
      <a:dk1>
        <a:srgbClr val="000000"/>
      </a:dk1>
      <a:lt1>
        <a:srgbClr val="FFFFFF"/>
      </a:lt1>
      <a:dk2>
        <a:srgbClr val="11147D"/>
      </a:dk2>
      <a:lt2>
        <a:srgbClr val="9DBCDB"/>
      </a:lt2>
      <a:accent1>
        <a:srgbClr val="DEF0FC"/>
      </a:accent1>
      <a:accent2>
        <a:srgbClr val="11147D"/>
      </a:accent2>
      <a:accent3>
        <a:srgbClr val="FFFFFF"/>
      </a:accent3>
      <a:accent4>
        <a:srgbClr val="000000"/>
      </a:accent4>
      <a:accent5>
        <a:srgbClr val="ECF6FD"/>
      </a:accent5>
      <a:accent6>
        <a:srgbClr val="0E1171"/>
      </a:accent6>
      <a:hlink>
        <a:srgbClr val="ADDAF7"/>
      </a:hlink>
      <a:folHlink>
        <a:srgbClr val="3E7AB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704</TotalTime>
  <Words>2458</Words>
  <Application>Microsoft Office PowerPoint</Application>
  <PresentationFormat>On-screen Show (4:3)</PresentationFormat>
  <Paragraphs>300</Paragraphs>
  <Slides>32</Slides>
  <Notes>24</Notes>
  <HiddenSlides>2</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32</vt:i4>
      </vt:variant>
    </vt:vector>
  </HeadingPairs>
  <TitlesOfParts>
    <vt:vector size="42" baseType="lpstr">
      <vt:lpstr>Arial</vt:lpstr>
      <vt:lpstr>Arial Black</vt:lpstr>
      <vt:lpstr>Calibri</vt:lpstr>
      <vt:lpstr>Rockwell</vt:lpstr>
      <vt:lpstr>Times</vt:lpstr>
      <vt:lpstr>Times New Roman</vt:lpstr>
      <vt:lpstr>Verdana</vt:lpstr>
      <vt:lpstr>Office Theme</vt:lpstr>
      <vt:lpstr>1_Office Theme</vt:lpstr>
      <vt:lpstr>1_Sales Management 2015 Routledge</vt:lpstr>
      <vt:lpstr>PowerPoint Presentation</vt:lpstr>
      <vt:lpstr>Learning Objectives</vt:lpstr>
      <vt:lpstr>Learning Objectives</vt:lpstr>
      <vt:lpstr>PowerPoint Presentation</vt:lpstr>
      <vt:lpstr>Role of Sales Training in  Salesforce Socialization/Onboarding</vt:lpstr>
      <vt:lpstr>PowerPoint Presentation</vt:lpstr>
      <vt:lpstr>Sales Training as a Crucial Investment</vt:lpstr>
      <vt:lpstr>Sales Training as a Crucial Investment</vt:lpstr>
      <vt:lpstr>Managing the Sales Training Process</vt:lpstr>
      <vt:lpstr>PowerPoint Presentation</vt:lpstr>
      <vt:lpstr>Assess Training Needs: Various Methods</vt:lpstr>
      <vt:lpstr>PowerPoint Presentation</vt:lpstr>
      <vt:lpstr>PowerPoint Presentation</vt:lpstr>
      <vt:lpstr>PowerPoint Presentation</vt:lpstr>
      <vt:lpstr>PowerPoint Presentation</vt:lpstr>
      <vt:lpstr>Sales Training Topics for  Different Buyer Types</vt:lpstr>
      <vt:lpstr>Set Training Objectives… SMAC</vt:lpstr>
      <vt:lpstr>Set Training Objectives</vt:lpstr>
      <vt:lpstr>Evaluate Training Alternatives</vt:lpstr>
      <vt:lpstr>Evaluate Training Alternatives</vt:lpstr>
      <vt:lpstr>An Ethical Dilemma</vt:lpstr>
      <vt:lpstr>An Ethical Dilemma</vt:lpstr>
      <vt:lpstr>Training – Using Mobile</vt:lpstr>
      <vt:lpstr>PowerPoint Presentation</vt:lpstr>
      <vt:lpstr>Design the Sales Training Program</vt:lpstr>
      <vt:lpstr>Perform Sales Training</vt:lpstr>
      <vt:lpstr>PowerPoint Presentation</vt:lpstr>
      <vt:lpstr>Conduct Follow-Up and Evaluation</vt:lpstr>
      <vt:lpstr>Evaluating Training and  Development Programs</vt:lpstr>
      <vt:lpstr>Ethical and Legal Issues</vt:lpstr>
      <vt:lpstr>Ethically Troubling Situations</vt:lpstr>
      <vt:lpstr>Legal Reminders for Salespeople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Continual Development of the Salesforce:  Sales Training</dc:title>
  <dc:creator>chschwepker@gmail.com</dc:creator>
  <cp:lastModifiedBy>Selva, Jorge</cp:lastModifiedBy>
  <cp:revision>26</cp:revision>
  <dcterms:created xsi:type="dcterms:W3CDTF">2018-07-18T18:08:01Z</dcterms:created>
  <dcterms:modified xsi:type="dcterms:W3CDTF">2025-10-08T03:14:27Z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bbab825-a111-45e4-86a1-18cee0005896_Enabled">
    <vt:lpwstr>true</vt:lpwstr>
  </property>
  <property fmtid="{D5CDD505-2E9C-101B-9397-08002B2CF9AE}" pid="3" name="MSIP_Label_2bbab825-a111-45e4-86a1-18cee0005896_SetDate">
    <vt:lpwstr>2023-09-27T14:21:05Z</vt:lpwstr>
  </property>
  <property fmtid="{D5CDD505-2E9C-101B-9397-08002B2CF9AE}" pid="4" name="MSIP_Label_2bbab825-a111-45e4-86a1-18cee0005896_Method">
    <vt:lpwstr>Standard</vt:lpwstr>
  </property>
  <property fmtid="{D5CDD505-2E9C-101B-9397-08002B2CF9AE}" pid="5" name="MSIP_Label_2bbab825-a111-45e4-86a1-18cee0005896_Name">
    <vt:lpwstr>2bbab825-a111-45e4-86a1-18cee0005896</vt:lpwstr>
  </property>
  <property fmtid="{D5CDD505-2E9C-101B-9397-08002B2CF9AE}" pid="6" name="MSIP_Label_2bbab825-a111-45e4-86a1-18cee0005896_SiteId">
    <vt:lpwstr>2567d566-604c-408a-8a60-55d0dc9d9d6b</vt:lpwstr>
  </property>
  <property fmtid="{D5CDD505-2E9C-101B-9397-08002B2CF9AE}" pid="7" name="MSIP_Label_2bbab825-a111-45e4-86a1-18cee0005896_ActionId">
    <vt:lpwstr>75d3b720-bdfb-4462-90a5-6aa5110512ae</vt:lpwstr>
  </property>
  <property fmtid="{D5CDD505-2E9C-101B-9397-08002B2CF9AE}" pid="8" name="MSIP_Label_2bbab825-a111-45e4-86a1-18cee0005896_ContentBits">
    <vt:lpwstr>2</vt:lpwstr>
  </property>
  <property fmtid="{D5CDD505-2E9C-101B-9397-08002B2CF9AE}" pid="9" name="ClassificationContentMarkingFooterLocations">
    <vt:lpwstr>Office Theme:3\1_Office Theme:3\1_Sales Management 2015 Routledge:3</vt:lpwstr>
  </property>
  <property fmtid="{D5CDD505-2E9C-101B-9397-08002B2CF9AE}" pid="10" name="ClassificationContentMarkingFooterText">
    <vt:lpwstr>Information Classification: General</vt:lpwstr>
  </property>
</Properties>
</file>