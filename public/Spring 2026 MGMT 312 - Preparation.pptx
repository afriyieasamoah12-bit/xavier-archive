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notesMasterIdLst>
    <p:notesMasterId r:id="rId18"/>
  </p:notesMasterIdLst>
  <p:sldIdLst>
    <p:sldId id="258" r:id="rId2"/>
    <p:sldId id="306" r:id="rId3"/>
    <p:sldId id="307" r:id="rId4"/>
    <p:sldId id="308" r:id="rId5"/>
    <p:sldId id="271" r:id="rId6"/>
    <p:sldId id="274" r:id="rId7"/>
    <p:sldId id="293" r:id="rId8"/>
    <p:sldId id="295" r:id="rId9"/>
    <p:sldId id="309" r:id="rId10"/>
    <p:sldId id="297" r:id="rId11"/>
    <p:sldId id="300" r:id="rId12"/>
    <p:sldId id="301" r:id="rId13"/>
    <p:sldId id="310" r:id="rId14"/>
    <p:sldId id="303" r:id="rId15"/>
    <p:sldId id="319" r:id="rId16"/>
    <p:sldId id="320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234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21" autoAdjust="0"/>
    <p:restoredTop sz="94660"/>
  </p:normalViewPr>
  <p:slideViewPr>
    <p:cSldViewPr>
      <p:cViewPr varScale="1">
        <p:scale>
          <a:sx n="107" d="100"/>
          <a:sy n="107" d="100"/>
        </p:scale>
        <p:origin x="1758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3072B2-F8AE-43B3-BD97-E2EC9CC51E7D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53D468-6EF5-4C49-8DB3-DF1611BCF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621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53D468-6EF5-4C49-8DB3-DF1611BCF8D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4068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53D468-6EF5-4C49-8DB3-DF1611BCF8D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23893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53D468-6EF5-4C49-8DB3-DF1611BCF8D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46838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53D468-6EF5-4C49-8DB3-DF1611BCF8D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02935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53D468-6EF5-4C49-8DB3-DF1611BCF8D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36502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53D468-6EF5-4C49-8DB3-DF1611BCF8D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402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53D468-6EF5-4C49-8DB3-DF1611BCF8D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402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53D468-6EF5-4C49-8DB3-DF1611BCF8D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402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53D468-6EF5-4C49-8DB3-DF1611BCF8D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46458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53D468-6EF5-4C49-8DB3-DF1611BCF8D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32691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53D468-6EF5-4C49-8DB3-DF1611BCF8D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402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53D468-6EF5-4C49-8DB3-DF1611BCF8D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2127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53D468-6EF5-4C49-8DB3-DF1611BCF8D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39475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53D468-6EF5-4C49-8DB3-DF1611BCF8D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402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53D468-6EF5-4C49-8DB3-DF1611BCF8D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26015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53D468-6EF5-4C49-8DB3-DF1611BCF8D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3337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32680-4024-43EA-8035-0614013E83A5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1/19/2026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8514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9BF49-3A07-40BA-9BBA-E663501D39AF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1/19/2026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4046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14DEB-9D1E-49BA-B43C-B835B8D7A747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1/19/2026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2836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30CA-7FFF-4306-9214-7B7580902882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1/19/2026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6145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3C3F6-74B7-44C1-9CBE-95E3AA052BE3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1/19/2026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4975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DEBAD-1B65-499B-B30B-B30DBA97BFCE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1/19/2026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5548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407F1-3B8E-4FFB-9779-E9FD233CD721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1/19/2026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0625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38BDF-3186-48AB-8767-941C758F90F9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1/19/2026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3563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6CC83-C368-4FB2-9508-81CA2D369CA6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1/19/2026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3071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8CF0F-F8B5-4897-93C2-FDDACFCAAC72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1/19/2026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2847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5AEFB-17CE-4D83-986F-0AF580007747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1/19/2026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4718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6E39B6-0C38-40E8-86A4-436A675CD9C9}" type="datetime1">
              <a:rPr lang="en-US" smtClean="0">
                <a:solidFill>
                  <a:srgbClr val="632423">
                    <a:tint val="75000"/>
                  </a:srgbClr>
                </a:solidFill>
              </a:rPr>
              <a:t>1/19/2026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7129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1219200"/>
            <a:ext cx="8534400" cy="50292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C2340"/>
                </a:solidFill>
              </a:rPr>
              <a:t>NEGOTIATION AND CONFLICT MANAGEMENT</a:t>
            </a:r>
            <a:br>
              <a:rPr lang="en-US" sz="2800" b="1" dirty="0">
                <a:solidFill>
                  <a:srgbClr val="0C2340"/>
                </a:solidFill>
              </a:rPr>
            </a:br>
            <a:br>
              <a:rPr lang="en-US" sz="2800" dirty="0">
                <a:solidFill>
                  <a:srgbClr val="0C2340"/>
                </a:solidFill>
              </a:rPr>
            </a:br>
            <a:r>
              <a:rPr lang="en-US" sz="2800" dirty="0">
                <a:solidFill>
                  <a:srgbClr val="0C2340"/>
                </a:solidFill>
              </a:rPr>
              <a:t>Preparation (what to do before a negotiation)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1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530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457200"/>
            <a:ext cx="7315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Preparation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1188720"/>
            <a:ext cx="859536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Preparation is essential to successful negotiation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C234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Crucially, negotiators must move beyond the “fixed-pie” perception to realize the potential for a mixed-motive negotiation involving collaboration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Consider the value of the total relationship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C234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There are three components to successful preparation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Self-assessment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Assessment of the other party</a:t>
            </a: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Assessment of the situation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C234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All three components help you develop strategy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32423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32423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B2D119-4472-444A-BADD-4113D315726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32423">
                    <a:tint val="75000"/>
                  </a:srgbClr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32423">
                  <a:tint val="75000"/>
                </a:srgbClr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9325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457200"/>
            <a:ext cx="7315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Self-assessment – What do I want?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1188720"/>
            <a:ext cx="859536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What do I want?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What is your ideal outcome or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target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C234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Don’t aim too low or too high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C234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Work within the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context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C234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What are the industry and relationship norms that must be considered when planning?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B2D119-4472-444A-BADD-4113D315726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32423">
                    <a:tint val="75000"/>
                  </a:srgbClr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32423">
                  <a:tint val="75000"/>
                </a:srgbClr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058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457200"/>
            <a:ext cx="7315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Self-assessment – What are the issues?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1219200"/>
            <a:ext cx="859536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There are many issues to consider when determining what you want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C234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Consider every possible issue (not just the price)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How can issues be divided into sub-issues?</a:t>
            </a:r>
          </a:p>
          <a:p>
            <a:pPr marL="120015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Payment to supplier (when vs. how much?)</a:t>
            </a:r>
          </a:p>
          <a:p>
            <a:pPr marL="120015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Compensation (salary, bonus, flex work, moving expenses, etc.)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C234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How important is each issue to you?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Rank the issues (try to make subjective issues objective)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What issues are musts (non-negotiable)</a:t>
            </a:r>
          </a:p>
          <a:p>
            <a:pPr marL="120015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Plan how you will present and address these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Determine possible settlement points on the individual issues</a:t>
            </a:r>
          </a:p>
          <a:p>
            <a:pPr marL="120015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Understand industry and contextual norms</a:t>
            </a:r>
          </a:p>
          <a:p>
            <a:pPr marL="120015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C234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How might settlement points on the individual issues be negotiated in exchange for settlement points on other issues?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B2D119-4472-444A-BADD-4113D315726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32423">
                    <a:tint val="75000"/>
                  </a:srgbClr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32423">
                  <a:tint val="75000"/>
                </a:srgbClr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5320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5760" y="274320"/>
            <a:ext cx="7863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Self-assessment – What are my alternatives?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1188720"/>
            <a:ext cx="85953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What are my alternatives?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They should be determined and ranked prior to entering a negotiation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C234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BATNA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Best Alternative To a Negotiated Agreement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C234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Try to make your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BATNA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objective (quantify it)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It should be known and acknowledged at all times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B2D119-4472-444A-BADD-4113D315726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32423">
                    <a:tint val="75000"/>
                  </a:srgbClr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32423">
                  <a:tint val="75000"/>
                </a:srgbClr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0534" y="4477512"/>
            <a:ext cx="1783689" cy="2243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5439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274320" y="1188720"/>
            <a:ext cx="85953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Your BATNA may be time sensitive and change due to contextual changes, and it may improve or worsen as the situation changes.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If possible, seek alternatives which give you more power in the negotiation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C234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The better your BATNA, the more you can demand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C234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Do not forget your </a:t>
            </a:r>
            <a:r>
              <a:rPr lang="en-US" sz="2400" dirty="0" err="1">
                <a:solidFill>
                  <a:srgbClr val="0C2340"/>
                </a:solidFill>
              </a:rPr>
              <a:t>BATNA</a:t>
            </a:r>
            <a:r>
              <a:rPr lang="en-US" sz="2400" dirty="0">
                <a:solidFill>
                  <a:srgbClr val="0C2340"/>
                </a:solidFill>
              </a:rPr>
              <a:t>, and do not accept  an offer worse that your </a:t>
            </a:r>
            <a:r>
              <a:rPr lang="en-US" sz="2400" dirty="0" err="1">
                <a:solidFill>
                  <a:srgbClr val="0C2340"/>
                </a:solidFill>
              </a:rPr>
              <a:t>BATNA</a:t>
            </a:r>
            <a:endParaRPr lang="en-US" sz="2400" dirty="0">
              <a:solidFill>
                <a:srgbClr val="0C234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6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7863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C2340"/>
                </a:solidFill>
              </a:rPr>
              <a:t>Self-assessment – What are my alternatives?</a:t>
            </a:r>
          </a:p>
        </p:txBody>
      </p:sp>
    </p:spTree>
    <p:extLst>
      <p:ext uri="{BB962C8B-B14F-4D97-AF65-F5344CB8AC3E}">
        <p14:creationId xmlns:p14="http://schemas.microsoft.com/office/powerpoint/2010/main" val="227733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274320" y="1188720"/>
            <a:ext cx="859536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300" dirty="0">
                <a:solidFill>
                  <a:srgbClr val="0C2340"/>
                </a:solidFill>
              </a:rPr>
              <a:t>Your resistance (reservation) point is the worst agreement you are willing to accept before ending negotiations and resorting to your BATNA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300" dirty="0">
              <a:solidFill>
                <a:srgbClr val="0C234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300" dirty="0">
                <a:solidFill>
                  <a:srgbClr val="0C2340"/>
                </a:solidFill>
              </a:rPr>
              <a:t>In most cases, should be set slightly better than your </a:t>
            </a:r>
            <a:r>
              <a:rPr lang="en-US" sz="2300" dirty="0" err="1">
                <a:solidFill>
                  <a:srgbClr val="0C2340"/>
                </a:solidFill>
              </a:rPr>
              <a:t>BATNA</a:t>
            </a:r>
            <a:r>
              <a:rPr lang="en-US" sz="2300" dirty="0">
                <a:solidFill>
                  <a:srgbClr val="0C2340"/>
                </a:solidFill>
              </a:rPr>
              <a:t>*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300" dirty="0">
                <a:solidFill>
                  <a:srgbClr val="0C2340"/>
                </a:solidFill>
              </a:rPr>
              <a:t>Better = Higher or lower “numbers,” depending on your position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300" dirty="0">
                <a:solidFill>
                  <a:srgbClr val="0C2340"/>
                </a:solidFill>
              </a:rPr>
              <a:t>The more precise the better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300" dirty="0">
              <a:solidFill>
                <a:srgbClr val="0C234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300" dirty="0">
                <a:solidFill>
                  <a:srgbClr val="0C2340"/>
                </a:solidFill>
              </a:rPr>
              <a:t>*Consider all issues simultaneously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300" dirty="0">
                <a:solidFill>
                  <a:srgbClr val="0C2340"/>
                </a:solidFill>
              </a:rPr>
              <a:t>Risk costs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300" dirty="0">
                <a:solidFill>
                  <a:srgbClr val="0C2340"/>
                </a:solidFill>
              </a:rPr>
              <a:t>Switching costs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300" dirty="0">
              <a:solidFill>
                <a:srgbClr val="0C234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300" dirty="0">
                <a:solidFill>
                  <a:srgbClr val="0C2340"/>
                </a:solidFill>
              </a:rPr>
              <a:t>Without a set resistance point negotiators often make two mistakes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300" dirty="0">
                <a:solidFill>
                  <a:srgbClr val="0C2340"/>
                </a:solidFill>
              </a:rPr>
              <a:t>Accept inferior offers or reject superior offers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7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7863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C2340"/>
                </a:solidFill>
              </a:rPr>
              <a:t>Self-assessment – Setting a Resistance Point</a:t>
            </a:r>
          </a:p>
        </p:txBody>
      </p:sp>
    </p:spTree>
    <p:extLst>
      <p:ext uri="{BB962C8B-B14F-4D97-AF65-F5344CB8AC3E}">
        <p14:creationId xmlns:p14="http://schemas.microsoft.com/office/powerpoint/2010/main" val="4015939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274320" y="1188720"/>
            <a:ext cx="859536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u="sng" dirty="0">
                <a:solidFill>
                  <a:srgbClr val="0C2340"/>
                </a:solidFill>
              </a:rPr>
              <a:t>Buyer</a:t>
            </a:r>
            <a:r>
              <a:rPr lang="en-US" sz="2400" dirty="0">
                <a:solidFill>
                  <a:srgbClr val="0C2340"/>
                </a:solidFill>
              </a:rPr>
              <a:t> resistance point for the Sugar Bowl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C234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Current value is $4,000-$5,000 (consignment shop) or $6,000 (auction)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Sugar bowl  individually valued at $400-$1200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Complete set at auction is $8,000-$8500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Complete set valued at $10,000-$12,000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$3,000 in checking account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C234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Resistance point at $1200, $2500, $3000? Less? More?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Depends on many factors (e.g., risk propensity, ego, time, etc.)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8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7863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C2340"/>
                </a:solidFill>
              </a:rPr>
              <a:t>Self-assessment – Resistance Point Example</a:t>
            </a:r>
          </a:p>
        </p:txBody>
      </p:sp>
    </p:spTree>
    <p:extLst>
      <p:ext uri="{BB962C8B-B14F-4D97-AF65-F5344CB8AC3E}">
        <p14:creationId xmlns:p14="http://schemas.microsoft.com/office/powerpoint/2010/main" val="953781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274320" y="1188720"/>
            <a:ext cx="859536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Who are you negotiating with?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C234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Try to learn as much as possible about the other party</a:t>
            </a:r>
          </a:p>
          <a:p>
            <a:pPr marL="1257300" marR="0" lvl="2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Experience, position, personal connections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C234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Multiple people</a:t>
            </a:r>
          </a:p>
          <a:p>
            <a:pPr marL="1257300" marR="0" lvl="2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Do they agree? Does one of them have more authority?</a:t>
            </a:r>
          </a:p>
          <a:p>
            <a:pPr marL="1257300" marR="0" lvl="2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Who do you need to connect with and persuade?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C234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Are there more than two parties? </a:t>
            </a:r>
          </a:p>
          <a:p>
            <a:pPr marL="1257300" marR="0" lvl="2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Entrance, exit, coalition</a:t>
            </a:r>
          </a:p>
          <a:p>
            <a:pPr marL="1257300" marR="0" lvl="2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Know your power and position within the various scenarios</a:t>
            </a:r>
          </a:p>
          <a:p>
            <a:pPr marL="1714500" marR="0" lvl="3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What do you have to offer that others don’t?</a:t>
            </a:r>
          </a:p>
          <a:p>
            <a:pPr marL="1714500" marR="0" lvl="3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Who do you need to work with/ get on your side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B2D119-4472-444A-BADD-4113D315726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32423">
                    <a:tint val="75000"/>
                  </a:srgbClr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32423">
                  <a:tint val="75000"/>
                </a:srgbClr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7863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Preparation – The other side</a:t>
            </a:r>
          </a:p>
        </p:txBody>
      </p:sp>
    </p:spTree>
    <p:extLst>
      <p:ext uri="{BB962C8B-B14F-4D97-AF65-F5344CB8AC3E}">
        <p14:creationId xmlns:p14="http://schemas.microsoft.com/office/powerpoint/2010/main" val="3245996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274320" y="1188720"/>
            <a:ext cx="8595360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How important are the issues to the other side?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C234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Consider the issues you came up from their perspective</a:t>
            </a:r>
          </a:p>
          <a:p>
            <a:pPr marL="1200150" lvl="2" indent="-285750">
              <a:buFont typeface="Wingdings" panose="05000000000000000000" pitchFamily="2" charset="2"/>
              <a:buChar char="§"/>
              <a:defRPr/>
            </a:pPr>
            <a:r>
              <a:rPr lang="en-US" sz="2200" dirty="0">
                <a:solidFill>
                  <a:srgbClr val="0C2340"/>
                </a:solidFill>
              </a:rPr>
              <a:t>Payment to supplier (when vs. how much?)</a:t>
            </a:r>
          </a:p>
          <a:p>
            <a:pPr marL="1200150" lvl="2" indent="-285750">
              <a:buFont typeface="Wingdings" panose="05000000000000000000" pitchFamily="2" charset="2"/>
              <a:buChar char="§"/>
              <a:defRPr/>
            </a:pPr>
            <a:r>
              <a:rPr lang="en-US" sz="2200" dirty="0">
                <a:solidFill>
                  <a:srgbClr val="0C2340"/>
                </a:solidFill>
              </a:rPr>
              <a:t>Compensation (salary, bonus, flex work, moving expenses, etc.)</a:t>
            </a:r>
          </a:p>
          <a:p>
            <a:pPr marL="1257300" marR="0" lvl="2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What do they need? What can you show them they need?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C234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What tradeoffs in issue rankings might exist?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C234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0" i="0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Test assumptions and adjust throughout the negotiation</a:t>
            </a:r>
          </a:p>
          <a:p>
            <a:pPr marL="1257300" marR="0" lvl="2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Ask lots of questions and listen</a:t>
            </a:r>
          </a:p>
          <a:p>
            <a:pPr marL="1257300" marR="0" lvl="2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Are there any issues that are inflexible for the other party?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C234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What is the other side’s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BATNA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? Resistance point?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How many other alternatives do they have?</a:t>
            </a:r>
          </a:p>
          <a:p>
            <a:pPr marL="1257300" marR="0" lvl="2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C234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B2D119-4472-444A-BADD-4113D315726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32423">
                    <a:tint val="75000"/>
                  </a:srgbClr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32423">
                  <a:tint val="75000"/>
                </a:srgbClr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7863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Preparation – The other side</a:t>
            </a:r>
          </a:p>
        </p:txBody>
      </p:sp>
    </p:spTree>
    <p:extLst>
      <p:ext uri="{BB962C8B-B14F-4D97-AF65-F5344CB8AC3E}">
        <p14:creationId xmlns:p14="http://schemas.microsoft.com/office/powerpoint/2010/main" val="3784217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274320" y="1188720"/>
            <a:ext cx="859536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You should already know your resistance point. Once you have approximated the other party’s resistance point, you can formulate the bargaining zone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C234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The bargaining zone is the range between the two parties’ resistance points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It is comprised of all the mutually acceptable agreements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C234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Even though you are considering what the other party wants, remember to focus on </a:t>
            </a:r>
            <a:r>
              <a:rPr lang="en-US" sz="2400" b="1" i="1" dirty="0">
                <a:solidFill>
                  <a:srgbClr val="0C2340"/>
                </a:solidFill>
              </a:rPr>
              <a:t>your target </a:t>
            </a:r>
            <a:r>
              <a:rPr lang="en-US" sz="2400" dirty="0">
                <a:solidFill>
                  <a:srgbClr val="0C2340"/>
                </a:solidFill>
              </a:rPr>
              <a:t>(don’t forget what you want!)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How does it fit with your knowledge of the other party?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You want your target to be aggressive and close to the other party’s resistance point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C2340"/>
              </a:solidFill>
            </a:endParaRPr>
          </a:p>
          <a:p>
            <a:pPr marL="1257300" lvl="2" indent="-3429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C234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11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7863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C2340"/>
                </a:solidFill>
              </a:rPr>
              <a:t>Combining Your Side with the Other Side</a:t>
            </a:r>
          </a:p>
        </p:txBody>
      </p:sp>
    </p:spTree>
    <p:extLst>
      <p:ext uri="{BB962C8B-B14F-4D97-AF65-F5344CB8AC3E}">
        <p14:creationId xmlns:p14="http://schemas.microsoft.com/office/powerpoint/2010/main" val="666064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457200"/>
            <a:ext cx="7315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2060"/>
                </a:solidFill>
              </a:rPr>
              <a:t>Sugar Bowl Bargaining Zone (</a:t>
            </a:r>
            <a:r>
              <a:rPr lang="en-US" sz="3200" dirty="0" err="1">
                <a:solidFill>
                  <a:srgbClr val="002060"/>
                </a:solidFill>
              </a:rPr>
              <a:t>ZOPA</a:t>
            </a:r>
            <a:r>
              <a:rPr lang="en-US" sz="3200" dirty="0">
                <a:solidFill>
                  <a:srgbClr val="002060"/>
                </a:solidFill>
              </a:rPr>
              <a:t>)</a:t>
            </a:r>
          </a:p>
        </p:txBody>
      </p:sp>
      <p:sp>
        <p:nvSpPr>
          <p:cNvPr id="2" name="Rectangle 1"/>
          <p:cNvSpPr/>
          <p:nvPr/>
        </p:nvSpPr>
        <p:spPr>
          <a:xfrm>
            <a:off x="779659" y="2057400"/>
            <a:ext cx="5688622" cy="457200"/>
          </a:xfrm>
          <a:prstGeom prst="rect">
            <a:avLst/>
          </a:prstGeom>
          <a:solidFill>
            <a:srgbClr val="00B0F0"/>
          </a:solidFill>
          <a:ln w="317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Buyer’s bargaining range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1570627" y="4541585"/>
            <a:ext cx="6125645" cy="533400"/>
          </a:xfrm>
          <a:prstGeom prst="rect">
            <a:avLst/>
          </a:prstGeom>
          <a:solidFill>
            <a:srgbClr val="FF0000"/>
          </a:solidFill>
          <a:ln w="317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Seller’s bargaining range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779659" y="3501100"/>
            <a:ext cx="6916614" cy="0"/>
          </a:xfrm>
          <a:prstGeom prst="line">
            <a:avLst/>
          </a:prstGeom>
          <a:ln w="444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011081" y="3320125"/>
            <a:ext cx="0" cy="361950"/>
          </a:xfrm>
          <a:prstGeom prst="line">
            <a:avLst/>
          </a:prstGeom>
          <a:ln w="444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4334681" y="3215350"/>
            <a:ext cx="0" cy="571500"/>
          </a:xfrm>
          <a:prstGeom prst="line">
            <a:avLst/>
          </a:prstGeom>
          <a:ln w="444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79659" y="3215350"/>
            <a:ext cx="0" cy="571500"/>
          </a:xfrm>
          <a:prstGeom prst="line">
            <a:avLst/>
          </a:prstGeom>
          <a:ln w="444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7698202" y="3215350"/>
            <a:ext cx="0" cy="571500"/>
          </a:xfrm>
          <a:prstGeom prst="line">
            <a:avLst/>
          </a:prstGeom>
          <a:ln w="444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570629" y="3501099"/>
            <a:ext cx="0" cy="571500"/>
          </a:xfrm>
          <a:prstGeom prst="line">
            <a:avLst/>
          </a:prstGeom>
          <a:ln w="444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953807" y="2556485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$1500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910" y="283680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7407" y="2569735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$2500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47463" y="406313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$350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399" y="2831550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$3000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2582081" y="3320125"/>
            <a:ext cx="0" cy="361950"/>
          </a:xfrm>
          <a:prstGeom prst="line">
            <a:avLst/>
          </a:prstGeom>
          <a:ln w="444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6468281" y="2929600"/>
            <a:ext cx="0" cy="571500"/>
          </a:xfrm>
          <a:prstGeom prst="line">
            <a:avLst/>
          </a:prstGeom>
          <a:ln w="444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582138" y="2925817"/>
            <a:ext cx="4895723" cy="1146782"/>
          </a:xfrm>
          <a:prstGeom prst="rect">
            <a:avLst/>
          </a:prstGeom>
          <a:solidFill>
            <a:srgbClr val="00B050">
              <a:alpha val="39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Positive bargaining zone</a:t>
            </a:r>
          </a:p>
          <a:p>
            <a:pPr algn="ctr"/>
            <a:endParaRPr lang="en-US" dirty="0">
              <a:solidFill>
                <a:srgbClr val="000000"/>
              </a:solidFill>
            </a:endParaRPr>
          </a:p>
          <a:p>
            <a:pPr algn="ctr"/>
            <a:endParaRPr lang="en-US" dirty="0">
              <a:solidFill>
                <a:srgbClr val="000000"/>
              </a:solidFill>
            </a:endParaRPr>
          </a:p>
          <a:p>
            <a:pPr algn="ctr"/>
            <a:r>
              <a:rPr lang="en-US" dirty="0">
                <a:solidFill>
                  <a:srgbClr val="000000"/>
                </a:solidFill>
              </a:rPr>
              <a:t>Positive bargaining zone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 flipV="1">
            <a:off x="7696272" y="4808285"/>
            <a:ext cx="697719" cy="1"/>
          </a:xfrm>
          <a:prstGeom prst="straightConnector1">
            <a:avLst/>
          </a:prstGeom>
          <a:ln w="4445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12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3200" y="5334000"/>
            <a:ext cx="38300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Seller’s resistance/reservation point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961500" y="1447800"/>
            <a:ext cx="38604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Buyer’s resistance/reservation point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609600" y="4432466"/>
            <a:ext cx="685800" cy="901534"/>
          </a:xfrm>
          <a:prstGeom prst="straightConnector1">
            <a:avLst/>
          </a:prstGeom>
          <a:ln w="47625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6696881" y="1847910"/>
            <a:ext cx="389719" cy="640390"/>
          </a:xfrm>
          <a:prstGeom prst="straightConnector1">
            <a:avLst/>
          </a:prstGeom>
          <a:ln w="47625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" descr="Image result for negotiation">
            <a:extLst>
              <a:ext uri="{FF2B5EF4-FFF2-40B4-BE49-F238E27FC236}">
                <a16:creationId xmlns:a16="http://schemas.microsoft.com/office/drawing/2014/main" id="{A0A147D2-EC5A-43E3-94BE-6F6CEE4E1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4069" y="5154290"/>
            <a:ext cx="2247901" cy="149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3433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274320" y="1066800"/>
            <a:ext cx="859536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The situation can greatly affect a negotiation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C234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What strategies are appropriate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to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employ? How will information be presented?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C234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What is the relationship?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One-shot, multiple future agreements, existing?</a:t>
            </a:r>
          </a:p>
          <a:p>
            <a:pPr marL="1257300" marR="0" lvl="2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Is there a history? Is it expected to continue?</a:t>
            </a:r>
          </a:p>
          <a:p>
            <a:pPr marL="1257300" marR="0" lvl="2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Reputation for using certain tactics or styles?</a:t>
            </a:r>
          </a:p>
          <a:p>
            <a:pPr marL="1257300" marR="0" lvl="2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Trust in the individual or organization?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B2D119-4472-444A-BADD-4113D315726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32423">
                    <a:tint val="75000"/>
                  </a:srgbClr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32423">
                  <a:tint val="75000"/>
                </a:srgbClr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7863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Preparation – The situation</a:t>
            </a:r>
          </a:p>
        </p:txBody>
      </p:sp>
    </p:spTree>
    <p:extLst>
      <p:ext uri="{BB962C8B-B14F-4D97-AF65-F5344CB8AC3E}">
        <p14:creationId xmlns:p14="http://schemas.microsoft.com/office/powerpoint/2010/main" val="1506491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274320" y="1188720"/>
            <a:ext cx="859536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Are there time constraints/deadlines?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Does a party’s </a:t>
            </a:r>
            <a:r>
              <a:rPr lang="en-US" sz="2400" dirty="0" err="1">
                <a:solidFill>
                  <a:srgbClr val="0C2340"/>
                </a:solidFill>
              </a:rPr>
              <a:t>BATNA</a:t>
            </a:r>
            <a:r>
              <a:rPr lang="en-US" sz="2400" dirty="0">
                <a:solidFill>
                  <a:srgbClr val="0C2340"/>
                </a:solidFill>
              </a:rPr>
              <a:t> expire?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Are there time sensitivities?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Are you their last resort?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If one party needs the deal done quickly, then they are likely at a disadvantage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C234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Are there sensitive topics you should avoid? For both sides?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Cultural taboos, details that can’t be discussed legally, etc.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C2340"/>
                </a:solidFill>
              </a:rPr>
              <a:t>Avoid errors that could end the negotiation prematurely 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C234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C2340"/>
              </a:solidFill>
            </a:endParaRPr>
          </a:p>
          <a:p>
            <a:pPr marL="1257300" lvl="2" indent="-3429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C234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2D119-4472-444A-BADD-4113D315726F}" type="slidenum">
              <a:rPr lang="en-US" smtClean="0">
                <a:solidFill>
                  <a:srgbClr val="632423">
                    <a:tint val="75000"/>
                  </a:srgbClr>
                </a:solidFill>
              </a:rPr>
              <a:pPr/>
              <a:t>14</a:t>
            </a:fld>
            <a:endParaRPr lang="en-US" dirty="0">
              <a:solidFill>
                <a:srgbClr val="632423">
                  <a:tint val="75000"/>
                </a:srgb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7863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C2340"/>
                </a:solidFill>
              </a:rPr>
              <a:t>Preparation – The situation</a:t>
            </a:r>
          </a:p>
        </p:txBody>
      </p:sp>
    </p:spTree>
    <p:extLst>
      <p:ext uri="{BB962C8B-B14F-4D97-AF65-F5344CB8AC3E}">
        <p14:creationId xmlns:p14="http://schemas.microsoft.com/office/powerpoint/2010/main" val="1741119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274320" y="1188720"/>
            <a:ext cx="859536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Time and effort spent prior to a negotiation is strongly related with positive negotiation performance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C234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Allocate time to the three components of preparation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Self-assessment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Assessment of the other party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Assessment of the situation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C234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C234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1257300" marR="0" lvl="2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C234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B2D119-4472-444A-BADD-4113D315726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32423">
                    <a:tint val="75000"/>
                  </a:srgbClr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32423">
                  <a:tint val="75000"/>
                </a:srgbClr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7863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Preparation</a:t>
            </a:r>
          </a:p>
        </p:txBody>
      </p:sp>
      <p:pic>
        <p:nvPicPr>
          <p:cNvPr id="1026" name="Picture 2" descr="Preparing for Test Day - Global Education Placement Services">
            <a:extLst>
              <a:ext uri="{FF2B5EF4-FFF2-40B4-BE49-F238E27FC236}">
                <a16:creationId xmlns:a16="http://schemas.microsoft.com/office/drawing/2014/main" id="{788E2282-B8C7-4E11-8C8B-0D400B460F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2819400"/>
            <a:ext cx="3276600" cy="2179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4006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274320" y="1188720"/>
            <a:ext cx="859536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srgbClr val="0C2340"/>
                </a:solidFill>
              </a:rPr>
              <a:t>Aim to control the conversation</a:t>
            </a:r>
          </a:p>
          <a:p>
            <a:pPr marL="742950" lvl="1" indent="-285750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srgbClr val="0C2340"/>
                </a:solidFill>
              </a:rPr>
              <a:t>Direct what is introduced and when</a:t>
            </a:r>
          </a:p>
          <a:p>
            <a:pPr marL="742950" lvl="1" indent="-285750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srgbClr val="0C2340"/>
                </a:solidFill>
              </a:rPr>
              <a:t>Plan and adjust as necessary </a:t>
            </a:r>
          </a:p>
          <a:p>
            <a:pPr marL="1200150" lvl="2" indent="-285750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srgbClr val="0C2340"/>
                </a:solidFill>
              </a:rPr>
              <a:t>Use information from the other party as they provide it</a:t>
            </a:r>
          </a:p>
          <a:p>
            <a:pPr marL="342900" lvl="0" indent="-342900">
              <a:buFont typeface="Wingdings" panose="05000000000000000000" pitchFamily="2" charset="2"/>
              <a:buChar char="§"/>
              <a:defRPr/>
            </a:pPr>
            <a:endParaRPr lang="en-US" sz="2400" dirty="0">
              <a:solidFill>
                <a:srgbClr val="0C2340"/>
              </a:solidFill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C234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C234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1257300" marR="0" lvl="2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C234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B2D119-4472-444A-BADD-4113D315726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632423">
                    <a:tint val="75000"/>
                  </a:srgbClr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632423">
                  <a:tint val="75000"/>
                </a:srgbClr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7863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C23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Preparation</a:t>
            </a:r>
          </a:p>
        </p:txBody>
      </p:sp>
      <p:pic>
        <p:nvPicPr>
          <p:cNvPr id="3" name="Picture 2" descr="Everyone has a plan until they get punched in the face – Mike Tyson When I  first heard this quote, I thought – shouldn't you expect to get punched in  the face">
            <a:extLst>
              <a:ext uri="{FF2B5EF4-FFF2-40B4-BE49-F238E27FC236}">
                <a16:creationId xmlns:a16="http://schemas.microsoft.com/office/drawing/2014/main" id="{745DF19C-08E1-41C8-8A92-9514219EB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5789" y="2987823"/>
            <a:ext cx="3552421" cy="3152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8205495"/>
      </p:ext>
    </p:extLst>
  </p:cSld>
  <p:clrMapOvr>
    <a:masterClrMapping/>
  </p:clrMapOvr>
</p:sld>
</file>

<file path=ppt/theme/theme1.xml><?xml version="1.0" encoding="utf-8"?>
<a:theme xmlns:a="http://schemas.openxmlformats.org/drawingml/2006/main" name="fsu slide">
  <a:themeElements>
    <a:clrScheme name="Custom 1">
      <a:dk1>
        <a:srgbClr val="632423"/>
      </a:dk1>
      <a:lt1>
        <a:sysClr val="window" lastClr="FFFFFF"/>
      </a:lt1>
      <a:dk2>
        <a:srgbClr val="632423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esentations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1125</Words>
  <Application>Microsoft Office PowerPoint</Application>
  <PresentationFormat>On-screen Show (4:3)</PresentationFormat>
  <Paragraphs>199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Times New Roman</vt:lpstr>
      <vt:lpstr>Wingdings</vt:lpstr>
      <vt:lpstr>fsu slide</vt:lpstr>
      <vt:lpstr>NEGOTIATION AND CONFLICT MANAGEMENT  Preparation (what to do before a negotiation)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2023-10-12T14:36:45Z</dcterms:created>
  <dcterms:modified xsi:type="dcterms:W3CDTF">2026-01-19T13:49:51Z</dcterms:modified>
</cp:coreProperties>
</file>