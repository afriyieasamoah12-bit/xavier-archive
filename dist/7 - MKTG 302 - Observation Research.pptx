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72" r:id="rId3"/>
    <p:sldId id="463" r:id="rId4"/>
    <p:sldId id="482" r:id="rId5"/>
    <p:sldId id="483" r:id="rId6"/>
    <p:sldId id="484" r:id="rId7"/>
    <p:sldId id="485" r:id="rId8"/>
    <p:sldId id="486" r:id="rId9"/>
    <p:sldId id="487" r:id="rId10"/>
    <p:sldId id="488" r:id="rId11"/>
    <p:sldId id="489" r:id="rId12"/>
    <p:sldId id="490" r:id="rId13"/>
    <p:sldId id="491" r:id="rId14"/>
    <p:sldId id="492" r:id="rId15"/>
    <p:sldId id="493" r:id="rId16"/>
    <p:sldId id="494" r:id="rId17"/>
    <p:sldId id="495" r:id="rId18"/>
    <p:sldId id="271" r:id="rId19"/>
    <p:sldId id="266" r:id="rId20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9CC8"/>
    <a:srgbClr val="001541"/>
    <a:srgbClr val="BD707B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68"/>
    <p:restoredTop sz="94890"/>
  </p:normalViewPr>
  <p:slideViewPr>
    <p:cSldViewPr snapToGrid="0" snapToObjects="1" showGuides="1">
      <p:cViewPr varScale="1">
        <p:scale>
          <a:sx n="103" d="100"/>
          <a:sy n="103" d="100"/>
        </p:scale>
        <p:origin x="11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03FFF951-6D62-CB4E-866F-40E5C899BB84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134B82A-5292-FA40-A7FB-7C93D521E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660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963D65B7-7862-7F47-B99E-B3AB2843FF42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73892"/>
            <a:ext cx="5505450" cy="3660458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EEA2CE63-AE64-8646-9F3E-7DE0B8E53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1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72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74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D1152-3747-44EA-8878-040FC6E3DE7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11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228ef66f45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228ef66f45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45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2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31190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9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74295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8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3400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9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53400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0456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1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53400" y="6373545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69288" y="6373545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8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53746" y="6356349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349643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6DFB-264B-4D4C-9468-2A87659E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00734-FF99-944C-8656-684769A3B86B}" type="datetimeFigureOut">
              <a:rPr lang="en-US" smtClean="0"/>
              <a:t>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E6DFB-264B-4D4C-9468-2A87659E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3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rfUVt0fyK0" TargetMode="External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Hatmm84sqm0" TargetMode="Externa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7JCmcbl9Fo?feature=oembed" TargetMode="External"/><Relationship Id="rId4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8072" y="969962"/>
            <a:ext cx="9144000" cy="2706687"/>
          </a:xfrm>
        </p:spPr>
        <p:txBody>
          <a:bodyPr/>
          <a:lstStyle/>
          <a:p>
            <a:r>
              <a:rPr lang="en-US" b="1" dirty="0">
                <a:solidFill>
                  <a:srgbClr val="001541"/>
                </a:solidFill>
              </a:rPr>
              <a:t>Collecting Data by Observation</a:t>
            </a:r>
            <a:br>
              <a:rPr lang="en-US" b="1" dirty="0">
                <a:solidFill>
                  <a:srgbClr val="001541"/>
                </a:solidFill>
              </a:rPr>
            </a:br>
            <a:r>
              <a:rPr lang="en-US" sz="2400" b="1" dirty="0">
                <a:solidFill>
                  <a:srgbClr val="001541"/>
                </a:solidFill>
              </a:rPr>
              <a:t>Chapter 5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70857" y="3749447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rgbClr val="009CC8"/>
                </a:solidFill>
              </a:rPr>
              <a:t>MKTG 302-01</a:t>
            </a:r>
          </a:p>
          <a:p>
            <a:r>
              <a:rPr lang="en-US" b="1" dirty="0">
                <a:solidFill>
                  <a:srgbClr val="009CC8"/>
                </a:solidFill>
              </a:rPr>
              <a:t>Spring Semester, 2025</a:t>
            </a:r>
          </a:p>
          <a:p>
            <a:r>
              <a:rPr lang="en-US" b="1" dirty="0">
                <a:solidFill>
                  <a:srgbClr val="009CC8"/>
                </a:solidFill>
              </a:rPr>
              <a:t>Scott Beck</a:t>
            </a:r>
          </a:p>
        </p:txBody>
      </p:sp>
    </p:spTree>
    <p:extLst>
      <p:ext uri="{BB962C8B-B14F-4D97-AF65-F5344CB8AC3E}">
        <p14:creationId xmlns:p14="http://schemas.microsoft.com/office/powerpoint/2010/main" val="51856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716" y="669925"/>
            <a:ext cx="9154885" cy="1325563"/>
          </a:xfrm>
        </p:spPr>
        <p:txBody>
          <a:bodyPr/>
          <a:lstStyle/>
          <a:p>
            <a:r>
              <a:rPr lang="en-US" dirty="0">
                <a:solidFill>
                  <a:srgbClr val="001541"/>
                </a:solidFill>
                <a:latin typeface="+mn-lt"/>
              </a:rPr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716" y="2130425"/>
            <a:ext cx="9154885" cy="4351338"/>
          </a:xfrm>
        </p:spPr>
        <p:txBody>
          <a:bodyPr/>
          <a:lstStyle/>
          <a:p>
            <a:r>
              <a:rPr lang="en-US" dirty="0">
                <a:solidFill>
                  <a:srgbClr val="009CC8"/>
                </a:solidFill>
              </a:rPr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0819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762000"/>
            <a:ext cx="7848600" cy="9144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latin typeface="+mn-lt"/>
              </a:rPr>
              <a:t>Student Learning Objectives</a:t>
            </a:r>
          </a:p>
        </p:txBody>
      </p:sp>
      <p:sp>
        <p:nvSpPr>
          <p:cNvPr id="241667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524000"/>
            <a:ext cx="8579498" cy="5105400"/>
          </a:xfrm>
        </p:spPr>
        <p:txBody>
          <a:bodyPr>
            <a:normAutofit/>
          </a:bodyPr>
          <a:lstStyle/>
          <a:p>
            <a:endParaRPr lang="en-US" altLang="en-US" sz="2800" dirty="0"/>
          </a:p>
          <a:p>
            <a:r>
              <a:rPr lang="en-US" altLang="en-US" sz="2800" dirty="0"/>
              <a:t>You will deepen your knowledge on additional means of data collection.</a:t>
            </a:r>
          </a:p>
          <a:p>
            <a:r>
              <a:rPr lang="en-US" altLang="en-US" dirty="0"/>
              <a:t>You will learn means to conduct Observation Research.</a:t>
            </a:r>
          </a:p>
        </p:txBody>
      </p:sp>
    </p:spTree>
    <p:extLst>
      <p:ext uri="{BB962C8B-B14F-4D97-AF65-F5344CB8AC3E}">
        <p14:creationId xmlns:p14="http://schemas.microsoft.com/office/powerpoint/2010/main" val="319834899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1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1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7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Methods of Data Collection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286001" y="1564270"/>
            <a:ext cx="7391400" cy="27163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COMMUNICATION</a:t>
            </a:r>
          </a:p>
          <a:p>
            <a:pPr marL="457200" lvl="1" indent="0">
              <a:buNone/>
            </a:pPr>
            <a:r>
              <a:rPr lang="en-US" dirty="0"/>
              <a:t>A method of data collection involving questioning respondents to secure the desired information using a data collection instrument called a questionnaire.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86001" y="4191001"/>
            <a:ext cx="7552765" cy="218285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OBSERVATION</a:t>
            </a:r>
          </a:p>
          <a:p>
            <a:pPr marL="457200" lvl="1" indent="0">
              <a:buNone/>
            </a:pPr>
            <a:r>
              <a:rPr lang="en-US" dirty="0"/>
              <a:t>A method of data collection in which the situation of interest is watched and the relevant facts, actions, or behaviors are recorded.</a:t>
            </a:r>
          </a:p>
        </p:txBody>
      </p:sp>
    </p:spTree>
    <p:extLst>
      <p:ext uri="{BB962C8B-B14F-4D97-AF65-F5344CB8AC3E}">
        <p14:creationId xmlns:p14="http://schemas.microsoft.com/office/powerpoint/2010/main" val="383120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vs. 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2133600" y="2109151"/>
            <a:ext cx="8153400" cy="4495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ATTRIBUTE</a:t>
            </a:r>
            <a:r>
              <a:rPr lang="en-US" dirty="0"/>
              <a:t>	</a:t>
            </a:r>
            <a:r>
              <a:rPr lang="en-US" b="1" dirty="0"/>
              <a:t>Communication   Observation</a:t>
            </a:r>
          </a:p>
          <a:p>
            <a:pPr marL="0" indent="0">
              <a:buNone/>
            </a:pPr>
            <a:endParaRPr lang="en-US" sz="800" b="1" dirty="0"/>
          </a:p>
          <a:p>
            <a:pPr marL="0" indent="0">
              <a:buNone/>
            </a:pPr>
            <a:r>
              <a:rPr lang="en-US" dirty="0"/>
              <a:t>Versatility			</a:t>
            </a:r>
          </a:p>
          <a:p>
            <a:pPr marL="0" indent="0">
              <a:buNone/>
            </a:pPr>
            <a:r>
              <a:rPr lang="en-US" dirty="0"/>
              <a:t>Speed</a:t>
            </a:r>
          </a:p>
          <a:p>
            <a:pPr marL="0" indent="0">
              <a:buNone/>
            </a:pPr>
            <a:r>
              <a:rPr lang="en-US" dirty="0"/>
              <a:t>Cost</a:t>
            </a:r>
          </a:p>
          <a:p>
            <a:pPr marL="0" indent="0">
              <a:buNone/>
            </a:pPr>
            <a:r>
              <a:rPr lang="en-US" dirty="0"/>
              <a:t>Objectivity</a:t>
            </a:r>
          </a:p>
          <a:p>
            <a:pPr marL="0" indent="0">
              <a:buNone/>
            </a:pPr>
            <a:r>
              <a:rPr lang="en-US" dirty="0"/>
              <a:t>Accuracy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419600" y="2742492"/>
            <a:ext cx="651882" cy="1498527"/>
            <a:chOff x="6333570" y="2286000"/>
            <a:chExt cx="651882" cy="1498527"/>
          </a:xfrm>
        </p:grpSpPr>
        <p:pic>
          <p:nvPicPr>
            <p:cNvPr id="4098" name="Picture 2" descr="C:\Users\tomb\AppData\Local\Microsoft\Windows\Temporary Internet Files\Content.IE5\04704QNH\MC900432530[1]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3570" y="2286000"/>
              <a:ext cx="628820" cy="4317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 descr="C:\Users\tomb\AppData\Local\Microsoft\Windows\Temporary Internet Files\Content.IE5\04704QNH\MC900432530[1]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3570" y="2812569"/>
              <a:ext cx="628820" cy="4317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C:\Users\tomb\AppData\Local\Microsoft\Windows\Temporary Internet Files\Content.IE5\04704QNH\MC900432530[1]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6632" y="3352800"/>
              <a:ext cx="628820" cy="4317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" name="Picture 2" descr="C:\Users\tomb\AppData\Local\Microsoft\Windows\Temporary Internet Files\Content.IE5\04704QNH\MC900432530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011" y="4216473"/>
            <a:ext cx="628820" cy="43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:\Users\tomb\AppData\Local\Microsoft\Windows\Temporary Internet Files\Content.IE5\04704QNH\MC900432530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724" y="4648200"/>
            <a:ext cx="628820" cy="43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1695620" y="2618830"/>
            <a:ext cx="7848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768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447800" y="3276600"/>
            <a:ext cx="7690556" cy="19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Why Use Observation Research?</a:t>
            </a:r>
            <a:r>
              <a:rPr lang="en-US" sz="4400" dirty="0">
                <a:highlight>
                  <a:srgbClr val="FFFF00"/>
                </a:highlight>
                <a:latin typeface="+mn-lt"/>
              </a:rPr>
              <a:t> </a:t>
            </a:r>
            <a:endParaRPr lang="en-US" altLang="en-US" dirty="0"/>
          </a:p>
        </p:txBody>
      </p:sp>
      <p:sp>
        <p:nvSpPr>
          <p:cNvPr id="39940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1077196" y="2275114"/>
            <a:ext cx="8431763" cy="4495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Observation is often the best method for generating valid data about individuals’ behavior.</a:t>
            </a:r>
          </a:p>
          <a:p>
            <a:pPr marL="0" indent="0">
              <a:buNone/>
            </a:pPr>
            <a:endParaRPr lang="en-US" altLang="en-US" sz="1400" dirty="0"/>
          </a:p>
          <a:p>
            <a:pPr lvl="1" eaLnBrk="1" hangingPunct="1">
              <a:lnSpc>
                <a:spcPct val="90000"/>
              </a:lnSpc>
              <a:buFont typeface="Arial" pitchFamily="34" charset="0"/>
              <a:buNone/>
            </a:pPr>
            <a:r>
              <a:rPr lang="en-US" altLang="en-US" sz="2800" dirty="0"/>
              <a:t>	</a:t>
            </a:r>
            <a:r>
              <a:rPr lang="en-US" altLang="en-US" sz="2400" dirty="0">
                <a:solidFill>
                  <a:schemeClr val="bg1"/>
                </a:solidFill>
              </a:rPr>
              <a:t>For example, using communication methods we can ask a consumer to estimate how many jars of peanut butter he purchased at a particular store in the past year. With observation research, we can KNOW how many jars he purchased at that store in the past year.</a:t>
            </a:r>
          </a:p>
        </p:txBody>
      </p:sp>
    </p:spTree>
    <p:extLst>
      <p:ext uri="{BB962C8B-B14F-4D97-AF65-F5344CB8AC3E}">
        <p14:creationId xmlns:p14="http://schemas.microsoft.com/office/powerpoint/2010/main" val="39725247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/>
              <a:t>Key Issues for Collecting Information by Observation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112394"/>
            <a:ext cx="6734175" cy="429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88026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1905000" y="2667000"/>
            <a:ext cx="7620000" cy="1295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3600" dirty="0"/>
              <a:t>The degree of standardization used with the data collection instrument.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6885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Structured Observation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1295400" y="1905000"/>
            <a:ext cx="9829800" cy="4343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Method of observation in which the phenomena to be observed (typically behaviors) can be defined precisely along with the categories used to record the phenomena.</a:t>
            </a: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1870075" y="4822825"/>
            <a:ext cx="8313738" cy="467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28" tIns="40813" rIns="81628" bIns="40813">
            <a:spAutoFit/>
          </a:bodyPr>
          <a:lstStyle>
            <a:lvl1pPr defTabSz="815975"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815975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815975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815975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815975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815975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815975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815975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815975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2500">
              <a:latin typeface="Arial" pitchFamily="34" charset="0"/>
            </a:endParaRPr>
          </a:p>
        </p:txBody>
      </p:sp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938" y="3422443"/>
            <a:ext cx="8704011" cy="3267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267327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Unstructured Observation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1024128" y="2004086"/>
            <a:ext cx="10177272" cy="449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Method of observation in which the researcher has a great deal of flexibility in terms of what to note and record.</a:t>
            </a:r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051" y="3243924"/>
            <a:ext cx="7896225" cy="325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196867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1959864" y="2743200"/>
            <a:ext cx="8022336" cy="1752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sz="3600" dirty="0"/>
              <a:t>The amount of knowledge people have about a study in which they are participating.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Disguise</a:t>
            </a:r>
          </a:p>
        </p:txBody>
      </p:sp>
    </p:spTree>
    <p:extLst>
      <p:ext uri="{BB962C8B-B14F-4D97-AF65-F5344CB8AC3E}">
        <p14:creationId xmlns:p14="http://schemas.microsoft.com/office/powerpoint/2010/main" val="90445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209800" y="2895600"/>
            <a:ext cx="56388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Disguised vs. Undisguised Observation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1371600" y="2209800"/>
            <a:ext cx="8153400" cy="44958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With </a:t>
            </a:r>
            <a:r>
              <a:rPr lang="en-US" altLang="en-US" sz="2400" b="1" dirty="0">
                <a:solidFill>
                  <a:schemeClr val="tx2"/>
                </a:solidFill>
              </a:rPr>
              <a:t>disguised observation</a:t>
            </a:r>
            <a:r>
              <a:rPr lang="en-US" altLang="en-US" sz="2400" dirty="0"/>
              <a:t>, subjects are not aware that they are being observed.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sz="2400" dirty="0"/>
              <a:t>		      </a:t>
            </a:r>
            <a:r>
              <a:rPr lang="en-US" altLang="en-US" sz="2400" dirty="0">
                <a:solidFill>
                  <a:schemeClr val="bg1"/>
                </a:solidFill>
              </a:rPr>
              <a:t>Ethical considerations </a:t>
            </a:r>
            <a:r>
              <a:rPr lang="en-US" altLang="en-US" sz="2400" dirty="0">
                <a:solidFill>
                  <a:schemeClr val="bg1"/>
                </a:solidFill>
                <a:sym typeface="Wingdings" pitchFamily="2" charset="2"/>
              </a:rPr>
              <a:t> Debriefing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With </a:t>
            </a:r>
            <a:r>
              <a:rPr lang="en-US" altLang="en-US" sz="2400" b="1" dirty="0">
                <a:solidFill>
                  <a:schemeClr val="tx2"/>
                </a:solidFill>
              </a:rPr>
              <a:t>undisguised observation</a:t>
            </a:r>
            <a:r>
              <a:rPr lang="en-US" altLang="en-US" sz="2400" dirty="0"/>
              <a:t>, subjects are aware that they are being observed.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1500" y="4648201"/>
            <a:ext cx="3810000" cy="120032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Why does it matter if the observation is disguised or not?</a:t>
            </a:r>
          </a:p>
        </p:txBody>
      </p:sp>
    </p:spTree>
    <p:extLst>
      <p:ext uri="{BB962C8B-B14F-4D97-AF65-F5344CB8AC3E}">
        <p14:creationId xmlns:p14="http://schemas.microsoft.com/office/powerpoint/2010/main" val="24074824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Mystery Shopping: </a:t>
            </a:r>
            <a:br>
              <a:rPr lang="en-US" sz="4000" dirty="0"/>
            </a:br>
            <a:r>
              <a:rPr lang="en-US" sz="4000" dirty="0"/>
              <a:t>Disguised Observation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1991379"/>
            <a:ext cx="2909887" cy="4094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286000" y="2667000"/>
            <a:ext cx="4267200" cy="27432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>
                <a:hlinkClick r:id="rId3"/>
              </a:rPr>
              <a:t>Mystery shoppers </a:t>
            </a:r>
            <a:r>
              <a:rPr lang="en-US" altLang="en-US" sz="2400" dirty="0"/>
              <a:t>might be used to gauge the aesthetics and appeal of baked goods displays or check out customer service.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62200" y="4343401"/>
            <a:ext cx="3810000" cy="120032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Has anyone worked a job where they were mystery shopped?</a:t>
            </a:r>
          </a:p>
        </p:txBody>
      </p:sp>
    </p:spTree>
    <p:extLst>
      <p:ext uri="{BB962C8B-B14F-4D97-AF65-F5344CB8AC3E}">
        <p14:creationId xmlns:p14="http://schemas.microsoft.com/office/powerpoint/2010/main" val="4267745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Natural Setting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1371600" y="2362200"/>
            <a:ext cx="10134600" cy="4038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Subjects are observed in the environment where the behavior normally takes place.</a:t>
            </a:r>
          </a:p>
          <a:p>
            <a:pPr lvl="1" eaLnBrk="1" hangingPunct="1"/>
            <a:endParaRPr lang="en-US" altLang="en-US" sz="2800" dirty="0"/>
          </a:p>
          <a:p>
            <a:pPr lvl="1" eaLnBrk="1" hangingPunct="1"/>
            <a:r>
              <a:rPr lang="en-US" altLang="en-US" sz="2800" dirty="0"/>
              <a:t>Shopping in a store</a:t>
            </a:r>
          </a:p>
          <a:p>
            <a:pPr lvl="1" eaLnBrk="1" hangingPunct="1"/>
            <a:r>
              <a:rPr lang="en-US" altLang="en-US" sz="2800" dirty="0"/>
              <a:t>Using or consuming a product at home</a:t>
            </a:r>
          </a:p>
        </p:txBody>
      </p:sp>
    </p:spTree>
    <p:extLst>
      <p:ext uri="{BB962C8B-B14F-4D97-AF65-F5344CB8AC3E}">
        <p14:creationId xmlns:p14="http://schemas.microsoft.com/office/powerpoint/2010/main" val="205721524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Contrived Setting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1295400" y="2084832"/>
            <a:ext cx="9677400" cy="449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Subjects are observed in an environment that has been specially designed for recording their behavior.</a:t>
            </a:r>
          </a:p>
          <a:p>
            <a:pPr eaLnBrk="1" hangingPunct="1"/>
            <a:endParaRPr lang="en-US" altLang="en-US" sz="3200" dirty="0"/>
          </a:p>
          <a:p>
            <a:pPr lvl="1" eaLnBrk="1" hangingPunct="1"/>
            <a:r>
              <a:rPr lang="en-US" altLang="en-US" sz="2800" dirty="0"/>
              <a:t>“fake” store</a:t>
            </a:r>
          </a:p>
          <a:p>
            <a:pPr lvl="1" eaLnBrk="1" hangingPunct="1"/>
            <a:r>
              <a:rPr lang="en-US" altLang="en-US" sz="2800" dirty="0"/>
              <a:t>computer simulation</a:t>
            </a:r>
          </a:p>
        </p:txBody>
      </p:sp>
    </p:spTree>
    <p:extLst>
      <p:ext uri="{BB962C8B-B14F-4D97-AF65-F5344CB8AC3E}">
        <p14:creationId xmlns:p14="http://schemas.microsoft.com/office/powerpoint/2010/main" val="51346109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400" dirty="0"/>
              <a:t>Human vs. Mechanical Observation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1143000" y="2079968"/>
            <a:ext cx="10287000" cy="449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With </a:t>
            </a:r>
            <a:r>
              <a:rPr lang="en-US" altLang="en-US" sz="3200" b="1" dirty="0">
                <a:solidFill>
                  <a:schemeClr val="tx2"/>
                </a:solidFill>
              </a:rPr>
              <a:t>human observation</a:t>
            </a:r>
            <a:r>
              <a:rPr lang="en-US" altLang="en-US" sz="3200" dirty="0"/>
              <a:t>, individuals are trained to systematically observe a phenomenon and to record on the observational form the specific events that take place.</a:t>
            </a:r>
          </a:p>
          <a:p>
            <a:pPr eaLnBrk="1" hangingPunct="1"/>
            <a:endParaRPr lang="en-US" altLang="en-US" sz="3200" dirty="0"/>
          </a:p>
          <a:p>
            <a:pPr eaLnBrk="1" hangingPunct="1"/>
            <a:r>
              <a:rPr lang="en-US" altLang="en-US" sz="3200" dirty="0"/>
              <a:t>With </a:t>
            </a:r>
            <a:r>
              <a:rPr lang="en-US" altLang="en-US" sz="3200" b="1" dirty="0">
                <a:solidFill>
                  <a:schemeClr val="tx2"/>
                </a:solidFill>
                <a:hlinkClick r:id="rId2"/>
              </a:rPr>
              <a:t>electrical or mechanical observation</a:t>
            </a:r>
            <a:r>
              <a:rPr lang="en-US" altLang="en-US" sz="3200" dirty="0"/>
              <a:t>, an electrical or mechanical device observes a phenomenon and records the events that take place.</a:t>
            </a:r>
          </a:p>
        </p:txBody>
      </p:sp>
    </p:spTree>
    <p:extLst>
      <p:ext uri="{BB962C8B-B14F-4D97-AF65-F5344CB8AC3E}">
        <p14:creationId xmlns:p14="http://schemas.microsoft.com/office/powerpoint/2010/main" val="387970186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400" dirty="0"/>
              <a:t>Examples of Mechanical Observation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1295400" y="2023223"/>
            <a:ext cx="8153400" cy="44958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Video cameras</a:t>
            </a:r>
          </a:p>
          <a:p>
            <a:pPr eaLnBrk="1" hangingPunct="1"/>
            <a:r>
              <a:rPr lang="en-US" altLang="en-US" sz="2800" dirty="0"/>
              <a:t>Bar code scanners</a:t>
            </a:r>
          </a:p>
          <a:p>
            <a:pPr eaLnBrk="1" hangingPunct="1"/>
            <a:r>
              <a:rPr lang="en-US" altLang="en-US" sz="2800" dirty="0"/>
              <a:t>Response latency</a:t>
            </a:r>
          </a:p>
          <a:p>
            <a:pPr eaLnBrk="1" hangingPunct="1"/>
            <a:r>
              <a:rPr lang="en-US" altLang="en-US" sz="2800" dirty="0"/>
              <a:t>Galvanometer</a:t>
            </a:r>
          </a:p>
          <a:p>
            <a:pPr eaLnBrk="1" hangingPunct="1"/>
            <a:r>
              <a:rPr lang="en-US" altLang="en-US" sz="2800" dirty="0"/>
              <a:t>Voice-pitch analysis</a:t>
            </a:r>
          </a:p>
          <a:p>
            <a:pPr eaLnBrk="1" hangingPunct="1"/>
            <a:r>
              <a:rPr lang="en-US" altLang="en-US" sz="2800" dirty="0"/>
              <a:t>Eye camera</a:t>
            </a:r>
          </a:p>
          <a:p>
            <a:pPr eaLnBrk="1" hangingPunct="1"/>
            <a:r>
              <a:rPr lang="en-US" altLang="en-US" sz="2800" dirty="0"/>
              <a:t>Eye tracking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695" y="2362200"/>
            <a:ext cx="2776537" cy="3409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368097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>
            <a:spLocks noGrp="1"/>
          </p:cNvSpPr>
          <p:nvPr>
            <p:ph type="title"/>
          </p:nvPr>
        </p:nvSpPr>
        <p:spPr>
          <a:xfrm>
            <a:off x="1013490" y="469125"/>
            <a:ext cx="10515600" cy="1325600"/>
          </a:xfrm>
          <a:prstGeom prst="rect">
            <a:avLst/>
          </a:prstGeom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Times New Roman"/>
              </a:rPr>
              <a:t>Examples of Observation Research</a:t>
            </a:r>
            <a:endParaRPr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  <a:sym typeface="Times New Roman"/>
            </a:endParaRPr>
          </a:p>
        </p:txBody>
      </p:sp>
      <p:sp>
        <p:nvSpPr>
          <p:cNvPr id="238" name="Google Shape;238;p28"/>
          <p:cNvSpPr txBox="1"/>
          <p:nvPr/>
        </p:nvSpPr>
        <p:spPr>
          <a:xfrm>
            <a:off x="1589464" y="2906094"/>
            <a:ext cx="3223200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 i="1" dirty="0">
                <a:latin typeface="Calibri"/>
                <a:ea typeface="Calibri"/>
                <a:cs typeface="Calibri"/>
                <a:sym typeface="Calibri"/>
              </a:rPr>
              <a:t>A Video Advertisement Example of Promoting the  Fioptics District Rooftop incorporating Observation Research</a:t>
            </a:r>
            <a:endParaRPr sz="2400"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8"/>
          <p:cNvSpPr/>
          <p:nvPr/>
        </p:nvSpPr>
        <p:spPr>
          <a:xfrm>
            <a:off x="4812664" y="3282693"/>
            <a:ext cx="1194000" cy="35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E2F2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3" name="Online Media 2" descr="Reds Project Example">
            <a:hlinkClick r:id="" action="ppaction://media"/>
            <a:extLst>
              <a:ext uri="{FF2B5EF4-FFF2-40B4-BE49-F238E27FC236}">
                <a16:creationId xmlns:a16="http://schemas.microsoft.com/office/drawing/2014/main" id="{1B3A0B01-B775-6940-1CA9-6C2CC22DBC7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193230" y="2503560"/>
            <a:ext cx="3386667" cy="19134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6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XU_PPTtemplate2" id="{0469F02D-B852-2749-917C-AD4BF6465C21}" vid="{F25CEA40-8609-7F4F-BE1D-8B08452F0A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xu-powerpoint-template3</Template>
  <TotalTime>1232</TotalTime>
  <Words>508</Words>
  <Application>Microsoft Office PowerPoint</Application>
  <PresentationFormat>Widescreen</PresentationFormat>
  <Paragraphs>73</Paragraphs>
  <Slides>19</Slides>
  <Notes>5</Notes>
  <HiddenSlides>1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Collecting Data by Observation Chapter 5</vt:lpstr>
      <vt:lpstr>Click to add title</vt:lpstr>
      <vt:lpstr>Student Learning Objectives</vt:lpstr>
      <vt:lpstr>Two Methods of Data Collection</vt:lpstr>
      <vt:lpstr>Communication vs. Observation</vt:lpstr>
      <vt:lpstr>Why Use Observation Research? </vt:lpstr>
      <vt:lpstr>Key Issues for Collecting Information by Observation</vt:lpstr>
      <vt:lpstr>Structure</vt:lpstr>
      <vt:lpstr>Structured Observation</vt:lpstr>
      <vt:lpstr>Unstructured Observation</vt:lpstr>
      <vt:lpstr>Disguise</vt:lpstr>
      <vt:lpstr>Disguised vs. Undisguised Observation</vt:lpstr>
      <vt:lpstr>Mystery Shopping:  Disguised Observation</vt:lpstr>
      <vt:lpstr>Natural Setting</vt:lpstr>
      <vt:lpstr>Contrived Setting</vt:lpstr>
      <vt:lpstr>Human vs. Mechanical Observation</vt:lpstr>
      <vt:lpstr>Examples of Mechanical Observation</vt:lpstr>
      <vt:lpstr>Examples of Observation Research</vt:lpstr>
      <vt:lpstr>PowerPoint Presentation</vt:lpstr>
    </vt:vector>
  </TitlesOfParts>
  <Company>Xavier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Strategy</dc:title>
  <dc:creator>Beck, Scott</dc:creator>
  <cp:lastModifiedBy>Beck, Scott</cp:lastModifiedBy>
  <cp:revision>75</cp:revision>
  <cp:lastPrinted>2020-08-26T16:29:50Z</cp:lastPrinted>
  <dcterms:created xsi:type="dcterms:W3CDTF">2020-06-29T15:54:52Z</dcterms:created>
  <dcterms:modified xsi:type="dcterms:W3CDTF">2025-02-06T12:57:34Z</dcterms:modified>
</cp:coreProperties>
</file>