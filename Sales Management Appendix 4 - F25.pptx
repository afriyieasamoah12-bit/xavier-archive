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 id="2147483687" r:id="rId2"/>
  </p:sldMasterIdLst>
  <p:notesMasterIdLst>
    <p:notesMasterId r:id="rId24"/>
  </p:notesMasterIdLst>
  <p:sldIdLst>
    <p:sldId id="337" r:id="rId3"/>
    <p:sldId id="306" r:id="rId4"/>
    <p:sldId id="327" r:id="rId5"/>
    <p:sldId id="307" r:id="rId6"/>
    <p:sldId id="308" r:id="rId7"/>
    <p:sldId id="309" r:id="rId8"/>
    <p:sldId id="310" r:id="rId9"/>
    <p:sldId id="311" r:id="rId10"/>
    <p:sldId id="312" r:id="rId11"/>
    <p:sldId id="330" r:id="rId12"/>
    <p:sldId id="313" r:id="rId13"/>
    <p:sldId id="314" r:id="rId14"/>
    <p:sldId id="326" r:id="rId15"/>
    <p:sldId id="315" r:id="rId16"/>
    <p:sldId id="316" r:id="rId17"/>
    <p:sldId id="317" r:id="rId18"/>
    <p:sldId id="318" r:id="rId19"/>
    <p:sldId id="328" r:id="rId20"/>
    <p:sldId id="329" r:id="rId21"/>
    <p:sldId id="338" r:id="rId22"/>
    <p:sldId id="339" r:id="rId2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a:ea typeface="+mn-ea"/>
        <a:cs typeface="+mn-cs"/>
      </a:defRPr>
    </a:lvl1pPr>
    <a:lvl2pPr marL="457200" algn="l" rtl="0" eaLnBrk="0" fontAlgn="base" hangingPunct="0">
      <a:spcBef>
        <a:spcPct val="0"/>
      </a:spcBef>
      <a:spcAft>
        <a:spcPct val="0"/>
      </a:spcAft>
      <a:defRPr sz="2400" kern="1200">
        <a:solidFill>
          <a:schemeClr val="tx1"/>
        </a:solidFill>
        <a:latin typeface="Times"/>
        <a:ea typeface="+mn-ea"/>
        <a:cs typeface="+mn-cs"/>
      </a:defRPr>
    </a:lvl2pPr>
    <a:lvl3pPr marL="914400" algn="l" rtl="0" eaLnBrk="0" fontAlgn="base" hangingPunct="0">
      <a:spcBef>
        <a:spcPct val="0"/>
      </a:spcBef>
      <a:spcAft>
        <a:spcPct val="0"/>
      </a:spcAft>
      <a:defRPr sz="2400" kern="1200">
        <a:solidFill>
          <a:schemeClr val="tx1"/>
        </a:solidFill>
        <a:latin typeface="Times"/>
        <a:ea typeface="+mn-ea"/>
        <a:cs typeface="+mn-cs"/>
      </a:defRPr>
    </a:lvl3pPr>
    <a:lvl4pPr marL="1371600" algn="l" rtl="0" eaLnBrk="0" fontAlgn="base" hangingPunct="0">
      <a:spcBef>
        <a:spcPct val="0"/>
      </a:spcBef>
      <a:spcAft>
        <a:spcPct val="0"/>
      </a:spcAft>
      <a:defRPr sz="2400" kern="1200">
        <a:solidFill>
          <a:schemeClr val="tx1"/>
        </a:solidFill>
        <a:latin typeface="Times"/>
        <a:ea typeface="+mn-ea"/>
        <a:cs typeface="+mn-cs"/>
      </a:defRPr>
    </a:lvl4pPr>
    <a:lvl5pPr marL="1828800" algn="l" rtl="0" eaLnBrk="0" fontAlgn="base" hangingPunct="0">
      <a:spcBef>
        <a:spcPct val="0"/>
      </a:spcBef>
      <a:spcAft>
        <a:spcPct val="0"/>
      </a:spcAft>
      <a:defRPr sz="2400" kern="1200">
        <a:solidFill>
          <a:schemeClr val="tx1"/>
        </a:solidFill>
        <a:latin typeface="Times"/>
        <a:ea typeface="+mn-ea"/>
        <a:cs typeface="+mn-cs"/>
      </a:defRPr>
    </a:lvl5pPr>
    <a:lvl6pPr marL="2286000" algn="l" defTabSz="914400" rtl="0" eaLnBrk="1" latinLnBrk="0" hangingPunct="1">
      <a:defRPr sz="2400" kern="1200">
        <a:solidFill>
          <a:schemeClr val="tx1"/>
        </a:solidFill>
        <a:latin typeface="Times"/>
        <a:ea typeface="+mn-ea"/>
        <a:cs typeface="+mn-cs"/>
      </a:defRPr>
    </a:lvl6pPr>
    <a:lvl7pPr marL="2743200" algn="l" defTabSz="914400" rtl="0" eaLnBrk="1" latinLnBrk="0" hangingPunct="1">
      <a:defRPr sz="2400" kern="1200">
        <a:solidFill>
          <a:schemeClr val="tx1"/>
        </a:solidFill>
        <a:latin typeface="Times"/>
        <a:ea typeface="+mn-ea"/>
        <a:cs typeface="+mn-cs"/>
      </a:defRPr>
    </a:lvl7pPr>
    <a:lvl8pPr marL="3200400" algn="l" defTabSz="914400" rtl="0" eaLnBrk="1" latinLnBrk="0" hangingPunct="1">
      <a:defRPr sz="2400" kern="1200">
        <a:solidFill>
          <a:schemeClr val="tx1"/>
        </a:solidFill>
        <a:latin typeface="Times"/>
        <a:ea typeface="+mn-ea"/>
        <a:cs typeface="+mn-cs"/>
      </a:defRPr>
    </a:lvl8pPr>
    <a:lvl9pPr marL="3657600" algn="l" defTabSz="914400" rtl="0" eaLnBrk="1" latinLnBrk="0" hangingPunct="1">
      <a:defRPr sz="2400" kern="1200">
        <a:solidFill>
          <a:schemeClr val="tx1"/>
        </a:solidFill>
        <a:latin typeface="Times"/>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3E"/>
    <a:srgbClr val="FF7979"/>
    <a:srgbClr val="000000"/>
    <a:srgbClr val="009530"/>
    <a:srgbClr val="044C04"/>
    <a:srgbClr val="AE1C34"/>
    <a:srgbClr val="FF5C00"/>
    <a:srgbClr val="6E20A0"/>
    <a:srgbClr val="11147D"/>
    <a:srgbClr val="BBC7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27" autoAdjust="0"/>
    <p:restoredTop sz="79976" autoAdjust="0"/>
  </p:normalViewPr>
  <p:slideViewPr>
    <p:cSldViewPr>
      <p:cViewPr varScale="1">
        <p:scale>
          <a:sx n="61" d="100"/>
          <a:sy n="61" d="100"/>
        </p:scale>
        <p:origin x="1512" y="5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lva, Jorge" userId="c1a77cdc-26a4-48a1-b565-b21e42cdab32" providerId="ADAL" clId="{99E80928-CB7E-4D68-89A9-E317AEBCDACB}"/>
    <pc:docChg chg="undo custSel addSld delSld modSld">
      <pc:chgData name="Selva, Jorge" userId="c1a77cdc-26a4-48a1-b565-b21e42cdab32" providerId="ADAL" clId="{99E80928-CB7E-4D68-89A9-E317AEBCDACB}" dt="2025-02-10T16:50:22.788" v="1301" actId="20577"/>
      <pc:docMkLst>
        <pc:docMk/>
      </pc:docMkLst>
      <pc:sldChg chg="modSp mod modNotesTx">
        <pc:chgData name="Selva, Jorge" userId="c1a77cdc-26a4-48a1-b565-b21e42cdab32" providerId="ADAL" clId="{99E80928-CB7E-4D68-89A9-E317AEBCDACB}" dt="2025-02-10T06:21:10.791" v="1094" actId="115"/>
        <pc:sldMkLst>
          <pc:docMk/>
          <pc:sldMk cId="2612663442" sldId="306"/>
        </pc:sldMkLst>
        <pc:spChg chg="mod">
          <ac:chgData name="Selva, Jorge" userId="c1a77cdc-26a4-48a1-b565-b21e42cdab32" providerId="ADAL" clId="{99E80928-CB7E-4D68-89A9-E317AEBCDACB}" dt="2025-02-10T06:21:10.791" v="1094" actId="115"/>
          <ac:spMkLst>
            <pc:docMk/>
            <pc:sldMk cId="2612663442" sldId="306"/>
            <ac:spMk id="112643" creationId="{00000000-0000-0000-0000-000000000000}"/>
          </ac:spMkLst>
        </pc:spChg>
        <pc:picChg chg="mod">
          <ac:chgData name="Selva, Jorge" userId="c1a77cdc-26a4-48a1-b565-b21e42cdab32" providerId="ADAL" clId="{99E80928-CB7E-4D68-89A9-E317AEBCDACB}" dt="2025-02-10T06:19:44.847" v="1021" actId="1076"/>
          <ac:picMkLst>
            <pc:docMk/>
            <pc:sldMk cId="2612663442" sldId="306"/>
            <ac:picMk id="2" creationId="{F3B9382F-EEFC-8398-9850-B8AC7AC3F45B}"/>
          </ac:picMkLst>
        </pc:picChg>
      </pc:sldChg>
      <pc:sldChg chg="modSp mod modNotesTx">
        <pc:chgData name="Selva, Jorge" userId="c1a77cdc-26a4-48a1-b565-b21e42cdab32" providerId="ADAL" clId="{99E80928-CB7E-4D68-89A9-E317AEBCDACB}" dt="2025-02-10T06:23:09.113" v="1097" actId="114"/>
        <pc:sldMkLst>
          <pc:docMk/>
          <pc:sldMk cId="2881950820" sldId="307"/>
        </pc:sldMkLst>
        <pc:spChg chg="mod">
          <ac:chgData name="Selva, Jorge" userId="c1a77cdc-26a4-48a1-b565-b21e42cdab32" providerId="ADAL" clId="{99E80928-CB7E-4D68-89A9-E317AEBCDACB}" dt="2025-02-08T23:34:23.929" v="106" actId="113"/>
          <ac:spMkLst>
            <pc:docMk/>
            <pc:sldMk cId="2881950820" sldId="307"/>
            <ac:spMk id="14" creationId="{00000000-0000-0000-0000-000000000000}"/>
          </ac:spMkLst>
        </pc:spChg>
        <pc:spChg chg="mod">
          <ac:chgData name="Selva, Jorge" userId="c1a77cdc-26a4-48a1-b565-b21e42cdab32" providerId="ADAL" clId="{99E80928-CB7E-4D68-89A9-E317AEBCDACB}" dt="2025-02-08T23:34:31.368" v="107" actId="113"/>
          <ac:spMkLst>
            <pc:docMk/>
            <pc:sldMk cId="2881950820" sldId="307"/>
            <ac:spMk id="15" creationId="{00000000-0000-0000-0000-000000000000}"/>
          </ac:spMkLst>
        </pc:spChg>
        <pc:spChg chg="mod">
          <ac:chgData name="Selva, Jorge" userId="c1a77cdc-26a4-48a1-b565-b21e42cdab32" providerId="ADAL" clId="{99E80928-CB7E-4D68-89A9-E317AEBCDACB}" dt="2025-02-08T23:34:39.164" v="108" actId="113"/>
          <ac:spMkLst>
            <pc:docMk/>
            <pc:sldMk cId="2881950820" sldId="307"/>
            <ac:spMk id="16" creationId="{00000000-0000-0000-0000-000000000000}"/>
          </ac:spMkLst>
        </pc:spChg>
        <pc:spChg chg="mod">
          <ac:chgData name="Selva, Jorge" userId="c1a77cdc-26a4-48a1-b565-b21e42cdab32" providerId="ADAL" clId="{99E80928-CB7E-4D68-89A9-E317AEBCDACB}" dt="2025-02-08T23:34:43.149" v="109" actId="113"/>
          <ac:spMkLst>
            <pc:docMk/>
            <pc:sldMk cId="2881950820" sldId="307"/>
            <ac:spMk id="17" creationId="{00000000-0000-0000-0000-000000000000}"/>
          </ac:spMkLst>
        </pc:spChg>
        <pc:spChg chg="mod">
          <ac:chgData name="Selva, Jorge" userId="c1a77cdc-26a4-48a1-b565-b21e42cdab32" providerId="ADAL" clId="{99E80928-CB7E-4D68-89A9-E317AEBCDACB}" dt="2025-02-08T23:42:31.256" v="141" actId="115"/>
          <ac:spMkLst>
            <pc:docMk/>
            <pc:sldMk cId="2881950820" sldId="307"/>
            <ac:spMk id="18" creationId="{00000000-0000-0000-0000-000000000000}"/>
          </ac:spMkLst>
        </pc:spChg>
        <pc:spChg chg="mod">
          <ac:chgData name="Selva, Jorge" userId="c1a77cdc-26a4-48a1-b565-b21e42cdab32" providerId="ADAL" clId="{99E80928-CB7E-4D68-89A9-E317AEBCDACB}" dt="2025-02-08T23:42:36.437" v="142" actId="115"/>
          <ac:spMkLst>
            <pc:docMk/>
            <pc:sldMk cId="2881950820" sldId="307"/>
            <ac:spMk id="19" creationId="{00000000-0000-0000-0000-000000000000}"/>
          </ac:spMkLst>
        </pc:spChg>
        <pc:spChg chg="mod">
          <ac:chgData name="Selva, Jorge" userId="c1a77cdc-26a4-48a1-b565-b21e42cdab32" providerId="ADAL" clId="{99E80928-CB7E-4D68-89A9-E317AEBCDACB}" dt="2025-02-10T06:23:01.496" v="1096" actId="114"/>
          <ac:spMkLst>
            <pc:docMk/>
            <pc:sldMk cId="2881950820" sldId="307"/>
            <ac:spMk id="20" creationId="{00000000-0000-0000-0000-000000000000}"/>
          </ac:spMkLst>
        </pc:spChg>
        <pc:spChg chg="mod">
          <ac:chgData name="Selva, Jorge" userId="c1a77cdc-26a4-48a1-b565-b21e42cdab32" providerId="ADAL" clId="{99E80928-CB7E-4D68-89A9-E317AEBCDACB}" dt="2025-02-10T06:23:09.113" v="1097" actId="114"/>
          <ac:spMkLst>
            <pc:docMk/>
            <pc:sldMk cId="2881950820" sldId="307"/>
            <ac:spMk id="21" creationId="{00000000-0000-0000-0000-000000000000}"/>
          </ac:spMkLst>
        </pc:spChg>
      </pc:sldChg>
      <pc:sldChg chg="modNotesTx">
        <pc:chgData name="Selva, Jorge" userId="c1a77cdc-26a4-48a1-b565-b21e42cdab32" providerId="ADAL" clId="{99E80928-CB7E-4D68-89A9-E317AEBCDACB}" dt="2025-02-09T02:53:58.686" v="174" actId="20577"/>
        <pc:sldMkLst>
          <pc:docMk/>
          <pc:sldMk cId="1479729419" sldId="308"/>
        </pc:sldMkLst>
      </pc:sldChg>
      <pc:sldChg chg="modNotesTx">
        <pc:chgData name="Selva, Jorge" userId="c1a77cdc-26a4-48a1-b565-b21e42cdab32" providerId="ADAL" clId="{99E80928-CB7E-4D68-89A9-E317AEBCDACB}" dt="2025-02-09T02:56:17.925" v="175"/>
        <pc:sldMkLst>
          <pc:docMk/>
          <pc:sldMk cId="1647832675" sldId="309"/>
        </pc:sldMkLst>
      </pc:sldChg>
      <pc:sldChg chg="modNotesTx">
        <pc:chgData name="Selva, Jorge" userId="c1a77cdc-26a4-48a1-b565-b21e42cdab32" providerId="ADAL" clId="{99E80928-CB7E-4D68-89A9-E317AEBCDACB}" dt="2025-02-09T02:56:37.135" v="176"/>
        <pc:sldMkLst>
          <pc:docMk/>
          <pc:sldMk cId="1234320734" sldId="310"/>
        </pc:sldMkLst>
      </pc:sldChg>
      <pc:sldChg chg="modNotesTx">
        <pc:chgData name="Selva, Jorge" userId="c1a77cdc-26a4-48a1-b565-b21e42cdab32" providerId="ADAL" clId="{99E80928-CB7E-4D68-89A9-E317AEBCDACB}" dt="2025-02-09T02:58:35.280" v="185"/>
        <pc:sldMkLst>
          <pc:docMk/>
          <pc:sldMk cId="3831921304" sldId="311"/>
        </pc:sldMkLst>
      </pc:sldChg>
      <pc:sldChg chg="addSp delSp modSp mod modNotesTx">
        <pc:chgData name="Selva, Jorge" userId="c1a77cdc-26a4-48a1-b565-b21e42cdab32" providerId="ADAL" clId="{99E80928-CB7E-4D68-89A9-E317AEBCDACB}" dt="2025-02-09T03:11:38.351" v="506" actId="20577"/>
        <pc:sldMkLst>
          <pc:docMk/>
          <pc:sldMk cId="1239205457" sldId="312"/>
        </pc:sldMkLst>
        <pc:spChg chg="add mod">
          <ac:chgData name="Selva, Jorge" userId="c1a77cdc-26a4-48a1-b565-b21e42cdab32" providerId="ADAL" clId="{99E80928-CB7E-4D68-89A9-E317AEBCDACB}" dt="2025-02-09T03:09:56.456" v="485" actId="208"/>
          <ac:spMkLst>
            <pc:docMk/>
            <pc:sldMk cId="1239205457" sldId="312"/>
            <ac:spMk id="2" creationId="{C5C0EFEC-4F55-4A2D-A899-8701199590F5}"/>
          </ac:spMkLst>
        </pc:spChg>
        <pc:spChg chg="add mod">
          <ac:chgData name="Selva, Jorge" userId="c1a77cdc-26a4-48a1-b565-b21e42cdab32" providerId="ADAL" clId="{99E80928-CB7E-4D68-89A9-E317AEBCDACB}" dt="2025-02-09T03:11:38.351" v="506" actId="20577"/>
          <ac:spMkLst>
            <pc:docMk/>
            <pc:sldMk cId="1239205457" sldId="312"/>
            <ac:spMk id="6" creationId="{2DBC2B41-695C-4711-8649-D0D53C0DCFD4}"/>
          </ac:spMkLst>
        </pc:spChg>
        <pc:spChg chg="add del mod">
          <ac:chgData name="Selva, Jorge" userId="c1a77cdc-26a4-48a1-b565-b21e42cdab32" providerId="ADAL" clId="{99E80928-CB7E-4D68-89A9-E317AEBCDACB}" dt="2025-02-09T03:09:38.525" v="482"/>
          <ac:spMkLst>
            <pc:docMk/>
            <pc:sldMk cId="1239205457" sldId="312"/>
            <ac:spMk id="7" creationId="{C76C5731-E626-4CF4-AF05-FBE0C6E080F9}"/>
          </ac:spMkLst>
        </pc:spChg>
        <pc:graphicFrameChg chg="mod">
          <ac:chgData name="Selva, Jorge" userId="c1a77cdc-26a4-48a1-b565-b21e42cdab32" providerId="ADAL" clId="{99E80928-CB7E-4D68-89A9-E317AEBCDACB}" dt="2025-02-09T03:05:38.258" v="227" actId="1035"/>
          <ac:graphicFrameMkLst>
            <pc:docMk/>
            <pc:sldMk cId="1239205457" sldId="312"/>
            <ac:graphicFrameMk id="5" creationId="{00000000-0000-0000-0000-000000000000}"/>
          </ac:graphicFrameMkLst>
        </pc:graphicFrameChg>
      </pc:sldChg>
      <pc:sldChg chg="addSp delSp modSp mod modShow modNotesTx">
        <pc:chgData name="Selva, Jorge" userId="c1a77cdc-26a4-48a1-b565-b21e42cdab32" providerId="ADAL" clId="{99E80928-CB7E-4D68-89A9-E317AEBCDACB}" dt="2025-02-10T06:53:51.546" v="1245" actId="729"/>
        <pc:sldMkLst>
          <pc:docMk/>
          <pc:sldMk cId="2004425488" sldId="313"/>
        </pc:sldMkLst>
        <pc:spChg chg="mod">
          <ac:chgData name="Selva, Jorge" userId="c1a77cdc-26a4-48a1-b565-b21e42cdab32" providerId="ADAL" clId="{99E80928-CB7E-4D68-89A9-E317AEBCDACB}" dt="2025-02-09T03:13:38.046" v="518" actId="113"/>
          <ac:spMkLst>
            <pc:docMk/>
            <pc:sldMk cId="2004425488" sldId="313"/>
            <ac:spMk id="3" creationId="{0776910A-FE3F-4C6C-B5CA-50A85F282ECC}"/>
          </ac:spMkLst>
        </pc:spChg>
        <pc:spChg chg="add mod ord">
          <ac:chgData name="Selva, Jorge" userId="c1a77cdc-26a4-48a1-b565-b21e42cdab32" providerId="ADAL" clId="{99E80928-CB7E-4D68-89A9-E317AEBCDACB}" dt="2025-02-08T23:11:50.302" v="8" actId="167"/>
          <ac:spMkLst>
            <pc:docMk/>
            <pc:sldMk cId="2004425488" sldId="313"/>
            <ac:spMk id="4" creationId="{77CE5705-1171-4144-A7FC-82574C8476E7}"/>
          </ac:spMkLst>
        </pc:spChg>
        <pc:spChg chg="add del mod">
          <ac:chgData name="Selva, Jorge" userId="c1a77cdc-26a4-48a1-b565-b21e42cdab32" providerId="ADAL" clId="{99E80928-CB7E-4D68-89A9-E317AEBCDACB}" dt="2025-02-09T03:11:51.868" v="507" actId="478"/>
          <ac:spMkLst>
            <pc:docMk/>
            <pc:sldMk cId="2004425488" sldId="313"/>
            <ac:spMk id="7" creationId="{11A1B34D-9306-46C3-84F9-2B2BD9426E11}"/>
          </ac:spMkLst>
        </pc:spChg>
      </pc:sldChg>
      <pc:sldChg chg="mod modShow">
        <pc:chgData name="Selva, Jorge" userId="c1a77cdc-26a4-48a1-b565-b21e42cdab32" providerId="ADAL" clId="{99E80928-CB7E-4D68-89A9-E317AEBCDACB}" dt="2025-02-10T06:52:45.308" v="1244" actId="729"/>
        <pc:sldMkLst>
          <pc:docMk/>
          <pc:sldMk cId="2875284769" sldId="314"/>
        </pc:sldMkLst>
      </pc:sldChg>
      <pc:sldChg chg="modSp mod modShow modNotesTx">
        <pc:chgData name="Selva, Jorge" userId="c1a77cdc-26a4-48a1-b565-b21e42cdab32" providerId="ADAL" clId="{99E80928-CB7E-4D68-89A9-E317AEBCDACB}" dt="2025-02-10T16:50:22.788" v="1301" actId="20577"/>
        <pc:sldMkLst>
          <pc:docMk/>
          <pc:sldMk cId="1534652885" sldId="315"/>
        </pc:sldMkLst>
        <pc:spChg chg="mod">
          <ac:chgData name="Selva, Jorge" userId="c1a77cdc-26a4-48a1-b565-b21e42cdab32" providerId="ADAL" clId="{99E80928-CB7E-4D68-89A9-E317AEBCDACB}" dt="2025-02-10T16:50:22.788" v="1301" actId="20577"/>
          <ac:spMkLst>
            <pc:docMk/>
            <pc:sldMk cId="1534652885" sldId="315"/>
            <ac:spMk id="8" creationId="{00000000-0000-0000-0000-000000000000}"/>
          </ac:spMkLst>
        </pc:spChg>
      </pc:sldChg>
      <pc:sldChg chg="addSp delSp modSp mod modNotesTx">
        <pc:chgData name="Selva, Jorge" userId="c1a77cdc-26a4-48a1-b565-b21e42cdab32" providerId="ADAL" clId="{99E80928-CB7E-4D68-89A9-E317AEBCDACB}" dt="2025-02-10T06:40:34.874" v="1239" actId="20577"/>
        <pc:sldMkLst>
          <pc:docMk/>
          <pc:sldMk cId="1339279618" sldId="316"/>
        </pc:sldMkLst>
        <pc:spChg chg="add del mod">
          <ac:chgData name="Selva, Jorge" userId="c1a77cdc-26a4-48a1-b565-b21e42cdab32" providerId="ADAL" clId="{99E80928-CB7E-4D68-89A9-E317AEBCDACB}" dt="2025-02-10T06:39:51.184" v="1222"/>
          <ac:spMkLst>
            <pc:docMk/>
            <pc:sldMk cId="1339279618" sldId="316"/>
            <ac:spMk id="2" creationId="{9C8EA2CD-4B42-4D65-A58A-B8DA41893136}"/>
          </ac:spMkLst>
        </pc:spChg>
        <pc:spChg chg="add mod">
          <ac:chgData name="Selva, Jorge" userId="c1a77cdc-26a4-48a1-b565-b21e42cdab32" providerId="ADAL" clId="{99E80928-CB7E-4D68-89A9-E317AEBCDACB}" dt="2025-02-10T06:40:12.222" v="1226" actId="1076"/>
          <ac:spMkLst>
            <pc:docMk/>
            <pc:sldMk cId="1339279618" sldId="316"/>
            <ac:spMk id="3" creationId="{EDA79F34-D5BD-406B-8EA5-857FD6EAAB25}"/>
          </ac:spMkLst>
        </pc:spChg>
        <pc:spChg chg="add mod">
          <ac:chgData name="Selva, Jorge" userId="c1a77cdc-26a4-48a1-b565-b21e42cdab32" providerId="ADAL" clId="{99E80928-CB7E-4D68-89A9-E317AEBCDACB}" dt="2025-02-10T06:40:34.874" v="1239" actId="20577"/>
          <ac:spMkLst>
            <pc:docMk/>
            <pc:sldMk cId="1339279618" sldId="316"/>
            <ac:spMk id="7" creationId="{4BE4CA26-3DC7-4A2D-ACC4-66A7082F5752}"/>
          </ac:spMkLst>
        </pc:spChg>
        <pc:graphicFrameChg chg="mod">
          <ac:chgData name="Selva, Jorge" userId="c1a77cdc-26a4-48a1-b565-b21e42cdab32" providerId="ADAL" clId="{99E80928-CB7E-4D68-89A9-E317AEBCDACB}" dt="2025-02-08T23:13:55.399" v="20" actId="20577"/>
          <ac:graphicFrameMkLst>
            <pc:docMk/>
            <pc:sldMk cId="1339279618" sldId="316"/>
            <ac:graphicFrameMk id="5" creationId="{00000000-0000-0000-0000-000000000000}"/>
          </ac:graphicFrameMkLst>
        </pc:graphicFrameChg>
        <pc:graphicFrameChg chg="mod">
          <ac:chgData name="Selva, Jorge" userId="c1a77cdc-26a4-48a1-b565-b21e42cdab32" providerId="ADAL" clId="{99E80928-CB7E-4D68-89A9-E317AEBCDACB}" dt="2025-02-08T23:14:05.577" v="23" actId="20577"/>
          <ac:graphicFrameMkLst>
            <pc:docMk/>
            <pc:sldMk cId="1339279618" sldId="316"/>
            <ac:graphicFrameMk id="6" creationId="{00000000-0000-0000-0000-000000000000}"/>
          </ac:graphicFrameMkLst>
        </pc:graphicFrameChg>
      </pc:sldChg>
      <pc:sldChg chg="modNotesTx">
        <pc:chgData name="Selva, Jorge" userId="c1a77cdc-26a4-48a1-b565-b21e42cdab32" providerId="ADAL" clId="{99E80928-CB7E-4D68-89A9-E317AEBCDACB}" dt="2025-02-10T06:44:44.908" v="1242" actId="20577"/>
        <pc:sldMkLst>
          <pc:docMk/>
          <pc:sldMk cId="2964704219" sldId="317"/>
        </pc:sldMkLst>
      </pc:sldChg>
      <pc:sldChg chg="modSp mod modShow modNotesTx">
        <pc:chgData name="Selva, Jorge" userId="c1a77cdc-26a4-48a1-b565-b21e42cdab32" providerId="ADAL" clId="{99E80928-CB7E-4D68-89A9-E317AEBCDACB}" dt="2025-02-10T07:03:35.082" v="1275" actId="115"/>
        <pc:sldMkLst>
          <pc:docMk/>
          <pc:sldMk cId="980485833" sldId="326"/>
        </pc:sldMkLst>
        <pc:spChg chg="mod">
          <ac:chgData name="Selva, Jorge" userId="c1a77cdc-26a4-48a1-b565-b21e42cdab32" providerId="ADAL" clId="{99E80928-CB7E-4D68-89A9-E317AEBCDACB}" dt="2025-02-10T07:03:35.082" v="1275" actId="115"/>
          <ac:spMkLst>
            <pc:docMk/>
            <pc:sldMk cId="980485833" sldId="326"/>
            <ac:spMk id="3" creationId="{1D77540D-A254-4CA9-885E-813E7B9D7E50}"/>
          </ac:spMkLst>
        </pc:spChg>
      </pc:sldChg>
      <pc:sldChg chg="modNotesTx">
        <pc:chgData name="Selva, Jorge" userId="c1a77cdc-26a4-48a1-b565-b21e42cdab32" providerId="ADAL" clId="{99E80928-CB7E-4D68-89A9-E317AEBCDACB}" dt="2025-02-08T23:28:35.810" v="77" actId="113"/>
        <pc:sldMkLst>
          <pc:docMk/>
          <pc:sldMk cId="2276296200" sldId="327"/>
        </pc:sldMkLst>
      </pc:sldChg>
      <pc:sldChg chg="mod modShow modNotesTx">
        <pc:chgData name="Selva, Jorge" userId="c1a77cdc-26a4-48a1-b565-b21e42cdab32" providerId="ADAL" clId="{99E80928-CB7E-4D68-89A9-E317AEBCDACB}" dt="2025-02-10T06:58:17.733" v="1257" actId="729"/>
        <pc:sldMkLst>
          <pc:docMk/>
          <pc:sldMk cId="806691358" sldId="328"/>
        </pc:sldMkLst>
      </pc:sldChg>
      <pc:sldChg chg="modSp mod modShow modNotesTx">
        <pc:chgData name="Selva, Jorge" userId="c1a77cdc-26a4-48a1-b565-b21e42cdab32" providerId="ADAL" clId="{99E80928-CB7E-4D68-89A9-E317AEBCDACB}" dt="2025-02-10T06:58:44.987" v="1258" actId="729"/>
        <pc:sldMkLst>
          <pc:docMk/>
          <pc:sldMk cId="949257236" sldId="329"/>
        </pc:sldMkLst>
        <pc:picChg chg="mod">
          <ac:chgData name="Selva, Jorge" userId="c1a77cdc-26a4-48a1-b565-b21e42cdab32" providerId="ADAL" clId="{99E80928-CB7E-4D68-89A9-E317AEBCDACB}" dt="2025-02-08T23:14:59.569" v="29" actId="1038"/>
          <ac:picMkLst>
            <pc:docMk/>
            <pc:sldMk cId="949257236" sldId="329"/>
            <ac:picMk id="5" creationId="{FAAAD01B-9318-42C5-8F50-489E3CA8A80C}"/>
          </ac:picMkLst>
        </pc:picChg>
      </pc:sldChg>
      <pc:sldChg chg="addSp modSp mod modNotesTx">
        <pc:chgData name="Selva, Jorge" userId="c1a77cdc-26a4-48a1-b565-b21e42cdab32" providerId="ADAL" clId="{99E80928-CB7E-4D68-89A9-E317AEBCDACB}" dt="2025-02-09T04:24:32.685" v="1020" actId="113"/>
        <pc:sldMkLst>
          <pc:docMk/>
          <pc:sldMk cId="2880305594" sldId="330"/>
        </pc:sldMkLst>
        <pc:spChg chg="mod">
          <ac:chgData name="Selva, Jorge" userId="c1a77cdc-26a4-48a1-b565-b21e42cdab32" providerId="ADAL" clId="{99E80928-CB7E-4D68-89A9-E317AEBCDACB}" dt="2025-02-09T04:08:41.905" v="868" actId="14100"/>
          <ac:spMkLst>
            <pc:docMk/>
            <pc:sldMk cId="2880305594" sldId="330"/>
            <ac:spMk id="3" creationId="{D9B5907A-5ECC-45CC-93DC-185F90E22B2D}"/>
          </ac:spMkLst>
        </pc:spChg>
        <pc:spChg chg="add mod ord">
          <ac:chgData name="Selva, Jorge" userId="c1a77cdc-26a4-48a1-b565-b21e42cdab32" providerId="ADAL" clId="{99E80928-CB7E-4D68-89A9-E317AEBCDACB}" dt="2025-02-09T03:03:37.235" v="222" actId="167"/>
          <ac:spMkLst>
            <pc:docMk/>
            <pc:sldMk cId="2880305594" sldId="330"/>
            <ac:spMk id="4" creationId="{8D302CFC-11C0-404B-89A3-8D04D1CFD9E8}"/>
          </ac:spMkLst>
        </pc:spChg>
      </pc:sldChg>
      <pc:sldChg chg="modNotesTx">
        <pc:chgData name="Selva, Jorge" userId="c1a77cdc-26a4-48a1-b565-b21e42cdab32" providerId="ADAL" clId="{99E80928-CB7E-4D68-89A9-E317AEBCDACB}" dt="2025-02-08T23:20:09.347" v="30"/>
        <pc:sldMkLst>
          <pc:docMk/>
          <pc:sldMk cId="0" sldId="337"/>
        </pc:sldMkLst>
      </pc:sldChg>
      <pc:sldChg chg="addSp delSp modSp new mod">
        <pc:chgData name="Selva, Jorge" userId="c1a77cdc-26a4-48a1-b565-b21e42cdab32" providerId="ADAL" clId="{99E80928-CB7E-4D68-89A9-E317AEBCDACB}" dt="2025-02-09T04:04:58.762" v="862" actId="1036"/>
        <pc:sldMkLst>
          <pc:docMk/>
          <pc:sldMk cId="2668292836" sldId="338"/>
        </pc:sldMkLst>
        <pc:spChg chg="mod">
          <ac:chgData name="Selva, Jorge" userId="c1a77cdc-26a4-48a1-b565-b21e42cdab32" providerId="ADAL" clId="{99E80928-CB7E-4D68-89A9-E317AEBCDACB}" dt="2025-02-09T03:54:33.383" v="738" actId="14100"/>
          <ac:spMkLst>
            <pc:docMk/>
            <pc:sldMk cId="2668292836" sldId="338"/>
            <ac:spMk id="2" creationId="{F9077811-8A13-46CF-AEE1-1C8B99B2021F}"/>
          </ac:spMkLst>
        </pc:spChg>
        <pc:spChg chg="del">
          <ac:chgData name="Selva, Jorge" userId="c1a77cdc-26a4-48a1-b565-b21e42cdab32" providerId="ADAL" clId="{99E80928-CB7E-4D68-89A9-E317AEBCDACB}" dt="2025-02-09T03:51:07.794" v="685" actId="478"/>
          <ac:spMkLst>
            <pc:docMk/>
            <pc:sldMk cId="2668292836" sldId="338"/>
            <ac:spMk id="3" creationId="{09603D09-B762-4B46-9BAB-C2D2AE4473E8}"/>
          </ac:spMkLst>
        </pc:spChg>
        <pc:spChg chg="add mod ord">
          <ac:chgData name="Selva, Jorge" userId="c1a77cdc-26a4-48a1-b565-b21e42cdab32" providerId="ADAL" clId="{99E80928-CB7E-4D68-89A9-E317AEBCDACB}" dt="2025-02-09T03:56:55.953" v="753" actId="14100"/>
          <ac:spMkLst>
            <pc:docMk/>
            <pc:sldMk cId="2668292836" sldId="338"/>
            <ac:spMk id="8" creationId="{A742F365-CE10-4BB6-A385-035F5A8CA680}"/>
          </ac:spMkLst>
        </pc:spChg>
        <pc:picChg chg="add mod modCrop">
          <ac:chgData name="Selva, Jorge" userId="c1a77cdc-26a4-48a1-b565-b21e42cdab32" providerId="ADAL" clId="{99E80928-CB7E-4D68-89A9-E317AEBCDACB}" dt="2025-02-09T04:04:58.762" v="862" actId="1036"/>
          <ac:picMkLst>
            <pc:docMk/>
            <pc:sldMk cId="2668292836" sldId="338"/>
            <ac:picMk id="5" creationId="{CFF8A260-B801-4D23-BF64-E86F3EC0330E}"/>
          </ac:picMkLst>
        </pc:picChg>
        <pc:picChg chg="add mod modCrop">
          <ac:chgData name="Selva, Jorge" userId="c1a77cdc-26a4-48a1-b565-b21e42cdab32" providerId="ADAL" clId="{99E80928-CB7E-4D68-89A9-E317AEBCDACB}" dt="2025-02-09T04:04:55.341" v="861" actId="1036"/>
          <ac:picMkLst>
            <pc:docMk/>
            <pc:sldMk cId="2668292836" sldId="338"/>
            <ac:picMk id="7" creationId="{28B4EDAC-D8DB-46B9-A569-3766383BE004}"/>
          </ac:picMkLst>
        </pc:picChg>
      </pc:sldChg>
      <pc:sldChg chg="addSp delSp modSp mod">
        <pc:chgData name="Selva, Jorge" userId="c1a77cdc-26a4-48a1-b565-b21e42cdab32" providerId="ADAL" clId="{99E80928-CB7E-4D68-89A9-E317AEBCDACB}" dt="2025-02-09T04:05:48.504" v="867" actId="1076"/>
        <pc:sldMkLst>
          <pc:docMk/>
          <pc:sldMk cId="1502096802" sldId="339"/>
        </pc:sldMkLst>
        <pc:spChg chg="mod">
          <ac:chgData name="Selva, Jorge" userId="c1a77cdc-26a4-48a1-b565-b21e42cdab32" providerId="ADAL" clId="{99E80928-CB7E-4D68-89A9-E317AEBCDACB}" dt="2025-02-09T04:04:41.005" v="860" actId="14100"/>
          <ac:spMkLst>
            <pc:docMk/>
            <pc:sldMk cId="1502096802" sldId="339"/>
            <ac:spMk id="2" creationId="{F9077811-8A13-46CF-AEE1-1C8B99B2021F}"/>
          </ac:spMkLst>
        </pc:spChg>
        <pc:spChg chg="mod">
          <ac:chgData name="Selva, Jorge" userId="c1a77cdc-26a4-48a1-b565-b21e42cdab32" providerId="ADAL" clId="{99E80928-CB7E-4D68-89A9-E317AEBCDACB}" dt="2025-02-09T03:56:43.558" v="752" actId="14100"/>
          <ac:spMkLst>
            <pc:docMk/>
            <pc:sldMk cId="1502096802" sldId="339"/>
            <ac:spMk id="8" creationId="{A742F365-CE10-4BB6-A385-035F5A8CA680}"/>
          </ac:spMkLst>
        </pc:spChg>
        <pc:picChg chg="add mod modCrop">
          <ac:chgData name="Selva, Jorge" userId="c1a77cdc-26a4-48a1-b565-b21e42cdab32" providerId="ADAL" clId="{99E80928-CB7E-4D68-89A9-E317AEBCDACB}" dt="2025-02-09T04:05:14.656" v="864" actId="1035"/>
          <ac:picMkLst>
            <pc:docMk/>
            <pc:sldMk cId="1502096802" sldId="339"/>
            <ac:picMk id="4" creationId="{88F0E79A-761F-44FE-8918-BB7CA410F159}"/>
          </ac:picMkLst>
        </pc:picChg>
        <pc:picChg chg="del">
          <ac:chgData name="Selva, Jorge" userId="c1a77cdc-26a4-48a1-b565-b21e42cdab32" providerId="ADAL" clId="{99E80928-CB7E-4D68-89A9-E317AEBCDACB}" dt="2025-02-09T03:58:35.747" v="760" actId="478"/>
          <ac:picMkLst>
            <pc:docMk/>
            <pc:sldMk cId="1502096802" sldId="339"/>
            <ac:picMk id="5" creationId="{CFF8A260-B801-4D23-BF64-E86F3EC0330E}"/>
          </ac:picMkLst>
        </pc:picChg>
        <pc:picChg chg="del">
          <ac:chgData name="Selva, Jorge" userId="c1a77cdc-26a4-48a1-b565-b21e42cdab32" providerId="ADAL" clId="{99E80928-CB7E-4D68-89A9-E317AEBCDACB}" dt="2025-02-09T03:56:33.617" v="751" actId="478"/>
          <ac:picMkLst>
            <pc:docMk/>
            <pc:sldMk cId="1502096802" sldId="339"/>
            <ac:picMk id="7" creationId="{28B4EDAC-D8DB-46B9-A569-3766383BE004}"/>
          </ac:picMkLst>
        </pc:picChg>
        <pc:picChg chg="add mod modCrop">
          <ac:chgData name="Selva, Jorge" userId="c1a77cdc-26a4-48a1-b565-b21e42cdab32" providerId="ADAL" clId="{99E80928-CB7E-4D68-89A9-E317AEBCDACB}" dt="2025-02-09T04:05:48.504" v="867" actId="1076"/>
          <ac:picMkLst>
            <pc:docMk/>
            <pc:sldMk cId="1502096802" sldId="339"/>
            <ac:picMk id="9" creationId="{DE7EE88E-7B3D-4283-9E04-50D45615B29C}"/>
          </ac:picMkLst>
        </pc:picChg>
      </pc:sldChg>
      <pc:sldChg chg="addSp delSp modSp new del mod">
        <pc:chgData name="Selva, Jorge" userId="c1a77cdc-26a4-48a1-b565-b21e42cdab32" providerId="ADAL" clId="{99E80928-CB7E-4D68-89A9-E317AEBCDACB}" dt="2025-02-09T03:56:09.172" v="750" actId="47"/>
        <pc:sldMkLst>
          <pc:docMk/>
          <pc:sldMk cId="2101068721" sldId="339"/>
        </pc:sldMkLst>
        <pc:spChg chg="del">
          <ac:chgData name="Selva, Jorge" userId="c1a77cdc-26a4-48a1-b565-b21e42cdab32" providerId="ADAL" clId="{99E80928-CB7E-4D68-89A9-E317AEBCDACB}" dt="2025-02-09T03:56:04.444" v="749" actId="478"/>
          <ac:spMkLst>
            <pc:docMk/>
            <pc:sldMk cId="2101068721" sldId="339"/>
            <ac:spMk id="3" creationId="{69FBD8F9-9DA8-4D70-B649-A8068C517BD7}"/>
          </ac:spMkLst>
        </pc:spChg>
        <pc:spChg chg="add mod ord">
          <ac:chgData name="Selva, Jorge" userId="c1a77cdc-26a4-48a1-b565-b21e42cdab32" providerId="ADAL" clId="{99E80928-CB7E-4D68-89A9-E317AEBCDACB}" dt="2025-02-09T03:55:58.228" v="748" actId="14100"/>
          <ac:spMkLst>
            <pc:docMk/>
            <pc:sldMk cId="2101068721" sldId="339"/>
            <ac:spMk id="4" creationId="{54D94229-4023-4184-BA14-028D4E09A0C6}"/>
          </ac:spMkLst>
        </pc:sp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Actual Sales</c:v>
                </c:pt>
              </c:strCache>
            </c:strRef>
          </c:tx>
          <c:cat>
            <c:numRef>
              <c:f>Sheet1!$A$2:$A$10</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Sheet1!$B$2:$B$10</c:f>
              <c:numCache>
                <c:formatCode>"$"#,##0</c:formatCode>
                <c:ptCount val="9"/>
                <c:pt idx="0">
                  <c:v>8400000</c:v>
                </c:pt>
                <c:pt idx="1">
                  <c:v>8820000</c:v>
                </c:pt>
                <c:pt idx="2">
                  <c:v>8644000</c:v>
                </c:pt>
                <c:pt idx="3">
                  <c:v>8212000</c:v>
                </c:pt>
                <c:pt idx="4">
                  <c:v>8622000</c:v>
                </c:pt>
                <c:pt idx="5">
                  <c:v>9484000</c:v>
                </c:pt>
                <c:pt idx="6">
                  <c:v>9674000</c:v>
                </c:pt>
                <c:pt idx="7">
                  <c:v>10060000</c:v>
                </c:pt>
              </c:numCache>
            </c:numRef>
          </c:val>
          <c:smooth val="0"/>
          <c:extLst>
            <c:ext xmlns:c16="http://schemas.microsoft.com/office/drawing/2014/chart" uri="{C3380CC4-5D6E-409C-BE32-E72D297353CC}">
              <c16:uniqueId val="{00000000-2987-4A0B-8D27-42B3870F39CC}"/>
            </c:ext>
          </c:extLst>
        </c:ser>
        <c:ser>
          <c:idx val="1"/>
          <c:order val="1"/>
          <c:tx>
            <c:strRef>
              <c:f>Sheet1!$C$1</c:f>
              <c:strCache>
                <c:ptCount val="1"/>
                <c:pt idx="0">
                  <c:v>Two-Year</c:v>
                </c:pt>
              </c:strCache>
            </c:strRef>
          </c:tx>
          <c:cat>
            <c:numRef>
              <c:f>Sheet1!$A$2:$A$10</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Sheet1!$C$2:$C$10</c:f>
              <c:numCache>
                <c:formatCode>General</c:formatCode>
                <c:ptCount val="9"/>
                <c:pt idx="2" formatCode="&quot;$&quot;#,##0">
                  <c:v>8610000</c:v>
                </c:pt>
                <c:pt idx="3" formatCode="&quot;$&quot;#,##0">
                  <c:v>8732000</c:v>
                </c:pt>
                <c:pt idx="4" formatCode="&quot;$&quot;#,##0">
                  <c:v>8428000</c:v>
                </c:pt>
                <c:pt idx="5" formatCode="&quot;$&quot;#,##0">
                  <c:v>8417000</c:v>
                </c:pt>
                <c:pt idx="6" formatCode="&quot;$&quot;#,##0">
                  <c:v>9053000</c:v>
                </c:pt>
                <c:pt idx="7" formatCode="&quot;$&quot;#,##0">
                  <c:v>9579000</c:v>
                </c:pt>
                <c:pt idx="8" formatCode="&quot;$&quot;#,##0">
                  <c:v>9867000</c:v>
                </c:pt>
              </c:numCache>
            </c:numRef>
          </c:val>
          <c:smooth val="0"/>
          <c:extLst>
            <c:ext xmlns:c16="http://schemas.microsoft.com/office/drawing/2014/chart" uri="{C3380CC4-5D6E-409C-BE32-E72D297353CC}">
              <c16:uniqueId val="{00000001-2987-4A0B-8D27-42B3870F39CC}"/>
            </c:ext>
          </c:extLst>
        </c:ser>
        <c:ser>
          <c:idx val="2"/>
          <c:order val="2"/>
          <c:tx>
            <c:strRef>
              <c:f>Sheet1!$D$1</c:f>
              <c:strCache>
                <c:ptCount val="1"/>
                <c:pt idx="0">
                  <c:v>Four-Year</c:v>
                </c:pt>
              </c:strCache>
            </c:strRef>
          </c:tx>
          <c:cat>
            <c:numRef>
              <c:f>Sheet1!$A$2:$A$10</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Sheet1!$D$2:$D$10</c:f>
              <c:numCache>
                <c:formatCode>General</c:formatCode>
                <c:ptCount val="9"/>
                <c:pt idx="4" formatCode="&quot;$&quot;#,##0">
                  <c:v>8989500</c:v>
                </c:pt>
                <c:pt idx="5" formatCode="&quot;$&quot;#,##0">
                  <c:v>8574500</c:v>
                </c:pt>
                <c:pt idx="6" formatCode="&quot;$&quot;#,##0">
                  <c:v>8740500</c:v>
                </c:pt>
                <c:pt idx="7" formatCode="&quot;$&quot;#,##0">
                  <c:v>8998000</c:v>
                </c:pt>
                <c:pt idx="8" formatCode="&quot;$&quot;#,##0">
                  <c:v>9460000</c:v>
                </c:pt>
              </c:numCache>
            </c:numRef>
          </c:val>
          <c:smooth val="0"/>
          <c:extLst>
            <c:ext xmlns:c16="http://schemas.microsoft.com/office/drawing/2014/chart" uri="{C3380CC4-5D6E-409C-BE32-E72D297353CC}">
              <c16:uniqueId val="{00000002-2987-4A0B-8D27-42B3870F39CC}"/>
            </c:ext>
          </c:extLst>
        </c:ser>
        <c:ser>
          <c:idx val="3"/>
          <c:order val="3"/>
          <c:tx>
            <c:strRef>
              <c:f>Sheet1!$E$1</c:f>
              <c:strCache>
                <c:ptCount val="1"/>
                <c:pt idx="0">
                  <c:v>Exp. Smoothing</c:v>
                </c:pt>
              </c:strCache>
            </c:strRef>
          </c:tx>
          <c:cat>
            <c:numRef>
              <c:f>Sheet1!$A$2:$A$10</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Sheet1!$E$2:$E$10</c:f>
              <c:numCache>
                <c:formatCode>"$"#,##0</c:formatCode>
                <c:ptCount val="9"/>
                <c:pt idx="1">
                  <c:v>8400000</c:v>
                </c:pt>
                <c:pt idx="2">
                  <c:v>8736000</c:v>
                </c:pt>
                <c:pt idx="3">
                  <c:v>8662000</c:v>
                </c:pt>
                <c:pt idx="4">
                  <c:v>8302000</c:v>
                </c:pt>
                <c:pt idx="5">
                  <c:v>8558000</c:v>
                </c:pt>
                <c:pt idx="6">
                  <c:v>9299000</c:v>
                </c:pt>
                <c:pt idx="7">
                  <c:v>9599000</c:v>
                </c:pt>
                <c:pt idx="8">
                  <c:v>9968000</c:v>
                </c:pt>
              </c:numCache>
            </c:numRef>
          </c:val>
          <c:smooth val="0"/>
          <c:extLst>
            <c:ext xmlns:c16="http://schemas.microsoft.com/office/drawing/2014/chart" uri="{C3380CC4-5D6E-409C-BE32-E72D297353CC}">
              <c16:uniqueId val="{00000003-2987-4A0B-8D27-42B3870F39CC}"/>
            </c:ext>
          </c:extLst>
        </c:ser>
        <c:dLbls>
          <c:showLegendKey val="0"/>
          <c:showVal val="0"/>
          <c:showCatName val="0"/>
          <c:showSerName val="0"/>
          <c:showPercent val="0"/>
          <c:showBubbleSize val="0"/>
        </c:dLbls>
        <c:marker val="1"/>
        <c:smooth val="0"/>
        <c:axId val="101522048"/>
        <c:axId val="101548416"/>
      </c:lineChart>
      <c:catAx>
        <c:axId val="101522048"/>
        <c:scaling>
          <c:orientation val="minMax"/>
        </c:scaling>
        <c:delete val="0"/>
        <c:axPos val="b"/>
        <c:numFmt formatCode="General" sourceLinked="1"/>
        <c:majorTickMark val="none"/>
        <c:minorTickMark val="none"/>
        <c:tickLblPos val="nextTo"/>
        <c:crossAx val="101548416"/>
        <c:crosses val="autoZero"/>
        <c:auto val="1"/>
        <c:lblAlgn val="ctr"/>
        <c:lblOffset val="100"/>
        <c:noMultiLvlLbl val="0"/>
      </c:catAx>
      <c:valAx>
        <c:axId val="101548416"/>
        <c:scaling>
          <c:orientation val="minMax"/>
          <c:min val="6000000"/>
        </c:scaling>
        <c:delete val="0"/>
        <c:axPos val="l"/>
        <c:majorGridlines/>
        <c:numFmt formatCode="&quot;$&quot;#,##0" sourceLinked="1"/>
        <c:majorTickMark val="none"/>
        <c:minorTickMark val="none"/>
        <c:tickLblPos val="nextTo"/>
        <c:spPr>
          <a:ln w="9525">
            <a:noFill/>
          </a:ln>
        </c:spPr>
        <c:crossAx val="101522048"/>
        <c:crosses val="autoZero"/>
        <c:crossBetween val="between"/>
        <c:majorUnit val="1000000"/>
        <c:minorUnit val="400000"/>
      </c:valAx>
    </c:plotArea>
    <c:legend>
      <c:legendPos val="b"/>
      <c:overlay val="0"/>
    </c:legend>
    <c:plotVisOnly val="1"/>
    <c:dispBlanksAs val="gap"/>
    <c:showDLblsOverMax val="0"/>
  </c:chart>
  <c:txPr>
    <a:bodyPr/>
    <a:lstStyle/>
    <a:p>
      <a:pPr>
        <a:defRPr sz="1800"/>
      </a:pPr>
      <a:endParaRPr lang="en-US"/>
    </a:p>
  </c:txPr>
  <c:externalData r:id="rId2">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1E5A56-A30A-4287-9057-5986F2A482B5}" type="doc">
      <dgm:prSet loTypeId="urn:microsoft.com/office/officeart/2005/8/layout/vList5" loCatId="list" qsTypeId="urn:microsoft.com/office/officeart/2005/8/quickstyle/simple5" qsCatId="simple" csTypeId="urn:microsoft.com/office/officeart/2005/8/colors/colorful1" csCatId="colorful" phldr="1"/>
      <dgm:spPr/>
      <dgm:t>
        <a:bodyPr/>
        <a:lstStyle/>
        <a:p>
          <a:endParaRPr lang="en-US"/>
        </a:p>
      </dgm:t>
    </dgm:pt>
    <dgm:pt modelId="{4EC717D8-C3E1-4297-9A75-A6BAF7D1B810}">
      <dgm:prSet phldrT="[Text]"/>
      <dgm:spPr>
        <a:xfrm>
          <a:off x="0" y="1981191"/>
          <a:ext cx="2715768" cy="1982390"/>
        </a:xfrm>
        <a:prstGeom prst="upArrow">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dirty="0">
              <a:solidFill>
                <a:sysClr val="window" lastClr="FFFFFF"/>
              </a:solidFill>
              <a:effectLst>
                <a:outerShdw blurRad="38100" dist="38100" dir="2700000" algn="tl">
                  <a:srgbClr val="000000">
                    <a:alpha val="43137"/>
                  </a:srgbClr>
                </a:outerShdw>
              </a:effectLst>
              <a:latin typeface="Calibri"/>
              <a:ea typeface="+mn-ea"/>
              <a:cs typeface="+mn-cs"/>
            </a:rPr>
            <a:t>Bottom</a:t>
          </a:r>
          <a:r>
            <a:rPr lang="en-US" dirty="0">
              <a:solidFill>
                <a:sysClr val="window" lastClr="FFFFFF"/>
              </a:solidFill>
              <a:latin typeface="Calibri"/>
              <a:ea typeface="+mn-ea"/>
              <a:cs typeface="+mn-cs"/>
            </a:rPr>
            <a:t>  Up</a:t>
          </a:r>
        </a:p>
      </dgm:t>
    </dgm:pt>
    <dgm:pt modelId="{867CD8F4-8DBA-437F-BA3F-633234D5A52D}" type="parTrans" cxnId="{CB533AE4-E0B5-45D2-93FC-4EDB791C861D}">
      <dgm:prSet/>
      <dgm:spPr/>
      <dgm:t>
        <a:bodyPr/>
        <a:lstStyle/>
        <a:p>
          <a:endParaRPr lang="en-US"/>
        </a:p>
      </dgm:t>
    </dgm:pt>
    <dgm:pt modelId="{0A80E0C2-E418-4252-BEE7-1C0750EFDFC7}" type="sibTrans" cxnId="{CB533AE4-E0B5-45D2-93FC-4EDB791C861D}">
      <dgm:prSet/>
      <dgm:spPr/>
      <dgm:t>
        <a:bodyPr/>
        <a:lstStyle/>
        <a:p>
          <a:endParaRPr lang="en-US"/>
        </a:p>
      </dgm:t>
    </dgm:pt>
    <dgm:pt modelId="{75F4B49B-EA5A-439F-B394-04E3456D55F1}">
      <dgm:prSet phldrT="[Text]"/>
      <dgm:spPr>
        <a:xfrm>
          <a:off x="0" y="9"/>
          <a:ext cx="2715768" cy="1982390"/>
        </a:xfrm>
        <a:prstGeom prst="downArrow">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dirty="0">
              <a:solidFill>
                <a:sysClr val="window" lastClr="FFFFFF"/>
              </a:solidFill>
              <a:effectLst>
                <a:outerShdw blurRad="38100" dist="38100" dir="2700000" algn="tl">
                  <a:srgbClr val="000000">
                    <a:alpha val="43137"/>
                  </a:srgbClr>
                </a:outerShdw>
              </a:effectLst>
              <a:latin typeface="Calibri"/>
              <a:ea typeface="+mn-ea"/>
              <a:cs typeface="+mn-cs"/>
            </a:rPr>
            <a:t>Top  Down</a:t>
          </a:r>
        </a:p>
      </dgm:t>
    </dgm:pt>
    <dgm:pt modelId="{DB38A648-216C-4161-B7DA-6838EF3431C1}" type="parTrans" cxnId="{95E631C0-556E-43E5-88B4-90FA8DB772D2}">
      <dgm:prSet/>
      <dgm:spPr/>
      <dgm:t>
        <a:bodyPr/>
        <a:lstStyle/>
        <a:p>
          <a:endParaRPr lang="en-US"/>
        </a:p>
      </dgm:t>
    </dgm:pt>
    <dgm:pt modelId="{F607DF53-277D-4BD8-9DCE-1A9D80C0DE89}" type="sibTrans" cxnId="{95E631C0-556E-43E5-88B4-90FA8DB772D2}">
      <dgm:prSet/>
      <dgm:spPr/>
      <dgm:t>
        <a:bodyPr/>
        <a:lstStyle/>
        <a:p>
          <a:endParaRPr lang="en-US"/>
        </a:p>
      </dgm:t>
    </dgm:pt>
    <dgm:pt modelId="{F45C1B52-4A6E-4EC9-B786-9269AC8F313D}">
      <dgm:prSet phldrT="[Text]"/>
      <dgm:spPr>
        <a:xfrm rot="5400000">
          <a:off x="4336827" y="526822"/>
          <a:ext cx="1585912" cy="4828032"/>
        </a:xfrm>
        <a:prstGeom prst="round2SameRect">
          <a:avLst/>
        </a:prstGeom>
        <a:solidFill>
          <a:srgbClr val="C0504D">
            <a:tint val="40000"/>
            <a:alpha val="90000"/>
            <a:hueOff val="0"/>
            <a:satOff val="0"/>
            <a:lumOff val="0"/>
            <a:alphaOff val="0"/>
          </a:srgbClr>
        </a:solidFill>
        <a:ln w="9525" cap="flat" cmpd="sng" algn="ctr">
          <a:solidFill>
            <a:srgbClr val="C0504D">
              <a:tint val="40000"/>
              <a:alpha val="90000"/>
              <a:hueOff val="0"/>
              <a:satOff val="0"/>
              <a:lumOff val="0"/>
              <a:alphaOff val="0"/>
            </a:srgbClr>
          </a:solidFill>
          <a:prstDash val="solid"/>
        </a:ln>
        <a:effectLst>
          <a:outerShdw blurRad="40000" dist="23000" dir="5400000" rotWithShape="0">
            <a:srgbClr val="000000">
              <a:alpha val="35000"/>
            </a:srgbClr>
          </a:outerShdw>
        </a:effectLst>
      </dgm:spPr>
      <dgm:t>
        <a:bodyPr/>
        <a:lstStyle/>
        <a:p>
          <a:r>
            <a:rPr lang="en-US" dirty="0">
              <a:solidFill>
                <a:sysClr val="windowText" lastClr="000000">
                  <a:hueOff val="0"/>
                  <a:satOff val="0"/>
                  <a:lumOff val="0"/>
                  <a:alphaOff val="0"/>
                </a:sysClr>
              </a:solidFill>
              <a:latin typeface="Calibri"/>
              <a:ea typeface="+mn-ea"/>
              <a:cs typeface="+mn-cs"/>
            </a:rPr>
            <a:t>Forecast made at the “front-line” level and then aggregated up the levels of the organization.</a:t>
          </a:r>
        </a:p>
      </dgm:t>
    </dgm:pt>
    <dgm:pt modelId="{FF5871DB-07F5-450F-B1CD-9DA00A2F3F36}" type="parTrans" cxnId="{29A47517-6F88-4E22-8E69-A0439EE07075}">
      <dgm:prSet/>
      <dgm:spPr/>
      <dgm:t>
        <a:bodyPr/>
        <a:lstStyle/>
        <a:p>
          <a:endParaRPr lang="en-US"/>
        </a:p>
      </dgm:t>
    </dgm:pt>
    <dgm:pt modelId="{B8337718-61F2-4694-BD3D-20B1575CA051}" type="sibTrans" cxnId="{29A47517-6F88-4E22-8E69-A0439EE07075}">
      <dgm:prSet/>
      <dgm:spPr/>
      <dgm:t>
        <a:bodyPr/>
        <a:lstStyle/>
        <a:p>
          <a:endParaRPr lang="en-US"/>
        </a:p>
      </dgm:t>
    </dgm:pt>
    <dgm:pt modelId="{25441CDD-ED71-49E7-B41D-631C891C6FBC}">
      <dgm:prSet phldrT="[Text]"/>
      <dgm:spPr>
        <a:xfrm rot="5400000">
          <a:off x="4336827" y="-1392464"/>
          <a:ext cx="1585912" cy="4828032"/>
        </a:xfrm>
        <a:prstGeom prst="round2SameRect">
          <a:avLst/>
        </a:prstGeom>
        <a:solidFill>
          <a:srgbClr val="9BBB59">
            <a:tint val="40000"/>
            <a:alpha val="90000"/>
            <a:hueOff val="0"/>
            <a:satOff val="0"/>
            <a:lumOff val="0"/>
            <a:alphaOff val="0"/>
          </a:srgbClr>
        </a:solidFill>
        <a:ln w="9525" cap="flat" cmpd="sng" algn="ctr">
          <a:solidFill>
            <a:srgbClr val="9BBB59">
              <a:tint val="40000"/>
              <a:alpha val="90000"/>
              <a:hueOff val="0"/>
              <a:satOff val="0"/>
              <a:lumOff val="0"/>
              <a:alphaOff val="0"/>
            </a:srgbClr>
          </a:solidFill>
          <a:prstDash val="solid"/>
        </a:ln>
        <a:effectLst>
          <a:outerShdw blurRad="40000" dist="23000" dir="5400000" rotWithShape="0">
            <a:srgbClr val="000000">
              <a:alpha val="35000"/>
            </a:srgbClr>
          </a:outerShdw>
        </a:effectLst>
      </dgm:spPr>
      <dgm:t>
        <a:bodyPr/>
        <a:lstStyle/>
        <a:p>
          <a:r>
            <a:rPr lang="en-US" dirty="0">
              <a:solidFill>
                <a:sysClr val="windowText" lastClr="000000">
                  <a:hueOff val="0"/>
                  <a:satOff val="0"/>
                  <a:lumOff val="0"/>
                  <a:alphaOff val="0"/>
                </a:sysClr>
              </a:solidFill>
              <a:latin typeface="Calibri"/>
              <a:ea typeface="+mn-ea"/>
              <a:cs typeface="+mn-cs"/>
            </a:rPr>
            <a:t>Forecast made at the business unit level then broken down by zone, region, district, territory, and account forecast.</a:t>
          </a:r>
        </a:p>
      </dgm:t>
    </dgm:pt>
    <dgm:pt modelId="{B219FA35-ADFD-4293-B2B4-6F4E1E9ECDE6}" type="parTrans" cxnId="{1CA91261-4140-4408-9FAF-953F47EA5CB4}">
      <dgm:prSet/>
      <dgm:spPr/>
      <dgm:t>
        <a:bodyPr/>
        <a:lstStyle/>
        <a:p>
          <a:endParaRPr lang="en-US"/>
        </a:p>
      </dgm:t>
    </dgm:pt>
    <dgm:pt modelId="{D3CE2A89-9250-493C-94A8-37C09EDDAF2C}" type="sibTrans" cxnId="{1CA91261-4140-4408-9FAF-953F47EA5CB4}">
      <dgm:prSet/>
      <dgm:spPr/>
      <dgm:t>
        <a:bodyPr/>
        <a:lstStyle/>
        <a:p>
          <a:endParaRPr lang="en-US"/>
        </a:p>
      </dgm:t>
    </dgm:pt>
    <dgm:pt modelId="{6AB21695-00D9-4EFB-B0D7-BC37F55CC4BE}" type="pres">
      <dgm:prSet presAssocID="{921E5A56-A30A-4287-9057-5986F2A482B5}" presName="Name0" presStyleCnt="0">
        <dgm:presLayoutVars>
          <dgm:dir/>
          <dgm:animLvl val="lvl"/>
          <dgm:resizeHandles val="exact"/>
        </dgm:presLayoutVars>
      </dgm:prSet>
      <dgm:spPr/>
    </dgm:pt>
    <dgm:pt modelId="{37997EC9-7654-4BCB-A40A-0F039C447DD9}" type="pres">
      <dgm:prSet presAssocID="{4EC717D8-C3E1-4297-9A75-A6BAF7D1B810}" presName="linNode" presStyleCnt="0"/>
      <dgm:spPr/>
    </dgm:pt>
    <dgm:pt modelId="{4A6D9ADB-C268-4F58-AD0F-A4AC53162F40}" type="pres">
      <dgm:prSet presAssocID="{4EC717D8-C3E1-4297-9A75-A6BAF7D1B810}" presName="parentText" presStyleLbl="node1" presStyleIdx="0" presStyleCnt="2" custLinFactNeighborY="99937">
        <dgm:presLayoutVars>
          <dgm:chMax val="1"/>
          <dgm:bulletEnabled val="1"/>
        </dgm:presLayoutVars>
      </dgm:prSet>
      <dgm:spPr>
        <a:prstGeom prst="upArrow">
          <a:avLst/>
        </a:prstGeom>
      </dgm:spPr>
    </dgm:pt>
    <dgm:pt modelId="{B131689B-89EB-42EA-B786-1637E376D8A4}" type="pres">
      <dgm:prSet presAssocID="{4EC717D8-C3E1-4297-9A75-A6BAF7D1B810}" presName="descendantText" presStyleLbl="alignAccFollowNode1" presStyleIdx="0" presStyleCnt="2" custLinFactY="22932" custLinFactNeighborY="100000">
        <dgm:presLayoutVars>
          <dgm:bulletEnabled val="1"/>
        </dgm:presLayoutVars>
      </dgm:prSet>
      <dgm:spPr/>
    </dgm:pt>
    <dgm:pt modelId="{3B44807A-1891-455B-AA91-4E4E30E897B9}" type="pres">
      <dgm:prSet presAssocID="{0A80E0C2-E418-4252-BEE7-1C0750EFDFC7}" presName="sp" presStyleCnt="0"/>
      <dgm:spPr/>
    </dgm:pt>
    <dgm:pt modelId="{8AD87E3E-3929-411C-A41E-72E88359740F}" type="pres">
      <dgm:prSet presAssocID="{75F4B49B-EA5A-439F-B394-04E3456D55F1}" presName="linNode" presStyleCnt="0"/>
      <dgm:spPr/>
    </dgm:pt>
    <dgm:pt modelId="{6B983F10-E808-400B-925B-B9ED457BB8C7}" type="pres">
      <dgm:prSet presAssocID="{75F4B49B-EA5A-439F-B394-04E3456D55F1}" presName="parentText" presStyleLbl="node1" presStyleIdx="1" presStyleCnt="2" custLinFactY="-5002" custLinFactNeighborY="-100000">
        <dgm:presLayoutVars>
          <dgm:chMax val="1"/>
          <dgm:bulletEnabled val="1"/>
        </dgm:presLayoutVars>
      </dgm:prSet>
      <dgm:spPr>
        <a:prstGeom prst="downArrow">
          <a:avLst/>
        </a:prstGeom>
      </dgm:spPr>
    </dgm:pt>
    <dgm:pt modelId="{C7C38F1D-20D5-4916-8B2A-48A3DD39B359}" type="pres">
      <dgm:prSet presAssocID="{75F4B49B-EA5A-439F-B394-04E3456D55F1}" presName="descendantText" presStyleLbl="alignAccFollowNode1" presStyleIdx="1" presStyleCnt="2" custLinFactY="-29339" custLinFactNeighborX="0" custLinFactNeighborY="-100000">
        <dgm:presLayoutVars>
          <dgm:bulletEnabled val="1"/>
        </dgm:presLayoutVars>
      </dgm:prSet>
      <dgm:spPr/>
    </dgm:pt>
  </dgm:ptLst>
  <dgm:cxnLst>
    <dgm:cxn modelId="{FAB72406-E9BF-4566-B3B0-E3814D3B2A27}" type="presOf" srcId="{75F4B49B-EA5A-439F-B394-04E3456D55F1}" destId="{6B983F10-E808-400B-925B-B9ED457BB8C7}" srcOrd="0" destOrd="0" presId="urn:microsoft.com/office/officeart/2005/8/layout/vList5"/>
    <dgm:cxn modelId="{29A47517-6F88-4E22-8E69-A0439EE07075}" srcId="{4EC717D8-C3E1-4297-9A75-A6BAF7D1B810}" destId="{F45C1B52-4A6E-4EC9-B786-9269AC8F313D}" srcOrd="0" destOrd="0" parTransId="{FF5871DB-07F5-450F-B1CD-9DA00A2F3F36}" sibTransId="{B8337718-61F2-4694-BD3D-20B1575CA051}"/>
    <dgm:cxn modelId="{093D9C1C-4823-40F4-8C95-38A57DAC3404}" type="presOf" srcId="{F45C1B52-4A6E-4EC9-B786-9269AC8F313D}" destId="{B131689B-89EB-42EA-B786-1637E376D8A4}" srcOrd="0" destOrd="0" presId="urn:microsoft.com/office/officeart/2005/8/layout/vList5"/>
    <dgm:cxn modelId="{7C2EB737-D3FE-4234-AA3D-D1CF9E4ED739}" type="presOf" srcId="{25441CDD-ED71-49E7-B41D-631C891C6FBC}" destId="{C7C38F1D-20D5-4916-8B2A-48A3DD39B359}" srcOrd="0" destOrd="0" presId="urn:microsoft.com/office/officeart/2005/8/layout/vList5"/>
    <dgm:cxn modelId="{1CA91261-4140-4408-9FAF-953F47EA5CB4}" srcId="{75F4B49B-EA5A-439F-B394-04E3456D55F1}" destId="{25441CDD-ED71-49E7-B41D-631C891C6FBC}" srcOrd="0" destOrd="0" parTransId="{B219FA35-ADFD-4293-B2B4-6F4E1E9ECDE6}" sibTransId="{D3CE2A89-9250-493C-94A8-37C09EDDAF2C}"/>
    <dgm:cxn modelId="{1D2789BA-7B92-4E19-9FBD-195518A240ED}" type="presOf" srcId="{921E5A56-A30A-4287-9057-5986F2A482B5}" destId="{6AB21695-00D9-4EFB-B0D7-BC37F55CC4BE}" srcOrd="0" destOrd="0" presId="urn:microsoft.com/office/officeart/2005/8/layout/vList5"/>
    <dgm:cxn modelId="{95E631C0-556E-43E5-88B4-90FA8DB772D2}" srcId="{921E5A56-A30A-4287-9057-5986F2A482B5}" destId="{75F4B49B-EA5A-439F-B394-04E3456D55F1}" srcOrd="1" destOrd="0" parTransId="{DB38A648-216C-4161-B7DA-6838EF3431C1}" sibTransId="{F607DF53-277D-4BD8-9DCE-1A9D80C0DE89}"/>
    <dgm:cxn modelId="{F91640C9-BE6A-4373-9176-A2823272723C}" type="presOf" srcId="{4EC717D8-C3E1-4297-9A75-A6BAF7D1B810}" destId="{4A6D9ADB-C268-4F58-AD0F-A4AC53162F40}" srcOrd="0" destOrd="0" presId="urn:microsoft.com/office/officeart/2005/8/layout/vList5"/>
    <dgm:cxn modelId="{CB533AE4-E0B5-45D2-93FC-4EDB791C861D}" srcId="{921E5A56-A30A-4287-9057-5986F2A482B5}" destId="{4EC717D8-C3E1-4297-9A75-A6BAF7D1B810}" srcOrd="0" destOrd="0" parTransId="{867CD8F4-8DBA-437F-BA3F-633234D5A52D}" sibTransId="{0A80E0C2-E418-4252-BEE7-1C0750EFDFC7}"/>
    <dgm:cxn modelId="{0ADA68EB-680F-453E-992B-EB1445A95B1E}" type="presParOf" srcId="{6AB21695-00D9-4EFB-B0D7-BC37F55CC4BE}" destId="{37997EC9-7654-4BCB-A40A-0F039C447DD9}" srcOrd="0" destOrd="0" presId="urn:microsoft.com/office/officeart/2005/8/layout/vList5"/>
    <dgm:cxn modelId="{59A4A40C-12F8-44E3-A660-C42793E730DF}" type="presParOf" srcId="{37997EC9-7654-4BCB-A40A-0F039C447DD9}" destId="{4A6D9ADB-C268-4F58-AD0F-A4AC53162F40}" srcOrd="0" destOrd="0" presId="urn:microsoft.com/office/officeart/2005/8/layout/vList5"/>
    <dgm:cxn modelId="{7321D798-C17C-4F1D-8743-FF314014D9D5}" type="presParOf" srcId="{37997EC9-7654-4BCB-A40A-0F039C447DD9}" destId="{B131689B-89EB-42EA-B786-1637E376D8A4}" srcOrd="1" destOrd="0" presId="urn:microsoft.com/office/officeart/2005/8/layout/vList5"/>
    <dgm:cxn modelId="{69AB5151-D037-47F3-8737-3D4FE22C8905}" type="presParOf" srcId="{6AB21695-00D9-4EFB-B0D7-BC37F55CC4BE}" destId="{3B44807A-1891-455B-AA91-4E4E30E897B9}" srcOrd="1" destOrd="0" presId="urn:microsoft.com/office/officeart/2005/8/layout/vList5"/>
    <dgm:cxn modelId="{AEC27568-4941-4DA7-B08D-88ACAB504DD9}" type="presParOf" srcId="{6AB21695-00D9-4EFB-B0D7-BC37F55CC4BE}" destId="{8AD87E3E-3929-411C-A41E-72E88359740F}" srcOrd="2" destOrd="0" presId="urn:microsoft.com/office/officeart/2005/8/layout/vList5"/>
    <dgm:cxn modelId="{0D26D15C-3A78-4A29-AB59-ACAC27EC297B}" type="presParOf" srcId="{8AD87E3E-3929-411C-A41E-72E88359740F}" destId="{6B983F10-E808-400B-925B-B9ED457BB8C7}" srcOrd="0" destOrd="0" presId="urn:microsoft.com/office/officeart/2005/8/layout/vList5"/>
    <dgm:cxn modelId="{73BD461F-AA72-4AB8-9971-880CC1DE2540}" type="presParOf" srcId="{8AD87E3E-3929-411C-A41E-72E88359740F}" destId="{C7C38F1D-20D5-4916-8B2A-48A3DD39B35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10F018-9F79-4422-8A00-84D45C018440}" type="doc">
      <dgm:prSet loTypeId="urn:microsoft.com/office/officeart/2005/8/layout/hierarchy2" loCatId="hierarchy" qsTypeId="urn:microsoft.com/office/officeart/2005/8/quickstyle/simple5" qsCatId="simple" csTypeId="urn:microsoft.com/office/officeart/2005/8/colors/colorful1" csCatId="colorful" phldr="1"/>
      <dgm:spPr/>
      <dgm:t>
        <a:bodyPr/>
        <a:lstStyle/>
        <a:p>
          <a:endParaRPr lang="en-US"/>
        </a:p>
      </dgm:t>
    </dgm:pt>
    <dgm:pt modelId="{197D589D-88AB-44F2-9F04-066DC92B4F21}">
      <dgm:prSet phldrT="[Text]" custT="1"/>
      <dgm:spPr>
        <a:xfrm>
          <a:off x="5295" y="1004256"/>
          <a:ext cx="2307910" cy="1039486"/>
        </a:xfrm>
        <a:prstGeom prst="roundRect">
          <a:avLst>
            <a:gd name="adj" fmla="val 10000"/>
          </a:avLst>
        </a:prstGeo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Company Sales Forecast  = $1,000,000</a:t>
          </a:r>
        </a:p>
      </dgm:t>
    </dgm:pt>
    <dgm:pt modelId="{EC7C28CC-C194-4B25-991B-2E6AA5D264B0}" type="parTrans" cxnId="{D44005C0-76C0-44CD-A04A-252A4336E764}">
      <dgm:prSet/>
      <dgm:spPr/>
      <dgm:t>
        <a:bodyPr/>
        <a:lstStyle/>
        <a:p>
          <a:endParaRPr lang="en-US">
            <a:effectLst>
              <a:outerShdw blurRad="38100" dist="38100" dir="2700000" algn="tl">
                <a:srgbClr val="000000">
                  <a:alpha val="43137"/>
                </a:srgbClr>
              </a:outerShdw>
            </a:effectLst>
          </a:endParaRPr>
        </a:p>
      </dgm:t>
    </dgm:pt>
    <dgm:pt modelId="{D6941E6F-F700-463F-A6CC-CC1262987BE8}" type="sibTrans" cxnId="{D44005C0-76C0-44CD-A04A-252A4336E764}">
      <dgm:prSet/>
      <dgm:spPr/>
      <dgm:t>
        <a:bodyPr/>
        <a:lstStyle/>
        <a:p>
          <a:endParaRPr lang="en-US">
            <a:effectLst>
              <a:outerShdw blurRad="38100" dist="38100" dir="2700000" algn="tl">
                <a:srgbClr val="000000">
                  <a:alpha val="43137"/>
                </a:srgbClr>
              </a:outerShdw>
            </a:effectLst>
          </a:endParaRPr>
        </a:p>
      </dgm:t>
    </dgm:pt>
    <dgm:pt modelId="{DCA310D4-7CCA-4907-9991-E3B623A5C9BD}">
      <dgm:prSet phldrT="[Text]" custT="1"/>
      <dgm:spPr>
        <a:xfrm>
          <a:off x="2743196" y="637144"/>
          <a:ext cx="2514606" cy="537488"/>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lgn="ctr"/>
          <a:r>
            <a:rPr lang="en-US" sz="1800" dirty="0">
              <a:solidFill>
                <a:sysClr val="window" lastClr="FFFFFF"/>
              </a:solidFill>
              <a:effectLst>
                <a:outerShdw blurRad="38100" dist="38100" dir="2700000" algn="tl">
                  <a:srgbClr val="000000">
                    <a:alpha val="43137"/>
                  </a:srgbClr>
                </a:outerShdw>
              </a:effectLst>
              <a:latin typeface="Calibri"/>
              <a:ea typeface="+mn-ea"/>
              <a:cs typeface="+mn-cs"/>
            </a:rPr>
            <a:t>Region A Portion= 0.33</a:t>
          </a:r>
        </a:p>
      </dgm:t>
    </dgm:pt>
    <dgm:pt modelId="{B5D532A4-3588-4D7A-B5B9-73A70A68D3C5}" type="parTrans" cxnId="{8780D792-9BBD-4FBD-A82E-3F568F518082}">
      <dgm:prSet/>
      <dgm:spPr>
        <a:xfrm rot="18289469">
          <a:off x="2151719" y="1199073"/>
          <a:ext cx="752963" cy="31741"/>
        </a:xfrm>
        <a:custGeom>
          <a:avLst/>
          <a:gdLst/>
          <a:ahLst/>
          <a:cxnLst/>
          <a:rect l="0" t="0" r="0" b="0"/>
          <a:pathLst>
            <a:path>
              <a:moveTo>
                <a:pt x="0" y="15870"/>
              </a:moveTo>
              <a:lnTo>
                <a:pt x="752963" y="15870"/>
              </a:lnTo>
            </a:path>
          </a:pathLst>
        </a:custGeom>
        <a:noFill/>
        <a:ln w="25400" cap="flat" cmpd="sng" algn="ctr">
          <a:solidFill>
            <a:srgbClr val="C0504D">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8F939866-4FE8-4355-97CA-84C1B823877A}" type="sibTrans" cxnId="{8780D792-9BBD-4FBD-A82E-3F568F518082}">
      <dgm:prSet/>
      <dgm:spPr/>
      <dgm:t>
        <a:bodyPr/>
        <a:lstStyle/>
        <a:p>
          <a:endParaRPr lang="en-US">
            <a:effectLst>
              <a:outerShdw blurRad="38100" dist="38100" dir="2700000" algn="tl">
                <a:srgbClr val="000000">
                  <a:alpha val="43137"/>
                </a:srgbClr>
              </a:outerShdw>
            </a:effectLst>
          </a:endParaRPr>
        </a:p>
      </dgm:t>
    </dgm:pt>
    <dgm:pt modelId="{EB6E0142-CE1B-4542-AE86-FF486B2F58B1}">
      <dgm:prSet phldrT="[Text]" custT="1"/>
      <dgm:spPr>
        <a:xfrm>
          <a:off x="5687793" y="637144"/>
          <a:ext cx="2307910" cy="537488"/>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Forecast = $333,333</a:t>
          </a:r>
        </a:p>
      </dgm:t>
    </dgm:pt>
    <dgm:pt modelId="{0C239FBB-16C4-4BE9-BFFC-A423798BD1FC}" type="parTrans" cxnId="{D71E5CAF-1E24-4C4B-A5F3-EDC7595212AB}">
      <dgm:prSet/>
      <dgm:spPr>
        <a:xfrm>
          <a:off x="5257803" y="890017"/>
          <a:ext cx="429990" cy="31741"/>
        </a:xfrm>
        <a:custGeom>
          <a:avLst/>
          <a:gdLst/>
          <a:ahLst/>
          <a:cxnLst/>
          <a:rect l="0" t="0" r="0" b="0"/>
          <a:pathLst>
            <a:path>
              <a:moveTo>
                <a:pt x="0" y="15870"/>
              </a:moveTo>
              <a:lnTo>
                <a:pt x="429990" y="15870"/>
              </a:lnTo>
            </a:path>
          </a:pathLst>
        </a:custGeom>
        <a:noFill/>
        <a:ln w="25400" cap="flat" cmpd="sng" algn="ctr">
          <a:solidFill>
            <a:srgbClr val="9BBB59">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3AB3AF94-8F64-4C67-8879-A66E520D59F5}" type="sibTrans" cxnId="{D71E5CAF-1E24-4C4B-A5F3-EDC7595212AB}">
      <dgm:prSet/>
      <dgm:spPr/>
      <dgm:t>
        <a:bodyPr/>
        <a:lstStyle/>
        <a:p>
          <a:endParaRPr lang="en-US">
            <a:effectLst>
              <a:outerShdw blurRad="38100" dist="38100" dir="2700000" algn="tl">
                <a:srgbClr val="000000">
                  <a:alpha val="43137"/>
                </a:srgbClr>
              </a:outerShdw>
            </a:effectLst>
          </a:endParaRPr>
        </a:p>
      </dgm:t>
    </dgm:pt>
    <dgm:pt modelId="{5FF0D6EE-E965-4747-A1B7-55E09A8EDFC3}">
      <dgm:prSet phldrT="[Text]" custT="1"/>
      <dgm:spPr>
        <a:xfrm>
          <a:off x="2743196" y="1255255"/>
          <a:ext cx="2514606" cy="537488"/>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lgn="ctr"/>
          <a:r>
            <a:rPr lang="en-US" sz="1800" dirty="0">
              <a:solidFill>
                <a:sysClr val="window" lastClr="FFFFFF"/>
              </a:solidFill>
              <a:effectLst>
                <a:outerShdw blurRad="38100" dist="38100" dir="2700000" algn="tl">
                  <a:srgbClr val="000000">
                    <a:alpha val="43137"/>
                  </a:srgbClr>
                </a:outerShdw>
              </a:effectLst>
              <a:latin typeface="Calibri"/>
              <a:ea typeface="+mn-ea"/>
              <a:cs typeface="+mn-cs"/>
            </a:rPr>
            <a:t>Region B Portion = 0.33</a:t>
          </a:r>
        </a:p>
      </dgm:t>
    </dgm:pt>
    <dgm:pt modelId="{A1426A34-30D1-4824-816D-CC134D565272}" type="parTrans" cxnId="{C6ECC69E-0043-4B69-8CDF-4C2F7F4AEA9D}">
      <dgm:prSet/>
      <dgm:spPr>
        <a:xfrm>
          <a:off x="2313206" y="1508129"/>
          <a:ext cx="429990" cy="31741"/>
        </a:xfrm>
        <a:custGeom>
          <a:avLst/>
          <a:gdLst/>
          <a:ahLst/>
          <a:cxnLst/>
          <a:rect l="0" t="0" r="0" b="0"/>
          <a:pathLst>
            <a:path>
              <a:moveTo>
                <a:pt x="0" y="15870"/>
              </a:moveTo>
              <a:lnTo>
                <a:pt x="429990" y="15870"/>
              </a:lnTo>
            </a:path>
          </a:pathLst>
        </a:custGeom>
        <a:noFill/>
        <a:ln w="25400" cap="flat" cmpd="sng" algn="ctr">
          <a:solidFill>
            <a:srgbClr val="C0504D">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7DFF9AF1-2966-4767-8CD1-253F5BA76180}" type="sibTrans" cxnId="{C6ECC69E-0043-4B69-8CDF-4C2F7F4AEA9D}">
      <dgm:prSet/>
      <dgm:spPr/>
      <dgm:t>
        <a:bodyPr/>
        <a:lstStyle/>
        <a:p>
          <a:endParaRPr lang="en-US">
            <a:effectLst>
              <a:outerShdw blurRad="38100" dist="38100" dir="2700000" algn="tl">
                <a:srgbClr val="000000">
                  <a:alpha val="43137"/>
                </a:srgbClr>
              </a:outerShdw>
            </a:effectLst>
          </a:endParaRPr>
        </a:p>
      </dgm:t>
    </dgm:pt>
    <dgm:pt modelId="{09A93EBF-C906-4C1D-8FDF-839A3BFB99CD}">
      <dgm:prSet phldrT="[Text]" custT="1"/>
      <dgm:spPr>
        <a:xfrm>
          <a:off x="5687793" y="1255255"/>
          <a:ext cx="2307910" cy="537488"/>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Forecast = $333,333</a:t>
          </a:r>
        </a:p>
      </dgm:t>
    </dgm:pt>
    <dgm:pt modelId="{1E773B81-F8F7-42AA-97E9-B7420B2B379B}" type="parTrans" cxnId="{AF2B5D83-9EFC-4232-85B7-E777A3BC2304}">
      <dgm:prSet/>
      <dgm:spPr>
        <a:xfrm>
          <a:off x="5257803" y="1508129"/>
          <a:ext cx="429990" cy="31741"/>
        </a:xfrm>
        <a:custGeom>
          <a:avLst/>
          <a:gdLst/>
          <a:ahLst/>
          <a:cxnLst/>
          <a:rect l="0" t="0" r="0" b="0"/>
          <a:pathLst>
            <a:path>
              <a:moveTo>
                <a:pt x="0" y="15870"/>
              </a:moveTo>
              <a:lnTo>
                <a:pt x="429990" y="15870"/>
              </a:lnTo>
            </a:path>
          </a:pathLst>
        </a:custGeom>
        <a:noFill/>
        <a:ln w="25400" cap="flat" cmpd="sng" algn="ctr">
          <a:solidFill>
            <a:srgbClr val="9BBB59">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3F045C9E-D425-4CC2-A655-A7AF5C86202F}" type="sibTrans" cxnId="{AF2B5D83-9EFC-4232-85B7-E777A3BC2304}">
      <dgm:prSet/>
      <dgm:spPr/>
      <dgm:t>
        <a:bodyPr/>
        <a:lstStyle/>
        <a:p>
          <a:endParaRPr lang="en-US">
            <a:effectLst>
              <a:outerShdw blurRad="38100" dist="38100" dir="2700000" algn="tl">
                <a:srgbClr val="000000">
                  <a:alpha val="43137"/>
                </a:srgbClr>
              </a:outerShdw>
            </a:effectLst>
          </a:endParaRPr>
        </a:p>
      </dgm:t>
    </dgm:pt>
    <dgm:pt modelId="{0F775BEF-F6EF-4CCA-999F-5B1150782D11}">
      <dgm:prSet phldrT="[Text]" custT="1"/>
      <dgm:spPr>
        <a:xfrm>
          <a:off x="2743196" y="1873367"/>
          <a:ext cx="2514606" cy="537488"/>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pPr algn="ctr"/>
          <a:r>
            <a:rPr lang="en-US" sz="1800" dirty="0">
              <a:solidFill>
                <a:sysClr val="window" lastClr="FFFFFF"/>
              </a:solidFill>
              <a:effectLst>
                <a:outerShdw blurRad="38100" dist="38100" dir="2700000" algn="tl">
                  <a:srgbClr val="000000">
                    <a:alpha val="43137"/>
                  </a:srgbClr>
                </a:outerShdw>
              </a:effectLst>
              <a:latin typeface="Calibri"/>
              <a:ea typeface="+mn-ea"/>
              <a:cs typeface="+mn-cs"/>
            </a:rPr>
            <a:t>Region C Portion = 0.34</a:t>
          </a:r>
        </a:p>
      </dgm:t>
    </dgm:pt>
    <dgm:pt modelId="{5F31B5D8-A335-41FA-867F-43FE3EBA126F}" type="parTrans" cxnId="{E261777F-D5A4-4DF2-9439-29F2184A807B}">
      <dgm:prSet/>
      <dgm:spPr>
        <a:xfrm rot="3310531">
          <a:off x="2151719" y="1817185"/>
          <a:ext cx="752963" cy="31741"/>
        </a:xfrm>
        <a:custGeom>
          <a:avLst/>
          <a:gdLst/>
          <a:ahLst/>
          <a:cxnLst/>
          <a:rect l="0" t="0" r="0" b="0"/>
          <a:pathLst>
            <a:path>
              <a:moveTo>
                <a:pt x="0" y="15870"/>
              </a:moveTo>
              <a:lnTo>
                <a:pt x="752963" y="15870"/>
              </a:lnTo>
            </a:path>
          </a:pathLst>
        </a:custGeom>
        <a:noFill/>
        <a:ln w="25400" cap="flat" cmpd="sng" algn="ctr">
          <a:solidFill>
            <a:srgbClr val="C0504D">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CC8FC99F-42DE-47D5-B7A9-C6FC276267FC}" type="sibTrans" cxnId="{E261777F-D5A4-4DF2-9439-29F2184A807B}">
      <dgm:prSet/>
      <dgm:spPr/>
      <dgm:t>
        <a:bodyPr/>
        <a:lstStyle/>
        <a:p>
          <a:endParaRPr lang="en-US">
            <a:effectLst>
              <a:outerShdw blurRad="38100" dist="38100" dir="2700000" algn="tl">
                <a:srgbClr val="000000">
                  <a:alpha val="43137"/>
                </a:srgbClr>
              </a:outerShdw>
            </a:effectLst>
          </a:endParaRPr>
        </a:p>
      </dgm:t>
    </dgm:pt>
    <dgm:pt modelId="{6B3E301B-80DF-4F2E-9AF1-60DA3CACCB47}">
      <dgm:prSet phldrT="[Text]" custT="1"/>
      <dgm:spPr>
        <a:xfrm>
          <a:off x="5687793" y="1873367"/>
          <a:ext cx="2307910" cy="537488"/>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Forecast = $333,334</a:t>
          </a:r>
        </a:p>
      </dgm:t>
    </dgm:pt>
    <dgm:pt modelId="{77BA4980-3351-4C3D-89D6-78179319683F}" type="parTrans" cxnId="{A5EE50F7-E91B-4DDC-B672-49E8627B3B4E}">
      <dgm:prSet/>
      <dgm:spPr>
        <a:xfrm>
          <a:off x="5257803" y="2126240"/>
          <a:ext cx="429990" cy="31741"/>
        </a:xfrm>
        <a:custGeom>
          <a:avLst/>
          <a:gdLst/>
          <a:ahLst/>
          <a:cxnLst/>
          <a:rect l="0" t="0" r="0" b="0"/>
          <a:pathLst>
            <a:path>
              <a:moveTo>
                <a:pt x="0" y="15870"/>
              </a:moveTo>
              <a:lnTo>
                <a:pt x="429990" y="15870"/>
              </a:lnTo>
            </a:path>
          </a:pathLst>
        </a:custGeom>
        <a:noFill/>
        <a:ln w="25400" cap="flat" cmpd="sng" algn="ctr">
          <a:solidFill>
            <a:srgbClr val="9BBB59">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72464AD0-78FC-49E0-B738-9B7083426407}" type="sibTrans" cxnId="{A5EE50F7-E91B-4DDC-B672-49E8627B3B4E}">
      <dgm:prSet/>
      <dgm:spPr/>
      <dgm:t>
        <a:bodyPr/>
        <a:lstStyle/>
        <a:p>
          <a:endParaRPr lang="en-US">
            <a:effectLst>
              <a:outerShdw blurRad="38100" dist="38100" dir="2700000" algn="tl">
                <a:srgbClr val="000000">
                  <a:alpha val="43137"/>
                </a:srgbClr>
              </a:outerShdw>
            </a:effectLst>
          </a:endParaRPr>
        </a:p>
      </dgm:t>
    </dgm:pt>
    <dgm:pt modelId="{8E8242DF-E5F5-4ABB-AE15-C41E6043BB26}" type="pres">
      <dgm:prSet presAssocID="{8E10F018-9F79-4422-8A00-84D45C018440}" presName="diagram" presStyleCnt="0">
        <dgm:presLayoutVars>
          <dgm:chPref val="1"/>
          <dgm:dir/>
          <dgm:animOne val="branch"/>
          <dgm:animLvl val="lvl"/>
          <dgm:resizeHandles val="exact"/>
        </dgm:presLayoutVars>
      </dgm:prSet>
      <dgm:spPr/>
    </dgm:pt>
    <dgm:pt modelId="{3EF442AD-C645-468D-850F-96147AA20AB8}" type="pres">
      <dgm:prSet presAssocID="{197D589D-88AB-44F2-9F04-066DC92B4F21}" presName="root1" presStyleCnt="0"/>
      <dgm:spPr/>
    </dgm:pt>
    <dgm:pt modelId="{C868F8D6-8363-46CC-83C4-ECF92F949511}" type="pres">
      <dgm:prSet presAssocID="{197D589D-88AB-44F2-9F04-066DC92B4F21}" presName="LevelOneTextNode" presStyleLbl="node0" presStyleIdx="0" presStyleCnt="1" custScaleX="214694" custScaleY="193397">
        <dgm:presLayoutVars>
          <dgm:chPref val="3"/>
        </dgm:presLayoutVars>
      </dgm:prSet>
      <dgm:spPr/>
    </dgm:pt>
    <dgm:pt modelId="{7EA5A199-BE2C-4CB1-BA3A-847016B48E8F}" type="pres">
      <dgm:prSet presAssocID="{197D589D-88AB-44F2-9F04-066DC92B4F21}" presName="level2hierChild" presStyleCnt="0"/>
      <dgm:spPr/>
    </dgm:pt>
    <dgm:pt modelId="{4A51ABA9-D3CF-4DE7-A0B1-6A999C0F5332}" type="pres">
      <dgm:prSet presAssocID="{B5D532A4-3588-4D7A-B5B9-73A70A68D3C5}" presName="conn2-1" presStyleLbl="parChTrans1D2" presStyleIdx="0" presStyleCnt="3"/>
      <dgm:spPr/>
    </dgm:pt>
    <dgm:pt modelId="{BCFB6AAC-D345-40FC-8D07-08406D17FA9F}" type="pres">
      <dgm:prSet presAssocID="{B5D532A4-3588-4D7A-B5B9-73A70A68D3C5}" presName="connTx" presStyleLbl="parChTrans1D2" presStyleIdx="0" presStyleCnt="3"/>
      <dgm:spPr/>
    </dgm:pt>
    <dgm:pt modelId="{2DCD7EBB-482E-4587-AEF5-70656A84B900}" type="pres">
      <dgm:prSet presAssocID="{DCA310D4-7CCA-4907-9991-E3B623A5C9BD}" presName="root2" presStyleCnt="0"/>
      <dgm:spPr/>
    </dgm:pt>
    <dgm:pt modelId="{13D63609-E3C2-4630-8C2F-1CE95C3E88D5}" type="pres">
      <dgm:prSet presAssocID="{DCA310D4-7CCA-4907-9991-E3B623A5C9BD}" presName="LevelTwoTextNode" presStyleLbl="node2" presStyleIdx="0" presStyleCnt="3" custScaleX="233922">
        <dgm:presLayoutVars>
          <dgm:chPref val="3"/>
        </dgm:presLayoutVars>
      </dgm:prSet>
      <dgm:spPr/>
    </dgm:pt>
    <dgm:pt modelId="{FA247C90-8AE4-4ADA-A54F-2B761F47B752}" type="pres">
      <dgm:prSet presAssocID="{DCA310D4-7CCA-4907-9991-E3B623A5C9BD}" presName="level3hierChild" presStyleCnt="0"/>
      <dgm:spPr/>
    </dgm:pt>
    <dgm:pt modelId="{F24ED3A0-1311-4F67-8FF9-4002720960FD}" type="pres">
      <dgm:prSet presAssocID="{0C239FBB-16C4-4BE9-BFFC-A423798BD1FC}" presName="conn2-1" presStyleLbl="parChTrans1D3" presStyleIdx="0" presStyleCnt="3"/>
      <dgm:spPr/>
    </dgm:pt>
    <dgm:pt modelId="{00894486-2F0F-49F6-BDF1-908E360DD024}" type="pres">
      <dgm:prSet presAssocID="{0C239FBB-16C4-4BE9-BFFC-A423798BD1FC}" presName="connTx" presStyleLbl="parChTrans1D3" presStyleIdx="0" presStyleCnt="3"/>
      <dgm:spPr/>
    </dgm:pt>
    <dgm:pt modelId="{53F625FD-AACB-4FAC-B56A-42A076C22125}" type="pres">
      <dgm:prSet presAssocID="{EB6E0142-CE1B-4542-AE86-FF486B2F58B1}" presName="root2" presStyleCnt="0"/>
      <dgm:spPr/>
    </dgm:pt>
    <dgm:pt modelId="{4AA8954E-D4C5-4489-B374-2F244429E636}" type="pres">
      <dgm:prSet presAssocID="{EB6E0142-CE1B-4542-AE86-FF486B2F58B1}" presName="LevelTwoTextNode" presStyleLbl="node3" presStyleIdx="0" presStyleCnt="3" custScaleX="214694">
        <dgm:presLayoutVars>
          <dgm:chPref val="3"/>
        </dgm:presLayoutVars>
      </dgm:prSet>
      <dgm:spPr/>
    </dgm:pt>
    <dgm:pt modelId="{E0F88EA1-B2FB-45E1-82B1-D178F60E21F8}" type="pres">
      <dgm:prSet presAssocID="{EB6E0142-CE1B-4542-AE86-FF486B2F58B1}" presName="level3hierChild" presStyleCnt="0"/>
      <dgm:spPr/>
    </dgm:pt>
    <dgm:pt modelId="{229E7DE9-658D-4B5F-BD2E-1657C9D49652}" type="pres">
      <dgm:prSet presAssocID="{A1426A34-30D1-4824-816D-CC134D565272}" presName="conn2-1" presStyleLbl="parChTrans1D2" presStyleIdx="1" presStyleCnt="3"/>
      <dgm:spPr/>
    </dgm:pt>
    <dgm:pt modelId="{36374808-82DA-4247-A734-8454724748DD}" type="pres">
      <dgm:prSet presAssocID="{A1426A34-30D1-4824-816D-CC134D565272}" presName="connTx" presStyleLbl="parChTrans1D2" presStyleIdx="1" presStyleCnt="3"/>
      <dgm:spPr/>
    </dgm:pt>
    <dgm:pt modelId="{54B59F54-973C-4563-9530-673A4CF7BFBB}" type="pres">
      <dgm:prSet presAssocID="{5FF0D6EE-E965-4747-A1B7-55E09A8EDFC3}" presName="root2" presStyleCnt="0"/>
      <dgm:spPr/>
    </dgm:pt>
    <dgm:pt modelId="{46D6F184-D282-475D-A035-1BA79DA771E7}" type="pres">
      <dgm:prSet presAssocID="{5FF0D6EE-E965-4747-A1B7-55E09A8EDFC3}" presName="LevelTwoTextNode" presStyleLbl="node2" presStyleIdx="1" presStyleCnt="3" custScaleX="233922">
        <dgm:presLayoutVars>
          <dgm:chPref val="3"/>
        </dgm:presLayoutVars>
      </dgm:prSet>
      <dgm:spPr/>
    </dgm:pt>
    <dgm:pt modelId="{2D8F7B04-B380-4818-A952-6AEF0692E0CE}" type="pres">
      <dgm:prSet presAssocID="{5FF0D6EE-E965-4747-A1B7-55E09A8EDFC3}" presName="level3hierChild" presStyleCnt="0"/>
      <dgm:spPr/>
    </dgm:pt>
    <dgm:pt modelId="{72537358-9AA5-46FC-8418-57873994E9F2}" type="pres">
      <dgm:prSet presAssocID="{1E773B81-F8F7-42AA-97E9-B7420B2B379B}" presName="conn2-1" presStyleLbl="parChTrans1D3" presStyleIdx="1" presStyleCnt="3"/>
      <dgm:spPr/>
    </dgm:pt>
    <dgm:pt modelId="{EC2E17FF-CC49-4C9E-9419-836A3034CCE5}" type="pres">
      <dgm:prSet presAssocID="{1E773B81-F8F7-42AA-97E9-B7420B2B379B}" presName="connTx" presStyleLbl="parChTrans1D3" presStyleIdx="1" presStyleCnt="3"/>
      <dgm:spPr/>
    </dgm:pt>
    <dgm:pt modelId="{D484AB27-F921-4BCF-8072-643B6654CABB}" type="pres">
      <dgm:prSet presAssocID="{09A93EBF-C906-4C1D-8FDF-839A3BFB99CD}" presName="root2" presStyleCnt="0"/>
      <dgm:spPr/>
    </dgm:pt>
    <dgm:pt modelId="{07C0AA12-97BF-4968-80A6-159ACDCCB240}" type="pres">
      <dgm:prSet presAssocID="{09A93EBF-C906-4C1D-8FDF-839A3BFB99CD}" presName="LevelTwoTextNode" presStyleLbl="node3" presStyleIdx="1" presStyleCnt="3" custScaleX="214694">
        <dgm:presLayoutVars>
          <dgm:chPref val="3"/>
        </dgm:presLayoutVars>
      </dgm:prSet>
      <dgm:spPr/>
    </dgm:pt>
    <dgm:pt modelId="{561A0AC1-BD9E-453A-A5FF-413A6C951016}" type="pres">
      <dgm:prSet presAssocID="{09A93EBF-C906-4C1D-8FDF-839A3BFB99CD}" presName="level3hierChild" presStyleCnt="0"/>
      <dgm:spPr/>
    </dgm:pt>
    <dgm:pt modelId="{22B16855-6BC6-455D-B2A3-25A51D09C21D}" type="pres">
      <dgm:prSet presAssocID="{5F31B5D8-A335-41FA-867F-43FE3EBA126F}" presName="conn2-1" presStyleLbl="parChTrans1D2" presStyleIdx="2" presStyleCnt="3"/>
      <dgm:spPr/>
    </dgm:pt>
    <dgm:pt modelId="{9679DE09-F07A-4897-A5F4-B8591D576F33}" type="pres">
      <dgm:prSet presAssocID="{5F31B5D8-A335-41FA-867F-43FE3EBA126F}" presName="connTx" presStyleLbl="parChTrans1D2" presStyleIdx="2" presStyleCnt="3"/>
      <dgm:spPr/>
    </dgm:pt>
    <dgm:pt modelId="{9BEC8523-4DFF-45B8-9556-15AB7045543B}" type="pres">
      <dgm:prSet presAssocID="{0F775BEF-F6EF-4CCA-999F-5B1150782D11}" presName="root2" presStyleCnt="0"/>
      <dgm:spPr/>
    </dgm:pt>
    <dgm:pt modelId="{8823E185-FFF3-420D-9947-F9A3FDF1EEDF}" type="pres">
      <dgm:prSet presAssocID="{0F775BEF-F6EF-4CCA-999F-5B1150782D11}" presName="LevelTwoTextNode" presStyleLbl="node2" presStyleIdx="2" presStyleCnt="3" custScaleX="233922">
        <dgm:presLayoutVars>
          <dgm:chPref val="3"/>
        </dgm:presLayoutVars>
      </dgm:prSet>
      <dgm:spPr/>
    </dgm:pt>
    <dgm:pt modelId="{025DE1DE-4D4C-4412-BF26-F4983D22E4D8}" type="pres">
      <dgm:prSet presAssocID="{0F775BEF-F6EF-4CCA-999F-5B1150782D11}" presName="level3hierChild" presStyleCnt="0"/>
      <dgm:spPr/>
    </dgm:pt>
    <dgm:pt modelId="{931909F6-85E1-4192-8A5F-E199A58EB912}" type="pres">
      <dgm:prSet presAssocID="{77BA4980-3351-4C3D-89D6-78179319683F}" presName="conn2-1" presStyleLbl="parChTrans1D3" presStyleIdx="2" presStyleCnt="3"/>
      <dgm:spPr/>
    </dgm:pt>
    <dgm:pt modelId="{65048EE3-8EB0-495F-A6DB-18E9FF26C278}" type="pres">
      <dgm:prSet presAssocID="{77BA4980-3351-4C3D-89D6-78179319683F}" presName="connTx" presStyleLbl="parChTrans1D3" presStyleIdx="2" presStyleCnt="3"/>
      <dgm:spPr/>
    </dgm:pt>
    <dgm:pt modelId="{59697755-A429-4C14-A720-64926DD453A5}" type="pres">
      <dgm:prSet presAssocID="{6B3E301B-80DF-4F2E-9AF1-60DA3CACCB47}" presName="root2" presStyleCnt="0"/>
      <dgm:spPr/>
    </dgm:pt>
    <dgm:pt modelId="{CBF11343-800B-43EC-87D7-4339E090146E}" type="pres">
      <dgm:prSet presAssocID="{6B3E301B-80DF-4F2E-9AF1-60DA3CACCB47}" presName="LevelTwoTextNode" presStyleLbl="node3" presStyleIdx="2" presStyleCnt="3" custScaleX="214694">
        <dgm:presLayoutVars>
          <dgm:chPref val="3"/>
        </dgm:presLayoutVars>
      </dgm:prSet>
      <dgm:spPr/>
    </dgm:pt>
    <dgm:pt modelId="{312644C6-D240-458D-95EA-BC3CB3348323}" type="pres">
      <dgm:prSet presAssocID="{6B3E301B-80DF-4F2E-9AF1-60DA3CACCB47}" presName="level3hierChild" presStyleCnt="0"/>
      <dgm:spPr/>
    </dgm:pt>
  </dgm:ptLst>
  <dgm:cxnLst>
    <dgm:cxn modelId="{18C88E00-9D94-4324-A270-026D047CC23A}" type="presOf" srcId="{1E773B81-F8F7-42AA-97E9-B7420B2B379B}" destId="{EC2E17FF-CC49-4C9E-9419-836A3034CCE5}" srcOrd="1" destOrd="0" presId="urn:microsoft.com/office/officeart/2005/8/layout/hierarchy2"/>
    <dgm:cxn modelId="{15F10613-D63A-43DD-87C6-0E35D2C6CE02}" type="presOf" srcId="{77BA4980-3351-4C3D-89D6-78179319683F}" destId="{931909F6-85E1-4192-8A5F-E199A58EB912}" srcOrd="0" destOrd="0" presId="urn:microsoft.com/office/officeart/2005/8/layout/hierarchy2"/>
    <dgm:cxn modelId="{837E841B-436B-476B-8C83-9E44E398DFDF}" type="presOf" srcId="{0F775BEF-F6EF-4CCA-999F-5B1150782D11}" destId="{8823E185-FFF3-420D-9947-F9A3FDF1EEDF}" srcOrd="0" destOrd="0" presId="urn:microsoft.com/office/officeart/2005/8/layout/hierarchy2"/>
    <dgm:cxn modelId="{4D691C21-C7B5-4D2D-8D57-8D76A359918A}" type="presOf" srcId="{A1426A34-30D1-4824-816D-CC134D565272}" destId="{229E7DE9-658D-4B5F-BD2E-1657C9D49652}" srcOrd="0" destOrd="0" presId="urn:microsoft.com/office/officeart/2005/8/layout/hierarchy2"/>
    <dgm:cxn modelId="{B4CA2F64-3400-428F-B52B-53CFD21BF815}" type="presOf" srcId="{5F31B5D8-A335-41FA-867F-43FE3EBA126F}" destId="{22B16855-6BC6-455D-B2A3-25A51D09C21D}" srcOrd="0" destOrd="0" presId="urn:microsoft.com/office/officeart/2005/8/layout/hierarchy2"/>
    <dgm:cxn modelId="{B8A7E564-E483-4C32-99D2-698499B6A27A}" type="presOf" srcId="{09A93EBF-C906-4C1D-8FDF-839A3BFB99CD}" destId="{07C0AA12-97BF-4968-80A6-159ACDCCB240}" srcOrd="0" destOrd="0" presId="urn:microsoft.com/office/officeart/2005/8/layout/hierarchy2"/>
    <dgm:cxn modelId="{CBB66167-5C89-46F0-B932-0252D40FE6F5}" type="presOf" srcId="{B5D532A4-3588-4D7A-B5B9-73A70A68D3C5}" destId="{4A51ABA9-D3CF-4DE7-A0B1-6A999C0F5332}" srcOrd="0" destOrd="0" presId="urn:microsoft.com/office/officeart/2005/8/layout/hierarchy2"/>
    <dgm:cxn modelId="{94AEDB69-5CF2-4F53-B48A-F3868183F20E}" type="presOf" srcId="{0C239FBB-16C4-4BE9-BFFC-A423798BD1FC}" destId="{F24ED3A0-1311-4F67-8FF9-4002720960FD}" srcOrd="0" destOrd="0" presId="urn:microsoft.com/office/officeart/2005/8/layout/hierarchy2"/>
    <dgm:cxn modelId="{A0C15871-5975-4A37-8185-C27984A5A85C}" type="presOf" srcId="{5F31B5D8-A335-41FA-867F-43FE3EBA126F}" destId="{9679DE09-F07A-4897-A5F4-B8591D576F33}" srcOrd="1" destOrd="0" presId="urn:microsoft.com/office/officeart/2005/8/layout/hierarchy2"/>
    <dgm:cxn modelId="{0DB42E75-B073-413C-BBD1-7177F75C5803}" type="presOf" srcId="{77BA4980-3351-4C3D-89D6-78179319683F}" destId="{65048EE3-8EB0-495F-A6DB-18E9FF26C278}" srcOrd="1" destOrd="0" presId="urn:microsoft.com/office/officeart/2005/8/layout/hierarchy2"/>
    <dgm:cxn modelId="{256FC159-C736-499D-A30F-70C30B7789FC}" type="presOf" srcId="{B5D532A4-3588-4D7A-B5B9-73A70A68D3C5}" destId="{BCFB6AAC-D345-40FC-8D07-08406D17FA9F}" srcOrd="1" destOrd="0" presId="urn:microsoft.com/office/officeart/2005/8/layout/hierarchy2"/>
    <dgm:cxn modelId="{E1D0EA7C-916A-42B7-AABB-4F033CB6E448}" type="presOf" srcId="{5FF0D6EE-E965-4747-A1B7-55E09A8EDFC3}" destId="{46D6F184-D282-475D-A035-1BA79DA771E7}" srcOrd="0" destOrd="0" presId="urn:microsoft.com/office/officeart/2005/8/layout/hierarchy2"/>
    <dgm:cxn modelId="{4CD8187D-9AE7-4117-A622-50D97FB0CE17}" type="presOf" srcId="{8E10F018-9F79-4422-8A00-84D45C018440}" destId="{8E8242DF-E5F5-4ABB-AE15-C41E6043BB26}" srcOrd="0" destOrd="0" presId="urn:microsoft.com/office/officeart/2005/8/layout/hierarchy2"/>
    <dgm:cxn modelId="{E261777F-D5A4-4DF2-9439-29F2184A807B}" srcId="{197D589D-88AB-44F2-9F04-066DC92B4F21}" destId="{0F775BEF-F6EF-4CCA-999F-5B1150782D11}" srcOrd="2" destOrd="0" parTransId="{5F31B5D8-A335-41FA-867F-43FE3EBA126F}" sibTransId="{CC8FC99F-42DE-47D5-B7A9-C6FC276267FC}"/>
    <dgm:cxn modelId="{AF2B5D83-9EFC-4232-85B7-E777A3BC2304}" srcId="{5FF0D6EE-E965-4747-A1B7-55E09A8EDFC3}" destId="{09A93EBF-C906-4C1D-8FDF-839A3BFB99CD}" srcOrd="0" destOrd="0" parTransId="{1E773B81-F8F7-42AA-97E9-B7420B2B379B}" sibTransId="{3F045C9E-D425-4CC2-A655-A7AF5C86202F}"/>
    <dgm:cxn modelId="{8780D792-9BBD-4FBD-A82E-3F568F518082}" srcId="{197D589D-88AB-44F2-9F04-066DC92B4F21}" destId="{DCA310D4-7CCA-4907-9991-E3B623A5C9BD}" srcOrd="0" destOrd="0" parTransId="{B5D532A4-3588-4D7A-B5B9-73A70A68D3C5}" sibTransId="{8F939866-4FE8-4355-97CA-84C1B823877A}"/>
    <dgm:cxn modelId="{C6ECC69E-0043-4B69-8CDF-4C2F7F4AEA9D}" srcId="{197D589D-88AB-44F2-9F04-066DC92B4F21}" destId="{5FF0D6EE-E965-4747-A1B7-55E09A8EDFC3}" srcOrd="1" destOrd="0" parTransId="{A1426A34-30D1-4824-816D-CC134D565272}" sibTransId="{7DFF9AF1-2966-4767-8CD1-253F5BA76180}"/>
    <dgm:cxn modelId="{56E3AFAD-8175-43F4-B87C-CB39320F485B}" type="presOf" srcId="{0C239FBB-16C4-4BE9-BFFC-A423798BD1FC}" destId="{00894486-2F0F-49F6-BDF1-908E360DD024}" srcOrd="1" destOrd="0" presId="urn:microsoft.com/office/officeart/2005/8/layout/hierarchy2"/>
    <dgm:cxn modelId="{D71E5CAF-1E24-4C4B-A5F3-EDC7595212AB}" srcId="{DCA310D4-7CCA-4907-9991-E3B623A5C9BD}" destId="{EB6E0142-CE1B-4542-AE86-FF486B2F58B1}" srcOrd="0" destOrd="0" parTransId="{0C239FBB-16C4-4BE9-BFFC-A423798BD1FC}" sibTransId="{3AB3AF94-8F64-4C67-8879-A66E520D59F5}"/>
    <dgm:cxn modelId="{592E25B2-F443-4367-B625-BA75D7CAC9D7}" type="presOf" srcId="{A1426A34-30D1-4824-816D-CC134D565272}" destId="{36374808-82DA-4247-A734-8454724748DD}" srcOrd="1" destOrd="0" presId="urn:microsoft.com/office/officeart/2005/8/layout/hierarchy2"/>
    <dgm:cxn modelId="{215DBABF-1E45-40D2-9E5E-C9529A601167}" type="presOf" srcId="{1E773B81-F8F7-42AA-97E9-B7420B2B379B}" destId="{72537358-9AA5-46FC-8418-57873994E9F2}" srcOrd="0" destOrd="0" presId="urn:microsoft.com/office/officeart/2005/8/layout/hierarchy2"/>
    <dgm:cxn modelId="{D44005C0-76C0-44CD-A04A-252A4336E764}" srcId="{8E10F018-9F79-4422-8A00-84D45C018440}" destId="{197D589D-88AB-44F2-9F04-066DC92B4F21}" srcOrd="0" destOrd="0" parTransId="{EC7C28CC-C194-4B25-991B-2E6AA5D264B0}" sibTransId="{D6941E6F-F700-463F-A6CC-CC1262987BE8}"/>
    <dgm:cxn modelId="{494A92C3-4BE8-49A9-B2CE-89B4E4C8EFB7}" type="presOf" srcId="{EB6E0142-CE1B-4542-AE86-FF486B2F58B1}" destId="{4AA8954E-D4C5-4489-B374-2F244429E636}" srcOrd="0" destOrd="0" presId="urn:microsoft.com/office/officeart/2005/8/layout/hierarchy2"/>
    <dgm:cxn modelId="{2907D8CE-DC13-476F-9EDB-C076C2F2C337}" type="presOf" srcId="{197D589D-88AB-44F2-9F04-066DC92B4F21}" destId="{C868F8D6-8363-46CC-83C4-ECF92F949511}" srcOrd="0" destOrd="0" presId="urn:microsoft.com/office/officeart/2005/8/layout/hierarchy2"/>
    <dgm:cxn modelId="{830F01DE-6639-4D99-9E32-E575B6B2D5BB}" type="presOf" srcId="{DCA310D4-7CCA-4907-9991-E3B623A5C9BD}" destId="{13D63609-E3C2-4630-8C2F-1CE95C3E88D5}" srcOrd="0" destOrd="0" presId="urn:microsoft.com/office/officeart/2005/8/layout/hierarchy2"/>
    <dgm:cxn modelId="{5194B0E5-F167-4D76-8528-0D2F2F49AD7C}" type="presOf" srcId="{6B3E301B-80DF-4F2E-9AF1-60DA3CACCB47}" destId="{CBF11343-800B-43EC-87D7-4339E090146E}" srcOrd="0" destOrd="0" presId="urn:microsoft.com/office/officeart/2005/8/layout/hierarchy2"/>
    <dgm:cxn modelId="{A5EE50F7-E91B-4DDC-B672-49E8627B3B4E}" srcId="{0F775BEF-F6EF-4CCA-999F-5B1150782D11}" destId="{6B3E301B-80DF-4F2E-9AF1-60DA3CACCB47}" srcOrd="0" destOrd="0" parTransId="{77BA4980-3351-4C3D-89D6-78179319683F}" sibTransId="{72464AD0-78FC-49E0-B738-9B7083426407}"/>
    <dgm:cxn modelId="{0D0BA000-B84E-454F-A726-1D7AF1BDA567}" type="presParOf" srcId="{8E8242DF-E5F5-4ABB-AE15-C41E6043BB26}" destId="{3EF442AD-C645-468D-850F-96147AA20AB8}" srcOrd="0" destOrd="0" presId="urn:microsoft.com/office/officeart/2005/8/layout/hierarchy2"/>
    <dgm:cxn modelId="{9DC1D3DE-F15A-42BE-979E-2158B28F80DD}" type="presParOf" srcId="{3EF442AD-C645-468D-850F-96147AA20AB8}" destId="{C868F8D6-8363-46CC-83C4-ECF92F949511}" srcOrd="0" destOrd="0" presId="urn:microsoft.com/office/officeart/2005/8/layout/hierarchy2"/>
    <dgm:cxn modelId="{0E291135-CF65-4DD1-ADA2-B7BCF781B28B}" type="presParOf" srcId="{3EF442AD-C645-468D-850F-96147AA20AB8}" destId="{7EA5A199-BE2C-4CB1-BA3A-847016B48E8F}" srcOrd="1" destOrd="0" presId="urn:microsoft.com/office/officeart/2005/8/layout/hierarchy2"/>
    <dgm:cxn modelId="{55D1A83B-1836-4714-87D0-BA28F44C57B6}" type="presParOf" srcId="{7EA5A199-BE2C-4CB1-BA3A-847016B48E8F}" destId="{4A51ABA9-D3CF-4DE7-A0B1-6A999C0F5332}" srcOrd="0" destOrd="0" presId="urn:microsoft.com/office/officeart/2005/8/layout/hierarchy2"/>
    <dgm:cxn modelId="{FFD31ECA-0DC4-49C4-B179-9890E132A453}" type="presParOf" srcId="{4A51ABA9-D3CF-4DE7-A0B1-6A999C0F5332}" destId="{BCFB6AAC-D345-40FC-8D07-08406D17FA9F}" srcOrd="0" destOrd="0" presId="urn:microsoft.com/office/officeart/2005/8/layout/hierarchy2"/>
    <dgm:cxn modelId="{1001539A-9BD8-4B60-8D72-6AFC1776267A}" type="presParOf" srcId="{7EA5A199-BE2C-4CB1-BA3A-847016B48E8F}" destId="{2DCD7EBB-482E-4587-AEF5-70656A84B900}" srcOrd="1" destOrd="0" presId="urn:microsoft.com/office/officeart/2005/8/layout/hierarchy2"/>
    <dgm:cxn modelId="{1AC3CF90-B58A-4585-901E-6AD7130BFE1C}" type="presParOf" srcId="{2DCD7EBB-482E-4587-AEF5-70656A84B900}" destId="{13D63609-E3C2-4630-8C2F-1CE95C3E88D5}" srcOrd="0" destOrd="0" presId="urn:microsoft.com/office/officeart/2005/8/layout/hierarchy2"/>
    <dgm:cxn modelId="{BBD5C944-26B2-4F35-9FF6-E5B99931E21E}" type="presParOf" srcId="{2DCD7EBB-482E-4587-AEF5-70656A84B900}" destId="{FA247C90-8AE4-4ADA-A54F-2B761F47B752}" srcOrd="1" destOrd="0" presId="urn:microsoft.com/office/officeart/2005/8/layout/hierarchy2"/>
    <dgm:cxn modelId="{06BCD837-F724-4192-A00F-CDBEEC82FFAB}" type="presParOf" srcId="{FA247C90-8AE4-4ADA-A54F-2B761F47B752}" destId="{F24ED3A0-1311-4F67-8FF9-4002720960FD}" srcOrd="0" destOrd="0" presId="urn:microsoft.com/office/officeart/2005/8/layout/hierarchy2"/>
    <dgm:cxn modelId="{196BAC25-CBBA-4481-8C6A-2514919FBD41}" type="presParOf" srcId="{F24ED3A0-1311-4F67-8FF9-4002720960FD}" destId="{00894486-2F0F-49F6-BDF1-908E360DD024}" srcOrd="0" destOrd="0" presId="urn:microsoft.com/office/officeart/2005/8/layout/hierarchy2"/>
    <dgm:cxn modelId="{D9E498C9-FF55-4D29-AEFA-769527ADDC6F}" type="presParOf" srcId="{FA247C90-8AE4-4ADA-A54F-2B761F47B752}" destId="{53F625FD-AACB-4FAC-B56A-42A076C22125}" srcOrd="1" destOrd="0" presId="urn:microsoft.com/office/officeart/2005/8/layout/hierarchy2"/>
    <dgm:cxn modelId="{905D9D6D-44BE-4D78-8AF0-8D6CEE5ADDB8}" type="presParOf" srcId="{53F625FD-AACB-4FAC-B56A-42A076C22125}" destId="{4AA8954E-D4C5-4489-B374-2F244429E636}" srcOrd="0" destOrd="0" presId="urn:microsoft.com/office/officeart/2005/8/layout/hierarchy2"/>
    <dgm:cxn modelId="{32A836BA-DE8D-4F02-857E-20B3CF4CE80D}" type="presParOf" srcId="{53F625FD-AACB-4FAC-B56A-42A076C22125}" destId="{E0F88EA1-B2FB-45E1-82B1-D178F60E21F8}" srcOrd="1" destOrd="0" presId="urn:microsoft.com/office/officeart/2005/8/layout/hierarchy2"/>
    <dgm:cxn modelId="{62B9873C-BE09-4914-9EA7-CFB9B65E9430}" type="presParOf" srcId="{7EA5A199-BE2C-4CB1-BA3A-847016B48E8F}" destId="{229E7DE9-658D-4B5F-BD2E-1657C9D49652}" srcOrd="2" destOrd="0" presId="urn:microsoft.com/office/officeart/2005/8/layout/hierarchy2"/>
    <dgm:cxn modelId="{6CA47D1D-E867-4A1A-94BB-BE54B4DF132D}" type="presParOf" srcId="{229E7DE9-658D-4B5F-BD2E-1657C9D49652}" destId="{36374808-82DA-4247-A734-8454724748DD}" srcOrd="0" destOrd="0" presId="urn:microsoft.com/office/officeart/2005/8/layout/hierarchy2"/>
    <dgm:cxn modelId="{1FDFDE52-5FA5-4961-8CAF-5340E333E63E}" type="presParOf" srcId="{7EA5A199-BE2C-4CB1-BA3A-847016B48E8F}" destId="{54B59F54-973C-4563-9530-673A4CF7BFBB}" srcOrd="3" destOrd="0" presId="urn:microsoft.com/office/officeart/2005/8/layout/hierarchy2"/>
    <dgm:cxn modelId="{821E64AC-A2EA-4C7E-8837-4F34BDD8045E}" type="presParOf" srcId="{54B59F54-973C-4563-9530-673A4CF7BFBB}" destId="{46D6F184-D282-475D-A035-1BA79DA771E7}" srcOrd="0" destOrd="0" presId="urn:microsoft.com/office/officeart/2005/8/layout/hierarchy2"/>
    <dgm:cxn modelId="{BB3BA923-82DC-495E-A72F-9E7485507069}" type="presParOf" srcId="{54B59F54-973C-4563-9530-673A4CF7BFBB}" destId="{2D8F7B04-B380-4818-A952-6AEF0692E0CE}" srcOrd="1" destOrd="0" presId="urn:microsoft.com/office/officeart/2005/8/layout/hierarchy2"/>
    <dgm:cxn modelId="{BE15E1A5-35C3-47ED-B8A2-24A999A040DF}" type="presParOf" srcId="{2D8F7B04-B380-4818-A952-6AEF0692E0CE}" destId="{72537358-9AA5-46FC-8418-57873994E9F2}" srcOrd="0" destOrd="0" presId="urn:microsoft.com/office/officeart/2005/8/layout/hierarchy2"/>
    <dgm:cxn modelId="{72B1F2FB-6451-4F70-A584-FC938589B33A}" type="presParOf" srcId="{72537358-9AA5-46FC-8418-57873994E9F2}" destId="{EC2E17FF-CC49-4C9E-9419-836A3034CCE5}" srcOrd="0" destOrd="0" presId="urn:microsoft.com/office/officeart/2005/8/layout/hierarchy2"/>
    <dgm:cxn modelId="{C6F06708-4098-4FAA-9C70-0203AD8A2152}" type="presParOf" srcId="{2D8F7B04-B380-4818-A952-6AEF0692E0CE}" destId="{D484AB27-F921-4BCF-8072-643B6654CABB}" srcOrd="1" destOrd="0" presId="urn:microsoft.com/office/officeart/2005/8/layout/hierarchy2"/>
    <dgm:cxn modelId="{9AF2CD61-9232-44D7-BBF9-FE5C91828067}" type="presParOf" srcId="{D484AB27-F921-4BCF-8072-643B6654CABB}" destId="{07C0AA12-97BF-4968-80A6-159ACDCCB240}" srcOrd="0" destOrd="0" presId="urn:microsoft.com/office/officeart/2005/8/layout/hierarchy2"/>
    <dgm:cxn modelId="{A18FDF24-96AC-42C4-A029-01CC55FA46C1}" type="presParOf" srcId="{D484AB27-F921-4BCF-8072-643B6654CABB}" destId="{561A0AC1-BD9E-453A-A5FF-413A6C951016}" srcOrd="1" destOrd="0" presId="urn:microsoft.com/office/officeart/2005/8/layout/hierarchy2"/>
    <dgm:cxn modelId="{B16CE49D-C830-4C69-AE0C-8F01D3CDDD08}" type="presParOf" srcId="{7EA5A199-BE2C-4CB1-BA3A-847016B48E8F}" destId="{22B16855-6BC6-455D-B2A3-25A51D09C21D}" srcOrd="4" destOrd="0" presId="urn:microsoft.com/office/officeart/2005/8/layout/hierarchy2"/>
    <dgm:cxn modelId="{CB2BA51E-E0AA-4D94-9385-32DBDF66B12B}" type="presParOf" srcId="{22B16855-6BC6-455D-B2A3-25A51D09C21D}" destId="{9679DE09-F07A-4897-A5F4-B8591D576F33}" srcOrd="0" destOrd="0" presId="urn:microsoft.com/office/officeart/2005/8/layout/hierarchy2"/>
    <dgm:cxn modelId="{43E4E93E-0AD1-47C4-9B88-A1A1C3810951}" type="presParOf" srcId="{7EA5A199-BE2C-4CB1-BA3A-847016B48E8F}" destId="{9BEC8523-4DFF-45B8-9556-15AB7045543B}" srcOrd="5" destOrd="0" presId="urn:microsoft.com/office/officeart/2005/8/layout/hierarchy2"/>
    <dgm:cxn modelId="{9D20E7A3-A5DC-40AC-A384-CBF045186DA2}" type="presParOf" srcId="{9BEC8523-4DFF-45B8-9556-15AB7045543B}" destId="{8823E185-FFF3-420D-9947-F9A3FDF1EEDF}" srcOrd="0" destOrd="0" presId="urn:microsoft.com/office/officeart/2005/8/layout/hierarchy2"/>
    <dgm:cxn modelId="{6238BE69-07EF-4A96-983B-5D60C756F35E}" type="presParOf" srcId="{9BEC8523-4DFF-45B8-9556-15AB7045543B}" destId="{025DE1DE-4D4C-4412-BF26-F4983D22E4D8}" srcOrd="1" destOrd="0" presId="urn:microsoft.com/office/officeart/2005/8/layout/hierarchy2"/>
    <dgm:cxn modelId="{A269049E-609C-4E1E-8266-7F3B35112A91}" type="presParOf" srcId="{025DE1DE-4D4C-4412-BF26-F4983D22E4D8}" destId="{931909F6-85E1-4192-8A5F-E199A58EB912}" srcOrd="0" destOrd="0" presId="urn:microsoft.com/office/officeart/2005/8/layout/hierarchy2"/>
    <dgm:cxn modelId="{9227455A-D2FE-4601-83C6-48FD31B31E98}" type="presParOf" srcId="{931909F6-85E1-4192-8A5F-E199A58EB912}" destId="{65048EE3-8EB0-495F-A6DB-18E9FF26C278}" srcOrd="0" destOrd="0" presId="urn:microsoft.com/office/officeart/2005/8/layout/hierarchy2"/>
    <dgm:cxn modelId="{B930878E-3158-4936-96A4-C806A3E7CBF2}" type="presParOf" srcId="{025DE1DE-4D4C-4412-BF26-F4983D22E4D8}" destId="{59697755-A429-4C14-A720-64926DD453A5}" srcOrd="1" destOrd="0" presId="urn:microsoft.com/office/officeart/2005/8/layout/hierarchy2"/>
    <dgm:cxn modelId="{E0E2FE88-92D8-40B2-8DE7-94CB415F4314}" type="presParOf" srcId="{59697755-A429-4C14-A720-64926DD453A5}" destId="{CBF11343-800B-43EC-87D7-4339E090146E}" srcOrd="0" destOrd="0" presId="urn:microsoft.com/office/officeart/2005/8/layout/hierarchy2"/>
    <dgm:cxn modelId="{8898EA97-450C-4455-A59E-E885EA70E2DD}" type="presParOf" srcId="{59697755-A429-4C14-A720-64926DD453A5}" destId="{312644C6-D240-458D-95EA-BC3CB334832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10F018-9F79-4422-8A00-84D45C018440}" type="doc">
      <dgm:prSet loTypeId="urn:microsoft.com/office/officeart/2005/8/layout/hierarchy2" loCatId="hierarchy" qsTypeId="urn:microsoft.com/office/officeart/2005/8/quickstyle/simple5" qsCatId="simple" csTypeId="urn:microsoft.com/office/officeart/2005/8/colors/colorful1" csCatId="colorful" phldr="1"/>
      <dgm:spPr/>
      <dgm:t>
        <a:bodyPr/>
        <a:lstStyle/>
        <a:p>
          <a:endParaRPr lang="en-US"/>
        </a:p>
      </dgm:t>
    </dgm:pt>
    <dgm:pt modelId="{197D589D-88AB-44F2-9F04-066DC92B4F21}">
      <dgm:prSet phldrT="[Text]" custT="1"/>
      <dgm:spPr>
        <a:xfrm>
          <a:off x="6368" y="990598"/>
          <a:ext cx="2368560" cy="1066803"/>
        </a:xfrm>
        <a:prstGeom prst="roundRect">
          <a:avLst>
            <a:gd name="adj" fmla="val 10000"/>
          </a:avLst>
        </a:prstGeo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Company Sales Forecast  = $1,000,000</a:t>
          </a:r>
        </a:p>
      </dgm:t>
    </dgm:pt>
    <dgm:pt modelId="{EC7C28CC-C194-4B25-991B-2E6AA5D264B0}" type="parTrans" cxnId="{D44005C0-76C0-44CD-A04A-252A4336E764}">
      <dgm:prSet/>
      <dgm:spPr/>
      <dgm:t>
        <a:bodyPr/>
        <a:lstStyle/>
        <a:p>
          <a:endParaRPr lang="en-US">
            <a:effectLst>
              <a:outerShdw blurRad="38100" dist="38100" dir="2700000" algn="tl">
                <a:srgbClr val="000000">
                  <a:alpha val="43137"/>
                </a:srgbClr>
              </a:outerShdw>
            </a:effectLst>
          </a:endParaRPr>
        </a:p>
      </dgm:t>
    </dgm:pt>
    <dgm:pt modelId="{D6941E6F-F700-463F-A6CC-CC1262987BE8}" type="sibTrans" cxnId="{D44005C0-76C0-44CD-A04A-252A4336E764}">
      <dgm:prSet/>
      <dgm:spPr/>
      <dgm:t>
        <a:bodyPr/>
        <a:lstStyle/>
        <a:p>
          <a:endParaRPr lang="en-US">
            <a:effectLst>
              <a:outerShdw blurRad="38100" dist="38100" dir="2700000" algn="tl">
                <a:srgbClr val="000000">
                  <a:alpha val="43137"/>
                </a:srgbClr>
              </a:outerShdw>
            </a:effectLst>
          </a:endParaRPr>
        </a:p>
      </dgm:t>
    </dgm:pt>
    <dgm:pt modelId="{DCA310D4-7CCA-4907-9991-E3B623A5C9BD}">
      <dgm:prSet phldrT="[Text]" custT="1"/>
      <dgm:spPr>
        <a:xfrm>
          <a:off x="2816219" y="613838"/>
          <a:ext cx="2368560" cy="551613"/>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Region A Breakdown Factor = 0.20</a:t>
          </a:r>
        </a:p>
      </dgm:t>
    </dgm:pt>
    <dgm:pt modelId="{B5D532A4-3588-4D7A-B5B9-73A70A68D3C5}" type="parTrans" cxnId="{8780D792-9BBD-4FBD-A82E-3F568F518082}">
      <dgm:prSet/>
      <dgm:spPr>
        <a:xfrm rot="18289469">
          <a:off x="2209199" y="1190534"/>
          <a:ext cx="772750" cy="32575"/>
        </a:xfrm>
        <a:custGeom>
          <a:avLst/>
          <a:gdLst/>
          <a:ahLst/>
          <a:cxnLst/>
          <a:rect l="0" t="0" r="0" b="0"/>
          <a:pathLst>
            <a:path>
              <a:moveTo>
                <a:pt x="0" y="16287"/>
              </a:moveTo>
              <a:lnTo>
                <a:pt x="772750" y="16287"/>
              </a:lnTo>
            </a:path>
          </a:pathLst>
        </a:custGeom>
        <a:noFill/>
        <a:ln w="25400" cap="flat" cmpd="sng" algn="ctr">
          <a:solidFill>
            <a:srgbClr val="C0504D">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8F939866-4FE8-4355-97CA-84C1B823877A}" type="sibTrans" cxnId="{8780D792-9BBD-4FBD-A82E-3F568F518082}">
      <dgm:prSet/>
      <dgm:spPr/>
      <dgm:t>
        <a:bodyPr/>
        <a:lstStyle/>
        <a:p>
          <a:endParaRPr lang="en-US">
            <a:effectLst>
              <a:outerShdw blurRad="38100" dist="38100" dir="2700000" algn="tl">
                <a:srgbClr val="000000">
                  <a:alpha val="43137"/>
                </a:srgbClr>
              </a:outerShdw>
            </a:effectLst>
          </a:endParaRPr>
        </a:p>
      </dgm:t>
    </dgm:pt>
    <dgm:pt modelId="{EB6E0142-CE1B-4542-AE86-FF486B2F58B1}">
      <dgm:prSet phldrT="[Text]" custT="1"/>
      <dgm:spPr>
        <a:xfrm>
          <a:off x="5626070" y="613838"/>
          <a:ext cx="2368560" cy="551613"/>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Forecast = $200,000</a:t>
          </a:r>
        </a:p>
      </dgm:t>
    </dgm:pt>
    <dgm:pt modelId="{0C239FBB-16C4-4BE9-BFFC-A423798BD1FC}" type="parTrans" cxnId="{D71E5CAF-1E24-4C4B-A5F3-EDC7595212AB}">
      <dgm:prSet/>
      <dgm:spPr>
        <a:xfrm>
          <a:off x="5184780" y="873357"/>
          <a:ext cx="441290" cy="32575"/>
        </a:xfrm>
        <a:custGeom>
          <a:avLst/>
          <a:gdLst/>
          <a:ahLst/>
          <a:cxnLst/>
          <a:rect l="0" t="0" r="0" b="0"/>
          <a:pathLst>
            <a:path>
              <a:moveTo>
                <a:pt x="0" y="16287"/>
              </a:moveTo>
              <a:lnTo>
                <a:pt x="441290" y="16287"/>
              </a:lnTo>
            </a:path>
          </a:pathLst>
        </a:custGeom>
        <a:noFill/>
        <a:ln w="25400" cap="flat" cmpd="sng" algn="ctr">
          <a:solidFill>
            <a:srgbClr val="9BBB59">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3AB3AF94-8F64-4C67-8879-A66E520D59F5}" type="sibTrans" cxnId="{D71E5CAF-1E24-4C4B-A5F3-EDC7595212AB}">
      <dgm:prSet/>
      <dgm:spPr/>
      <dgm:t>
        <a:bodyPr/>
        <a:lstStyle/>
        <a:p>
          <a:endParaRPr lang="en-US">
            <a:effectLst>
              <a:outerShdw blurRad="38100" dist="38100" dir="2700000" algn="tl">
                <a:srgbClr val="000000">
                  <a:alpha val="43137"/>
                </a:srgbClr>
              </a:outerShdw>
            </a:effectLst>
          </a:endParaRPr>
        </a:p>
      </dgm:t>
    </dgm:pt>
    <dgm:pt modelId="{5FF0D6EE-E965-4747-A1B7-55E09A8EDFC3}">
      <dgm:prSet phldrT="[Text]" custT="1"/>
      <dgm:spPr>
        <a:xfrm>
          <a:off x="2816219" y="1248193"/>
          <a:ext cx="2368560" cy="551613"/>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Region B Breakdown Factor = 0.30</a:t>
          </a:r>
        </a:p>
      </dgm:t>
    </dgm:pt>
    <dgm:pt modelId="{A1426A34-30D1-4824-816D-CC134D565272}" type="parTrans" cxnId="{C6ECC69E-0043-4B69-8CDF-4C2F7F4AEA9D}">
      <dgm:prSet/>
      <dgm:spPr>
        <a:xfrm>
          <a:off x="2374929" y="1507712"/>
          <a:ext cx="441290" cy="32575"/>
        </a:xfrm>
        <a:custGeom>
          <a:avLst/>
          <a:gdLst/>
          <a:ahLst/>
          <a:cxnLst/>
          <a:rect l="0" t="0" r="0" b="0"/>
          <a:pathLst>
            <a:path>
              <a:moveTo>
                <a:pt x="0" y="16287"/>
              </a:moveTo>
              <a:lnTo>
                <a:pt x="441290" y="16287"/>
              </a:lnTo>
            </a:path>
          </a:pathLst>
        </a:custGeom>
        <a:noFill/>
        <a:ln w="25400" cap="flat" cmpd="sng" algn="ctr">
          <a:solidFill>
            <a:srgbClr val="C0504D">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7DFF9AF1-2966-4767-8CD1-253F5BA76180}" type="sibTrans" cxnId="{C6ECC69E-0043-4B69-8CDF-4C2F7F4AEA9D}">
      <dgm:prSet/>
      <dgm:spPr/>
      <dgm:t>
        <a:bodyPr/>
        <a:lstStyle/>
        <a:p>
          <a:endParaRPr lang="en-US">
            <a:effectLst>
              <a:outerShdw blurRad="38100" dist="38100" dir="2700000" algn="tl">
                <a:srgbClr val="000000">
                  <a:alpha val="43137"/>
                </a:srgbClr>
              </a:outerShdw>
            </a:effectLst>
          </a:endParaRPr>
        </a:p>
      </dgm:t>
    </dgm:pt>
    <dgm:pt modelId="{09A93EBF-C906-4C1D-8FDF-839A3BFB99CD}">
      <dgm:prSet phldrT="[Text]" custT="1"/>
      <dgm:spPr>
        <a:xfrm>
          <a:off x="5626070" y="1248193"/>
          <a:ext cx="2368560" cy="551613"/>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Forecast = $300,000</a:t>
          </a:r>
        </a:p>
      </dgm:t>
    </dgm:pt>
    <dgm:pt modelId="{1E773B81-F8F7-42AA-97E9-B7420B2B379B}" type="parTrans" cxnId="{AF2B5D83-9EFC-4232-85B7-E777A3BC2304}">
      <dgm:prSet/>
      <dgm:spPr>
        <a:xfrm>
          <a:off x="5184780" y="1507712"/>
          <a:ext cx="441290" cy="32575"/>
        </a:xfrm>
        <a:custGeom>
          <a:avLst/>
          <a:gdLst/>
          <a:ahLst/>
          <a:cxnLst/>
          <a:rect l="0" t="0" r="0" b="0"/>
          <a:pathLst>
            <a:path>
              <a:moveTo>
                <a:pt x="0" y="16287"/>
              </a:moveTo>
              <a:lnTo>
                <a:pt x="441290" y="16287"/>
              </a:lnTo>
            </a:path>
          </a:pathLst>
        </a:custGeom>
        <a:noFill/>
        <a:ln w="25400" cap="flat" cmpd="sng" algn="ctr">
          <a:solidFill>
            <a:srgbClr val="9BBB59">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3F045C9E-D425-4CC2-A655-A7AF5C86202F}" type="sibTrans" cxnId="{AF2B5D83-9EFC-4232-85B7-E777A3BC2304}">
      <dgm:prSet/>
      <dgm:spPr/>
      <dgm:t>
        <a:bodyPr/>
        <a:lstStyle/>
        <a:p>
          <a:endParaRPr lang="en-US">
            <a:effectLst>
              <a:outerShdw blurRad="38100" dist="38100" dir="2700000" algn="tl">
                <a:srgbClr val="000000">
                  <a:alpha val="43137"/>
                </a:srgbClr>
              </a:outerShdw>
            </a:effectLst>
          </a:endParaRPr>
        </a:p>
      </dgm:t>
    </dgm:pt>
    <dgm:pt modelId="{0F775BEF-F6EF-4CCA-999F-5B1150782D11}">
      <dgm:prSet phldrT="[Text]" custT="1"/>
      <dgm:spPr>
        <a:xfrm>
          <a:off x="2816219" y="1882548"/>
          <a:ext cx="2368560" cy="551613"/>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Region C Breakdown Factor = 0.50</a:t>
          </a:r>
        </a:p>
      </dgm:t>
    </dgm:pt>
    <dgm:pt modelId="{5F31B5D8-A335-41FA-867F-43FE3EBA126F}" type="parTrans" cxnId="{E261777F-D5A4-4DF2-9439-29F2184A807B}">
      <dgm:prSet/>
      <dgm:spPr>
        <a:xfrm rot="3310531">
          <a:off x="2209199" y="1824889"/>
          <a:ext cx="772750" cy="32575"/>
        </a:xfrm>
        <a:custGeom>
          <a:avLst/>
          <a:gdLst/>
          <a:ahLst/>
          <a:cxnLst/>
          <a:rect l="0" t="0" r="0" b="0"/>
          <a:pathLst>
            <a:path>
              <a:moveTo>
                <a:pt x="0" y="16287"/>
              </a:moveTo>
              <a:lnTo>
                <a:pt x="772750" y="16287"/>
              </a:lnTo>
            </a:path>
          </a:pathLst>
        </a:custGeom>
        <a:noFill/>
        <a:ln w="25400" cap="flat" cmpd="sng" algn="ctr">
          <a:solidFill>
            <a:srgbClr val="C0504D">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CC8FC99F-42DE-47D5-B7A9-C6FC276267FC}" type="sibTrans" cxnId="{E261777F-D5A4-4DF2-9439-29F2184A807B}">
      <dgm:prSet/>
      <dgm:spPr/>
      <dgm:t>
        <a:bodyPr/>
        <a:lstStyle/>
        <a:p>
          <a:endParaRPr lang="en-US">
            <a:effectLst>
              <a:outerShdw blurRad="38100" dist="38100" dir="2700000" algn="tl">
                <a:srgbClr val="000000">
                  <a:alpha val="43137"/>
                </a:srgbClr>
              </a:outerShdw>
            </a:effectLst>
          </a:endParaRPr>
        </a:p>
      </dgm:t>
    </dgm:pt>
    <dgm:pt modelId="{6B3E301B-80DF-4F2E-9AF1-60DA3CACCB47}">
      <dgm:prSet phldrT="[Text]" custT="1"/>
      <dgm:spPr>
        <a:xfrm>
          <a:off x="5626070" y="1882548"/>
          <a:ext cx="2368560" cy="551613"/>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gm:spPr>
      <dgm:t>
        <a:bodyPr/>
        <a:lstStyle/>
        <a:p>
          <a:r>
            <a:rPr lang="en-US" sz="1800" dirty="0">
              <a:solidFill>
                <a:sysClr val="window" lastClr="FFFFFF"/>
              </a:solidFill>
              <a:effectLst>
                <a:outerShdw blurRad="38100" dist="38100" dir="2700000" algn="tl">
                  <a:srgbClr val="000000">
                    <a:alpha val="43137"/>
                  </a:srgbClr>
                </a:outerShdw>
              </a:effectLst>
              <a:latin typeface="Calibri"/>
              <a:ea typeface="+mn-ea"/>
              <a:cs typeface="+mn-cs"/>
            </a:rPr>
            <a:t>Forecast = $500,000</a:t>
          </a:r>
        </a:p>
      </dgm:t>
    </dgm:pt>
    <dgm:pt modelId="{77BA4980-3351-4C3D-89D6-78179319683F}" type="parTrans" cxnId="{A5EE50F7-E91B-4DDC-B672-49E8627B3B4E}">
      <dgm:prSet/>
      <dgm:spPr>
        <a:xfrm>
          <a:off x="5184780" y="2142067"/>
          <a:ext cx="441290" cy="32575"/>
        </a:xfrm>
        <a:custGeom>
          <a:avLst/>
          <a:gdLst/>
          <a:ahLst/>
          <a:cxnLst/>
          <a:rect l="0" t="0" r="0" b="0"/>
          <a:pathLst>
            <a:path>
              <a:moveTo>
                <a:pt x="0" y="16287"/>
              </a:moveTo>
              <a:lnTo>
                <a:pt x="441290" y="16287"/>
              </a:lnTo>
            </a:path>
          </a:pathLst>
        </a:custGeom>
        <a:noFill/>
        <a:ln w="25400" cap="flat" cmpd="sng" algn="ctr">
          <a:solidFill>
            <a:srgbClr val="9BBB59">
              <a:hueOff val="0"/>
              <a:satOff val="0"/>
              <a:lumOff val="0"/>
              <a:alphaOff val="0"/>
            </a:srgbClr>
          </a:solidFill>
          <a:prstDash val="solid"/>
        </a:ln>
        <a:effectLst/>
      </dgm:spPr>
      <dgm:t>
        <a:bodyPr/>
        <a:lstStyle/>
        <a:p>
          <a:endParaRPr lang="en-US"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gm:t>
    </dgm:pt>
    <dgm:pt modelId="{72464AD0-78FC-49E0-B738-9B7083426407}" type="sibTrans" cxnId="{A5EE50F7-E91B-4DDC-B672-49E8627B3B4E}">
      <dgm:prSet/>
      <dgm:spPr/>
      <dgm:t>
        <a:bodyPr/>
        <a:lstStyle/>
        <a:p>
          <a:endParaRPr lang="en-US">
            <a:effectLst>
              <a:outerShdw blurRad="38100" dist="38100" dir="2700000" algn="tl">
                <a:srgbClr val="000000">
                  <a:alpha val="43137"/>
                </a:srgbClr>
              </a:outerShdw>
            </a:effectLst>
          </a:endParaRPr>
        </a:p>
      </dgm:t>
    </dgm:pt>
    <dgm:pt modelId="{8E8242DF-E5F5-4ABB-AE15-C41E6043BB26}" type="pres">
      <dgm:prSet presAssocID="{8E10F018-9F79-4422-8A00-84D45C018440}" presName="diagram" presStyleCnt="0">
        <dgm:presLayoutVars>
          <dgm:chPref val="1"/>
          <dgm:dir/>
          <dgm:animOne val="branch"/>
          <dgm:animLvl val="lvl"/>
          <dgm:resizeHandles val="exact"/>
        </dgm:presLayoutVars>
      </dgm:prSet>
      <dgm:spPr/>
    </dgm:pt>
    <dgm:pt modelId="{3EF442AD-C645-468D-850F-96147AA20AB8}" type="pres">
      <dgm:prSet presAssocID="{197D589D-88AB-44F2-9F04-066DC92B4F21}" presName="root1" presStyleCnt="0"/>
      <dgm:spPr/>
    </dgm:pt>
    <dgm:pt modelId="{C868F8D6-8363-46CC-83C4-ECF92F949511}" type="pres">
      <dgm:prSet presAssocID="{197D589D-88AB-44F2-9F04-066DC92B4F21}" presName="LevelOneTextNode" presStyleLbl="node0" presStyleIdx="0" presStyleCnt="1" custScaleX="214694" custScaleY="193397">
        <dgm:presLayoutVars>
          <dgm:chPref val="3"/>
        </dgm:presLayoutVars>
      </dgm:prSet>
      <dgm:spPr/>
    </dgm:pt>
    <dgm:pt modelId="{7EA5A199-BE2C-4CB1-BA3A-847016B48E8F}" type="pres">
      <dgm:prSet presAssocID="{197D589D-88AB-44F2-9F04-066DC92B4F21}" presName="level2hierChild" presStyleCnt="0"/>
      <dgm:spPr/>
    </dgm:pt>
    <dgm:pt modelId="{4A51ABA9-D3CF-4DE7-A0B1-6A999C0F5332}" type="pres">
      <dgm:prSet presAssocID="{B5D532A4-3588-4D7A-B5B9-73A70A68D3C5}" presName="conn2-1" presStyleLbl="parChTrans1D2" presStyleIdx="0" presStyleCnt="3"/>
      <dgm:spPr/>
    </dgm:pt>
    <dgm:pt modelId="{BCFB6AAC-D345-40FC-8D07-08406D17FA9F}" type="pres">
      <dgm:prSet presAssocID="{B5D532A4-3588-4D7A-B5B9-73A70A68D3C5}" presName="connTx" presStyleLbl="parChTrans1D2" presStyleIdx="0" presStyleCnt="3"/>
      <dgm:spPr/>
    </dgm:pt>
    <dgm:pt modelId="{2DCD7EBB-482E-4587-AEF5-70656A84B900}" type="pres">
      <dgm:prSet presAssocID="{DCA310D4-7CCA-4907-9991-E3B623A5C9BD}" presName="root2" presStyleCnt="0"/>
      <dgm:spPr/>
    </dgm:pt>
    <dgm:pt modelId="{13D63609-E3C2-4630-8C2F-1CE95C3E88D5}" type="pres">
      <dgm:prSet presAssocID="{DCA310D4-7CCA-4907-9991-E3B623A5C9BD}" presName="LevelTwoTextNode" presStyleLbl="node2" presStyleIdx="0" presStyleCnt="3" custScaleX="214694">
        <dgm:presLayoutVars>
          <dgm:chPref val="3"/>
        </dgm:presLayoutVars>
      </dgm:prSet>
      <dgm:spPr/>
    </dgm:pt>
    <dgm:pt modelId="{FA247C90-8AE4-4ADA-A54F-2B761F47B752}" type="pres">
      <dgm:prSet presAssocID="{DCA310D4-7CCA-4907-9991-E3B623A5C9BD}" presName="level3hierChild" presStyleCnt="0"/>
      <dgm:spPr/>
    </dgm:pt>
    <dgm:pt modelId="{F24ED3A0-1311-4F67-8FF9-4002720960FD}" type="pres">
      <dgm:prSet presAssocID="{0C239FBB-16C4-4BE9-BFFC-A423798BD1FC}" presName="conn2-1" presStyleLbl="parChTrans1D3" presStyleIdx="0" presStyleCnt="3"/>
      <dgm:spPr/>
    </dgm:pt>
    <dgm:pt modelId="{00894486-2F0F-49F6-BDF1-908E360DD024}" type="pres">
      <dgm:prSet presAssocID="{0C239FBB-16C4-4BE9-BFFC-A423798BD1FC}" presName="connTx" presStyleLbl="parChTrans1D3" presStyleIdx="0" presStyleCnt="3"/>
      <dgm:spPr/>
    </dgm:pt>
    <dgm:pt modelId="{53F625FD-AACB-4FAC-B56A-42A076C22125}" type="pres">
      <dgm:prSet presAssocID="{EB6E0142-CE1B-4542-AE86-FF486B2F58B1}" presName="root2" presStyleCnt="0"/>
      <dgm:spPr/>
    </dgm:pt>
    <dgm:pt modelId="{4AA8954E-D4C5-4489-B374-2F244429E636}" type="pres">
      <dgm:prSet presAssocID="{EB6E0142-CE1B-4542-AE86-FF486B2F58B1}" presName="LevelTwoTextNode" presStyleLbl="node3" presStyleIdx="0" presStyleCnt="3" custScaleX="214694">
        <dgm:presLayoutVars>
          <dgm:chPref val="3"/>
        </dgm:presLayoutVars>
      </dgm:prSet>
      <dgm:spPr/>
    </dgm:pt>
    <dgm:pt modelId="{E0F88EA1-B2FB-45E1-82B1-D178F60E21F8}" type="pres">
      <dgm:prSet presAssocID="{EB6E0142-CE1B-4542-AE86-FF486B2F58B1}" presName="level3hierChild" presStyleCnt="0"/>
      <dgm:spPr/>
    </dgm:pt>
    <dgm:pt modelId="{229E7DE9-658D-4B5F-BD2E-1657C9D49652}" type="pres">
      <dgm:prSet presAssocID="{A1426A34-30D1-4824-816D-CC134D565272}" presName="conn2-1" presStyleLbl="parChTrans1D2" presStyleIdx="1" presStyleCnt="3"/>
      <dgm:spPr/>
    </dgm:pt>
    <dgm:pt modelId="{36374808-82DA-4247-A734-8454724748DD}" type="pres">
      <dgm:prSet presAssocID="{A1426A34-30D1-4824-816D-CC134D565272}" presName="connTx" presStyleLbl="parChTrans1D2" presStyleIdx="1" presStyleCnt="3"/>
      <dgm:spPr/>
    </dgm:pt>
    <dgm:pt modelId="{54B59F54-973C-4563-9530-673A4CF7BFBB}" type="pres">
      <dgm:prSet presAssocID="{5FF0D6EE-E965-4747-A1B7-55E09A8EDFC3}" presName="root2" presStyleCnt="0"/>
      <dgm:spPr/>
    </dgm:pt>
    <dgm:pt modelId="{46D6F184-D282-475D-A035-1BA79DA771E7}" type="pres">
      <dgm:prSet presAssocID="{5FF0D6EE-E965-4747-A1B7-55E09A8EDFC3}" presName="LevelTwoTextNode" presStyleLbl="node2" presStyleIdx="1" presStyleCnt="3" custScaleX="214694">
        <dgm:presLayoutVars>
          <dgm:chPref val="3"/>
        </dgm:presLayoutVars>
      </dgm:prSet>
      <dgm:spPr/>
    </dgm:pt>
    <dgm:pt modelId="{2D8F7B04-B380-4818-A952-6AEF0692E0CE}" type="pres">
      <dgm:prSet presAssocID="{5FF0D6EE-E965-4747-A1B7-55E09A8EDFC3}" presName="level3hierChild" presStyleCnt="0"/>
      <dgm:spPr/>
    </dgm:pt>
    <dgm:pt modelId="{72537358-9AA5-46FC-8418-57873994E9F2}" type="pres">
      <dgm:prSet presAssocID="{1E773B81-F8F7-42AA-97E9-B7420B2B379B}" presName="conn2-1" presStyleLbl="parChTrans1D3" presStyleIdx="1" presStyleCnt="3"/>
      <dgm:spPr/>
    </dgm:pt>
    <dgm:pt modelId="{EC2E17FF-CC49-4C9E-9419-836A3034CCE5}" type="pres">
      <dgm:prSet presAssocID="{1E773B81-F8F7-42AA-97E9-B7420B2B379B}" presName="connTx" presStyleLbl="parChTrans1D3" presStyleIdx="1" presStyleCnt="3"/>
      <dgm:spPr/>
    </dgm:pt>
    <dgm:pt modelId="{D484AB27-F921-4BCF-8072-643B6654CABB}" type="pres">
      <dgm:prSet presAssocID="{09A93EBF-C906-4C1D-8FDF-839A3BFB99CD}" presName="root2" presStyleCnt="0"/>
      <dgm:spPr/>
    </dgm:pt>
    <dgm:pt modelId="{07C0AA12-97BF-4968-80A6-159ACDCCB240}" type="pres">
      <dgm:prSet presAssocID="{09A93EBF-C906-4C1D-8FDF-839A3BFB99CD}" presName="LevelTwoTextNode" presStyleLbl="node3" presStyleIdx="1" presStyleCnt="3" custScaleX="214694">
        <dgm:presLayoutVars>
          <dgm:chPref val="3"/>
        </dgm:presLayoutVars>
      </dgm:prSet>
      <dgm:spPr/>
    </dgm:pt>
    <dgm:pt modelId="{561A0AC1-BD9E-453A-A5FF-413A6C951016}" type="pres">
      <dgm:prSet presAssocID="{09A93EBF-C906-4C1D-8FDF-839A3BFB99CD}" presName="level3hierChild" presStyleCnt="0"/>
      <dgm:spPr/>
    </dgm:pt>
    <dgm:pt modelId="{22B16855-6BC6-455D-B2A3-25A51D09C21D}" type="pres">
      <dgm:prSet presAssocID="{5F31B5D8-A335-41FA-867F-43FE3EBA126F}" presName="conn2-1" presStyleLbl="parChTrans1D2" presStyleIdx="2" presStyleCnt="3"/>
      <dgm:spPr/>
    </dgm:pt>
    <dgm:pt modelId="{9679DE09-F07A-4897-A5F4-B8591D576F33}" type="pres">
      <dgm:prSet presAssocID="{5F31B5D8-A335-41FA-867F-43FE3EBA126F}" presName="connTx" presStyleLbl="parChTrans1D2" presStyleIdx="2" presStyleCnt="3"/>
      <dgm:spPr/>
    </dgm:pt>
    <dgm:pt modelId="{9BEC8523-4DFF-45B8-9556-15AB7045543B}" type="pres">
      <dgm:prSet presAssocID="{0F775BEF-F6EF-4CCA-999F-5B1150782D11}" presName="root2" presStyleCnt="0"/>
      <dgm:spPr/>
    </dgm:pt>
    <dgm:pt modelId="{8823E185-FFF3-420D-9947-F9A3FDF1EEDF}" type="pres">
      <dgm:prSet presAssocID="{0F775BEF-F6EF-4CCA-999F-5B1150782D11}" presName="LevelTwoTextNode" presStyleLbl="node2" presStyleIdx="2" presStyleCnt="3" custScaleX="214694">
        <dgm:presLayoutVars>
          <dgm:chPref val="3"/>
        </dgm:presLayoutVars>
      </dgm:prSet>
      <dgm:spPr/>
    </dgm:pt>
    <dgm:pt modelId="{025DE1DE-4D4C-4412-BF26-F4983D22E4D8}" type="pres">
      <dgm:prSet presAssocID="{0F775BEF-F6EF-4CCA-999F-5B1150782D11}" presName="level3hierChild" presStyleCnt="0"/>
      <dgm:spPr/>
    </dgm:pt>
    <dgm:pt modelId="{931909F6-85E1-4192-8A5F-E199A58EB912}" type="pres">
      <dgm:prSet presAssocID="{77BA4980-3351-4C3D-89D6-78179319683F}" presName="conn2-1" presStyleLbl="parChTrans1D3" presStyleIdx="2" presStyleCnt="3"/>
      <dgm:spPr/>
    </dgm:pt>
    <dgm:pt modelId="{65048EE3-8EB0-495F-A6DB-18E9FF26C278}" type="pres">
      <dgm:prSet presAssocID="{77BA4980-3351-4C3D-89D6-78179319683F}" presName="connTx" presStyleLbl="parChTrans1D3" presStyleIdx="2" presStyleCnt="3"/>
      <dgm:spPr/>
    </dgm:pt>
    <dgm:pt modelId="{59697755-A429-4C14-A720-64926DD453A5}" type="pres">
      <dgm:prSet presAssocID="{6B3E301B-80DF-4F2E-9AF1-60DA3CACCB47}" presName="root2" presStyleCnt="0"/>
      <dgm:spPr/>
    </dgm:pt>
    <dgm:pt modelId="{CBF11343-800B-43EC-87D7-4339E090146E}" type="pres">
      <dgm:prSet presAssocID="{6B3E301B-80DF-4F2E-9AF1-60DA3CACCB47}" presName="LevelTwoTextNode" presStyleLbl="node3" presStyleIdx="2" presStyleCnt="3" custScaleX="214694">
        <dgm:presLayoutVars>
          <dgm:chPref val="3"/>
        </dgm:presLayoutVars>
      </dgm:prSet>
      <dgm:spPr/>
    </dgm:pt>
    <dgm:pt modelId="{312644C6-D240-458D-95EA-BC3CB3348323}" type="pres">
      <dgm:prSet presAssocID="{6B3E301B-80DF-4F2E-9AF1-60DA3CACCB47}" presName="level3hierChild" presStyleCnt="0"/>
      <dgm:spPr/>
    </dgm:pt>
  </dgm:ptLst>
  <dgm:cxnLst>
    <dgm:cxn modelId="{DA56CE1C-BB7D-4077-A2A4-048C74C05E6C}" type="presOf" srcId="{77BA4980-3351-4C3D-89D6-78179319683F}" destId="{65048EE3-8EB0-495F-A6DB-18E9FF26C278}" srcOrd="1" destOrd="0" presId="urn:microsoft.com/office/officeart/2005/8/layout/hierarchy2"/>
    <dgm:cxn modelId="{1A19712A-69D0-4682-9A91-9A4AA37F6F7E}" type="presOf" srcId="{5F31B5D8-A335-41FA-867F-43FE3EBA126F}" destId="{9679DE09-F07A-4897-A5F4-B8591D576F33}" srcOrd="1" destOrd="0" presId="urn:microsoft.com/office/officeart/2005/8/layout/hierarchy2"/>
    <dgm:cxn modelId="{CAC2CB31-E65F-47B1-8691-6186A93D1CB8}" type="presOf" srcId="{5F31B5D8-A335-41FA-867F-43FE3EBA126F}" destId="{22B16855-6BC6-455D-B2A3-25A51D09C21D}" srcOrd="0" destOrd="0" presId="urn:microsoft.com/office/officeart/2005/8/layout/hierarchy2"/>
    <dgm:cxn modelId="{B17F5C34-CBE2-4021-B0ED-A2A2C346AB5A}" type="presOf" srcId="{B5D532A4-3588-4D7A-B5B9-73A70A68D3C5}" destId="{4A51ABA9-D3CF-4DE7-A0B1-6A999C0F5332}" srcOrd="0" destOrd="0" presId="urn:microsoft.com/office/officeart/2005/8/layout/hierarchy2"/>
    <dgm:cxn modelId="{A54E8D35-7477-458F-A950-7A60DBDBEA79}" type="presOf" srcId="{09A93EBF-C906-4C1D-8FDF-839A3BFB99CD}" destId="{07C0AA12-97BF-4968-80A6-159ACDCCB240}" srcOrd="0" destOrd="0" presId="urn:microsoft.com/office/officeart/2005/8/layout/hierarchy2"/>
    <dgm:cxn modelId="{D100E33F-B32C-4DEF-B315-1EF4BB34CCAA}" type="presOf" srcId="{0F775BEF-F6EF-4CCA-999F-5B1150782D11}" destId="{8823E185-FFF3-420D-9947-F9A3FDF1EEDF}" srcOrd="0" destOrd="0" presId="urn:microsoft.com/office/officeart/2005/8/layout/hierarchy2"/>
    <dgm:cxn modelId="{B236F04B-6556-4C9B-B43A-5A792AA169D1}" type="presOf" srcId="{197D589D-88AB-44F2-9F04-066DC92B4F21}" destId="{C868F8D6-8363-46CC-83C4-ECF92F949511}" srcOrd="0" destOrd="0" presId="urn:microsoft.com/office/officeart/2005/8/layout/hierarchy2"/>
    <dgm:cxn modelId="{7B7A2C6F-9CB5-4B06-83E4-938BCB315992}" type="presOf" srcId="{EB6E0142-CE1B-4542-AE86-FF486B2F58B1}" destId="{4AA8954E-D4C5-4489-B374-2F244429E636}" srcOrd="0" destOrd="0" presId="urn:microsoft.com/office/officeart/2005/8/layout/hierarchy2"/>
    <dgm:cxn modelId="{E261777F-D5A4-4DF2-9439-29F2184A807B}" srcId="{197D589D-88AB-44F2-9F04-066DC92B4F21}" destId="{0F775BEF-F6EF-4CCA-999F-5B1150782D11}" srcOrd="2" destOrd="0" parTransId="{5F31B5D8-A335-41FA-867F-43FE3EBA126F}" sibTransId="{CC8FC99F-42DE-47D5-B7A9-C6FC276267FC}"/>
    <dgm:cxn modelId="{3171587F-A136-4690-A3B1-D3F9CA572662}" type="presOf" srcId="{5FF0D6EE-E965-4747-A1B7-55E09A8EDFC3}" destId="{46D6F184-D282-475D-A035-1BA79DA771E7}" srcOrd="0" destOrd="0" presId="urn:microsoft.com/office/officeart/2005/8/layout/hierarchy2"/>
    <dgm:cxn modelId="{AF2B5D83-9EFC-4232-85B7-E777A3BC2304}" srcId="{5FF0D6EE-E965-4747-A1B7-55E09A8EDFC3}" destId="{09A93EBF-C906-4C1D-8FDF-839A3BFB99CD}" srcOrd="0" destOrd="0" parTransId="{1E773B81-F8F7-42AA-97E9-B7420B2B379B}" sibTransId="{3F045C9E-D425-4CC2-A655-A7AF5C86202F}"/>
    <dgm:cxn modelId="{D9365090-46CF-4BF7-A1C8-5ADBED1939EC}" type="presOf" srcId="{B5D532A4-3588-4D7A-B5B9-73A70A68D3C5}" destId="{BCFB6AAC-D345-40FC-8D07-08406D17FA9F}" srcOrd="1" destOrd="0" presId="urn:microsoft.com/office/officeart/2005/8/layout/hierarchy2"/>
    <dgm:cxn modelId="{8780D792-9BBD-4FBD-A82E-3F568F518082}" srcId="{197D589D-88AB-44F2-9F04-066DC92B4F21}" destId="{DCA310D4-7CCA-4907-9991-E3B623A5C9BD}" srcOrd="0" destOrd="0" parTransId="{B5D532A4-3588-4D7A-B5B9-73A70A68D3C5}" sibTransId="{8F939866-4FE8-4355-97CA-84C1B823877A}"/>
    <dgm:cxn modelId="{E41F059D-9954-40BB-909D-9D37F527A684}" type="presOf" srcId="{6B3E301B-80DF-4F2E-9AF1-60DA3CACCB47}" destId="{CBF11343-800B-43EC-87D7-4339E090146E}" srcOrd="0" destOrd="0" presId="urn:microsoft.com/office/officeart/2005/8/layout/hierarchy2"/>
    <dgm:cxn modelId="{C6ECC69E-0043-4B69-8CDF-4C2F7F4AEA9D}" srcId="{197D589D-88AB-44F2-9F04-066DC92B4F21}" destId="{5FF0D6EE-E965-4747-A1B7-55E09A8EDFC3}" srcOrd="1" destOrd="0" parTransId="{A1426A34-30D1-4824-816D-CC134D565272}" sibTransId="{7DFF9AF1-2966-4767-8CD1-253F5BA76180}"/>
    <dgm:cxn modelId="{8A1713AA-FBF2-49D8-88E6-B2A8C3821921}" type="presOf" srcId="{A1426A34-30D1-4824-816D-CC134D565272}" destId="{36374808-82DA-4247-A734-8454724748DD}" srcOrd="1" destOrd="0" presId="urn:microsoft.com/office/officeart/2005/8/layout/hierarchy2"/>
    <dgm:cxn modelId="{D71E5CAF-1E24-4C4B-A5F3-EDC7595212AB}" srcId="{DCA310D4-7CCA-4907-9991-E3B623A5C9BD}" destId="{EB6E0142-CE1B-4542-AE86-FF486B2F58B1}" srcOrd="0" destOrd="0" parTransId="{0C239FBB-16C4-4BE9-BFFC-A423798BD1FC}" sibTransId="{3AB3AF94-8F64-4C67-8879-A66E520D59F5}"/>
    <dgm:cxn modelId="{CC2B09B9-5F8B-42D8-9E5A-6487B34E392E}" type="presOf" srcId="{0C239FBB-16C4-4BE9-BFFC-A423798BD1FC}" destId="{F24ED3A0-1311-4F67-8FF9-4002720960FD}" srcOrd="0" destOrd="0" presId="urn:microsoft.com/office/officeart/2005/8/layout/hierarchy2"/>
    <dgm:cxn modelId="{D44005C0-76C0-44CD-A04A-252A4336E764}" srcId="{8E10F018-9F79-4422-8A00-84D45C018440}" destId="{197D589D-88AB-44F2-9F04-066DC92B4F21}" srcOrd="0" destOrd="0" parTransId="{EC7C28CC-C194-4B25-991B-2E6AA5D264B0}" sibTransId="{D6941E6F-F700-463F-A6CC-CC1262987BE8}"/>
    <dgm:cxn modelId="{47D6BBC5-E2DC-4EF6-B8EA-D57A080B0258}" type="presOf" srcId="{77BA4980-3351-4C3D-89D6-78179319683F}" destId="{931909F6-85E1-4192-8A5F-E199A58EB912}" srcOrd="0" destOrd="0" presId="urn:microsoft.com/office/officeart/2005/8/layout/hierarchy2"/>
    <dgm:cxn modelId="{B0025FCC-792B-4BD1-8C2B-FA75E6B11CAF}" type="presOf" srcId="{8E10F018-9F79-4422-8A00-84D45C018440}" destId="{8E8242DF-E5F5-4ABB-AE15-C41E6043BB26}" srcOrd="0" destOrd="0" presId="urn:microsoft.com/office/officeart/2005/8/layout/hierarchy2"/>
    <dgm:cxn modelId="{6B0096D1-1050-43FE-BF7B-6E6B51CA4C27}" type="presOf" srcId="{A1426A34-30D1-4824-816D-CC134D565272}" destId="{229E7DE9-658D-4B5F-BD2E-1657C9D49652}" srcOrd="0" destOrd="0" presId="urn:microsoft.com/office/officeart/2005/8/layout/hierarchy2"/>
    <dgm:cxn modelId="{DEBC27DA-E8D8-426D-8623-E6E747FE8ABF}" type="presOf" srcId="{0C239FBB-16C4-4BE9-BFFC-A423798BD1FC}" destId="{00894486-2F0F-49F6-BDF1-908E360DD024}" srcOrd="1" destOrd="0" presId="urn:microsoft.com/office/officeart/2005/8/layout/hierarchy2"/>
    <dgm:cxn modelId="{FBF51DE9-FD42-481C-92E3-F8B3ADA03714}" type="presOf" srcId="{1E773B81-F8F7-42AA-97E9-B7420B2B379B}" destId="{72537358-9AA5-46FC-8418-57873994E9F2}" srcOrd="0" destOrd="0" presId="urn:microsoft.com/office/officeart/2005/8/layout/hierarchy2"/>
    <dgm:cxn modelId="{256C44F0-5ECB-495B-B697-8C1DD81A28D8}" type="presOf" srcId="{1E773B81-F8F7-42AA-97E9-B7420B2B379B}" destId="{EC2E17FF-CC49-4C9E-9419-836A3034CCE5}" srcOrd="1" destOrd="0" presId="urn:microsoft.com/office/officeart/2005/8/layout/hierarchy2"/>
    <dgm:cxn modelId="{D3BEA3F5-DB35-4268-B247-446D32B37044}" type="presOf" srcId="{DCA310D4-7CCA-4907-9991-E3B623A5C9BD}" destId="{13D63609-E3C2-4630-8C2F-1CE95C3E88D5}" srcOrd="0" destOrd="0" presId="urn:microsoft.com/office/officeart/2005/8/layout/hierarchy2"/>
    <dgm:cxn modelId="{A5EE50F7-E91B-4DDC-B672-49E8627B3B4E}" srcId="{0F775BEF-F6EF-4CCA-999F-5B1150782D11}" destId="{6B3E301B-80DF-4F2E-9AF1-60DA3CACCB47}" srcOrd="0" destOrd="0" parTransId="{77BA4980-3351-4C3D-89D6-78179319683F}" sibTransId="{72464AD0-78FC-49E0-B738-9B7083426407}"/>
    <dgm:cxn modelId="{1A4D19C6-74C5-47A7-A5B0-8E3C3B5072B1}" type="presParOf" srcId="{8E8242DF-E5F5-4ABB-AE15-C41E6043BB26}" destId="{3EF442AD-C645-468D-850F-96147AA20AB8}" srcOrd="0" destOrd="0" presId="urn:microsoft.com/office/officeart/2005/8/layout/hierarchy2"/>
    <dgm:cxn modelId="{3576BE81-4503-4D9D-A2C3-E966B1B1503C}" type="presParOf" srcId="{3EF442AD-C645-468D-850F-96147AA20AB8}" destId="{C868F8D6-8363-46CC-83C4-ECF92F949511}" srcOrd="0" destOrd="0" presId="urn:microsoft.com/office/officeart/2005/8/layout/hierarchy2"/>
    <dgm:cxn modelId="{C4162A36-00AF-4C01-B9CD-FDC64846DEDA}" type="presParOf" srcId="{3EF442AD-C645-468D-850F-96147AA20AB8}" destId="{7EA5A199-BE2C-4CB1-BA3A-847016B48E8F}" srcOrd="1" destOrd="0" presId="urn:microsoft.com/office/officeart/2005/8/layout/hierarchy2"/>
    <dgm:cxn modelId="{20BEC9C1-A0EF-4720-ACA9-0C40E5B37B87}" type="presParOf" srcId="{7EA5A199-BE2C-4CB1-BA3A-847016B48E8F}" destId="{4A51ABA9-D3CF-4DE7-A0B1-6A999C0F5332}" srcOrd="0" destOrd="0" presId="urn:microsoft.com/office/officeart/2005/8/layout/hierarchy2"/>
    <dgm:cxn modelId="{E439CEC6-0689-46B9-90DF-91F25E473DC5}" type="presParOf" srcId="{4A51ABA9-D3CF-4DE7-A0B1-6A999C0F5332}" destId="{BCFB6AAC-D345-40FC-8D07-08406D17FA9F}" srcOrd="0" destOrd="0" presId="urn:microsoft.com/office/officeart/2005/8/layout/hierarchy2"/>
    <dgm:cxn modelId="{09263729-7750-4CA4-864C-77C0987DFE30}" type="presParOf" srcId="{7EA5A199-BE2C-4CB1-BA3A-847016B48E8F}" destId="{2DCD7EBB-482E-4587-AEF5-70656A84B900}" srcOrd="1" destOrd="0" presId="urn:microsoft.com/office/officeart/2005/8/layout/hierarchy2"/>
    <dgm:cxn modelId="{F8080586-30CF-41EE-81E4-7EAE9CD5249E}" type="presParOf" srcId="{2DCD7EBB-482E-4587-AEF5-70656A84B900}" destId="{13D63609-E3C2-4630-8C2F-1CE95C3E88D5}" srcOrd="0" destOrd="0" presId="urn:microsoft.com/office/officeart/2005/8/layout/hierarchy2"/>
    <dgm:cxn modelId="{A74FAB5A-73E5-497B-B8A0-8170BD2A3BF5}" type="presParOf" srcId="{2DCD7EBB-482E-4587-AEF5-70656A84B900}" destId="{FA247C90-8AE4-4ADA-A54F-2B761F47B752}" srcOrd="1" destOrd="0" presId="urn:microsoft.com/office/officeart/2005/8/layout/hierarchy2"/>
    <dgm:cxn modelId="{67F3A0F4-F05C-44A5-B34C-2B0E75E3281F}" type="presParOf" srcId="{FA247C90-8AE4-4ADA-A54F-2B761F47B752}" destId="{F24ED3A0-1311-4F67-8FF9-4002720960FD}" srcOrd="0" destOrd="0" presId="urn:microsoft.com/office/officeart/2005/8/layout/hierarchy2"/>
    <dgm:cxn modelId="{455EE77F-8BE5-4075-9E91-66D6A2FA4DB9}" type="presParOf" srcId="{F24ED3A0-1311-4F67-8FF9-4002720960FD}" destId="{00894486-2F0F-49F6-BDF1-908E360DD024}" srcOrd="0" destOrd="0" presId="urn:microsoft.com/office/officeart/2005/8/layout/hierarchy2"/>
    <dgm:cxn modelId="{88FAAD1E-5177-43F7-A8F7-42CA04618683}" type="presParOf" srcId="{FA247C90-8AE4-4ADA-A54F-2B761F47B752}" destId="{53F625FD-AACB-4FAC-B56A-42A076C22125}" srcOrd="1" destOrd="0" presId="urn:microsoft.com/office/officeart/2005/8/layout/hierarchy2"/>
    <dgm:cxn modelId="{77E498B5-B7B1-4CFB-9C83-9A2506DD4A85}" type="presParOf" srcId="{53F625FD-AACB-4FAC-B56A-42A076C22125}" destId="{4AA8954E-D4C5-4489-B374-2F244429E636}" srcOrd="0" destOrd="0" presId="urn:microsoft.com/office/officeart/2005/8/layout/hierarchy2"/>
    <dgm:cxn modelId="{C99C87C9-EC9A-4D61-A2E5-C79E2919890E}" type="presParOf" srcId="{53F625FD-AACB-4FAC-B56A-42A076C22125}" destId="{E0F88EA1-B2FB-45E1-82B1-D178F60E21F8}" srcOrd="1" destOrd="0" presId="urn:microsoft.com/office/officeart/2005/8/layout/hierarchy2"/>
    <dgm:cxn modelId="{1F0F12B0-CE40-45B5-B35B-557531548642}" type="presParOf" srcId="{7EA5A199-BE2C-4CB1-BA3A-847016B48E8F}" destId="{229E7DE9-658D-4B5F-BD2E-1657C9D49652}" srcOrd="2" destOrd="0" presId="urn:microsoft.com/office/officeart/2005/8/layout/hierarchy2"/>
    <dgm:cxn modelId="{7C192315-EE2F-4AAD-BBBD-D3AAD76258F3}" type="presParOf" srcId="{229E7DE9-658D-4B5F-BD2E-1657C9D49652}" destId="{36374808-82DA-4247-A734-8454724748DD}" srcOrd="0" destOrd="0" presId="urn:microsoft.com/office/officeart/2005/8/layout/hierarchy2"/>
    <dgm:cxn modelId="{85B4E991-1478-42D7-AD4D-BCF64A2FAF53}" type="presParOf" srcId="{7EA5A199-BE2C-4CB1-BA3A-847016B48E8F}" destId="{54B59F54-973C-4563-9530-673A4CF7BFBB}" srcOrd="3" destOrd="0" presId="urn:microsoft.com/office/officeart/2005/8/layout/hierarchy2"/>
    <dgm:cxn modelId="{7AA78896-7417-46BB-A3FB-DA219A0A2EB2}" type="presParOf" srcId="{54B59F54-973C-4563-9530-673A4CF7BFBB}" destId="{46D6F184-D282-475D-A035-1BA79DA771E7}" srcOrd="0" destOrd="0" presId="urn:microsoft.com/office/officeart/2005/8/layout/hierarchy2"/>
    <dgm:cxn modelId="{12B5A0DA-6F3E-4A37-883E-C8EF6CED62B8}" type="presParOf" srcId="{54B59F54-973C-4563-9530-673A4CF7BFBB}" destId="{2D8F7B04-B380-4818-A952-6AEF0692E0CE}" srcOrd="1" destOrd="0" presId="urn:microsoft.com/office/officeart/2005/8/layout/hierarchy2"/>
    <dgm:cxn modelId="{498ACF85-71AD-4CF5-A630-EDCFCEC6D6C2}" type="presParOf" srcId="{2D8F7B04-B380-4818-A952-6AEF0692E0CE}" destId="{72537358-9AA5-46FC-8418-57873994E9F2}" srcOrd="0" destOrd="0" presId="urn:microsoft.com/office/officeart/2005/8/layout/hierarchy2"/>
    <dgm:cxn modelId="{63BA83FA-5828-493B-8AB5-62EA5D9C2062}" type="presParOf" srcId="{72537358-9AA5-46FC-8418-57873994E9F2}" destId="{EC2E17FF-CC49-4C9E-9419-836A3034CCE5}" srcOrd="0" destOrd="0" presId="urn:microsoft.com/office/officeart/2005/8/layout/hierarchy2"/>
    <dgm:cxn modelId="{F32220C1-1E19-44AD-8F41-626B6AD24655}" type="presParOf" srcId="{2D8F7B04-B380-4818-A952-6AEF0692E0CE}" destId="{D484AB27-F921-4BCF-8072-643B6654CABB}" srcOrd="1" destOrd="0" presId="urn:microsoft.com/office/officeart/2005/8/layout/hierarchy2"/>
    <dgm:cxn modelId="{5BCA50A9-6E1A-4C76-AA5B-E2946C9A0497}" type="presParOf" srcId="{D484AB27-F921-4BCF-8072-643B6654CABB}" destId="{07C0AA12-97BF-4968-80A6-159ACDCCB240}" srcOrd="0" destOrd="0" presId="urn:microsoft.com/office/officeart/2005/8/layout/hierarchy2"/>
    <dgm:cxn modelId="{2B7CA624-51A2-49F1-9BBE-32FBCEBEB924}" type="presParOf" srcId="{D484AB27-F921-4BCF-8072-643B6654CABB}" destId="{561A0AC1-BD9E-453A-A5FF-413A6C951016}" srcOrd="1" destOrd="0" presId="urn:microsoft.com/office/officeart/2005/8/layout/hierarchy2"/>
    <dgm:cxn modelId="{91C02EEC-585E-47E6-A2CF-1C4752FE35FA}" type="presParOf" srcId="{7EA5A199-BE2C-4CB1-BA3A-847016B48E8F}" destId="{22B16855-6BC6-455D-B2A3-25A51D09C21D}" srcOrd="4" destOrd="0" presId="urn:microsoft.com/office/officeart/2005/8/layout/hierarchy2"/>
    <dgm:cxn modelId="{2F25E7B7-4754-4FAE-B5F8-97CF1D5920CF}" type="presParOf" srcId="{22B16855-6BC6-455D-B2A3-25A51D09C21D}" destId="{9679DE09-F07A-4897-A5F4-B8591D576F33}" srcOrd="0" destOrd="0" presId="urn:microsoft.com/office/officeart/2005/8/layout/hierarchy2"/>
    <dgm:cxn modelId="{3B86C653-F3B7-4D74-88FB-01756CE0F2D3}" type="presParOf" srcId="{7EA5A199-BE2C-4CB1-BA3A-847016B48E8F}" destId="{9BEC8523-4DFF-45B8-9556-15AB7045543B}" srcOrd="5" destOrd="0" presId="urn:microsoft.com/office/officeart/2005/8/layout/hierarchy2"/>
    <dgm:cxn modelId="{38D9DE5B-68AB-42EB-BD5D-B9CAFAE4307A}" type="presParOf" srcId="{9BEC8523-4DFF-45B8-9556-15AB7045543B}" destId="{8823E185-FFF3-420D-9947-F9A3FDF1EEDF}" srcOrd="0" destOrd="0" presId="urn:microsoft.com/office/officeart/2005/8/layout/hierarchy2"/>
    <dgm:cxn modelId="{BF1AB906-DADA-46E6-9D4E-6C0000B5D0A4}" type="presParOf" srcId="{9BEC8523-4DFF-45B8-9556-15AB7045543B}" destId="{025DE1DE-4D4C-4412-BF26-F4983D22E4D8}" srcOrd="1" destOrd="0" presId="urn:microsoft.com/office/officeart/2005/8/layout/hierarchy2"/>
    <dgm:cxn modelId="{975EF2DD-4D8D-45D4-AD14-5EFA2E26F0A3}" type="presParOf" srcId="{025DE1DE-4D4C-4412-BF26-F4983D22E4D8}" destId="{931909F6-85E1-4192-8A5F-E199A58EB912}" srcOrd="0" destOrd="0" presId="urn:microsoft.com/office/officeart/2005/8/layout/hierarchy2"/>
    <dgm:cxn modelId="{A2CCEB3F-8833-47E6-80C6-ADB08C8982C0}" type="presParOf" srcId="{931909F6-85E1-4192-8A5F-E199A58EB912}" destId="{65048EE3-8EB0-495F-A6DB-18E9FF26C278}" srcOrd="0" destOrd="0" presId="urn:microsoft.com/office/officeart/2005/8/layout/hierarchy2"/>
    <dgm:cxn modelId="{34AFE5BD-05D7-4D6A-BEE6-52CEDEAD2734}" type="presParOf" srcId="{025DE1DE-4D4C-4412-BF26-F4983D22E4D8}" destId="{59697755-A429-4C14-A720-64926DD453A5}" srcOrd="1" destOrd="0" presId="urn:microsoft.com/office/officeart/2005/8/layout/hierarchy2"/>
    <dgm:cxn modelId="{47478821-620E-4AAD-9EA8-DCC66315B5E3}" type="presParOf" srcId="{59697755-A429-4C14-A720-64926DD453A5}" destId="{CBF11343-800B-43EC-87D7-4339E090146E}" srcOrd="0" destOrd="0" presId="urn:microsoft.com/office/officeart/2005/8/layout/hierarchy2"/>
    <dgm:cxn modelId="{249BE880-734B-46D2-BB61-7AE48F218012}" type="presParOf" srcId="{59697755-A429-4C14-A720-64926DD453A5}" destId="{312644C6-D240-458D-95EA-BC3CB3348323}"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31689B-89EB-42EA-B786-1637E376D8A4}">
      <dsp:nvSpPr>
        <dsp:cNvPr id="0" name=""/>
        <dsp:cNvSpPr/>
      </dsp:nvSpPr>
      <dsp:spPr>
        <a:xfrm rot="5400000">
          <a:off x="4336827" y="526822"/>
          <a:ext cx="1585912" cy="4828032"/>
        </a:xfrm>
        <a:prstGeom prst="round2SameRect">
          <a:avLst/>
        </a:prstGeom>
        <a:solidFill>
          <a:srgbClr val="C0504D">
            <a:tint val="40000"/>
            <a:alpha val="90000"/>
            <a:hueOff val="0"/>
            <a:satOff val="0"/>
            <a:lumOff val="0"/>
            <a:alphaOff val="0"/>
          </a:srgbClr>
        </a:solidFill>
        <a:ln w="9525" cap="flat" cmpd="sng" algn="ctr">
          <a:solidFill>
            <a:srgbClr val="C0504D">
              <a:tint val="40000"/>
              <a:alpha val="90000"/>
              <a:hueOff val="0"/>
              <a:satOff val="0"/>
              <a:lumOff val="0"/>
              <a:alphaOff val="0"/>
            </a:srgb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solidFill>
                <a:sysClr val="windowText" lastClr="000000">
                  <a:hueOff val="0"/>
                  <a:satOff val="0"/>
                  <a:lumOff val="0"/>
                  <a:alphaOff val="0"/>
                </a:sysClr>
              </a:solidFill>
              <a:latin typeface="Calibri"/>
              <a:ea typeface="+mn-ea"/>
              <a:cs typeface="+mn-cs"/>
            </a:rPr>
            <a:t>Forecast made at the “front-line” level and then aggregated up the levels of the organization.</a:t>
          </a:r>
        </a:p>
      </dsp:txBody>
      <dsp:txXfrm rot="-5400000">
        <a:off x="2715767" y="2225300"/>
        <a:ext cx="4750614" cy="1431076"/>
      </dsp:txXfrm>
    </dsp:sp>
    <dsp:sp modelId="{4A6D9ADB-C268-4F58-AD0F-A4AC53162F40}">
      <dsp:nvSpPr>
        <dsp:cNvPr id="0" name=""/>
        <dsp:cNvSpPr/>
      </dsp:nvSpPr>
      <dsp:spPr>
        <a:xfrm>
          <a:off x="0" y="1981191"/>
          <a:ext cx="2715768" cy="1982390"/>
        </a:xfrm>
        <a:prstGeom prst="upArrow">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ysClr val="window" lastClr="FFFFFF"/>
              </a:solidFill>
              <a:effectLst>
                <a:outerShdw blurRad="38100" dist="38100" dir="2700000" algn="tl">
                  <a:srgbClr val="000000">
                    <a:alpha val="43137"/>
                  </a:srgbClr>
                </a:outerShdw>
              </a:effectLst>
              <a:latin typeface="Calibri"/>
              <a:ea typeface="+mn-ea"/>
              <a:cs typeface="+mn-cs"/>
            </a:rPr>
            <a:t>Bottom</a:t>
          </a:r>
          <a:r>
            <a:rPr lang="en-US" sz="2900" kern="1200" dirty="0">
              <a:solidFill>
                <a:sysClr val="window" lastClr="FFFFFF"/>
              </a:solidFill>
              <a:latin typeface="Calibri"/>
              <a:ea typeface="+mn-ea"/>
              <a:cs typeface="+mn-cs"/>
            </a:rPr>
            <a:t>  Up</a:t>
          </a:r>
        </a:p>
      </dsp:txBody>
      <dsp:txXfrm>
        <a:off x="678942" y="2476789"/>
        <a:ext cx="1357884" cy="1486792"/>
      </dsp:txXfrm>
    </dsp:sp>
    <dsp:sp modelId="{C7C38F1D-20D5-4916-8B2A-48A3DD39B359}">
      <dsp:nvSpPr>
        <dsp:cNvPr id="0" name=""/>
        <dsp:cNvSpPr/>
      </dsp:nvSpPr>
      <dsp:spPr>
        <a:xfrm rot="5400000">
          <a:off x="4336827" y="-1392464"/>
          <a:ext cx="1585912" cy="4828032"/>
        </a:xfrm>
        <a:prstGeom prst="round2SameRect">
          <a:avLst/>
        </a:prstGeom>
        <a:solidFill>
          <a:srgbClr val="9BBB59">
            <a:tint val="40000"/>
            <a:alpha val="90000"/>
            <a:hueOff val="0"/>
            <a:satOff val="0"/>
            <a:lumOff val="0"/>
            <a:alphaOff val="0"/>
          </a:srgbClr>
        </a:solidFill>
        <a:ln w="9525" cap="flat" cmpd="sng" algn="ctr">
          <a:solidFill>
            <a:srgbClr val="9BBB59">
              <a:tint val="40000"/>
              <a:alpha val="90000"/>
              <a:hueOff val="0"/>
              <a:satOff val="0"/>
              <a:lumOff val="0"/>
              <a:alphaOff val="0"/>
            </a:srgb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solidFill>
                <a:sysClr val="windowText" lastClr="000000">
                  <a:hueOff val="0"/>
                  <a:satOff val="0"/>
                  <a:lumOff val="0"/>
                  <a:alphaOff val="0"/>
                </a:sysClr>
              </a:solidFill>
              <a:latin typeface="Calibri"/>
              <a:ea typeface="+mn-ea"/>
              <a:cs typeface="+mn-cs"/>
            </a:rPr>
            <a:t>Forecast made at the business unit level then broken down by zone, region, district, territory, and account forecast.</a:t>
          </a:r>
        </a:p>
      </dsp:txBody>
      <dsp:txXfrm rot="-5400000">
        <a:off x="2715767" y="306014"/>
        <a:ext cx="4750614" cy="1431076"/>
      </dsp:txXfrm>
    </dsp:sp>
    <dsp:sp modelId="{6B983F10-E808-400B-925B-B9ED457BB8C7}">
      <dsp:nvSpPr>
        <dsp:cNvPr id="0" name=""/>
        <dsp:cNvSpPr/>
      </dsp:nvSpPr>
      <dsp:spPr>
        <a:xfrm>
          <a:off x="0" y="9"/>
          <a:ext cx="2715768" cy="1982390"/>
        </a:xfrm>
        <a:prstGeom prst="downArrow">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solidFill>
                <a:sysClr val="window" lastClr="FFFFFF"/>
              </a:solidFill>
              <a:effectLst>
                <a:outerShdw blurRad="38100" dist="38100" dir="2700000" algn="tl">
                  <a:srgbClr val="000000">
                    <a:alpha val="43137"/>
                  </a:srgbClr>
                </a:outerShdw>
              </a:effectLst>
              <a:latin typeface="Calibri"/>
              <a:ea typeface="+mn-ea"/>
              <a:cs typeface="+mn-cs"/>
            </a:rPr>
            <a:t>Top  Down</a:t>
          </a:r>
        </a:p>
      </dsp:txBody>
      <dsp:txXfrm>
        <a:off x="678942" y="9"/>
        <a:ext cx="1357884" cy="14867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68F8D6-8363-46CC-83C4-ECF92F949511}">
      <dsp:nvSpPr>
        <dsp:cNvPr id="0" name=""/>
        <dsp:cNvSpPr/>
      </dsp:nvSpPr>
      <dsp:spPr>
        <a:xfrm>
          <a:off x="5295" y="1004256"/>
          <a:ext cx="2307910" cy="1039486"/>
        </a:xfrm>
        <a:prstGeom prst="roundRect">
          <a:avLst>
            <a:gd name="adj" fmla="val 10000"/>
          </a:avLst>
        </a:prstGeo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Company Sales Forecast  = $1,000,000</a:t>
          </a:r>
        </a:p>
      </dsp:txBody>
      <dsp:txXfrm>
        <a:off x="35741" y="1034702"/>
        <a:ext cx="2247018" cy="978594"/>
      </dsp:txXfrm>
    </dsp:sp>
    <dsp:sp modelId="{4A51ABA9-D3CF-4DE7-A0B1-6A999C0F5332}">
      <dsp:nvSpPr>
        <dsp:cNvPr id="0" name=""/>
        <dsp:cNvSpPr/>
      </dsp:nvSpPr>
      <dsp:spPr>
        <a:xfrm rot="18289469">
          <a:off x="2151719" y="1199073"/>
          <a:ext cx="752963" cy="31741"/>
        </a:xfrm>
        <a:custGeom>
          <a:avLst/>
          <a:gdLst/>
          <a:ahLst/>
          <a:cxnLst/>
          <a:rect l="0" t="0" r="0" b="0"/>
          <a:pathLst>
            <a:path>
              <a:moveTo>
                <a:pt x="0" y="15870"/>
              </a:moveTo>
              <a:lnTo>
                <a:pt x="752963" y="15870"/>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2501999" y="1219647"/>
        <a:ext cx="0" cy="0"/>
      </dsp:txXfrm>
    </dsp:sp>
    <dsp:sp modelId="{13D63609-E3C2-4630-8C2F-1CE95C3E88D5}">
      <dsp:nvSpPr>
        <dsp:cNvPr id="0" name=""/>
        <dsp:cNvSpPr/>
      </dsp:nvSpPr>
      <dsp:spPr>
        <a:xfrm>
          <a:off x="2743196" y="637144"/>
          <a:ext cx="2514606" cy="537488"/>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Region A Portion= 0.33</a:t>
          </a:r>
        </a:p>
      </dsp:txBody>
      <dsp:txXfrm>
        <a:off x="2758938" y="652886"/>
        <a:ext cx="2483122" cy="506004"/>
      </dsp:txXfrm>
    </dsp:sp>
    <dsp:sp modelId="{F24ED3A0-1311-4F67-8FF9-4002720960FD}">
      <dsp:nvSpPr>
        <dsp:cNvPr id="0" name=""/>
        <dsp:cNvSpPr/>
      </dsp:nvSpPr>
      <dsp:spPr>
        <a:xfrm>
          <a:off x="5257803" y="890017"/>
          <a:ext cx="429990" cy="31741"/>
        </a:xfrm>
        <a:custGeom>
          <a:avLst/>
          <a:gdLst/>
          <a:ahLst/>
          <a:cxnLst/>
          <a:rect l="0" t="0" r="0" b="0"/>
          <a:pathLst>
            <a:path>
              <a:moveTo>
                <a:pt x="0" y="15870"/>
              </a:moveTo>
              <a:lnTo>
                <a:pt x="429990" y="15870"/>
              </a:lnTo>
            </a:path>
          </a:pathLst>
        </a:custGeom>
        <a:noFill/>
        <a:ln w="25400" cap="flat" cmpd="sng" algn="ctr">
          <a:solidFill>
            <a:srgbClr val="9BBB59">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5462048" y="895138"/>
        <a:ext cx="0" cy="0"/>
      </dsp:txXfrm>
    </dsp:sp>
    <dsp:sp modelId="{4AA8954E-D4C5-4489-B374-2F244429E636}">
      <dsp:nvSpPr>
        <dsp:cNvPr id="0" name=""/>
        <dsp:cNvSpPr/>
      </dsp:nvSpPr>
      <dsp:spPr>
        <a:xfrm>
          <a:off x="5687793" y="637144"/>
          <a:ext cx="2307910" cy="537488"/>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Forecast = $333,333</a:t>
          </a:r>
        </a:p>
      </dsp:txBody>
      <dsp:txXfrm>
        <a:off x="5703535" y="652886"/>
        <a:ext cx="2276426" cy="506004"/>
      </dsp:txXfrm>
    </dsp:sp>
    <dsp:sp modelId="{229E7DE9-658D-4B5F-BD2E-1657C9D49652}">
      <dsp:nvSpPr>
        <dsp:cNvPr id="0" name=""/>
        <dsp:cNvSpPr/>
      </dsp:nvSpPr>
      <dsp:spPr>
        <a:xfrm>
          <a:off x="2313206" y="1508129"/>
          <a:ext cx="429990" cy="31741"/>
        </a:xfrm>
        <a:custGeom>
          <a:avLst/>
          <a:gdLst/>
          <a:ahLst/>
          <a:cxnLst/>
          <a:rect l="0" t="0" r="0" b="0"/>
          <a:pathLst>
            <a:path>
              <a:moveTo>
                <a:pt x="0" y="15870"/>
              </a:moveTo>
              <a:lnTo>
                <a:pt x="429990" y="15870"/>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2517451" y="1513250"/>
        <a:ext cx="0" cy="0"/>
      </dsp:txXfrm>
    </dsp:sp>
    <dsp:sp modelId="{46D6F184-D282-475D-A035-1BA79DA771E7}">
      <dsp:nvSpPr>
        <dsp:cNvPr id="0" name=""/>
        <dsp:cNvSpPr/>
      </dsp:nvSpPr>
      <dsp:spPr>
        <a:xfrm>
          <a:off x="2743196" y="1255255"/>
          <a:ext cx="2514606" cy="537488"/>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Region B Portion = 0.33</a:t>
          </a:r>
        </a:p>
      </dsp:txBody>
      <dsp:txXfrm>
        <a:off x="2758938" y="1270997"/>
        <a:ext cx="2483122" cy="506004"/>
      </dsp:txXfrm>
    </dsp:sp>
    <dsp:sp modelId="{72537358-9AA5-46FC-8418-57873994E9F2}">
      <dsp:nvSpPr>
        <dsp:cNvPr id="0" name=""/>
        <dsp:cNvSpPr/>
      </dsp:nvSpPr>
      <dsp:spPr>
        <a:xfrm>
          <a:off x="5257803" y="1508129"/>
          <a:ext cx="429990" cy="31741"/>
        </a:xfrm>
        <a:custGeom>
          <a:avLst/>
          <a:gdLst/>
          <a:ahLst/>
          <a:cxnLst/>
          <a:rect l="0" t="0" r="0" b="0"/>
          <a:pathLst>
            <a:path>
              <a:moveTo>
                <a:pt x="0" y="15870"/>
              </a:moveTo>
              <a:lnTo>
                <a:pt x="429990" y="15870"/>
              </a:lnTo>
            </a:path>
          </a:pathLst>
        </a:custGeom>
        <a:noFill/>
        <a:ln w="25400" cap="flat" cmpd="sng" algn="ctr">
          <a:solidFill>
            <a:srgbClr val="9BBB59">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5462048" y="1513250"/>
        <a:ext cx="0" cy="0"/>
      </dsp:txXfrm>
    </dsp:sp>
    <dsp:sp modelId="{07C0AA12-97BF-4968-80A6-159ACDCCB240}">
      <dsp:nvSpPr>
        <dsp:cNvPr id="0" name=""/>
        <dsp:cNvSpPr/>
      </dsp:nvSpPr>
      <dsp:spPr>
        <a:xfrm>
          <a:off x="5687793" y="1255255"/>
          <a:ext cx="2307910" cy="537488"/>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Forecast = $333,333</a:t>
          </a:r>
        </a:p>
      </dsp:txBody>
      <dsp:txXfrm>
        <a:off x="5703535" y="1270997"/>
        <a:ext cx="2276426" cy="506004"/>
      </dsp:txXfrm>
    </dsp:sp>
    <dsp:sp modelId="{22B16855-6BC6-455D-B2A3-25A51D09C21D}">
      <dsp:nvSpPr>
        <dsp:cNvPr id="0" name=""/>
        <dsp:cNvSpPr/>
      </dsp:nvSpPr>
      <dsp:spPr>
        <a:xfrm rot="3310531">
          <a:off x="2151719" y="1817185"/>
          <a:ext cx="752963" cy="31741"/>
        </a:xfrm>
        <a:custGeom>
          <a:avLst/>
          <a:gdLst/>
          <a:ahLst/>
          <a:cxnLst/>
          <a:rect l="0" t="0" r="0" b="0"/>
          <a:pathLst>
            <a:path>
              <a:moveTo>
                <a:pt x="0" y="15870"/>
              </a:moveTo>
              <a:lnTo>
                <a:pt x="752963" y="15870"/>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2532904" y="1806853"/>
        <a:ext cx="0" cy="0"/>
      </dsp:txXfrm>
    </dsp:sp>
    <dsp:sp modelId="{8823E185-FFF3-420D-9947-F9A3FDF1EEDF}">
      <dsp:nvSpPr>
        <dsp:cNvPr id="0" name=""/>
        <dsp:cNvSpPr/>
      </dsp:nvSpPr>
      <dsp:spPr>
        <a:xfrm>
          <a:off x="2743196" y="1873367"/>
          <a:ext cx="2514606" cy="537488"/>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Region C Portion = 0.34</a:t>
          </a:r>
        </a:p>
      </dsp:txBody>
      <dsp:txXfrm>
        <a:off x="2758938" y="1889109"/>
        <a:ext cx="2483122" cy="506004"/>
      </dsp:txXfrm>
    </dsp:sp>
    <dsp:sp modelId="{931909F6-85E1-4192-8A5F-E199A58EB912}">
      <dsp:nvSpPr>
        <dsp:cNvPr id="0" name=""/>
        <dsp:cNvSpPr/>
      </dsp:nvSpPr>
      <dsp:spPr>
        <a:xfrm>
          <a:off x="5257803" y="2126240"/>
          <a:ext cx="429990" cy="31741"/>
        </a:xfrm>
        <a:custGeom>
          <a:avLst/>
          <a:gdLst/>
          <a:ahLst/>
          <a:cxnLst/>
          <a:rect l="0" t="0" r="0" b="0"/>
          <a:pathLst>
            <a:path>
              <a:moveTo>
                <a:pt x="0" y="15870"/>
              </a:moveTo>
              <a:lnTo>
                <a:pt x="429990" y="15870"/>
              </a:lnTo>
            </a:path>
          </a:pathLst>
        </a:custGeom>
        <a:noFill/>
        <a:ln w="25400" cap="flat" cmpd="sng" algn="ctr">
          <a:solidFill>
            <a:srgbClr val="9BBB59">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5462048" y="2131361"/>
        <a:ext cx="0" cy="0"/>
      </dsp:txXfrm>
    </dsp:sp>
    <dsp:sp modelId="{CBF11343-800B-43EC-87D7-4339E090146E}">
      <dsp:nvSpPr>
        <dsp:cNvPr id="0" name=""/>
        <dsp:cNvSpPr/>
      </dsp:nvSpPr>
      <dsp:spPr>
        <a:xfrm>
          <a:off x="5687793" y="1873367"/>
          <a:ext cx="2307910" cy="537488"/>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Forecast = $333,334</a:t>
          </a:r>
        </a:p>
      </dsp:txBody>
      <dsp:txXfrm>
        <a:off x="5703535" y="1889109"/>
        <a:ext cx="2276426" cy="5060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68F8D6-8363-46CC-83C4-ECF92F949511}">
      <dsp:nvSpPr>
        <dsp:cNvPr id="0" name=""/>
        <dsp:cNvSpPr/>
      </dsp:nvSpPr>
      <dsp:spPr>
        <a:xfrm>
          <a:off x="6368" y="990598"/>
          <a:ext cx="2368560" cy="1066803"/>
        </a:xfrm>
        <a:prstGeom prst="roundRect">
          <a:avLst>
            <a:gd name="adj" fmla="val 10000"/>
          </a:avLst>
        </a:prstGeom>
        <a:gradFill rotWithShape="0">
          <a:gsLst>
            <a:gs pos="0">
              <a:srgbClr val="4F81BD">
                <a:hueOff val="0"/>
                <a:satOff val="0"/>
                <a:lumOff val="0"/>
                <a:alphaOff val="0"/>
                <a:shade val="51000"/>
                <a:satMod val="130000"/>
              </a:srgbClr>
            </a:gs>
            <a:gs pos="80000">
              <a:srgbClr val="4F81BD">
                <a:hueOff val="0"/>
                <a:satOff val="0"/>
                <a:lumOff val="0"/>
                <a:alphaOff val="0"/>
                <a:shade val="93000"/>
                <a:satMod val="130000"/>
              </a:srgbClr>
            </a:gs>
            <a:gs pos="100000">
              <a:srgbClr val="4F81B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Company Sales Forecast  = $1,000,000</a:t>
          </a:r>
        </a:p>
      </dsp:txBody>
      <dsp:txXfrm>
        <a:off x="37614" y="1021844"/>
        <a:ext cx="2306068" cy="1004311"/>
      </dsp:txXfrm>
    </dsp:sp>
    <dsp:sp modelId="{4A51ABA9-D3CF-4DE7-A0B1-6A999C0F5332}">
      <dsp:nvSpPr>
        <dsp:cNvPr id="0" name=""/>
        <dsp:cNvSpPr/>
      </dsp:nvSpPr>
      <dsp:spPr>
        <a:xfrm rot="18289469">
          <a:off x="2209199" y="1190534"/>
          <a:ext cx="772750" cy="32575"/>
        </a:xfrm>
        <a:custGeom>
          <a:avLst/>
          <a:gdLst/>
          <a:ahLst/>
          <a:cxnLst/>
          <a:rect l="0" t="0" r="0" b="0"/>
          <a:pathLst>
            <a:path>
              <a:moveTo>
                <a:pt x="0" y="16287"/>
              </a:moveTo>
              <a:lnTo>
                <a:pt x="772750" y="16287"/>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2568683" y="1211648"/>
        <a:ext cx="0" cy="0"/>
      </dsp:txXfrm>
    </dsp:sp>
    <dsp:sp modelId="{13D63609-E3C2-4630-8C2F-1CE95C3E88D5}">
      <dsp:nvSpPr>
        <dsp:cNvPr id="0" name=""/>
        <dsp:cNvSpPr/>
      </dsp:nvSpPr>
      <dsp:spPr>
        <a:xfrm>
          <a:off x="2816219" y="613838"/>
          <a:ext cx="2368560" cy="551613"/>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Region A Breakdown Factor = 0.20</a:t>
          </a:r>
        </a:p>
      </dsp:txBody>
      <dsp:txXfrm>
        <a:off x="2832375" y="629994"/>
        <a:ext cx="2336248" cy="519301"/>
      </dsp:txXfrm>
    </dsp:sp>
    <dsp:sp modelId="{F24ED3A0-1311-4F67-8FF9-4002720960FD}">
      <dsp:nvSpPr>
        <dsp:cNvPr id="0" name=""/>
        <dsp:cNvSpPr/>
      </dsp:nvSpPr>
      <dsp:spPr>
        <a:xfrm>
          <a:off x="5184780" y="873357"/>
          <a:ext cx="441290" cy="32575"/>
        </a:xfrm>
        <a:custGeom>
          <a:avLst/>
          <a:gdLst/>
          <a:ahLst/>
          <a:cxnLst/>
          <a:rect l="0" t="0" r="0" b="0"/>
          <a:pathLst>
            <a:path>
              <a:moveTo>
                <a:pt x="0" y="16287"/>
              </a:moveTo>
              <a:lnTo>
                <a:pt x="441290" y="16287"/>
              </a:lnTo>
            </a:path>
          </a:pathLst>
        </a:custGeom>
        <a:noFill/>
        <a:ln w="25400" cap="flat" cmpd="sng" algn="ctr">
          <a:solidFill>
            <a:srgbClr val="9BBB59">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5394393" y="878612"/>
        <a:ext cx="0" cy="0"/>
      </dsp:txXfrm>
    </dsp:sp>
    <dsp:sp modelId="{4AA8954E-D4C5-4489-B374-2F244429E636}">
      <dsp:nvSpPr>
        <dsp:cNvPr id="0" name=""/>
        <dsp:cNvSpPr/>
      </dsp:nvSpPr>
      <dsp:spPr>
        <a:xfrm>
          <a:off x="5626070" y="613838"/>
          <a:ext cx="2368560" cy="551613"/>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Forecast = $200,000</a:t>
          </a:r>
        </a:p>
      </dsp:txBody>
      <dsp:txXfrm>
        <a:off x="5642226" y="629994"/>
        <a:ext cx="2336248" cy="519301"/>
      </dsp:txXfrm>
    </dsp:sp>
    <dsp:sp modelId="{229E7DE9-658D-4B5F-BD2E-1657C9D49652}">
      <dsp:nvSpPr>
        <dsp:cNvPr id="0" name=""/>
        <dsp:cNvSpPr/>
      </dsp:nvSpPr>
      <dsp:spPr>
        <a:xfrm>
          <a:off x="2374929" y="1507712"/>
          <a:ext cx="441290" cy="32575"/>
        </a:xfrm>
        <a:custGeom>
          <a:avLst/>
          <a:gdLst/>
          <a:ahLst/>
          <a:cxnLst/>
          <a:rect l="0" t="0" r="0" b="0"/>
          <a:pathLst>
            <a:path>
              <a:moveTo>
                <a:pt x="0" y="16287"/>
              </a:moveTo>
              <a:lnTo>
                <a:pt x="441290" y="16287"/>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2584542" y="1512967"/>
        <a:ext cx="0" cy="0"/>
      </dsp:txXfrm>
    </dsp:sp>
    <dsp:sp modelId="{46D6F184-D282-475D-A035-1BA79DA771E7}">
      <dsp:nvSpPr>
        <dsp:cNvPr id="0" name=""/>
        <dsp:cNvSpPr/>
      </dsp:nvSpPr>
      <dsp:spPr>
        <a:xfrm>
          <a:off x="2816219" y="1248193"/>
          <a:ext cx="2368560" cy="551613"/>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Region B Breakdown Factor = 0.30</a:t>
          </a:r>
        </a:p>
      </dsp:txBody>
      <dsp:txXfrm>
        <a:off x="2832375" y="1264349"/>
        <a:ext cx="2336248" cy="519301"/>
      </dsp:txXfrm>
    </dsp:sp>
    <dsp:sp modelId="{72537358-9AA5-46FC-8418-57873994E9F2}">
      <dsp:nvSpPr>
        <dsp:cNvPr id="0" name=""/>
        <dsp:cNvSpPr/>
      </dsp:nvSpPr>
      <dsp:spPr>
        <a:xfrm>
          <a:off x="5184780" y="1507712"/>
          <a:ext cx="441290" cy="32575"/>
        </a:xfrm>
        <a:custGeom>
          <a:avLst/>
          <a:gdLst/>
          <a:ahLst/>
          <a:cxnLst/>
          <a:rect l="0" t="0" r="0" b="0"/>
          <a:pathLst>
            <a:path>
              <a:moveTo>
                <a:pt x="0" y="16287"/>
              </a:moveTo>
              <a:lnTo>
                <a:pt x="441290" y="16287"/>
              </a:lnTo>
            </a:path>
          </a:pathLst>
        </a:custGeom>
        <a:noFill/>
        <a:ln w="25400" cap="flat" cmpd="sng" algn="ctr">
          <a:solidFill>
            <a:srgbClr val="9BBB59">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5394393" y="1512967"/>
        <a:ext cx="0" cy="0"/>
      </dsp:txXfrm>
    </dsp:sp>
    <dsp:sp modelId="{07C0AA12-97BF-4968-80A6-159ACDCCB240}">
      <dsp:nvSpPr>
        <dsp:cNvPr id="0" name=""/>
        <dsp:cNvSpPr/>
      </dsp:nvSpPr>
      <dsp:spPr>
        <a:xfrm>
          <a:off x="5626070" y="1248193"/>
          <a:ext cx="2368560" cy="551613"/>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Forecast = $300,000</a:t>
          </a:r>
        </a:p>
      </dsp:txBody>
      <dsp:txXfrm>
        <a:off x="5642226" y="1264349"/>
        <a:ext cx="2336248" cy="519301"/>
      </dsp:txXfrm>
    </dsp:sp>
    <dsp:sp modelId="{22B16855-6BC6-455D-B2A3-25A51D09C21D}">
      <dsp:nvSpPr>
        <dsp:cNvPr id="0" name=""/>
        <dsp:cNvSpPr/>
      </dsp:nvSpPr>
      <dsp:spPr>
        <a:xfrm rot="3310531">
          <a:off x="2209199" y="1824889"/>
          <a:ext cx="772750" cy="32575"/>
        </a:xfrm>
        <a:custGeom>
          <a:avLst/>
          <a:gdLst/>
          <a:ahLst/>
          <a:cxnLst/>
          <a:rect l="0" t="0" r="0" b="0"/>
          <a:pathLst>
            <a:path>
              <a:moveTo>
                <a:pt x="0" y="16287"/>
              </a:moveTo>
              <a:lnTo>
                <a:pt x="772750" y="16287"/>
              </a:lnTo>
            </a:path>
          </a:pathLst>
        </a:custGeom>
        <a:noFill/>
        <a:ln w="25400" cap="flat" cmpd="sng" algn="ctr">
          <a:solidFill>
            <a:srgbClr val="C0504D">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2600400" y="1814286"/>
        <a:ext cx="0" cy="0"/>
      </dsp:txXfrm>
    </dsp:sp>
    <dsp:sp modelId="{8823E185-FFF3-420D-9947-F9A3FDF1EEDF}">
      <dsp:nvSpPr>
        <dsp:cNvPr id="0" name=""/>
        <dsp:cNvSpPr/>
      </dsp:nvSpPr>
      <dsp:spPr>
        <a:xfrm>
          <a:off x="2816219" y="1882548"/>
          <a:ext cx="2368560" cy="551613"/>
        </a:xfrm>
        <a:prstGeom prst="roundRect">
          <a:avLst>
            <a:gd name="adj" fmla="val 10000"/>
          </a:avLst>
        </a:prstGeom>
        <a:gradFill rotWithShape="0">
          <a:gsLst>
            <a:gs pos="0">
              <a:srgbClr val="C0504D">
                <a:hueOff val="0"/>
                <a:satOff val="0"/>
                <a:lumOff val="0"/>
                <a:alphaOff val="0"/>
                <a:shade val="51000"/>
                <a:satMod val="130000"/>
              </a:srgbClr>
            </a:gs>
            <a:gs pos="80000">
              <a:srgbClr val="C0504D">
                <a:hueOff val="0"/>
                <a:satOff val="0"/>
                <a:lumOff val="0"/>
                <a:alphaOff val="0"/>
                <a:shade val="93000"/>
                <a:satMod val="130000"/>
              </a:srgbClr>
            </a:gs>
            <a:gs pos="100000">
              <a:srgbClr val="C0504D">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Region C Breakdown Factor = 0.50</a:t>
          </a:r>
        </a:p>
      </dsp:txBody>
      <dsp:txXfrm>
        <a:off x="2832375" y="1898704"/>
        <a:ext cx="2336248" cy="519301"/>
      </dsp:txXfrm>
    </dsp:sp>
    <dsp:sp modelId="{931909F6-85E1-4192-8A5F-E199A58EB912}">
      <dsp:nvSpPr>
        <dsp:cNvPr id="0" name=""/>
        <dsp:cNvSpPr/>
      </dsp:nvSpPr>
      <dsp:spPr>
        <a:xfrm>
          <a:off x="5184780" y="2142067"/>
          <a:ext cx="441290" cy="32575"/>
        </a:xfrm>
        <a:custGeom>
          <a:avLst/>
          <a:gdLst/>
          <a:ahLst/>
          <a:cxnLst/>
          <a:rect l="0" t="0" r="0" b="0"/>
          <a:pathLst>
            <a:path>
              <a:moveTo>
                <a:pt x="0" y="16287"/>
              </a:moveTo>
              <a:lnTo>
                <a:pt x="441290" y="16287"/>
              </a:lnTo>
            </a:path>
          </a:pathLst>
        </a:custGeom>
        <a:noFill/>
        <a:ln w="25400" cap="flat" cmpd="sng" algn="ctr">
          <a:solidFill>
            <a:srgbClr val="9BBB59">
              <a:hueOff val="0"/>
              <a:satOff val="0"/>
              <a:lumOff val="0"/>
              <a:alphaOff val="0"/>
            </a:srgb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ysClr val="windowText" lastClr="000000">
                <a:hueOff val="0"/>
                <a:satOff val="0"/>
                <a:lumOff val="0"/>
                <a:alphaOff val="0"/>
              </a:sysClr>
            </a:solidFill>
            <a:effectLst>
              <a:outerShdw blurRad="38100" dist="38100" dir="2700000" algn="tl">
                <a:srgbClr val="000000">
                  <a:alpha val="43137"/>
                </a:srgbClr>
              </a:outerShdw>
            </a:effectLst>
            <a:latin typeface="Calibri"/>
            <a:ea typeface="+mn-ea"/>
            <a:cs typeface="+mn-cs"/>
          </a:endParaRPr>
        </a:p>
      </dsp:txBody>
      <dsp:txXfrm>
        <a:off x="5394393" y="2147322"/>
        <a:ext cx="0" cy="0"/>
      </dsp:txXfrm>
    </dsp:sp>
    <dsp:sp modelId="{CBF11343-800B-43EC-87D7-4339E090146E}">
      <dsp:nvSpPr>
        <dsp:cNvPr id="0" name=""/>
        <dsp:cNvSpPr/>
      </dsp:nvSpPr>
      <dsp:spPr>
        <a:xfrm>
          <a:off x="5626070" y="1882548"/>
          <a:ext cx="2368560" cy="551613"/>
        </a:xfrm>
        <a:prstGeom prst="roundRect">
          <a:avLst>
            <a:gd name="adj" fmla="val 10000"/>
          </a:avLst>
        </a:prstGeom>
        <a:gradFill rotWithShape="0">
          <a:gsLst>
            <a:gs pos="0">
              <a:srgbClr val="9BBB59">
                <a:hueOff val="0"/>
                <a:satOff val="0"/>
                <a:lumOff val="0"/>
                <a:alphaOff val="0"/>
                <a:shade val="51000"/>
                <a:satMod val="130000"/>
              </a:srgbClr>
            </a:gs>
            <a:gs pos="80000">
              <a:srgbClr val="9BBB59">
                <a:hueOff val="0"/>
                <a:satOff val="0"/>
                <a:lumOff val="0"/>
                <a:alphaOff val="0"/>
                <a:shade val="93000"/>
                <a:satMod val="130000"/>
              </a:srgbClr>
            </a:gs>
            <a:gs pos="100000">
              <a:srgbClr val="9BBB59">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ysClr val="window" lastClr="FFFFFF"/>
              </a:solidFill>
              <a:effectLst>
                <a:outerShdw blurRad="38100" dist="38100" dir="2700000" algn="tl">
                  <a:srgbClr val="000000">
                    <a:alpha val="43137"/>
                  </a:srgbClr>
                </a:outerShdw>
              </a:effectLst>
              <a:latin typeface="Calibri"/>
              <a:ea typeface="+mn-ea"/>
              <a:cs typeface="+mn-cs"/>
            </a:rPr>
            <a:t>Forecast = $500,000</a:t>
          </a:r>
        </a:p>
      </dsp:txBody>
      <dsp:txXfrm>
        <a:off x="5642226" y="1898704"/>
        <a:ext cx="2336248" cy="51930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dirty="0"/>
          </a:p>
        </p:txBody>
      </p:sp>
      <p:sp>
        <p:nvSpPr>
          <p:cNvPr id="112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dirty="0"/>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dirty="0"/>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237E3A48-5816-4407-BD05-29482C893C3E}" type="slidenum">
              <a:rPr lang="en-US" altLang="en-US"/>
              <a:pPr/>
              <a:t>‹#›</a:t>
            </a:fld>
            <a:endParaRPr lang="en-US" altLang="en-US" dirty="0"/>
          </a:p>
        </p:txBody>
      </p:sp>
    </p:spTree>
    <p:extLst>
      <p:ext uri="{BB962C8B-B14F-4D97-AF65-F5344CB8AC3E}">
        <p14:creationId xmlns:p14="http://schemas.microsoft.com/office/powerpoint/2010/main" val="309790726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a:ea typeface="+mn-ea"/>
        <a:cs typeface="+mn-cs"/>
      </a:defRPr>
    </a:lvl1pPr>
    <a:lvl2pPr marL="457200" algn="l" rtl="0" fontAlgn="base">
      <a:spcBef>
        <a:spcPct val="30000"/>
      </a:spcBef>
      <a:spcAft>
        <a:spcPct val="0"/>
      </a:spcAft>
      <a:defRPr sz="1200" kern="1200">
        <a:solidFill>
          <a:schemeClr val="tx1"/>
        </a:solidFill>
        <a:latin typeface="Times"/>
        <a:ea typeface="+mn-ea"/>
        <a:cs typeface="+mn-cs"/>
      </a:defRPr>
    </a:lvl2pPr>
    <a:lvl3pPr marL="914400" algn="l" rtl="0" fontAlgn="base">
      <a:spcBef>
        <a:spcPct val="30000"/>
      </a:spcBef>
      <a:spcAft>
        <a:spcPct val="0"/>
      </a:spcAft>
      <a:defRPr sz="1200" kern="1200">
        <a:solidFill>
          <a:schemeClr val="tx1"/>
        </a:solidFill>
        <a:latin typeface="Times"/>
        <a:ea typeface="+mn-ea"/>
        <a:cs typeface="+mn-cs"/>
      </a:defRPr>
    </a:lvl3pPr>
    <a:lvl4pPr marL="1371600" algn="l" rtl="0" fontAlgn="base">
      <a:spcBef>
        <a:spcPct val="30000"/>
      </a:spcBef>
      <a:spcAft>
        <a:spcPct val="0"/>
      </a:spcAft>
      <a:defRPr sz="1200" kern="1200">
        <a:solidFill>
          <a:schemeClr val="tx1"/>
        </a:solidFill>
        <a:latin typeface="Times"/>
        <a:ea typeface="+mn-ea"/>
        <a:cs typeface="+mn-cs"/>
      </a:defRPr>
    </a:lvl4pPr>
    <a:lvl5pPr marL="1828800" algn="l" rtl="0" fontAlgn="base">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F1C8950-4EAD-475C-8143-D3C582BC5981}"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r>
              <a:rPr lang="en-US" altLang="en-US" dirty="0"/>
              <a:t>A meteorologist used all the latest technology to predict a bright and sunny day in the mid-80s. It rained most of the day and never got warmer than 70 degrees. The weather forecast missed the mark on this particular occasion, but the meteorologist will continue to make weather forecasts and to work on improving weather forecasting procedures.</a:t>
            </a:r>
          </a:p>
          <a:p>
            <a:r>
              <a:rPr lang="en-US" altLang="en-US" dirty="0"/>
              <a:t>Sales managers face a situation similar to that of the meteorologist. The business environment is complex and dynamic, there are a number of forecasting methods available, and often forecasts are incorrect. Nevertheless, sales managers must continue to forecast and to work on improving their forecasting procedures.</a:t>
            </a:r>
          </a:p>
        </p:txBody>
      </p:sp>
    </p:spTree>
    <p:extLst>
      <p:ext uri="{BB962C8B-B14F-4D97-AF65-F5344CB8AC3E}">
        <p14:creationId xmlns:p14="http://schemas.microsoft.com/office/powerpoint/2010/main" val="3476777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3AF11B-5943-41C8-9AA8-BC2FEEF90622}" type="slidenum">
              <a:rPr lang="en-US"/>
              <a:pPr/>
              <a:t>2</a:t>
            </a:fld>
            <a:endParaRPr lang="en-US" dirty="0"/>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r>
              <a:rPr lang="en-US" b="1" dirty="0"/>
              <a:t>Why is forecasting so important to sales managers? </a:t>
            </a:r>
            <a:r>
              <a:rPr lang="en-US" dirty="0"/>
              <a:t>In one sense, </a:t>
            </a:r>
            <a:r>
              <a:rPr lang="en-US" b="1" dirty="0"/>
              <a:t>all sales management decisions are based on some type of forecast</a:t>
            </a:r>
            <a:r>
              <a:rPr lang="en-US" dirty="0"/>
              <a:t>. The sales manager decides on a certain action because he or she thinks that it will produce a certain result. This expected result is a forecast, even though the sales manager may not have quantified it or may not have used a mathematical forecasting procedure. More specifically, forecasts provide the basis for the following sales management decisions:</a:t>
            </a:r>
          </a:p>
          <a:p>
            <a:pPr marL="171450" indent="-171450">
              <a:buFont typeface="Arial" panose="020B0604020202020204" pitchFamily="34" charset="0"/>
              <a:buChar char="•"/>
            </a:pPr>
            <a:r>
              <a:rPr lang="en-US" dirty="0"/>
              <a:t>Determining salesforce size</a:t>
            </a:r>
          </a:p>
          <a:p>
            <a:pPr marL="171450" indent="-171450">
              <a:buFont typeface="Arial" panose="020B0604020202020204" pitchFamily="34" charset="0"/>
              <a:buChar char="•"/>
            </a:pPr>
            <a:r>
              <a:rPr lang="en-US" dirty="0"/>
              <a:t>Designing territories</a:t>
            </a:r>
          </a:p>
          <a:p>
            <a:pPr marL="171450" indent="-171450">
              <a:buFont typeface="Arial" panose="020B0604020202020204" pitchFamily="34" charset="0"/>
              <a:buChar char="•"/>
            </a:pPr>
            <a:r>
              <a:rPr lang="en-US" dirty="0"/>
              <a:t>Establishing sales quotas and setting budgets</a:t>
            </a:r>
          </a:p>
          <a:p>
            <a:pPr marL="171450" indent="-171450">
              <a:buFont typeface="Arial" panose="020B0604020202020204" pitchFamily="34" charset="0"/>
              <a:buChar char="•"/>
            </a:pPr>
            <a:r>
              <a:rPr lang="en-US" dirty="0"/>
              <a:t>Determining sales compensation levels</a:t>
            </a:r>
          </a:p>
          <a:p>
            <a:pPr marL="171450" indent="-171450">
              <a:buFont typeface="Arial" panose="020B0604020202020204" pitchFamily="34" charset="0"/>
              <a:buChar char="•"/>
            </a:pPr>
            <a:r>
              <a:rPr lang="en-US" dirty="0"/>
              <a:t>Evaluating salesperson performance</a:t>
            </a:r>
          </a:p>
          <a:p>
            <a:pPr marL="171450" indent="-171450">
              <a:buFont typeface="Arial" panose="020B0604020202020204" pitchFamily="34" charset="0"/>
              <a:buChar char="•"/>
            </a:pPr>
            <a:r>
              <a:rPr lang="en-US" dirty="0"/>
              <a:t>Evaluating prospective accounts</a:t>
            </a:r>
          </a:p>
          <a:p>
            <a:pPr marL="0" indent="0">
              <a:buFont typeface="Arial" panose="020B0604020202020204" pitchFamily="34" charset="0"/>
              <a:buNone/>
            </a:pP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FORECASTING BY SALES MANAGERS</a:t>
            </a:r>
          </a:p>
          <a:p>
            <a:pPr marL="0" indent="0">
              <a:buFont typeface="Arial" panose="020B0604020202020204" pitchFamily="34" charset="0"/>
              <a:buNone/>
            </a:pPr>
            <a:r>
              <a:rPr lang="en-US" dirty="0"/>
              <a:t>Although </a:t>
            </a:r>
            <a:r>
              <a:rPr lang="en-US" b="1" dirty="0"/>
              <a:t>top management levels are most concerned with total firm forecasts</a:t>
            </a:r>
            <a:r>
              <a:rPr lang="en-US" dirty="0"/>
              <a:t>, </a:t>
            </a:r>
            <a:r>
              <a:rPr lang="en-US" b="1" i="1" dirty="0"/>
              <a:t>sales managers are typically interested in developing and using forecasts for specific areas, such as accounts, territories, districts, regions, and/or zones</a:t>
            </a:r>
            <a:r>
              <a:rPr lang="en-US" dirty="0"/>
              <a:t>. For example, a district sales manager would be concerned with the district forecast as well as forecasts for individual territories and accounts within the district. There are, however, different types of forecasts that sales managers might use in different ways, and different approaches and methods might be used to develop these forecasts.</a:t>
            </a:r>
          </a:p>
          <a:p>
            <a:pPr marL="0" indent="0">
              <a:buFont typeface="Arial" panose="020B0604020202020204" pitchFamily="34" charset="0"/>
              <a:buNone/>
            </a:pPr>
            <a:endParaRPr lang="en-US" dirty="0"/>
          </a:p>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dirty="0"/>
              <a:t>As illustrated in this Figure, </a:t>
            </a:r>
            <a:r>
              <a:rPr lang="en-US" b="1" dirty="0"/>
              <a:t>at least </a:t>
            </a:r>
            <a:r>
              <a:rPr lang="en-US" b="1" u="sng" dirty="0"/>
              <a:t>three</a:t>
            </a:r>
            <a:r>
              <a:rPr lang="en-US" b="1" dirty="0"/>
              <a:t> factors must be defined when referring to a forecast</a:t>
            </a:r>
            <a:r>
              <a:rPr lang="en-US" dirty="0"/>
              <a:t>: </a:t>
            </a:r>
            <a:r>
              <a:rPr lang="en-US" b="1" dirty="0"/>
              <a:t>the product level</a:t>
            </a:r>
            <a:r>
              <a:rPr lang="en-US" dirty="0"/>
              <a:t>, the </a:t>
            </a:r>
            <a:r>
              <a:rPr lang="en-US" b="1" dirty="0"/>
              <a:t>geographic area</a:t>
            </a:r>
            <a:r>
              <a:rPr lang="en-US" dirty="0"/>
              <a:t>, and the </a:t>
            </a:r>
            <a:r>
              <a:rPr lang="en-US" b="1" dirty="0"/>
              <a:t>time period</a:t>
            </a:r>
            <a:r>
              <a:rPr lang="en-US" dirty="0"/>
              <a:t>. The figure presents 90 different forecasts that might be made, depending on these factors. Thus, when using the term forecast, sales managers should be specific in defining exactly what is being forecast, what geographic area is being targeted, and what period is being forecast.</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237E3A48-5816-4407-BD05-29482C893C3E}" type="slidenum">
              <a:rPr lang="en-US" altLang="en-US" smtClean="0"/>
              <a:pPr/>
              <a:t>3</a:t>
            </a:fld>
            <a:endParaRPr lang="en-US" altLang="en-US" dirty="0"/>
          </a:p>
        </p:txBody>
      </p:sp>
    </p:spTree>
    <p:extLst>
      <p:ext uri="{BB962C8B-B14F-4D97-AF65-F5344CB8AC3E}">
        <p14:creationId xmlns:p14="http://schemas.microsoft.com/office/powerpoint/2010/main" val="2251633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CD4E7A-108E-4413-9A88-71E6727A404A}" type="slidenum">
              <a:rPr lang="en-US"/>
              <a:pPr/>
              <a:t>4</a:t>
            </a:fld>
            <a:endParaRPr lang="en-US" dirty="0"/>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pPr marL="0" indent="0">
              <a:buFont typeface="Arial" panose="020B0604020202020204" pitchFamily="34" charset="0"/>
              <a:buNone/>
            </a:pPr>
            <a:r>
              <a:rPr lang="en-US" b="1" dirty="0"/>
              <a:t>Types of Forecasts</a:t>
            </a:r>
          </a:p>
          <a:p>
            <a:pPr marL="0" indent="0">
              <a:buFont typeface="Arial" panose="020B0604020202020204" pitchFamily="34" charset="0"/>
              <a:buNone/>
            </a:pPr>
            <a:r>
              <a:rPr lang="en-US" dirty="0"/>
              <a:t>The term forecast is ordinarily used to refer to a </a:t>
            </a:r>
            <a:r>
              <a:rPr lang="en-US" b="1" dirty="0"/>
              <a:t>prediction for a future period</a:t>
            </a:r>
            <a:r>
              <a:rPr lang="en-US" dirty="0"/>
              <a:t>. </a:t>
            </a:r>
            <a:r>
              <a:rPr lang="en-US" b="1" i="1" dirty="0"/>
              <a:t>Although this usage is technically correct, it is too general for managerial value</a:t>
            </a:r>
            <a:r>
              <a:rPr lang="en-US" dirty="0"/>
              <a:t>.</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 useful way for viewing what is being forecast is presented in this Exhibit. This exhibit suggests that </a:t>
            </a:r>
            <a:r>
              <a:rPr lang="en-US" b="1" dirty="0"/>
              <a:t>it is important to differentiate between </a:t>
            </a:r>
            <a:r>
              <a:rPr lang="en-US" b="1" u="sng" dirty="0"/>
              <a:t>industry</a:t>
            </a:r>
            <a:r>
              <a:rPr lang="en-US" b="1" dirty="0"/>
              <a:t> and </a:t>
            </a:r>
            <a:r>
              <a:rPr lang="en-US" b="1" u="sng" dirty="0"/>
              <a:t>firm</a:t>
            </a:r>
            <a:r>
              <a:rPr lang="en-US" b="1" dirty="0"/>
              <a:t> levels and to determine whether the prediction is for </a:t>
            </a:r>
            <a:r>
              <a:rPr lang="en-US" b="1" u="sng" dirty="0"/>
              <a:t>the best possible results</a:t>
            </a:r>
            <a:r>
              <a:rPr lang="en-US" b="1" dirty="0"/>
              <a:t> </a:t>
            </a:r>
            <a:r>
              <a:rPr lang="en-US" b="1" i="1" dirty="0"/>
              <a:t>or</a:t>
            </a:r>
            <a:r>
              <a:rPr lang="en-US" b="1" dirty="0"/>
              <a:t> for </a:t>
            </a:r>
            <a:r>
              <a:rPr lang="en-US" b="1" u="sng" dirty="0"/>
              <a:t>the expected results given a specific strategy</a:t>
            </a:r>
            <a:r>
              <a:rPr lang="en-US" dirty="0"/>
              <a:t>. Four different types of forecasts emerge from this classification scheme:</a:t>
            </a:r>
          </a:p>
          <a:p>
            <a:pPr marL="171450" indent="-171450">
              <a:buFont typeface="Arial" panose="020B0604020202020204" pitchFamily="34" charset="0"/>
              <a:buChar char="•"/>
            </a:pPr>
            <a:r>
              <a:rPr lang="en-US" b="1" dirty="0"/>
              <a:t>Market potential</a:t>
            </a:r>
            <a:r>
              <a:rPr lang="en-US" dirty="0"/>
              <a:t>—the best possible level of industry sales in a given geographic area for a specific period.</a:t>
            </a:r>
          </a:p>
          <a:p>
            <a:pPr marL="171450" indent="-171450">
              <a:buFont typeface="Arial" panose="020B0604020202020204" pitchFamily="34" charset="0"/>
              <a:buChar char="•"/>
            </a:pPr>
            <a:r>
              <a:rPr lang="en-US" b="1" dirty="0"/>
              <a:t>Market forecast</a:t>
            </a:r>
            <a:r>
              <a:rPr lang="en-US" dirty="0"/>
              <a:t>—the expected level of industry sales given a specific industry strategy in a given geographic area for a specific period.</a:t>
            </a:r>
          </a:p>
          <a:p>
            <a:pPr marL="171450" indent="-171450">
              <a:buFont typeface="Arial" panose="020B0604020202020204" pitchFamily="34" charset="0"/>
              <a:buChar char="•"/>
            </a:pPr>
            <a:r>
              <a:rPr lang="en-US" b="1" dirty="0"/>
              <a:t>Sales potential</a:t>
            </a:r>
            <a:r>
              <a:rPr lang="en-US" dirty="0"/>
              <a:t>—the best possible level of firm sales in a given geographic area for a specific period.</a:t>
            </a:r>
          </a:p>
          <a:p>
            <a:pPr marL="171450" indent="-171450">
              <a:buFont typeface="Arial" panose="020B0604020202020204" pitchFamily="34" charset="0"/>
              <a:buChar char="•"/>
            </a:pPr>
            <a:r>
              <a:rPr lang="en-US" b="1" dirty="0"/>
              <a:t>Sales forecast</a:t>
            </a:r>
            <a:r>
              <a:rPr lang="en-US" dirty="0"/>
              <a:t>—the expected level of firm sales given a specific strategy in a given geographic area for a specific period.</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Notice that the geographic area and period are defined for each of these terms and that a true sales forecast must include the consideration of a specific strategy. If a firm changes this strategy, the sales forecast should change also.</a:t>
            </a:r>
          </a:p>
          <a:p>
            <a:pPr marL="0" indent="0">
              <a:buFont typeface="Arial" panose="020B0604020202020204" pitchFamily="34" charset="0"/>
              <a:buNone/>
            </a:pPr>
            <a:r>
              <a:rPr lang="en-US" b="1" i="1" dirty="0"/>
              <a:t>As an example</a:t>
            </a:r>
            <a:r>
              <a:rPr lang="en-US" dirty="0"/>
              <a:t>, assume that you are the district sales manager for a firm that markets personal computers (PCs) to organizational buyers. Your district includes Missouri, Kansas, Iowa, and Nebraska. You are preparing forecasts for 2024. </a:t>
            </a:r>
          </a:p>
          <a:p>
            <a:pPr marL="171450" indent="-171450">
              <a:buFont typeface="Arial" panose="020B0604020202020204" pitchFamily="34" charset="0"/>
              <a:buChar char="•"/>
            </a:pPr>
            <a:r>
              <a:rPr lang="en-US" dirty="0"/>
              <a:t>You might first try to assess market potential. This </a:t>
            </a:r>
            <a:r>
              <a:rPr lang="en-US" b="1" dirty="0"/>
              <a:t>market potential forecast </a:t>
            </a:r>
            <a:r>
              <a:rPr lang="en-US" dirty="0"/>
              <a:t>would be an </a:t>
            </a:r>
            <a:r>
              <a:rPr lang="en-US" b="1" dirty="0"/>
              <a:t>estimate of the highest level of PC sales by </a:t>
            </a:r>
            <a:r>
              <a:rPr lang="en-US" b="1" i="1" u="sng" dirty="0"/>
              <a:t>all</a:t>
            </a:r>
            <a:r>
              <a:rPr lang="en-US" b="1" dirty="0"/>
              <a:t> brands in your district for 2024</a:t>
            </a:r>
            <a:r>
              <a:rPr lang="en-US" dirty="0"/>
              <a:t>. </a:t>
            </a:r>
          </a:p>
          <a:p>
            <a:pPr marL="171450" indent="-171450">
              <a:buFont typeface="Arial" panose="020B0604020202020204" pitchFamily="34" charset="0"/>
              <a:buChar char="•"/>
            </a:pPr>
            <a:r>
              <a:rPr lang="en-US" dirty="0"/>
              <a:t>Then, you might try to develop a </a:t>
            </a:r>
            <a:r>
              <a:rPr lang="en-US" b="1" dirty="0"/>
              <a:t>market forecast</a:t>
            </a:r>
            <a:r>
              <a:rPr lang="en-US" dirty="0"/>
              <a:t>, which would be the </a:t>
            </a:r>
            <a:r>
              <a:rPr lang="en-US" b="1" dirty="0"/>
              <a:t>expected level of </a:t>
            </a:r>
            <a:r>
              <a:rPr lang="en-US" b="1" i="1" u="sng" dirty="0"/>
              <a:t>industry</a:t>
            </a:r>
            <a:r>
              <a:rPr lang="en-US" b="1" dirty="0"/>
              <a:t> PC sales in your district for 2024</a:t>
            </a:r>
            <a:r>
              <a:rPr lang="en-US" dirty="0"/>
              <a:t>. This forecast would be based on an assumption of the strategies that would be used by all PC firms operating in your district. If you think that new firms are going to enter the industry or that existing firms are going to leave it or change their strategies, your industry forecast will change. </a:t>
            </a:r>
          </a:p>
          <a:p>
            <a:pPr marL="171450" indent="-171450">
              <a:buFont typeface="Arial" panose="020B0604020202020204" pitchFamily="34" charset="0"/>
              <a:buChar char="•"/>
            </a:pPr>
            <a:r>
              <a:rPr lang="en-US" dirty="0"/>
              <a:t>Another type of forecast might be a </a:t>
            </a:r>
            <a:r>
              <a:rPr lang="en-US" b="1" dirty="0"/>
              <a:t>determination of the best possible level of 2024 sales for </a:t>
            </a:r>
            <a:r>
              <a:rPr lang="en-US" b="1" i="1" u="sng" dirty="0"/>
              <a:t>your firm’s</a:t>
            </a:r>
            <a:r>
              <a:rPr lang="en-US" b="1" i="0" u="none" dirty="0"/>
              <a:t> </a:t>
            </a:r>
            <a:r>
              <a:rPr lang="en-US" b="1" dirty="0"/>
              <a:t>PCs in the district</a:t>
            </a:r>
            <a:r>
              <a:rPr lang="en-US" dirty="0"/>
              <a:t>. This would be a </a:t>
            </a:r>
            <a:r>
              <a:rPr lang="en-US" b="1" dirty="0"/>
              <a:t>sales potential forecast</a:t>
            </a:r>
            <a:r>
              <a:rPr lang="en-US" dirty="0"/>
              <a:t>. </a:t>
            </a:r>
          </a:p>
          <a:p>
            <a:pPr marL="171450" indent="-171450">
              <a:buFont typeface="Arial" panose="020B0604020202020204" pitchFamily="34" charset="0"/>
              <a:buChar char="•"/>
            </a:pPr>
            <a:r>
              <a:rPr lang="en-US" dirty="0"/>
              <a:t>Finally, you would probably want to </a:t>
            </a:r>
            <a:r>
              <a:rPr lang="en-US" b="1" dirty="0"/>
              <a:t>predict a specific level of district sales of </a:t>
            </a:r>
            <a:r>
              <a:rPr lang="en-US" b="1" i="1" u="sng" dirty="0"/>
              <a:t>your firm’s</a:t>
            </a:r>
            <a:r>
              <a:rPr lang="en-US" b="1" dirty="0"/>
              <a:t> PCs given your firm’s </a:t>
            </a:r>
            <a:r>
              <a:rPr lang="en-US" b="1" u="sng" dirty="0"/>
              <a:t>expected strategy</a:t>
            </a:r>
            <a:r>
              <a:rPr lang="en-US" dirty="0"/>
              <a:t>. This would result in a sales forecast that would have to be revised whenever strategic changes were made.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***Because different types of forecasts convey different information, sales managers use certain types for specific sales management decisions. </a:t>
            </a:r>
          </a:p>
          <a:p>
            <a:pPr marL="0" indent="0">
              <a:buFont typeface="Arial" panose="020B0604020202020204" pitchFamily="34" charset="0"/>
              <a:buNone/>
            </a:pPr>
            <a:r>
              <a:rPr lang="en-US" b="1" dirty="0"/>
              <a:t>Forecasts of market potential and sales potential </a:t>
            </a:r>
            <a:r>
              <a:rPr lang="en-US" dirty="0"/>
              <a:t>are most often used to identify opportunities and to guide the allocation of selling efforts. </a:t>
            </a:r>
          </a:p>
          <a:p>
            <a:pPr marL="171450" indent="-171450">
              <a:buFont typeface="Arial" panose="020B0604020202020204" pitchFamily="34" charset="0"/>
              <a:buChar char="•"/>
            </a:pPr>
            <a:r>
              <a:rPr lang="en-US" dirty="0"/>
              <a:t>Market potential provides an assessment of overall demand opportunity available to all firms in an industry. </a:t>
            </a:r>
          </a:p>
          <a:p>
            <a:pPr marL="171450" indent="-171450">
              <a:buFont typeface="Arial" panose="020B0604020202020204" pitchFamily="34" charset="0"/>
              <a:buChar char="•"/>
            </a:pPr>
            <a:r>
              <a:rPr lang="en-US" dirty="0"/>
              <a:t>Sales potential adjusts market potential to reflect industry competition and thus represents a better assessment of demand opportunity for an individual firm.</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Both of these forecasts of potential can be used by sales managers to determine where selling effort is needed and how selling effort should be distributed. </a:t>
            </a:r>
          </a:p>
          <a:p>
            <a:pPr marL="0" indent="0">
              <a:buFont typeface="Arial" panose="020B0604020202020204" pitchFamily="34" charset="0"/>
              <a:buNone/>
            </a:pPr>
            <a:r>
              <a:rPr lang="en-US" dirty="0"/>
              <a:t>For example, as discussed earlier, </a:t>
            </a:r>
            <a:r>
              <a:rPr lang="en-US" b="1" dirty="0"/>
              <a:t>designing territories requires an assessment of market potential for all planning and control units</a:t>
            </a:r>
            <a:r>
              <a:rPr lang="en-US" dirty="0"/>
              <a:t>. Specific territories are then designed by grouping planning and control units together and evaluating the equality of market potential across the territories.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88981D-B735-4EB6-B110-D742971F7465}" type="slidenum">
              <a:rPr lang="en-US"/>
              <a:pPr/>
              <a:t>5</a:t>
            </a:fld>
            <a:endParaRPr lang="en-US" dirty="0"/>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r>
              <a:rPr lang="en-US" b="1" dirty="0"/>
              <a:t>Top-down approaches </a:t>
            </a:r>
            <a:r>
              <a:rPr lang="en-US" dirty="0"/>
              <a:t>typically consist of different methods for developing company forecasts at the business unit level. Sales managers then break down these company forecasts into zone, region, district, territory, and account forecasts. </a:t>
            </a:r>
          </a:p>
          <a:p>
            <a:r>
              <a:rPr lang="en-US" b="1" dirty="0"/>
              <a:t>Bottom-up approaches</a:t>
            </a:r>
            <a:r>
              <a:rPr lang="en-US" dirty="0"/>
              <a:t>, by contrast, consist of different methods for developing sales forecasts for individual accounts. Sales managers then combine the account forecasts into territory, district, region, zone, and company forecasts. </a:t>
            </a:r>
          </a:p>
          <a:p>
            <a:r>
              <a:rPr lang="en-US" dirty="0"/>
              <a:t>The top-down and bottom-up approaches represent entirely different perspectives for developing forecasts, although some forecasting methods can be used in either approach. However, the focus is on the most popular forecasting methods for each approach.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a:t>Top-down approaches </a:t>
            </a:r>
            <a:r>
              <a:rPr lang="en-US" dirty="0"/>
              <a:t>typically consist of different methods for developing company forecasts at the business unit level. Sales managers then break down these company forecasts into zone, region, district, territory, and account forecasts. </a:t>
            </a:r>
          </a:p>
          <a:p>
            <a:endParaRPr lang="en-US" dirty="0"/>
          </a:p>
        </p:txBody>
      </p:sp>
      <p:sp>
        <p:nvSpPr>
          <p:cNvPr id="4" name="Slide Number Placeholder 3"/>
          <p:cNvSpPr>
            <a:spLocks noGrp="1"/>
          </p:cNvSpPr>
          <p:nvPr>
            <p:ph type="sldNum" sz="quarter" idx="10"/>
          </p:nvPr>
        </p:nvSpPr>
        <p:spPr/>
        <p:txBody>
          <a:bodyPr/>
          <a:lstStyle/>
          <a:p>
            <a:fld id="{527A40E9-527E-4BF1-BEF2-9AB9751DF025}" type="slidenum">
              <a:rPr lang="en-US" smtClean="0"/>
              <a:pPr/>
              <a:t>6</a:t>
            </a:fld>
            <a:endParaRPr lang="en-US" dirty="0"/>
          </a:p>
        </p:txBody>
      </p:sp>
    </p:spTree>
    <p:extLst>
      <p:ext uri="{BB962C8B-B14F-4D97-AF65-F5344CB8AC3E}">
        <p14:creationId xmlns:p14="http://schemas.microsoft.com/office/powerpoint/2010/main" val="1009597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a:t>Bottom-up approaches</a:t>
            </a:r>
            <a:r>
              <a:rPr lang="en-US" dirty="0"/>
              <a:t>, by contrast, consist of different methods for developing sales forecasts for individual accounts. Sales managers then combine the account forecasts into territory, district, region, zone, and company forecasts. </a:t>
            </a:r>
          </a:p>
          <a:p>
            <a:endParaRPr lang="en-US" dirty="0"/>
          </a:p>
        </p:txBody>
      </p:sp>
      <p:sp>
        <p:nvSpPr>
          <p:cNvPr id="4" name="Slide Number Placeholder 3"/>
          <p:cNvSpPr>
            <a:spLocks noGrp="1"/>
          </p:cNvSpPr>
          <p:nvPr>
            <p:ph type="sldNum" sz="quarter" idx="10"/>
          </p:nvPr>
        </p:nvSpPr>
        <p:spPr/>
        <p:txBody>
          <a:bodyPr/>
          <a:lstStyle/>
          <a:p>
            <a:fld id="{527A40E9-527E-4BF1-BEF2-9AB9751DF025}" type="slidenum">
              <a:rPr lang="en-US" smtClean="0"/>
              <a:pPr/>
              <a:t>7</a:t>
            </a:fld>
            <a:endParaRPr lang="en-US" dirty="0"/>
          </a:p>
        </p:txBody>
      </p:sp>
    </p:spTree>
    <p:extLst>
      <p:ext uri="{BB962C8B-B14F-4D97-AF65-F5344CB8AC3E}">
        <p14:creationId xmlns:p14="http://schemas.microsoft.com/office/powerpoint/2010/main" val="3546853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B117A9-DA1D-4C72-A274-05C046F98B92}" type="slidenum">
              <a:rPr lang="en-US"/>
              <a:pPr/>
              <a:t>8</a:t>
            </a:fld>
            <a:endParaRPr lang="en-US" dirty="0"/>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imes"/>
                <a:ea typeface="+mn-ea"/>
                <a:cs typeface="+mn-cs"/>
              </a:rPr>
              <a:t>Although a variety of methods are available for developing company forecasts, </a:t>
            </a:r>
            <a:r>
              <a:rPr kumimoji="0" lang="en-US" sz="1200" b="1" i="0" u="none" strike="noStrike" kern="1200" cap="none" spc="0" normalizeH="0" baseline="0" noProof="0" dirty="0">
                <a:ln>
                  <a:noFill/>
                </a:ln>
                <a:solidFill>
                  <a:srgbClr val="000000"/>
                </a:solidFill>
                <a:effectLst/>
                <a:uLnTx/>
                <a:uFillTx/>
                <a:latin typeface="Times"/>
                <a:ea typeface="+mn-ea"/>
                <a:cs typeface="+mn-cs"/>
              </a:rPr>
              <a:t>this discussion is limited to three popular time series methods</a:t>
            </a:r>
            <a:r>
              <a:rPr kumimoji="0" lang="en-US" sz="1200" b="0" i="0" u="none" strike="noStrike" kern="1200" cap="none" spc="0" normalizeH="0" baseline="0" noProof="0" dirty="0">
                <a:ln>
                  <a:noFill/>
                </a:ln>
                <a:solidFill>
                  <a:srgbClr val="000000"/>
                </a:solidFill>
                <a:effectLst/>
                <a:uLnTx/>
                <a:uFillTx/>
                <a:latin typeface="Times"/>
                <a:ea typeface="+mn-ea"/>
                <a:cs typeface="+mn-cs"/>
              </a:rPr>
              <a:t>: </a:t>
            </a:r>
            <a:r>
              <a:rPr kumimoji="0" lang="en-US" sz="1200" b="1" i="0" u="sng" strike="noStrike" kern="1200" cap="none" spc="0" normalizeH="0" baseline="0" noProof="0" dirty="0">
                <a:ln>
                  <a:noFill/>
                </a:ln>
                <a:solidFill>
                  <a:srgbClr val="000000"/>
                </a:solidFill>
                <a:effectLst/>
                <a:uLnTx/>
                <a:uFillTx/>
                <a:latin typeface="Times"/>
                <a:ea typeface="+mn-ea"/>
                <a:cs typeface="+mn-cs"/>
              </a:rPr>
              <a:t>moving averages</a:t>
            </a:r>
            <a:r>
              <a:rPr kumimoji="0" lang="en-US" sz="1200" b="0" i="0" u="none" strike="noStrike" kern="1200" cap="none" spc="0" normalizeH="0" baseline="0" noProof="0" dirty="0">
                <a:ln>
                  <a:noFill/>
                </a:ln>
                <a:solidFill>
                  <a:srgbClr val="000000"/>
                </a:solidFill>
                <a:effectLst/>
                <a:uLnTx/>
                <a:uFillTx/>
                <a:latin typeface="Times"/>
                <a:ea typeface="+mn-ea"/>
                <a:cs typeface="+mn-cs"/>
              </a:rPr>
              <a:t>, </a:t>
            </a:r>
            <a:r>
              <a:rPr kumimoji="0" lang="en-US" sz="1200" b="1" i="0" u="sng" strike="noStrike" kern="1200" cap="none" spc="0" normalizeH="0" baseline="0" noProof="0" dirty="0">
                <a:ln>
                  <a:noFill/>
                </a:ln>
                <a:solidFill>
                  <a:srgbClr val="000000"/>
                </a:solidFill>
                <a:effectLst/>
                <a:uLnTx/>
                <a:uFillTx/>
                <a:latin typeface="Times"/>
                <a:ea typeface="+mn-ea"/>
                <a:cs typeface="+mn-cs"/>
              </a:rPr>
              <a:t>exponential smoothing</a:t>
            </a:r>
            <a:r>
              <a:rPr kumimoji="0" lang="en-US" sz="1200" b="0" i="0" u="none" strike="noStrike" kern="1200" cap="none" spc="0" normalizeH="0" baseline="0" noProof="0" dirty="0">
                <a:ln>
                  <a:noFill/>
                </a:ln>
                <a:solidFill>
                  <a:srgbClr val="000000"/>
                </a:solidFill>
                <a:effectLst/>
                <a:uLnTx/>
                <a:uFillTx/>
                <a:latin typeface="Times"/>
                <a:ea typeface="+mn-ea"/>
                <a:cs typeface="+mn-cs"/>
              </a:rPr>
              <a:t>, and </a:t>
            </a:r>
            <a:r>
              <a:rPr kumimoji="0" lang="en-US" sz="1200" b="1" i="0" u="sng" strike="noStrike" kern="1200" cap="none" spc="0" normalizeH="0" baseline="0" noProof="0" dirty="0">
                <a:ln>
                  <a:noFill/>
                </a:ln>
                <a:solidFill>
                  <a:srgbClr val="000000"/>
                </a:solidFill>
                <a:effectLst/>
                <a:uLnTx/>
                <a:uFillTx/>
                <a:latin typeface="Times"/>
                <a:ea typeface="+mn-ea"/>
                <a:cs typeface="+mn-cs"/>
              </a:rPr>
              <a:t>decomposition methods</a:t>
            </a:r>
            <a:r>
              <a:rPr kumimoji="0" lang="en-US" sz="1200" b="0" i="0" u="none" strike="noStrike" kern="1200" cap="none" spc="0" normalizeH="0" baseline="0" noProof="0" dirty="0">
                <a:ln>
                  <a:noFill/>
                </a:ln>
                <a:solidFill>
                  <a:srgbClr val="000000"/>
                </a:solidFill>
                <a:effectLst/>
                <a:uLnTx/>
                <a:uFillTx/>
                <a:latin typeface="Times"/>
                <a:ea typeface="+mn-ea"/>
                <a:cs typeface="+mn-cs"/>
              </a:rPr>
              <a:t>.</a:t>
            </a:r>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Moving averages </a:t>
            </a:r>
            <a:r>
              <a:rPr lang="en-US" dirty="0"/>
              <a:t>is a </a:t>
            </a:r>
            <a:r>
              <a:rPr lang="en-US" b="1" u="sng" dirty="0"/>
              <a:t>relatively simple</a:t>
            </a:r>
            <a:r>
              <a:rPr lang="en-US" b="0" u="none" dirty="0"/>
              <a:t> </a:t>
            </a:r>
            <a:r>
              <a:rPr lang="en-US" dirty="0"/>
              <a:t>method that develops a company </a:t>
            </a:r>
            <a:r>
              <a:rPr lang="en-US" b="1" dirty="0"/>
              <a:t>forecast by calculating the average company sales for previous years</a:t>
            </a:r>
            <a:r>
              <a:rPr lang="en-US" dirty="0"/>
              <a:t>. </a:t>
            </a:r>
          </a:p>
          <a:p>
            <a:r>
              <a:rPr lang="en-US" dirty="0"/>
              <a:t>Thus, the </a:t>
            </a:r>
            <a:r>
              <a:rPr lang="en-US" b="1" i="1" dirty="0"/>
              <a:t>company sales forecast for next year is the average of actual company sales for the past three years, past six years, or some other number of years</a:t>
            </a:r>
            <a:r>
              <a:rPr lang="en-US" dirty="0"/>
              <a:t>. </a:t>
            </a:r>
          </a:p>
          <a:p>
            <a:r>
              <a:rPr lang="en-US" dirty="0"/>
              <a:t>An example of calculating a moving averages company sales forecast for two- and four-year time frames is presented in the Exhibit. </a:t>
            </a:r>
          </a:p>
          <a:p>
            <a:r>
              <a:rPr lang="en-US" dirty="0"/>
              <a:t>This exhibit shows that the forecast predicted for 2018 was derived by adding actual sales in 2016 of $8,400,000 to actual sales in 2017 of $8,820,000 and then dividing by two ([$8,400,000 + $8,820,000]/2 = $8,610,000). This was repeated to get the projected forecast for each successive year. </a:t>
            </a:r>
          </a:p>
          <a:p>
            <a:r>
              <a:rPr lang="en-US" dirty="0"/>
              <a:t>To get the forecast for 2024, actual sales for 2022 and 2023 were added together and divided by two ([$9,674,000 + $10,060,000]/2 = $9,867,000). </a:t>
            </a:r>
          </a:p>
          <a:p>
            <a:r>
              <a:rPr lang="en-US" dirty="0"/>
              <a:t>The same procedure is used to calculate the four-year moving average, but rather than using two years of actual sales and dividing by two, four years are summated and then divided by four (e.g., sales forecast for 2024 is [$8,622,000 + $9,484,000 + $9,674,000 + $10,060,000]/4 = $9,460,000).</a:t>
            </a:r>
          </a:p>
          <a:p>
            <a:endParaRPr lang="en-US" dirty="0"/>
          </a:p>
          <a:p>
            <a:r>
              <a:rPr lang="en-US" dirty="0"/>
              <a:t>As illustrated in this example, the moving averages method is straightforward and requires simple calculations. </a:t>
            </a:r>
            <a:r>
              <a:rPr lang="en-US" b="1" dirty="0"/>
              <a:t>Management must, however, determine the appropriate number of years to include in the calculations</a:t>
            </a:r>
            <a:r>
              <a:rPr lang="en-US" dirty="0"/>
              <a:t>. In addition, this method weights actual company sales for previous years equally in generating the forecast for the next year. </a:t>
            </a:r>
            <a:r>
              <a:rPr lang="en-US" b="1" u="sng" dirty="0"/>
              <a:t>This equal weighting may not be appropriate if company sales vary substantially from year to year</a:t>
            </a:r>
            <a:r>
              <a:rPr lang="en-US" b="0" u="none" dirty="0"/>
              <a:t> </a:t>
            </a:r>
            <a:r>
              <a:rPr lang="en-US" dirty="0"/>
              <a:t>or </a:t>
            </a:r>
            <a:r>
              <a:rPr lang="en-US" b="1" u="sng" dirty="0"/>
              <a:t>if there are major differences in the business environment between the most recent and past years</a:t>
            </a:r>
            <a:r>
              <a:rPr lang="en-US" dirty="0"/>
              <a:t>.</a:t>
            </a:r>
          </a:p>
        </p:txBody>
      </p:sp>
      <p:sp>
        <p:nvSpPr>
          <p:cNvPr id="4" name="Slide Number Placeholder 3"/>
          <p:cNvSpPr>
            <a:spLocks noGrp="1"/>
          </p:cNvSpPr>
          <p:nvPr>
            <p:ph type="sldNum" sz="quarter" idx="10"/>
          </p:nvPr>
        </p:nvSpPr>
        <p:spPr/>
        <p:txBody>
          <a:bodyPr/>
          <a:lstStyle/>
          <a:p>
            <a:fld id="{527A40E9-527E-4BF1-BEF2-9AB9751DF025}" type="slidenum">
              <a:rPr lang="en-US" smtClean="0"/>
              <a:pPr/>
              <a:t>9</a:t>
            </a:fld>
            <a:endParaRPr lang="en-US" dirty="0"/>
          </a:p>
        </p:txBody>
      </p:sp>
    </p:spTree>
    <p:extLst>
      <p:ext uri="{BB962C8B-B14F-4D97-AF65-F5344CB8AC3E}">
        <p14:creationId xmlns:p14="http://schemas.microsoft.com/office/powerpoint/2010/main" val="396616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a:t>
            </a:r>
            <a:r>
              <a:rPr lang="en-US" b="1" dirty="0"/>
              <a:t>forecasted sales for 2024</a:t>
            </a:r>
            <a:r>
              <a:rPr lang="en-US" dirty="0"/>
              <a:t>, using a </a:t>
            </a:r>
            <a:r>
              <a:rPr lang="en-US" b="1" dirty="0"/>
              <a:t>four-year moving average</a:t>
            </a:r>
            <a:r>
              <a:rPr lang="en-US" dirty="0"/>
              <a:t>, is </a:t>
            </a:r>
            <a:r>
              <a:rPr lang="en-US" b="1" dirty="0"/>
              <a:t>$800,000,000</a:t>
            </a:r>
            <a:r>
              <a:rPr lang="en-US" dirty="0"/>
              <a:t>.</a:t>
            </a:r>
          </a:p>
          <a:p>
            <a:r>
              <a:rPr lang="en-US" dirty="0"/>
              <a:t>A four-year moving average is calculated by averaging the sales from the last four years…2020 to 2023:</a:t>
            </a:r>
          </a:p>
          <a:p>
            <a:r>
              <a:rPr lang="en-US" dirty="0"/>
              <a:t>(794,025,000 + 797,400,000 + 801,800,000 + 806,775,000) / 4 = 800,000,000</a:t>
            </a:r>
          </a:p>
          <a:p>
            <a:endParaRPr lang="en-US" dirty="0"/>
          </a:p>
          <a:p>
            <a:r>
              <a:rPr lang="en-US" dirty="0"/>
              <a:t>3,200,000,000 / 4 = 800,000,000</a:t>
            </a:r>
          </a:p>
          <a:p>
            <a:endParaRPr lang="en-US" dirty="0"/>
          </a:p>
          <a:p>
            <a:r>
              <a:rPr lang="en-US" dirty="0"/>
              <a:t>2) The </a:t>
            </a:r>
            <a:r>
              <a:rPr lang="en-US" b="1" dirty="0"/>
              <a:t>forecasted sales for 2024</a:t>
            </a:r>
            <a:r>
              <a:rPr lang="en-US" dirty="0"/>
              <a:t>, using a </a:t>
            </a:r>
            <a:r>
              <a:rPr lang="en-US" b="1" dirty="0"/>
              <a:t>two-year moving average </a:t>
            </a:r>
            <a:r>
              <a:rPr lang="en-US" dirty="0"/>
              <a:t>is </a:t>
            </a:r>
            <a:r>
              <a:rPr lang="en-US" b="1" dirty="0"/>
              <a:t>$804,287,500</a:t>
            </a:r>
            <a:r>
              <a:rPr lang="en-US" dirty="0"/>
              <a:t>.</a:t>
            </a:r>
          </a:p>
          <a:p>
            <a:r>
              <a:rPr lang="en-US" dirty="0"/>
              <a:t>A two-year moving average is calculated by averaging the sales from the last two years…2022 to 2023:</a:t>
            </a:r>
          </a:p>
          <a:p>
            <a:r>
              <a:rPr lang="en-US" dirty="0"/>
              <a:t>(801,800,000 + 806,775,000) / 2 = 804,287,500</a:t>
            </a:r>
          </a:p>
          <a:p>
            <a:endParaRPr lang="en-US" dirty="0"/>
          </a:p>
          <a:p>
            <a:r>
              <a:rPr lang="en-US" dirty="0"/>
              <a:t>1,608,575,000 / 2 = 804,287,500</a:t>
            </a:r>
          </a:p>
        </p:txBody>
      </p:sp>
      <p:sp>
        <p:nvSpPr>
          <p:cNvPr id="4" name="Slide Number Placeholder 3"/>
          <p:cNvSpPr>
            <a:spLocks noGrp="1"/>
          </p:cNvSpPr>
          <p:nvPr>
            <p:ph type="sldNum" sz="quarter" idx="5"/>
          </p:nvPr>
        </p:nvSpPr>
        <p:spPr/>
        <p:txBody>
          <a:bodyPr/>
          <a:lstStyle/>
          <a:p>
            <a:fld id="{237E3A48-5816-4407-BD05-29482C893C3E}" type="slidenum">
              <a:rPr lang="en-US" altLang="en-US" smtClean="0"/>
              <a:pPr/>
              <a:t>10</a:t>
            </a:fld>
            <a:endParaRPr lang="en-US" altLang="en-US" dirty="0"/>
          </a:p>
        </p:txBody>
      </p:sp>
    </p:spTree>
    <p:extLst>
      <p:ext uri="{BB962C8B-B14F-4D97-AF65-F5344CB8AC3E}">
        <p14:creationId xmlns:p14="http://schemas.microsoft.com/office/powerpoint/2010/main" val="3611803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a:t>Sales forecast for next year </a:t>
            </a:r>
            <a:r>
              <a:rPr lang="en-US" dirty="0"/>
              <a:t>= (α)(actual sales this year) + (1 − α)(this year’s sales forecast)</a:t>
            </a:r>
          </a:p>
          <a:p>
            <a:endParaRPr lang="en-US" dirty="0"/>
          </a:p>
          <a:p>
            <a:r>
              <a:rPr lang="en-US" sz="1200" dirty="0">
                <a:latin typeface="Arial" panose="020B0604020202020204" pitchFamily="34" charset="0"/>
                <a:cs typeface="Arial" panose="020B0604020202020204" pitchFamily="34" charset="0"/>
              </a:rPr>
              <a:t>$9,119,000 = (0.2 x $10,060,000 + 0.8 x $8,884,000) / 2</a:t>
            </a:r>
          </a:p>
          <a:p>
            <a:r>
              <a:rPr lang="en-US" sz="1200" dirty="0">
                <a:latin typeface="Arial" panose="020B0604020202020204" pitchFamily="34" charset="0"/>
                <a:cs typeface="Arial" panose="020B0604020202020204" pitchFamily="34" charset="0"/>
              </a:rPr>
              <a:t>$8,884,000 = sales that were forecast for the current year;    0.8 = 1 - 0.2</a:t>
            </a:r>
          </a:p>
          <a:p>
            <a:endParaRPr lang="en-US" dirty="0"/>
          </a:p>
          <a:p>
            <a:r>
              <a:rPr lang="en-US" b="1" dirty="0"/>
              <a:t>Exponential smoothing </a:t>
            </a:r>
            <a:r>
              <a:rPr lang="en-US" dirty="0"/>
              <a:t>is a type of moving averages method, except that </a:t>
            </a:r>
            <a:r>
              <a:rPr lang="en-US" b="1" dirty="0"/>
              <a:t>company sales in the most recent year are weighted differently from company sales in past years.</a:t>
            </a:r>
            <a:endParaRPr lang="en-US" dirty="0"/>
          </a:p>
          <a:p>
            <a:r>
              <a:rPr lang="en-US" dirty="0"/>
              <a:t>An example of the exponential smoothing method is provided in this Exhibit. This exhibit shows that the sales forecast predicted for 2024 using an alpha of 0.2 was derived by multiplying actual sales in 2023 by 0.2 and adding it to 0.8 times the forecasted sales in 2023 ([.2 × $10,060,000 + .8 × $8,884,000] = $9,119,000). Each of the previous years’ forecasts was derived in the same manner.</a:t>
            </a:r>
          </a:p>
          <a:p>
            <a:r>
              <a:rPr lang="en-US" b="1" dirty="0"/>
              <a:t>A critical aspect of this method involves determining the appropriate weight (α) for this year’s company sales</a:t>
            </a:r>
            <a:r>
              <a:rPr lang="en-US" dirty="0"/>
              <a:t>. This is typically accomplished by examining different weights for historical sales data to determine which weight would have generated the most accurate sales forecasts in the past. Based on the analysis in the Exhibit, management should probably use a weight of 0.8 for this year’s company sales.</a:t>
            </a:r>
          </a:p>
        </p:txBody>
      </p:sp>
      <p:sp>
        <p:nvSpPr>
          <p:cNvPr id="4" name="Slide Number Placeholder 3"/>
          <p:cNvSpPr>
            <a:spLocks noGrp="1"/>
          </p:cNvSpPr>
          <p:nvPr>
            <p:ph type="sldNum" sz="quarter" idx="10"/>
          </p:nvPr>
        </p:nvSpPr>
        <p:spPr/>
        <p:txBody>
          <a:bodyPr/>
          <a:lstStyle/>
          <a:p>
            <a:fld id="{527A40E9-527E-4BF1-BEF2-9AB9751DF025}" type="slidenum">
              <a:rPr lang="en-US" smtClean="0"/>
              <a:pPr/>
              <a:t>11</a:t>
            </a:fld>
            <a:endParaRPr lang="en-US" dirty="0"/>
          </a:p>
        </p:txBody>
      </p:sp>
    </p:spTree>
    <p:extLst>
      <p:ext uri="{BB962C8B-B14F-4D97-AF65-F5344CB8AC3E}">
        <p14:creationId xmlns:p14="http://schemas.microsoft.com/office/powerpoint/2010/main" val="292874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7A40E9-527E-4BF1-BEF2-9AB9751DF025}" type="slidenum">
              <a:rPr lang="en-US" smtClean="0"/>
              <a:pPr/>
              <a:t>12</a:t>
            </a:fld>
            <a:endParaRPr lang="en-US" dirty="0"/>
          </a:p>
        </p:txBody>
      </p:sp>
    </p:spTree>
    <p:extLst>
      <p:ext uri="{BB962C8B-B14F-4D97-AF65-F5344CB8AC3E}">
        <p14:creationId xmlns:p14="http://schemas.microsoft.com/office/powerpoint/2010/main" val="2741553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Decomposition methods </a:t>
            </a:r>
            <a:r>
              <a:rPr lang="en-US" dirty="0"/>
              <a:t>involve different procedures that break down previous company sales data into </a:t>
            </a:r>
            <a:r>
              <a:rPr lang="en-US" b="1" u="sng" dirty="0"/>
              <a:t>four major components</a:t>
            </a:r>
            <a:r>
              <a:rPr lang="en-US" dirty="0"/>
              <a:t>: </a:t>
            </a:r>
            <a:r>
              <a:rPr lang="en-US" b="1" dirty="0"/>
              <a:t>trend</a:t>
            </a:r>
            <a:r>
              <a:rPr lang="en-US" dirty="0"/>
              <a:t>, </a:t>
            </a:r>
            <a:r>
              <a:rPr lang="en-US" b="1" dirty="0"/>
              <a:t>cycle</a:t>
            </a:r>
            <a:r>
              <a:rPr lang="en-US" dirty="0"/>
              <a:t>, </a:t>
            </a:r>
            <a:r>
              <a:rPr lang="en-US" b="1" dirty="0"/>
              <a:t>seasonal</a:t>
            </a:r>
            <a:r>
              <a:rPr lang="en-US" dirty="0"/>
              <a:t>, and </a:t>
            </a:r>
            <a:r>
              <a:rPr lang="en-US" b="1" dirty="0"/>
              <a:t>erratic events</a:t>
            </a:r>
            <a:r>
              <a:rPr lang="en-US" dirty="0"/>
              <a:t>.</a:t>
            </a:r>
          </a:p>
          <a:p>
            <a:endParaRPr lang="en-US" dirty="0"/>
          </a:p>
          <a:p>
            <a:r>
              <a:rPr lang="en-US" dirty="0"/>
              <a:t>These components are then reincorporated to produce the sales forecast. </a:t>
            </a:r>
          </a:p>
          <a:p>
            <a:r>
              <a:rPr lang="en-US" dirty="0"/>
              <a:t>An example of a decomposition method is presented in the Exhibit. Notice that the </a:t>
            </a:r>
            <a:r>
              <a:rPr lang="en-US" b="1" dirty="0"/>
              <a:t>trend</a:t>
            </a:r>
            <a:r>
              <a:rPr lang="en-US" dirty="0"/>
              <a:t>, </a:t>
            </a:r>
            <a:r>
              <a:rPr lang="en-US" b="1" dirty="0"/>
              <a:t>cycle</a:t>
            </a:r>
            <a:r>
              <a:rPr lang="en-US" dirty="0"/>
              <a:t>, and </a:t>
            </a:r>
            <a:r>
              <a:rPr lang="en-US" b="1" dirty="0"/>
              <a:t>erratic events components </a:t>
            </a:r>
            <a:r>
              <a:rPr lang="en-US" dirty="0"/>
              <a:t>are incorporated into the annual forecast but that the </a:t>
            </a:r>
            <a:r>
              <a:rPr lang="en-US" b="1" dirty="0"/>
              <a:t>seasonal component </a:t>
            </a:r>
            <a:r>
              <a:rPr lang="en-US" dirty="0"/>
              <a:t>is used only when forecasting sales for periods of less than a year, such as months or quarters. Decomposition methods are sound conceptually but often require complex statistical approaches for breaking down the company sales data into the trend components. Once this decomposition has been completed, it is relatively easy to reincorporate the components into the development of a company forecast.</a:t>
            </a:r>
          </a:p>
        </p:txBody>
      </p:sp>
      <p:sp>
        <p:nvSpPr>
          <p:cNvPr id="4" name="Slide Number Placeholder 3"/>
          <p:cNvSpPr>
            <a:spLocks noGrp="1"/>
          </p:cNvSpPr>
          <p:nvPr>
            <p:ph type="sldNum" sz="quarter" idx="5"/>
          </p:nvPr>
        </p:nvSpPr>
        <p:spPr/>
        <p:txBody>
          <a:bodyPr/>
          <a:lstStyle/>
          <a:p>
            <a:fld id="{237E3A48-5816-4407-BD05-29482C893C3E}" type="slidenum">
              <a:rPr lang="en-US" altLang="en-US" smtClean="0"/>
              <a:pPr/>
              <a:t>13</a:t>
            </a:fld>
            <a:endParaRPr lang="en-US" altLang="en-US" dirty="0"/>
          </a:p>
        </p:txBody>
      </p:sp>
    </p:spTree>
    <p:extLst>
      <p:ext uri="{BB962C8B-B14F-4D97-AF65-F5344CB8AC3E}">
        <p14:creationId xmlns:p14="http://schemas.microsoft.com/office/powerpoint/2010/main" val="1426637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BB4E4D-C687-4016-B620-DE0EB1EB3808}" type="slidenum">
              <a:rPr lang="en-US"/>
              <a:pPr/>
              <a:t>14</a:t>
            </a:fld>
            <a:endParaRPr lang="en-US" dirty="0"/>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p:txBody>
          <a:bodyPr/>
          <a:lstStyle/>
          <a:p>
            <a:r>
              <a:rPr lang="en-US" b="1" dirty="0"/>
              <a:t>BREAKDOWN METHODS</a:t>
            </a:r>
          </a:p>
          <a:p>
            <a:r>
              <a:rPr lang="en-US" dirty="0"/>
              <a:t>Once sales managers receive a company forecast, they can </a:t>
            </a:r>
            <a:r>
              <a:rPr lang="en-US" b="1" dirty="0"/>
              <a:t>use different market factor methods to break it down to the desired levels</a:t>
            </a:r>
            <a:r>
              <a:rPr lang="en-US" dirty="0"/>
              <a:t>. Market factor methods typically involve identifying one or more factors that are related to sales at the zone, region, district, territory, or account levels and using these factors to break down the overall company forecast into forecasts at these levels.</a:t>
            </a:r>
          </a:p>
          <a:p>
            <a:r>
              <a:rPr lang="en-US" b="1" dirty="0"/>
              <a:t>One approach is for a firm to develop a buying power index for its specific situation</a:t>
            </a:r>
            <a:r>
              <a:rPr lang="en-US" dirty="0"/>
              <a:t>. For example, a general aviation aircraft marketer developed a buying power index for its products in each county in the United States. </a:t>
            </a:r>
          </a:p>
          <a:p>
            <a:endParaRPr lang="en-US" dirty="0"/>
          </a:p>
          <a:p>
            <a:r>
              <a:rPr lang="en-US" dirty="0"/>
              <a:t>The basic formula was:</a:t>
            </a:r>
          </a:p>
          <a:p>
            <a:r>
              <a:rPr lang="en-US" dirty="0"/>
              <a:t>Index = (5I + 3AR + 2P) ÷ 10</a:t>
            </a:r>
          </a:p>
          <a:p>
            <a:r>
              <a:rPr lang="en-US" dirty="0"/>
              <a:t>where</a:t>
            </a:r>
          </a:p>
          <a:p>
            <a:r>
              <a:rPr lang="en-US" dirty="0"/>
              <a:t>I = Percentage of U.S. disposable income in county</a:t>
            </a:r>
          </a:p>
          <a:p>
            <a:r>
              <a:rPr lang="en-US" dirty="0"/>
              <a:t>AR = Percentage of U.S. aircraft registrations in county</a:t>
            </a:r>
          </a:p>
          <a:p>
            <a:r>
              <a:rPr lang="en-US" dirty="0"/>
              <a:t>P = Percentage of U.S. registered pi lots in county</a:t>
            </a:r>
          </a:p>
          <a:p>
            <a:endParaRPr lang="en-US" dirty="0"/>
          </a:p>
          <a:p>
            <a:r>
              <a:rPr lang="en-US" dirty="0"/>
              <a:t>These calculations produced an index for each county. The index calculated for each county can then be multiplied by the total company sales forecast to break it into a forecast for each county. The firm could take U.S. forecasts provided by the industry trade association and convert them to market and sales forecasts for each county by using their calculated indices and market shares.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BB4E4D-C687-4016-B620-DE0EB1EB3808}" type="slidenum">
              <a:rPr lang="en-US"/>
              <a:pPr/>
              <a:t>15</a:t>
            </a:fld>
            <a:endParaRPr lang="en-US" dirty="0"/>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4EB115-5035-4023-9131-386B5C955D34}" type="slidenum">
              <a:rPr lang="en-US"/>
              <a:pPr/>
              <a:t>16</a:t>
            </a:fld>
            <a:endParaRPr lang="en-US" dirty="0"/>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r>
              <a:rPr lang="en-US" b="1" dirty="0"/>
              <a:t>Implementing the bottom-up approach requires various methods to forecast sales </a:t>
            </a:r>
            <a:r>
              <a:rPr lang="en-US" dirty="0"/>
              <a:t>to individual accounts and the combination of these account forecasts into territory, district, region, zone, and company forecasts. </a:t>
            </a:r>
          </a:p>
          <a:p>
            <a:r>
              <a:rPr lang="en-US" dirty="0"/>
              <a:t>The </a:t>
            </a:r>
            <a:r>
              <a:rPr lang="en-US" b="1" dirty="0"/>
              <a:t>survey of buyer intentions </a:t>
            </a:r>
            <a:r>
              <a:rPr lang="en-US" dirty="0"/>
              <a:t>method is any procedure that asks individual accounts about their purchasing plans for a future period and translates these responses into account forecasts. The intended purchases by accounts might be obtained through mail surveys, telephone surveys, personal interviews, or other approaches. For example, companies such as Dow Chemical and HP have asked their business customers for feedback regarding intended future needs. At times, forecasts based on customer intentions may be distorted due to buyers’ unwillingness to put much effort into predicting future needs. Moreover, buyers are often unwilling to reveal plans for selling a vendor’s product out of fear competitors may retaliate if they find out.</a:t>
            </a:r>
          </a:p>
          <a:p>
            <a:r>
              <a:rPr lang="en-US" dirty="0"/>
              <a:t>The </a:t>
            </a:r>
            <a:r>
              <a:rPr lang="en-US" b="1" dirty="0"/>
              <a:t>jury of executive opinion </a:t>
            </a:r>
            <a:r>
              <a:rPr lang="en-US" dirty="0"/>
              <a:t>method involves any approach in which executives of the firm use their expert knowledge to forecast sales to individual accounts. Separate forecasts might be obtained from managers in different functional areas. These forecasts are then averaged or discussed by the managers until a consensus forecast for each account is reached. Team-based approaches such as this are believed to result in more accurate long-range industry-level forecasts than individually based approaches.</a:t>
            </a:r>
          </a:p>
          <a:p>
            <a:r>
              <a:rPr lang="en-US" dirty="0"/>
              <a:t>The </a:t>
            </a:r>
            <a:r>
              <a:rPr lang="en-US" b="1" dirty="0"/>
              <a:t>Delphi method </a:t>
            </a:r>
            <a:r>
              <a:rPr lang="en-US" dirty="0"/>
              <a:t>is a structured type of jury of executive opinion method. The basic procedure involves selection of a panel of managers from within the firm. Each member of the panel submits anonymous forecasts for each account. These forecasts are summarized into a report that is sent to each panel member. The report presents descriptive statistics concerning the submitted forecasts with reasons for the lowest and highest forecasts. Panel members review this information and then again submit anonymous individual forecasts. The same procedure is repeated until the forecasts for individual accounts converge into a consensus. Because this procedure involves written rather than verbal communication, such negatives as domination, undue conservatism, and argument are eliminated, while team members benefit from one another’s input.</a:t>
            </a:r>
          </a:p>
          <a:p>
            <a:r>
              <a:rPr lang="en-US" dirty="0"/>
              <a:t>The </a:t>
            </a:r>
            <a:r>
              <a:rPr lang="en-US" b="1" dirty="0"/>
              <a:t>salesforce composite method </a:t>
            </a:r>
            <a:r>
              <a:rPr lang="en-US" dirty="0"/>
              <a:t>involves various procedures by which salespeople provide forecasts for their assigned accounts, typically on specially designed forms (see Figure 4A.3), electronically via computer, or through the company’s CRM system. At Cisco Systems, reps submit data electronically to a company database that provides information about their pipelines, including opportunity size, customer technology requirements, and competitors. Managers then use this data to develop weekly, monthly, and quarterly forecasts. There are some popular variations of the salesforce composite method. Sales cycle forecasting uses the mean length of the sales cycle to predict when deals will close. This helps salespeople predict how much they expect to sell during a certain period. With opportunity stage forecasting, salespeople calculate the probability of closing a future deal at each stage (e.g., prospecting, qualified, quote/proposal, negotiation, close) in the sales pipeline. By multiplying the probability of winning a sale (based on the stage of the deal) by the deal’s potential sales, and then adding this up for each account, salespeople can calculate their expected sales revenue for a period. Research results suggest that salesperson forecasts can be improved by developing detailed instructions about the forecasting procedures and providing salespeople with detailed information about their accounts and feedback concerning the accuracy of previous forecasts.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7A40E9-527E-4BF1-BEF2-9AB9751DF025}" type="slidenum">
              <a:rPr lang="en-US" smtClean="0"/>
              <a:pPr/>
              <a:t>17</a:t>
            </a:fld>
            <a:endParaRPr lang="en-US" dirty="0"/>
          </a:p>
        </p:txBody>
      </p:sp>
    </p:spTree>
    <p:extLst>
      <p:ext uri="{BB962C8B-B14F-4D97-AF65-F5344CB8AC3E}">
        <p14:creationId xmlns:p14="http://schemas.microsoft.com/office/powerpoint/2010/main" val="2138933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market response framework to guide this type of approach is presented in the Figure. Depending on the planning and control unit of interest (territory, district, region, or zone), different determinants of market response (e.g., sales, market share) might be important. However, </a:t>
            </a:r>
            <a:r>
              <a:rPr lang="en-US" b="1" dirty="0"/>
              <a:t>these determinants can be classified </a:t>
            </a:r>
            <a:r>
              <a:rPr lang="en-US" dirty="0"/>
              <a:t>as either </a:t>
            </a:r>
            <a:r>
              <a:rPr lang="en-US" b="1" dirty="0"/>
              <a:t>environmental</a:t>
            </a:r>
            <a:r>
              <a:rPr lang="en-US" dirty="0"/>
              <a:t>, </a:t>
            </a:r>
            <a:r>
              <a:rPr lang="en-US" b="1" dirty="0"/>
              <a:t>organizational</a:t>
            </a:r>
            <a:r>
              <a:rPr lang="en-US" dirty="0"/>
              <a:t>, or </a:t>
            </a:r>
            <a:r>
              <a:rPr lang="en-US" b="1" dirty="0"/>
              <a:t>salesperson factors</a:t>
            </a:r>
            <a:r>
              <a:rPr lang="en-US" dirty="0"/>
              <a:t>. Once the determinant and market response factors are identified, their values for each planning and control unit in the previous period must be measured.</a:t>
            </a:r>
          </a:p>
          <a:p>
            <a:endParaRPr lang="en-US" dirty="0"/>
          </a:p>
          <a:p>
            <a:r>
              <a:rPr lang="en-US" dirty="0"/>
              <a:t>These are the types of factors that affect market response for any planning and control unit, whether it be accounts, territories, districts, regions, or zones. Market response might be profits, market share, or some other response, but sales is usually the market response variable of interest to sales managers.</a:t>
            </a:r>
          </a:p>
        </p:txBody>
      </p:sp>
      <p:sp>
        <p:nvSpPr>
          <p:cNvPr id="4" name="Slide Number Placeholder 3"/>
          <p:cNvSpPr>
            <a:spLocks noGrp="1"/>
          </p:cNvSpPr>
          <p:nvPr>
            <p:ph type="sldNum" sz="quarter" idx="5"/>
          </p:nvPr>
        </p:nvSpPr>
        <p:spPr/>
        <p:txBody>
          <a:bodyPr/>
          <a:lstStyle/>
          <a:p>
            <a:fld id="{237E3A48-5816-4407-BD05-29482C893C3E}" type="slidenum">
              <a:rPr lang="en-US" altLang="en-US" smtClean="0"/>
              <a:pPr/>
              <a:t>18</a:t>
            </a:fld>
            <a:endParaRPr lang="en-US" altLang="en-US" dirty="0"/>
          </a:p>
        </p:txBody>
      </p:sp>
    </p:spTree>
    <p:extLst>
      <p:ext uri="{BB962C8B-B14F-4D97-AF65-F5344CB8AC3E}">
        <p14:creationId xmlns:p14="http://schemas.microsoft.com/office/powerpoint/2010/main" val="18303986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p>
          <a:p>
            <a:pPr marL="171450" indent="-171450">
              <a:buFont typeface="Arial" panose="020B0604020202020204" pitchFamily="34" charset="0"/>
              <a:buChar char="•"/>
            </a:pPr>
            <a:r>
              <a:rPr lang="en-US" dirty="0"/>
              <a:t>The </a:t>
            </a:r>
            <a:r>
              <a:rPr lang="en-US" b="1" dirty="0"/>
              <a:t>environmental factors </a:t>
            </a:r>
            <a:r>
              <a:rPr lang="en-US" dirty="0"/>
              <a:t>are </a:t>
            </a:r>
            <a:r>
              <a:rPr lang="en-US" b="1" u="sng" dirty="0"/>
              <a:t>potential</a:t>
            </a:r>
            <a:r>
              <a:rPr lang="en-US" dirty="0"/>
              <a:t> and </a:t>
            </a:r>
            <a:r>
              <a:rPr lang="en-US" b="1" u="sng" dirty="0"/>
              <a:t>concentration</a:t>
            </a:r>
            <a:endParaRPr lang="en-US" dirty="0"/>
          </a:p>
          <a:p>
            <a:pPr marL="171450" indent="-171450">
              <a:buFont typeface="Arial" panose="020B0604020202020204" pitchFamily="34" charset="0"/>
              <a:buChar char="•"/>
            </a:pPr>
            <a:r>
              <a:rPr lang="en-US" dirty="0"/>
              <a:t>The </a:t>
            </a:r>
            <a:r>
              <a:rPr lang="en-US" b="1" dirty="0"/>
              <a:t>salesperson factor </a:t>
            </a:r>
            <a:r>
              <a:rPr lang="en-US" dirty="0"/>
              <a:t>is </a:t>
            </a:r>
            <a:r>
              <a:rPr lang="en-US" b="1" u="sng" dirty="0"/>
              <a:t>experience</a:t>
            </a:r>
            <a:r>
              <a:rPr lang="en-US" dirty="0"/>
              <a:t>, and </a:t>
            </a:r>
          </a:p>
          <a:p>
            <a:pPr marL="171450" indent="-171450">
              <a:buFont typeface="Arial" panose="020B0604020202020204" pitchFamily="34" charset="0"/>
              <a:buChar char="•"/>
            </a:pPr>
            <a:r>
              <a:rPr lang="en-US" dirty="0"/>
              <a:t>The </a:t>
            </a:r>
            <a:r>
              <a:rPr lang="en-US" b="1" dirty="0"/>
              <a:t>organizational factor </a:t>
            </a:r>
            <a:r>
              <a:rPr lang="en-US" dirty="0"/>
              <a:t>is </a:t>
            </a:r>
            <a:r>
              <a:rPr lang="en-US" b="1" u="sng" dirty="0"/>
              <a:t>span of control</a:t>
            </a:r>
            <a:r>
              <a:rPr lang="en-US" dirty="0"/>
              <a:t>.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The data are for three territories and are used in the model to generate sales forecasts for each territory individually. </a:t>
            </a:r>
          </a:p>
          <a:p>
            <a:pPr marL="0" indent="0">
              <a:buFont typeface="Arial" panose="020B0604020202020204" pitchFamily="34" charset="0"/>
              <a:buNone/>
            </a:pPr>
            <a:r>
              <a:rPr lang="en-US" b="1" dirty="0"/>
              <a:t>This regression model indicates that the higher the territory potential, account concentration, and level of salesperson experience are, the higher the territory sales will be</a:t>
            </a:r>
            <a:r>
              <a:rPr lang="en-US" dirty="0"/>
              <a:t>. </a:t>
            </a:r>
          </a:p>
          <a:p>
            <a:pPr marL="0" indent="0">
              <a:buFont typeface="Arial" panose="020B0604020202020204" pitchFamily="34" charset="0"/>
              <a:buNone/>
            </a:pPr>
            <a:r>
              <a:rPr lang="en-US" b="1" dirty="0"/>
              <a:t>The larger the span of control is, the lower the territory sales</a:t>
            </a:r>
            <a:r>
              <a:rPr lang="en-US" dirty="0"/>
              <a:t>. The exponents in the model suggest that territory sales are most affected by territory potential and span of control. Thus, the regression model generates a specific sales forecast for each territory, and it also provides information concerning relationships between determinant factors and sales.</a:t>
            </a:r>
          </a:p>
        </p:txBody>
      </p:sp>
      <p:sp>
        <p:nvSpPr>
          <p:cNvPr id="4" name="Slide Number Placeholder 3"/>
          <p:cNvSpPr>
            <a:spLocks noGrp="1"/>
          </p:cNvSpPr>
          <p:nvPr>
            <p:ph type="sldNum" sz="quarter" idx="5"/>
          </p:nvPr>
        </p:nvSpPr>
        <p:spPr/>
        <p:txBody>
          <a:bodyPr/>
          <a:lstStyle/>
          <a:p>
            <a:fld id="{237E3A48-5816-4407-BD05-29482C893C3E}" type="slidenum">
              <a:rPr lang="en-US" altLang="en-US" smtClean="0"/>
              <a:pPr/>
              <a:t>19</a:t>
            </a:fld>
            <a:endParaRPr lang="en-US" altLang="en-US" dirty="0"/>
          </a:p>
        </p:txBody>
      </p:sp>
    </p:spTree>
    <p:extLst>
      <p:ext uri="{BB962C8B-B14F-4D97-AF65-F5344CB8AC3E}">
        <p14:creationId xmlns:p14="http://schemas.microsoft.com/office/powerpoint/2010/main" val="1438268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p:spPr>
        <p:txBody>
          <a:bodyPr anchor="t"/>
          <a:lstStyle>
            <a:lvl1pPr>
              <a:defRPr/>
            </a:lvl1pPr>
          </a:lstStyle>
          <a:p>
            <a:pPr lvl="0"/>
            <a:r>
              <a:rPr lang="en-US" altLang="en-US" noProof="0"/>
              <a:t>Click to edit Master title style</a:t>
            </a:r>
          </a:p>
        </p:txBody>
      </p:sp>
      <p:pic>
        <p:nvPicPr>
          <p:cNvPr id="49170" name="Picture 18" descr="Routledge_RGB.jpg                                              0003463BMacintosh HD                   BC35053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546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393704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4226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solidFill>
            <a:schemeClr val="bg1">
              <a:lumMod val="85000"/>
            </a:schemeClr>
          </a:solidFill>
          <a:scene3d>
            <a:camera prst="orthographicFront"/>
            <a:lightRig rig="threePt" dir="t"/>
          </a:scene3d>
          <a:sp3d>
            <a:bevelT w="69850"/>
          </a:sp3d>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7599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Tree>
    <p:extLst>
      <p:ext uri="{BB962C8B-B14F-4D97-AF65-F5344CB8AC3E}">
        <p14:creationId xmlns:p14="http://schemas.microsoft.com/office/powerpoint/2010/main" val="602034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923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32820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40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774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04334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8686800" cy="762000"/>
          </a:xfrm>
        </p:spPr>
        <p:txBody>
          <a:bodyPr/>
          <a:lstStyle/>
          <a:p>
            <a:r>
              <a:rPr lang="en-US"/>
              <a:t>Click to edit Master title style</a:t>
            </a:r>
          </a:p>
        </p:txBody>
      </p:sp>
      <p:sp>
        <p:nvSpPr>
          <p:cNvPr id="3" name="SmartArt Placeholder 2"/>
          <p:cNvSpPr>
            <a:spLocks noGrp="1"/>
          </p:cNvSpPr>
          <p:nvPr>
            <p:ph type="dgm" idx="1"/>
          </p:nvPr>
        </p:nvSpPr>
        <p:spPr>
          <a:xfrm>
            <a:off x="457200" y="1600200"/>
            <a:ext cx="8229600" cy="4525963"/>
          </a:xfrm>
        </p:spPr>
        <p:txBody>
          <a:bodyPr/>
          <a:lstStyle/>
          <a:p>
            <a:r>
              <a:rPr lang="en-US" dirty="0"/>
              <a:t>Click icon to add SmartArt graphic</a:t>
            </a:r>
          </a:p>
        </p:txBody>
      </p:sp>
    </p:spTree>
    <p:extLst>
      <p:ext uri="{BB962C8B-B14F-4D97-AF65-F5344CB8AC3E}">
        <p14:creationId xmlns:p14="http://schemas.microsoft.com/office/powerpoint/2010/main" val="2389790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a:solidFill>
            <a:schemeClr val="bg1">
              <a:lumMod val="85000"/>
            </a:schemeClr>
          </a:solidFill>
          <a:scene3d>
            <a:camera prst="orthographicFront"/>
            <a:lightRig rig="threePt" dir="t"/>
          </a:scene3d>
          <a:sp3d>
            <a:bevelT w="69850"/>
          </a:sp3d>
        </p:spPr>
        <p:txBody>
          <a:bodyPr anchor="t"/>
          <a:lstStyle>
            <a:lvl1pPr>
              <a:defRPr/>
            </a:lvl1pPr>
          </a:lstStyle>
          <a:p>
            <a:pPr lvl="0"/>
            <a:r>
              <a:rPr lang="en-US" altLang="en-US" noProof="0" dirty="0"/>
              <a:t>Click to edit Master title style</a:t>
            </a:r>
          </a:p>
        </p:txBody>
      </p:sp>
      <p:pic>
        <p:nvPicPr>
          <p:cNvPr id="5" name="Picture 18" descr="Routledge_RGB.jpg                                              0003463BMacintosh HD                   BC35053E:"/>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001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3698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505770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0961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60742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Tree>
    <p:extLst>
      <p:ext uri="{BB962C8B-B14F-4D97-AF65-F5344CB8AC3E}">
        <p14:creationId xmlns:p14="http://schemas.microsoft.com/office/powerpoint/2010/main" val="7328599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34814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7020532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0268816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34807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94466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48146" name="Picture 18" descr="Routledge_RGB.jpg                                              0003463BMacintosh HD                   BC35053E:"/>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A519118-44AA-C5F6-B038-E34A0C1CB37D}"/>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GB" sz="900">
                <a:solidFill>
                  <a:srgbClr val="0078D7"/>
                </a:solidFill>
                <a:latin typeface="Rockwell" panose="02060603020205020403" pitchFamily="18" charset="0"/>
              </a:rPr>
              <a:t>Information Classification: General</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marL="192088" algn="l" rtl="0" eaLnBrk="1" fontAlgn="base" hangingPunct="1">
        <a:spcBef>
          <a:spcPct val="0"/>
        </a:spcBef>
        <a:spcAft>
          <a:spcPct val="0"/>
        </a:spcAft>
        <a:defRPr sz="36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itchFamily="66" charset="0"/>
        </a:defRPr>
      </a:lvl2pPr>
      <a:lvl3pPr marL="192088" algn="l" rtl="0" eaLnBrk="1" fontAlgn="base" hangingPunct="1">
        <a:spcBef>
          <a:spcPct val="0"/>
        </a:spcBef>
        <a:spcAft>
          <a:spcPct val="0"/>
        </a:spcAft>
        <a:defRPr sz="3600">
          <a:solidFill>
            <a:schemeClr val="tx2"/>
          </a:solidFill>
          <a:latin typeface="Verdana" pitchFamily="66" charset="0"/>
        </a:defRPr>
      </a:lvl3pPr>
      <a:lvl4pPr marL="192088" algn="l" rtl="0" eaLnBrk="1" fontAlgn="base" hangingPunct="1">
        <a:spcBef>
          <a:spcPct val="0"/>
        </a:spcBef>
        <a:spcAft>
          <a:spcPct val="0"/>
        </a:spcAft>
        <a:defRPr sz="3600">
          <a:solidFill>
            <a:schemeClr val="tx2"/>
          </a:solidFill>
          <a:latin typeface="Verdana" pitchFamily="66" charset="0"/>
        </a:defRPr>
      </a:lvl4pPr>
      <a:lvl5pPr marL="192088" algn="l" rtl="0" eaLnBrk="1" fontAlgn="base" hangingPunct="1">
        <a:spcBef>
          <a:spcPct val="0"/>
        </a:spcBef>
        <a:spcAft>
          <a:spcPct val="0"/>
        </a:spcAft>
        <a:defRPr sz="3600">
          <a:solidFill>
            <a:schemeClr val="tx2"/>
          </a:solidFill>
          <a:latin typeface="Verdana" pitchFamily="66" charset="0"/>
        </a:defRPr>
      </a:lvl5pPr>
      <a:lvl6pPr marL="649288" algn="l" rtl="0" eaLnBrk="1" fontAlgn="base" hangingPunct="1">
        <a:spcBef>
          <a:spcPct val="0"/>
        </a:spcBef>
        <a:spcAft>
          <a:spcPct val="0"/>
        </a:spcAft>
        <a:defRPr sz="3600">
          <a:solidFill>
            <a:schemeClr val="tx2"/>
          </a:solidFill>
          <a:latin typeface="Verdana" pitchFamily="66" charset="0"/>
        </a:defRPr>
      </a:lvl6pPr>
      <a:lvl7pPr marL="1106488" algn="l" rtl="0" eaLnBrk="1" fontAlgn="base" hangingPunct="1">
        <a:spcBef>
          <a:spcPct val="0"/>
        </a:spcBef>
        <a:spcAft>
          <a:spcPct val="0"/>
        </a:spcAft>
        <a:defRPr sz="3600">
          <a:solidFill>
            <a:schemeClr val="tx2"/>
          </a:solidFill>
          <a:latin typeface="Verdana" pitchFamily="66" charset="0"/>
        </a:defRPr>
      </a:lvl7pPr>
      <a:lvl8pPr marL="1563688" algn="l" rtl="0" eaLnBrk="1" fontAlgn="base" hangingPunct="1">
        <a:spcBef>
          <a:spcPct val="0"/>
        </a:spcBef>
        <a:spcAft>
          <a:spcPct val="0"/>
        </a:spcAft>
        <a:defRPr sz="3600">
          <a:solidFill>
            <a:schemeClr val="tx2"/>
          </a:solidFill>
          <a:latin typeface="Verdana" pitchFamily="66" charset="0"/>
        </a:defRPr>
      </a:lvl8pPr>
      <a:lvl9pPr marL="2020888" algn="l" rtl="0" eaLnBrk="1" fontAlgn="base" hangingPunct="1">
        <a:spcBef>
          <a:spcPct val="0"/>
        </a:spcBef>
        <a:spcAft>
          <a:spcPct val="0"/>
        </a:spcAft>
        <a:defRPr sz="3600">
          <a:solidFill>
            <a:schemeClr val="tx2"/>
          </a:solidFill>
          <a:latin typeface="Verdana" pitchFamily="66" charset="0"/>
        </a:defRPr>
      </a:lvl9pPr>
    </p:titleStyle>
    <p:bodyStyle>
      <a:lvl1pPr marL="292100" indent="-292100" algn="l" rtl="0" eaLnBrk="1" fontAlgn="base" hangingPunct="1">
        <a:spcBef>
          <a:spcPct val="20000"/>
        </a:spcBef>
        <a:spcAft>
          <a:spcPct val="0"/>
        </a:spcAft>
        <a:buClr>
          <a:srgbClr val="0A57A5"/>
        </a:buClr>
        <a:buChar char="•"/>
        <a:defRPr sz="2400">
          <a:solidFill>
            <a:schemeClr val="tx2"/>
          </a:solidFill>
          <a:latin typeface="Arial" panose="020B0604020202020204" pitchFamily="34" charset="0"/>
          <a:ea typeface="+mn-ea"/>
          <a:cs typeface="Arial" panose="020B0604020202020204" pitchFamily="34" charset="0"/>
        </a:defRPr>
      </a:lvl1pPr>
      <a:lvl2pPr marL="673100" indent="-190500" algn="l" rtl="0" eaLnBrk="1" fontAlgn="base" hangingPunct="1">
        <a:spcBef>
          <a:spcPct val="20000"/>
        </a:spcBef>
        <a:spcAft>
          <a:spcPct val="0"/>
        </a:spcAft>
        <a:buClr>
          <a:srgbClr val="0A57A5"/>
        </a:buClr>
        <a:buFont typeface="Times"/>
        <a:buChar char="•"/>
        <a:defRPr sz="2000">
          <a:solidFill>
            <a:srgbClr val="1A137B"/>
          </a:solidFill>
          <a:latin typeface="Arial" panose="020B0604020202020204" pitchFamily="34" charset="0"/>
          <a:cs typeface="Arial" panose="020B0604020202020204" pitchFamily="34" charset="0"/>
        </a:defRPr>
      </a:lvl2pPr>
      <a:lvl3pPr marL="1054100" indent="-190500" algn="l" rtl="0" eaLnBrk="1" fontAlgn="base" hangingPunct="1">
        <a:spcBef>
          <a:spcPct val="20000"/>
        </a:spcBef>
        <a:spcAft>
          <a:spcPct val="0"/>
        </a:spcAft>
        <a:buClr>
          <a:srgbClr val="0A57A5"/>
        </a:buClr>
        <a:buFont typeface="Times"/>
        <a:buChar char="•"/>
        <a:defRPr>
          <a:solidFill>
            <a:srgbClr val="1A137B"/>
          </a:solidFill>
          <a:latin typeface="Arial" panose="020B0604020202020204" pitchFamily="34" charset="0"/>
          <a:cs typeface="Arial" panose="020B0604020202020204" pitchFamily="34" charset="0"/>
        </a:defRPr>
      </a:lvl3pPr>
      <a:lvl4pPr marL="1435100" indent="-190500" algn="l" rtl="0" eaLnBrk="1" fontAlgn="base" hangingPunct="1">
        <a:spcBef>
          <a:spcPct val="20000"/>
        </a:spcBef>
        <a:spcAft>
          <a:spcPct val="0"/>
        </a:spcAft>
        <a:buClr>
          <a:srgbClr val="0A57A5"/>
        </a:buClr>
        <a:buFont typeface="Times"/>
        <a:buChar char="•"/>
        <a:defRPr sz="1600">
          <a:solidFill>
            <a:srgbClr val="1A137B"/>
          </a:solidFill>
          <a:latin typeface="Arial" panose="020B0604020202020204" pitchFamily="34" charset="0"/>
          <a:cs typeface="Arial" panose="020B0604020202020204" pitchFamily="34" charset="0"/>
        </a:defRPr>
      </a:lvl4pPr>
      <a:lvl5pPr marL="1816100" indent="-190500" algn="l" rtl="0" eaLnBrk="1" fontAlgn="base" hangingPunct="1">
        <a:spcBef>
          <a:spcPct val="20000"/>
        </a:spcBef>
        <a:spcAft>
          <a:spcPct val="0"/>
        </a:spcAft>
        <a:buClr>
          <a:srgbClr val="0A57A5"/>
        </a:buClr>
        <a:buFont typeface="Times"/>
        <a:buChar char="•"/>
        <a:defRPr sz="1600">
          <a:solidFill>
            <a:srgbClr val="1A137B"/>
          </a:solidFill>
          <a:latin typeface="Arial" panose="020B0604020202020204" pitchFamily="34" charset="0"/>
          <a:cs typeface="Arial" panose="020B0604020202020204" pitchFamily="34" charset="0"/>
        </a:defRPr>
      </a:lvl5pPr>
      <a:lvl6pPr marL="22733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6pPr>
      <a:lvl7pPr marL="27305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7pPr>
      <a:lvl8pPr marL="31877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8pPr>
      <a:lvl9pPr marL="36449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5" name="Picture 18" descr="Routledge_RGB.jpg                                              0003463BMacintosh HD                   BC35053E:"/>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A7E5886-2D4B-B3C8-849C-80E9DD8E4DE6}"/>
              </a:ext>
            </a:extLst>
          </p:cNvPr>
          <p:cNvSpPr txBox="1"/>
          <p:nvPr userDrawn="1">
            <p:extLst>
              <p:ext uri="{1162E1C5-73C7-4A58-AE30-91384D911F3F}">
                <p184:classification xmlns:p184="http://schemas.microsoft.com/office/powerpoint/2018/4/main" val="ftr"/>
              </p:ext>
            </p:extLst>
          </p:nvPr>
        </p:nvSpPr>
        <p:spPr>
          <a:xfrm>
            <a:off x="190500" y="6530340"/>
            <a:ext cx="1857375" cy="137160"/>
          </a:xfrm>
          <a:prstGeom prst="rect">
            <a:avLst/>
          </a:prstGeom>
        </p:spPr>
        <p:txBody>
          <a:bodyPr horzOverflow="overflow" lIns="0" tIns="0" rIns="0" bIns="0">
            <a:spAutoFit/>
          </a:bodyPr>
          <a:lstStyle/>
          <a:p>
            <a:pPr algn="l"/>
            <a:r>
              <a:rPr lang="en-GB" sz="900">
                <a:solidFill>
                  <a:srgbClr val="0078D7"/>
                </a:solidFill>
                <a:latin typeface="Rockwell" panose="02060603020205020403" pitchFamily="18" charset="0"/>
              </a:rPr>
              <a:t>Information Classification: General</a:t>
            </a:r>
          </a:p>
        </p:txBody>
      </p:sp>
    </p:spTree>
    <p:extLst>
      <p:ext uri="{BB962C8B-B14F-4D97-AF65-F5344CB8AC3E}">
        <p14:creationId xmlns:p14="http://schemas.microsoft.com/office/powerpoint/2010/main" val="20256249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p:titleStyle>
    <p:bodyStyle>
      <a:lvl1pPr marL="292100" indent="-292100" algn="l" rtl="0" eaLnBrk="1" fontAlgn="base" hangingPunct="1">
        <a:spcBef>
          <a:spcPct val="20000"/>
        </a:spcBef>
        <a:spcAft>
          <a:spcPct val="0"/>
        </a:spcAft>
        <a:buClr>
          <a:srgbClr val="0A57A5"/>
        </a:buClr>
        <a:buChar char="•"/>
        <a:defRPr sz="2400" kern="1200">
          <a:solidFill>
            <a:schemeClr val="tx2"/>
          </a:solidFill>
          <a:latin typeface="Arial" panose="020B0604020202020204" pitchFamily="34" charset="0"/>
          <a:ea typeface="+mn-ea"/>
          <a:cs typeface="Arial" panose="020B0604020202020204" pitchFamily="34" charset="0"/>
        </a:defRPr>
      </a:lvl1pPr>
      <a:lvl2pPr marL="673100" indent="-190500" algn="l" rtl="0" eaLnBrk="1" fontAlgn="base" hangingPunct="1">
        <a:spcBef>
          <a:spcPct val="20000"/>
        </a:spcBef>
        <a:spcAft>
          <a:spcPct val="0"/>
        </a:spcAft>
        <a:buClr>
          <a:srgbClr val="0A57A5"/>
        </a:buClr>
        <a:buFont typeface="Times" panose="02020603050405020304" pitchFamily="18" charset="0"/>
        <a:buChar char="•"/>
        <a:defRPr sz="2000" kern="1200">
          <a:solidFill>
            <a:srgbClr val="1A137B"/>
          </a:solidFill>
          <a:latin typeface="Arial" panose="020B0604020202020204" pitchFamily="34" charset="0"/>
          <a:ea typeface="+mn-ea"/>
          <a:cs typeface="Arial" panose="020B0604020202020204" pitchFamily="34" charset="0"/>
        </a:defRPr>
      </a:lvl2pPr>
      <a:lvl3pPr marL="1054100" indent="-190500" algn="l" rtl="0" eaLnBrk="1" fontAlgn="base" hangingPunct="1">
        <a:spcBef>
          <a:spcPct val="20000"/>
        </a:spcBef>
        <a:spcAft>
          <a:spcPct val="0"/>
        </a:spcAft>
        <a:buClr>
          <a:srgbClr val="0A57A5"/>
        </a:buClr>
        <a:buFont typeface="Times" panose="02020603050405020304" pitchFamily="18" charset="0"/>
        <a:buChar char="•"/>
        <a:defRPr kern="1200">
          <a:solidFill>
            <a:srgbClr val="1A137B"/>
          </a:solidFill>
          <a:latin typeface="Arial" panose="020B0604020202020204" pitchFamily="34" charset="0"/>
          <a:ea typeface="+mn-ea"/>
          <a:cs typeface="Arial" panose="020B0604020202020204" pitchFamily="34" charset="0"/>
        </a:defRPr>
      </a:lvl3pPr>
      <a:lvl4pPr marL="1435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4pPr>
      <a:lvl5pPr marL="1816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7233E3-FADD-4A30-9987-B73553DA7B3D}"/>
              </a:ext>
            </a:extLst>
          </p:cNvPr>
          <p:cNvSpPr>
            <a:spLocks noGrp="1"/>
          </p:cNvSpPr>
          <p:nvPr>
            <p:ph sz="half" idx="2"/>
          </p:nvPr>
        </p:nvSpPr>
        <p:spPr>
          <a:xfrm>
            <a:off x="5181600" y="1676400"/>
            <a:ext cx="3839416" cy="4882378"/>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0" lvl="0" indent="0">
              <a:buNone/>
            </a:pPr>
            <a:r>
              <a:rPr lang="en-US" altLang="en-US" sz="4000" kern="0" dirty="0">
                <a:solidFill>
                  <a:srgbClr val="11147D"/>
                </a:solidFill>
              </a:rPr>
              <a:t>Appendix 4</a:t>
            </a:r>
          </a:p>
          <a:p>
            <a:pPr marL="0" lvl="0" indent="0">
              <a:buNone/>
            </a:pPr>
            <a:br>
              <a:rPr lang="en-US" altLang="en-US" sz="4000" kern="0" dirty="0">
                <a:solidFill>
                  <a:srgbClr val="11147D"/>
                </a:solidFill>
              </a:rPr>
            </a:br>
            <a:r>
              <a:rPr lang="en-US" altLang="en-US" sz="4000" kern="0" dirty="0">
                <a:solidFill>
                  <a:srgbClr val="11147D"/>
                </a:solidFill>
              </a:rPr>
              <a:t>Developing Forecasts</a:t>
            </a:r>
            <a:endParaRPr lang="en-US" dirty="0"/>
          </a:p>
        </p:txBody>
      </p:sp>
      <p:pic>
        <p:nvPicPr>
          <p:cNvPr id="1026" name="Picture 2" descr="Sales Management: Analysis and Decision Making book cover">
            <a:extLst>
              <a:ext uri="{FF2B5EF4-FFF2-40B4-BE49-F238E27FC236}">
                <a16:creationId xmlns:a16="http://schemas.microsoft.com/office/drawing/2014/main" id="{ED38BFA2-7F87-789B-8C05-9F3D5937B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57200"/>
            <a:ext cx="4029075" cy="53874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solidFill>
            <a:schemeClr val="bg2">
              <a:lumMod val="60000"/>
              <a:lumOff val="40000"/>
            </a:schemeClr>
          </a:solidFill>
        </p:spPr>
        <p:txBody>
          <a:bodyPr/>
          <a:lstStyle/>
          <a:p>
            <a:r>
              <a:rPr lang="en-US" dirty="0"/>
              <a:t>Why Forecast?</a:t>
            </a:r>
          </a:p>
        </p:txBody>
      </p:sp>
      <p:sp>
        <p:nvSpPr>
          <p:cNvPr id="112643" name="Rectangle 3"/>
          <p:cNvSpPr>
            <a:spLocks noGrp="1" noChangeArrowheads="1"/>
          </p:cNvSpPr>
          <p:nvPr>
            <p:ph idx="1"/>
          </p:nvPr>
        </p:nvSpPr>
        <p:spPr>
          <a:xfrm>
            <a:off x="152400" y="1408386"/>
            <a:ext cx="8205788" cy="4419600"/>
          </a:xfrm>
          <a:solidFill>
            <a:schemeClr val="bg2">
              <a:lumMod val="20000"/>
              <a:lumOff val="80000"/>
            </a:schemeClr>
          </a:solidFill>
          <a:scene3d>
            <a:camera prst="orthographicFront"/>
            <a:lightRig rig="threePt" dir="t"/>
          </a:scene3d>
          <a:sp3d>
            <a:bevelT/>
          </a:sp3d>
        </p:spPr>
        <p:txBody>
          <a:bodyPr/>
          <a:lstStyle/>
          <a:p>
            <a:pPr marL="0" indent="0">
              <a:buNone/>
            </a:pPr>
            <a:r>
              <a:rPr lang="en-US" sz="2400" u="sng" dirty="0"/>
              <a:t>All</a:t>
            </a:r>
            <a:r>
              <a:rPr lang="en-US" sz="2400" dirty="0"/>
              <a:t> Sales Management decisions are based on some type of forecast.</a:t>
            </a:r>
          </a:p>
          <a:p>
            <a:pPr marL="0" indent="0">
              <a:buNone/>
            </a:pPr>
            <a:endParaRPr lang="en-US" dirty="0"/>
          </a:p>
          <a:p>
            <a:pPr marL="0" indent="0">
              <a:buNone/>
            </a:pPr>
            <a:r>
              <a:rPr lang="en-US" sz="2400" dirty="0"/>
              <a:t>Forecasts are used to help:</a:t>
            </a:r>
          </a:p>
          <a:p>
            <a:r>
              <a:rPr lang="en-US" sz="2400" dirty="0"/>
              <a:t>Determine salesforce size</a:t>
            </a:r>
          </a:p>
          <a:p>
            <a:r>
              <a:rPr lang="en-US" sz="2400" dirty="0"/>
              <a:t>Design territories</a:t>
            </a:r>
          </a:p>
          <a:p>
            <a:r>
              <a:rPr lang="en-US" sz="2400" dirty="0"/>
              <a:t>Establish sales quotas and selling budgets</a:t>
            </a:r>
          </a:p>
          <a:p>
            <a:r>
              <a:rPr lang="en-US" sz="2400" dirty="0"/>
              <a:t>Determine sales compensation levels</a:t>
            </a:r>
          </a:p>
          <a:p>
            <a:r>
              <a:rPr lang="en-US" sz="2400" dirty="0"/>
              <a:t>Evaluate salesperson performance</a:t>
            </a:r>
          </a:p>
          <a:p>
            <a:r>
              <a:rPr lang="en-US" sz="2400" dirty="0"/>
              <a:t>Evaluate prospective accounts</a:t>
            </a:r>
          </a:p>
        </p:txBody>
      </p:sp>
      <p:sp>
        <p:nvSpPr>
          <p:cNvPr id="3" name="TextBox 2">
            <a:extLst>
              <a:ext uri="{FF2B5EF4-FFF2-40B4-BE49-F238E27FC236}">
                <a16:creationId xmlns:a16="http://schemas.microsoft.com/office/drawing/2014/main" id="{EA2ECBC9-061E-47BD-BB1A-F771E7EFBB8E}"/>
              </a:ext>
            </a:extLst>
          </p:cNvPr>
          <p:cNvSpPr txBox="1"/>
          <p:nvPr/>
        </p:nvSpPr>
        <p:spPr>
          <a:xfrm>
            <a:off x="7162801" y="6183526"/>
            <a:ext cx="862737" cy="246221"/>
          </a:xfrm>
          <a:prstGeom prst="rect">
            <a:avLst/>
          </a:prstGeom>
          <a:noFill/>
        </p:spPr>
        <p:txBody>
          <a:bodyPr wrap="none" rtlCol="0">
            <a:spAutoFit/>
          </a:bodyPr>
          <a:lstStyle/>
          <a:p>
            <a:r>
              <a:rPr lang="en-US" sz="1000" dirty="0"/>
              <a:t>Freepik.com</a:t>
            </a:r>
          </a:p>
        </p:txBody>
      </p:sp>
      <p:pic>
        <p:nvPicPr>
          <p:cNvPr id="2" name="Picture 2" descr="Free vector stock exchange data">
            <a:extLst>
              <a:ext uri="{FF2B5EF4-FFF2-40B4-BE49-F238E27FC236}">
                <a16:creationId xmlns:a16="http://schemas.microsoft.com/office/drawing/2014/main" id="{F3B9382F-EEFC-8398-9850-B8AC7AC3F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4343400"/>
            <a:ext cx="3962400" cy="263949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66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99730-523F-4FAB-86C3-8F06880685DB}"/>
              </a:ext>
            </a:extLst>
          </p:cNvPr>
          <p:cNvSpPr>
            <a:spLocks noGrp="1"/>
          </p:cNvSpPr>
          <p:nvPr>
            <p:ph type="title"/>
          </p:nvPr>
        </p:nvSpPr>
        <p:spPr>
          <a:solidFill>
            <a:schemeClr val="bg2">
              <a:lumMod val="60000"/>
              <a:lumOff val="40000"/>
            </a:schemeClr>
          </a:solidFill>
          <a:ln>
            <a:solidFill>
              <a:schemeClr val="bg2">
                <a:lumMod val="60000"/>
                <a:lumOff val="40000"/>
              </a:schemeClr>
            </a:solidFill>
          </a:ln>
        </p:spPr>
        <p:txBody>
          <a:bodyPr/>
          <a:lstStyle/>
          <a:p>
            <a:r>
              <a:rPr lang="en-US" dirty="0"/>
              <a:t>Defining the Forecast</a:t>
            </a:r>
          </a:p>
        </p:txBody>
      </p:sp>
      <p:pic>
        <p:nvPicPr>
          <p:cNvPr id="5" name="Content Placeholder 4" descr="A close up of a piece of paper&#10;&#10;Description generated with very high confidence">
            <a:extLst>
              <a:ext uri="{FF2B5EF4-FFF2-40B4-BE49-F238E27FC236}">
                <a16:creationId xmlns:a16="http://schemas.microsoft.com/office/drawing/2014/main" id="{61764800-A7B7-47BA-9218-65E46B68A809}"/>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tretch>
            <a:fillRect/>
          </a:stretch>
        </p:blipFill>
        <p:spPr>
          <a:xfrm>
            <a:off x="152400" y="1752600"/>
            <a:ext cx="8610600" cy="4585372"/>
          </a:xfrm>
          <a:scene3d>
            <a:camera prst="orthographicFront"/>
            <a:lightRig rig="threePt" dir="t"/>
          </a:scene3d>
          <a:sp3d>
            <a:bevelT/>
          </a:sp3d>
        </p:spPr>
      </p:pic>
    </p:spTree>
    <p:extLst>
      <p:ext uri="{BB962C8B-B14F-4D97-AF65-F5344CB8AC3E}">
        <p14:creationId xmlns:p14="http://schemas.microsoft.com/office/powerpoint/2010/main" val="2276296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4"/>
          <p:cNvSpPr>
            <a:spLocks noGrp="1" noChangeArrowheads="1"/>
          </p:cNvSpPr>
          <p:nvPr>
            <p:ph type="title"/>
          </p:nvPr>
        </p:nvSpPr>
        <p:spPr>
          <a:solidFill>
            <a:schemeClr val="bg2">
              <a:lumMod val="60000"/>
              <a:lumOff val="40000"/>
            </a:schemeClr>
          </a:solidFill>
        </p:spPr>
        <p:txBody>
          <a:bodyPr/>
          <a:lstStyle/>
          <a:p>
            <a:r>
              <a:rPr lang="en-US" dirty="0"/>
              <a:t>Types of Forecasts</a:t>
            </a:r>
          </a:p>
        </p:txBody>
      </p:sp>
      <p:grpSp>
        <p:nvGrpSpPr>
          <p:cNvPr id="12" name="Group 11"/>
          <p:cNvGrpSpPr/>
          <p:nvPr/>
        </p:nvGrpSpPr>
        <p:grpSpPr>
          <a:xfrm>
            <a:off x="361950" y="2133600"/>
            <a:ext cx="8172450" cy="2441575"/>
            <a:chOff x="304800" y="2206625"/>
            <a:chExt cx="8172450" cy="2441575"/>
          </a:xfrm>
        </p:grpSpPr>
        <p:sp>
          <p:nvSpPr>
            <p:cNvPr id="14" name="Rectangle 5"/>
            <p:cNvSpPr>
              <a:spLocks noChangeAspect="1" noChangeArrowheads="1"/>
            </p:cNvSpPr>
            <p:nvPr/>
          </p:nvSpPr>
          <p:spPr bwMode="auto">
            <a:xfrm>
              <a:off x="2971800" y="3086100"/>
              <a:ext cx="2720340" cy="800100"/>
            </a:xfrm>
            <a:prstGeom prst="rect">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w="9525" cap="flat" cmpd="sng" algn="ctr">
              <a:solidFill>
                <a:srgbClr val="C0504D">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Market </a:t>
              </a:r>
              <a:r>
                <a:rPr kumimoji="0" lang="en-US" sz="1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Potential</a:t>
              </a:r>
            </a:p>
          </p:txBody>
        </p:sp>
        <p:sp>
          <p:nvSpPr>
            <p:cNvPr id="15" name="Rectangle 6"/>
            <p:cNvSpPr>
              <a:spLocks noChangeAspect="1" noChangeArrowheads="1"/>
            </p:cNvSpPr>
            <p:nvPr/>
          </p:nvSpPr>
          <p:spPr bwMode="auto">
            <a:xfrm>
              <a:off x="2971800" y="3848100"/>
              <a:ext cx="2720340" cy="8001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Sales </a:t>
              </a:r>
              <a:r>
                <a:rPr kumimoji="0" lang="en-US" sz="1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Potential</a:t>
              </a:r>
            </a:p>
          </p:txBody>
        </p:sp>
        <p:sp>
          <p:nvSpPr>
            <p:cNvPr id="16" name="Rectangle 7"/>
            <p:cNvSpPr>
              <a:spLocks noChangeAspect="1" noChangeArrowheads="1"/>
            </p:cNvSpPr>
            <p:nvPr/>
          </p:nvSpPr>
          <p:spPr bwMode="auto">
            <a:xfrm>
              <a:off x="5715000" y="3086100"/>
              <a:ext cx="2720340" cy="8001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w="9525" cap="flat" cmpd="sng" algn="ctr">
              <a:solidFill>
                <a:srgbClr val="F79646">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Market </a:t>
              </a:r>
              <a:r>
                <a:rPr kumimoji="0" lang="en-US" sz="1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Forecast</a:t>
              </a:r>
            </a:p>
          </p:txBody>
        </p:sp>
        <p:sp>
          <p:nvSpPr>
            <p:cNvPr id="17" name="Rectangle 8"/>
            <p:cNvSpPr>
              <a:spLocks noChangeAspect="1" noChangeArrowheads="1"/>
            </p:cNvSpPr>
            <p:nvPr/>
          </p:nvSpPr>
          <p:spPr bwMode="auto">
            <a:xfrm>
              <a:off x="5715000" y="3848100"/>
              <a:ext cx="2720340" cy="8001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w="9525" cap="flat" cmpd="sng" algn="ctr">
              <a:solidFill>
                <a:srgbClr val="9BBB59">
                  <a:shade val="95000"/>
                  <a:satMod val="105000"/>
                </a:srgbClr>
              </a:solidFill>
              <a:prstDash val="solid"/>
              <a:headEnd/>
              <a:tailEnd/>
            </a:ln>
            <a:effectLst>
              <a:outerShdw blurRad="40000" dist="23000" dir="5400000" rotWithShape="0">
                <a:srgbClr val="000000">
                  <a:alpha val="35000"/>
                </a:srgbClr>
              </a:outerShdw>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Sales </a:t>
              </a:r>
              <a:r>
                <a:rPr kumimoji="0" lang="en-US" sz="18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Forecast</a:t>
              </a:r>
            </a:p>
          </p:txBody>
        </p:sp>
        <p:sp>
          <p:nvSpPr>
            <p:cNvPr id="18" name="Text Box 9"/>
            <p:cNvSpPr txBox="1">
              <a:spLocks noChangeArrowheads="1"/>
            </p:cNvSpPr>
            <p:nvPr/>
          </p:nvSpPr>
          <p:spPr bwMode="auto">
            <a:xfrm>
              <a:off x="304800" y="3214688"/>
              <a:ext cx="2627586" cy="523220"/>
            </a:xfrm>
            <a:prstGeom prst="rect">
              <a:avLst/>
            </a:prstGeom>
            <a:noFill/>
            <a:ln w="9525">
              <a:noFill/>
              <a:miter lim="800000"/>
              <a:headEnd/>
              <a:tailEnd/>
            </a:ln>
            <a:effectLst>
              <a:outerShdw dist="35921" dir="2700000" algn="ctr" rotWithShape="0">
                <a:srgbClr val="EEECE1"/>
              </a:outerShdw>
            </a:effectLst>
          </p:spPr>
          <p:txBody>
            <a:bodyPr wrap="square">
              <a:spAutoFit/>
            </a:bodyPr>
            <a:lstStyle/>
            <a:p>
              <a:pPr marL="0" marR="0" lvl="0" indent="0" algn="r" defTabSz="914400" eaLnBrk="1" fontAlgn="auto" latinLnBrk="0" hangingPunct="1">
                <a:lnSpc>
                  <a:spcPct val="100000"/>
                </a:lnSpc>
                <a:spcBef>
                  <a:spcPct val="50000"/>
                </a:spcBef>
                <a:spcAft>
                  <a:spcPts val="0"/>
                </a:spcAft>
                <a:buClrTx/>
                <a:buSzTx/>
                <a:buFontTx/>
                <a:buNone/>
                <a:tabLst/>
                <a:defRPr/>
              </a:pPr>
              <a:r>
                <a:rPr kumimoji="0" lang="en-US" sz="2800" b="0" i="0" u="sng"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Industry</a:t>
              </a:r>
              <a:r>
                <a:rPr kumimoji="0" lang="en-US" sz="2800"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 Level</a:t>
              </a:r>
            </a:p>
          </p:txBody>
        </p:sp>
        <p:sp>
          <p:nvSpPr>
            <p:cNvPr id="19" name="Text Box 10"/>
            <p:cNvSpPr txBox="1">
              <a:spLocks noChangeArrowheads="1"/>
            </p:cNvSpPr>
            <p:nvPr/>
          </p:nvSpPr>
          <p:spPr bwMode="auto">
            <a:xfrm>
              <a:off x="304800" y="3971925"/>
              <a:ext cx="2627586" cy="523220"/>
            </a:xfrm>
            <a:prstGeom prst="rect">
              <a:avLst/>
            </a:prstGeom>
            <a:noFill/>
            <a:ln w="9525">
              <a:noFill/>
              <a:miter lim="800000"/>
              <a:headEnd/>
              <a:tailEnd/>
            </a:ln>
            <a:effectLst>
              <a:outerShdw dist="35921" dir="2700000" algn="ctr" rotWithShape="0">
                <a:srgbClr val="EEECE1"/>
              </a:outerShdw>
            </a:effectLst>
          </p:spPr>
          <p:txBody>
            <a:bodyPr wrap="square">
              <a:spAutoFit/>
            </a:bodyPr>
            <a:lstStyle/>
            <a:p>
              <a:pPr marL="0" marR="0" lvl="0" indent="0" algn="r" defTabSz="914400" eaLnBrk="1" fontAlgn="auto" latinLnBrk="0" hangingPunct="1">
                <a:lnSpc>
                  <a:spcPct val="100000"/>
                </a:lnSpc>
                <a:spcBef>
                  <a:spcPct val="50000"/>
                </a:spcBef>
                <a:spcAft>
                  <a:spcPts val="0"/>
                </a:spcAft>
                <a:buClrTx/>
                <a:buSzTx/>
                <a:buFontTx/>
                <a:buNone/>
                <a:tabLst/>
                <a:defRPr/>
              </a:pPr>
              <a:r>
                <a:rPr kumimoji="0" lang="en-US" sz="2800" b="0" i="0" u="sng"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Firm</a:t>
              </a:r>
              <a:r>
                <a:rPr kumimoji="0" lang="en-US" sz="2800"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 Level</a:t>
              </a:r>
            </a:p>
          </p:txBody>
        </p:sp>
        <p:sp>
          <p:nvSpPr>
            <p:cNvPr id="20" name="Text Box 11"/>
            <p:cNvSpPr txBox="1">
              <a:spLocks noChangeArrowheads="1"/>
            </p:cNvSpPr>
            <p:nvPr/>
          </p:nvSpPr>
          <p:spPr bwMode="auto">
            <a:xfrm>
              <a:off x="3048000" y="2206625"/>
              <a:ext cx="2590800" cy="830997"/>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b="0" i="1"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Best</a:t>
              </a:r>
              <a:r>
                <a:rPr kumimoji="0" lang="en-US"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 </a:t>
              </a:r>
              <a:br>
                <a:rPr kumimoji="0" lang="en-US"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br>
              <a:r>
                <a:rPr kumimoji="0" lang="en-US" b="0" i="1"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Possible</a:t>
              </a:r>
              <a:r>
                <a:rPr kumimoji="0" lang="en-US"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 Results</a:t>
              </a:r>
            </a:p>
          </p:txBody>
        </p:sp>
        <p:sp>
          <p:nvSpPr>
            <p:cNvPr id="21" name="Text Box 12"/>
            <p:cNvSpPr txBox="1">
              <a:spLocks noChangeArrowheads="1"/>
            </p:cNvSpPr>
            <p:nvPr/>
          </p:nvSpPr>
          <p:spPr bwMode="auto">
            <a:xfrm>
              <a:off x="5657850" y="2206625"/>
              <a:ext cx="2819400" cy="830997"/>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b="0" i="1"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Expected</a:t>
              </a:r>
              <a:r>
                <a:rPr kumimoji="0" lang="en-US"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 Results</a:t>
              </a:r>
              <a:br>
                <a:rPr kumimoji="0" lang="en-US"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br>
              <a:r>
                <a:rPr kumimoji="0" lang="en-US"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 for Given Strategy</a:t>
              </a:r>
            </a:p>
          </p:txBody>
        </p:sp>
      </p:grpSp>
    </p:spTree>
    <p:extLst>
      <p:ext uri="{BB962C8B-B14F-4D97-AF65-F5344CB8AC3E}">
        <p14:creationId xmlns:p14="http://schemas.microsoft.com/office/powerpoint/2010/main" val="2881950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solidFill>
            <a:schemeClr val="bg2">
              <a:lumMod val="60000"/>
              <a:lumOff val="40000"/>
            </a:schemeClr>
          </a:solidFill>
        </p:spPr>
        <p:txBody>
          <a:bodyPr/>
          <a:lstStyle/>
          <a:p>
            <a:r>
              <a:rPr lang="en-US" dirty="0"/>
              <a:t>Top-Down vs. Bottom-Up Forecasting</a:t>
            </a:r>
          </a:p>
        </p:txBody>
      </p:sp>
      <p:graphicFrame>
        <p:nvGraphicFramePr>
          <p:cNvPr id="4" name="Diagram 3"/>
          <p:cNvGraphicFramePr/>
          <p:nvPr>
            <p:extLst>
              <p:ext uri="{D42A27DB-BD31-4B8C-83A1-F6EECF244321}">
                <p14:modId xmlns:p14="http://schemas.microsoft.com/office/powerpoint/2010/main" val="217568984"/>
              </p:ext>
            </p:extLst>
          </p:nvPr>
        </p:nvGraphicFramePr>
        <p:xfrm>
          <a:off x="990600" y="1600200"/>
          <a:ext cx="7543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79729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r>
              <a:rPr lang="en-US" dirty="0"/>
              <a:t>Top-Down Approach</a:t>
            </a:r>
          </a:p>
        </p:txBody>
      </p:sp>
      <p:pic>
        <p:nvPicPr>
          <p:cNvPr id="14338" name="Picture 2"/>
          <p:cNvPicPr>
            <a:picLocks noChangeAspect="1" noChangeArrowheads="1"/>
          </p:cNvPicPr>
          <p:nvPr/>
        </p:nvPicPr>
        <p:blipFill>
          <a:blip r:embed="rId3"/>
          <a:srcRect/>
          <a:stretch>
            <a:fillRect/>
          </a:stretch>
        </p:blipFill>
        <p:spPr bwMode="auto">
          <a:xfrm>
            <a:off x="990600" y="1524000"/>
            <a:ext cx="7342910" cy="4495800"/>
          </a:xfrm>
          <a:prstGeom prst="rect">
            <a:avLst/>
          </a:prstGeom>
          <a:noFill/>
          <a:ln w="9525">
            <a:noFill/>
            <a:miter lim="800000"/>
            <a:headEnd/>
            <a:tailEnd/>
          </a:ln>
          <a:effectLst/>
        </p:spPr>
      </p:pic>
    </p:spTree>
    <p:extLst>
      <p:ext uri="{BB962C8B-B14F-4D97-AF65-F5344CB8AC3E}">
        <p14:creationId xmlns:p14="http://schemas.microsoft.com/office/powerpoint/2010/main" val="1647832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r>
              <a:rPr lang="en-US" dirty="0"/>
              <a:t>Bottom-Up Approach</a:t>
            </a:r>
          </a:p>
        </p:txBody>
      </p:sp>
      <p:grpSp>
        <p:nvGrpSpPr>
          <p:cNvPr id="13" name="Group 12"/>
          <p:cNvGrpSpPr/>
          <p:nvPr/>
        </p:nvGrpSpPr>
        <p:grpSpPr>
          <a:xfrm>
            <a:off x="2667000" y="2057400"/>
            <a:ext cx="3810000" cy="3962400"/>
            <a:chOff x="2362200" y="2057400"/>
            <a:chExt cx="3810000" cy="3962400"/>
          </a:xfrm>
        </p:grpSpPr>
        <p:sp>
          <p:nvSpPr>
            <p:cNvPr id="14" name="Down Arrow 13"/>
            <p:cNvSpPr/>
            <p:nvPr/>
          </p:nvSpPr>
          <p:spPr>
            <a:xfrm flipV="1">
              <a:off x="3848100" y="2819400"/>
              <a:ext cx="838200" cy="304800"/>
            </a:xfrm>
            <a:prstGeom prst="downArrow">
              <a:avLst/>
            </a:prstGeom>
            <a:solidFill>
              <a:srgbClr val="4F81BD"/>
            </a:solidFill>
            <a:ln w="25400" cap="flat" cmpd="sng" algn="ctr">
              <a:noFill/>
              <a:prstDash val="solid"/>
            </a:ln>
            <a:effectLst>
              <a:outerShdw blurRad="44450" dist="27940" dir="5400000" algn="ctr">
                <a:srgbClr val="000000">
                  <a:alpha val="3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endParaRPr>
            </a:p>
          </p:txBody>
        </p:sp>
        <p:sp>
          <p:nvSpPr>
            <p:cNvPr id="15" name="Down Arrow 14"/>
            <p:cNvSpPr/>
            <p:nvPr/>
          </p:nvSpPr>
          <p:spPr>
            <a:xfrm flipV="1">
              <a:off x="3848100" y="3886200"/>
              <a:ext cx="838200" cy="304800"/>
            </a:xfrm>
            <a:prstGeom prst="downArrow">
              <a:avLst/>
            </a:prstGeom>
            <a:solidFill>
              <a:srgbClr val="4F81BD"/>
            </a:solidFill>
            <a:ln w="25400" cap="flat" cmpd="sng" algn="ctr">
              <a:noFill/>
              <a:prstDash val="solid"/>
            </a:ln>
            <a:effectLst>
              <a:outerShdw blurRad="44450" dist="27940" dir="5400000" algn="ctr">
                <a:srgbClr val="000000">
                  <a:alpha val="3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endParaRPr>
            </a:p>
          </p:txBody>
        </p:sp>
        <p:sp>
          <p:nvSpPr>
            <p:cNvPr id="16" name="Down Arrow 15"/>
            <p:cNvSpPr/>
            <p:nvPr/>
          </p:nvSpPr>
          <p:spPr>
            <a:xfrm flipV="1">
              <a:off x="3848100" y="4953000"/>
              <a:ext cx="838200" cy="304800"/>
            </a:xfrm>
            <a:prstGeom prst="downArrow">
              <a:avLst/>
            </a:prstGeom>
            <a:solidFill>
              <a:srgbClr val="4F81BD"/>
            </a:solidFill>
            <a:ln w="25400" cap="flat" cmpd="sng" algn="ctr">
              <a:noFill/>
              <a:prstDash val="solid"/>
            </a:ln>
            <a:effectLst>
              <a:outerShdw blurRad="44450" dist="27940" dir="5400000" algn="ctr">
                <a:srgbClr val="000000">
                  <a:alpha val="3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endParaRPr>
            </a:p>
          </p:txBody>
        </p:sp>
        <p:sp>
          <p:nvSpPr>
            <p:cNvPr id="17" name="Rounded Rectangle 16"/>
            <p:cNvSpPr/>
            <p:nvPr/>
          </p:nvSpPr>
          <p:spPr>
            <a:xfrm>
              <a:off x="2362200" y="2057400"/>
              <a:ext cx="3810000" cy="762000"/>
            </a:xfrm>
            <a:prstGeom prst="roundRect">
              <a:avLst/>
            </a:prstGeom>
            <a:solidFill>
              <a:srgbClr val="4F81BD"/>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Company Sales Forecast</a:t>
              </a:r>
            </a:p>
          </p:txBody>
        </p:sp>
        <p:sp>
          <p:nvSpPr>
            <p:cNvPr id="18" name="Rounded Rectangle 17"/>
            <p:cNvSpPr/>
            <p:nvPr/>
          </p:nvSpPr>
          <p:spPr>
            <a:xfrm>
              <a:off x="2362200" y="3124200"/>
              <a:ext cx="3810000" cy="762000"/>
            </a:xfrm>
            <a:prstGeom prst="roundRect">
              <a:avLst/>
            </a:prstGeom>
            <a:solidFill>
              <a:srgbClr val="4F81BD"/>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Combined into district, region, </a:t>
              </a:r>
              <a:b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b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and zone forecasts</a:t>
              </a:r>
            </a:p>
          </p:txBody>
        </p:sp>
        <p:sp>
          <p:nvSpPr>
            <p:cNvPr id="19" name="Rounded Rectangle 18"/>
            <p:cNvSpPr/>
            <p:nvPr/>
          </p:nvSpPr>
          <p:spPr>
            <a:xfrm>
              <a:off x="2362200" y="4191000"/>
              <a:ext cx="3810000" cy="762000"/>
            </a:xfrm>
            <a:prstGeom prst="roundRect">
              <a:avLst/>
            </a:prstGeom>
            <a:solidFill>
              <a:srgbClr val="4F81BD"/>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Combined into territory forecasts</a:t>
              </a:r>
            </a:p>
          </p:txBody>
        </p:sp>
        <p:sp>
          <p:nvSpPr>
            <p:cNvPr id="20" name="Rounded Rectangle 19"/>
            <p:cNvSpPr/>
            <p:nvPr/>
          </p:nvSpPr>
          <p:spPr>
            <a:xfrm>
              <a:off x="2362200" y="5257800"/>
              <a:ext cx="3810000" cy="762000"/>
            </a:xfrm>
            <a:prstGeom prst="roundRect">
              <a:avLst/>
            </a:prstGeom>
            <a:solidFill>
              <a:srgbClr val="4F81BD"/>
            </a:solidFill>
            <a:ln w="25400" cap="flat" cmpd="sng" algn="ctr">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Salespersons’ forecasts </a:t>
              </a:r>
              <a:b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br>
              <a:r>
                <a:rPr kumimoji="0" lang="en-US" sz="18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Calibri"/>
                  <a:ea typeface="+mn-ea"/>
                  <a:cs typeface="+mn-cs"/>
                </a:rPr>
                <a:t>of accounts</a:t>
              </a:r>
            </a:p>
          </p:txBody>
        </p:sp>
      </p:grpSp>
    </p:spTree>
    <p:extLst>
      <p:ext uri="{BB962C8B-B14F-4D97-AF65-F5344CB8AC3E}">
        <p14:creationId xmlns:p14="http://schemas.microsoft.com/office/powerpoint/2010/main" val="1234320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solidFill>
            <a:schemeClr val="bg2">
              <a:lumMod val="60000"/>
              <a:lumOff val="40000"/>
            </a:schemeClr>
          </a:solidFill>
        </p:spPr>
        <p:txBody>
          <a:bodyPr/>
          <a:lstStyle/>
          <a:p>
            <a:r>
              <a:rPr lang="en-US" dirty="0"/>
              <a:t>Company Forecasting Methods</a:t>
            </a:r>
          </a:p>
        </p:txBody>
      </p:sp>
      <p:sp>
        <p:nvSpPr>
          <p:cNvPr id="121859" name="Rectangle 3"/>
          <p:cNvSpPr>
            <a:spLocks noGrp="1" noChangeArrowheads="1"/>
          </p:cNvSpPr>
          <p:nvPr>
            <p:ph idx="1"/>
          </p:nvPr>
        </p:nvSpPr>
        <p:spPr>
          <a:xfrm>
            <a:off x="457200" y="1828800"/>
            <a:ext cx="8229600" cy="4525963"/>
          </a:xfrm>
          <a:solidFill>
            <a:schemeClr val="bg2">
              <a:lumMod val="20000"/>
              <a:lumOff val="80000"/>
            </a:schemeClr>
          </a:solidFill>
          <a:scene3d>
            <a:camera prst="orthographicFront"/>
            <a:lightRig rig="threePt" dir="t"/>
          </a:scene3d>
          <a:sp3d>
            <a:bevelT/>
          </a:sp3d>
        </p:spPr>
        <p:txBody>
          <a:bodyPr/>
          <a:lstStyle/>
          <a:p>
            <a:pPr>
              <a:lnSpc>
                <a:spcPct val="90000"/>
              </a:lnSpc>
            </a:pPr>
            <a:r>
              <a:rPr lang="en-US" sz="2400" b="1" dirty="0"/>
              <a:t>Moving Averages</a:t>
            </a:r>
          </a:p>
          <a:p>
            <a:pPr lvl="1">
              <a:lnSpc>
                <a:spcPct val="90000"/>
              </a:lnSpc>
            </a:pPr>
            <a:r>
              <a:rPr lang="en-US" sz="2000" dirty="0"/>
              <a:t>Uses historical averages to forecast future sales.</a:t>
            </a:r>
          </a:p>
          <a:p>
            <a:pPr lvl="1">
              <a:lnSpc>
                <a:spcPct val="90000"/>
              </a:lnSpc>
            </a:pPr>
            <a:r>
              <a:rPr lang="en-US" sz="2000" dirty="0"/>
              <a:t>Averages are calculated using a predetermined number of previous periods (e.g., two-year moving average; four-year moving average).</a:t>
            </a:r>
          </a:p>
          <a:p>
            <a:pPr>
              <a:lnSpc>
                <a:spcPct val="90000"/>
              </a:lnSpc>
            </a:pPr>
            <a:r>
              <a:rPr lang="en-US" sz="2400" b="1" dirty="0"/>
              <a:t>Exponential Smoothing</a:t>
            </a:r>
          </a:p>
          <a:p>
            <a:pPr lvl="1">
              <a:lnSpc>
                <a:spcPct val="90000"/>
              </a:lnSpc>
            </a:pPr>
            <a:r>
              <a:rPr lang="en-US" sz="2000" dirty="0"/>
              <a:t>Weighted moving average.</a:t>
            </a:r>
          </a:p>
          <a:p>
            <a:pPr lvl="1">
              <a:lnSpc>
                <a:spcPct val="90000"/>
              </a:lnSpc>
            </a:pPr>
            <a:r>
              <a:rPr lang="en-US" sz="2000" dirty="0"/>
              <a:t>Usually most recent period is weighted heavier.</a:t>
            </a:r>
          </a:p>
          <a:p>
            <a:pPr>
              <a:lnSpc>
                <a:spcPct val="90000"/>
              </a:lnSpc>
            </a:pPr>
            <a:r>
              <a:rPr lang="en-US" sz="2400" b="1" dirty="0"/>
              <a:t>Decomposition Methods</a:t>
            </a:r>
          </a:p>
          <a:p>
            <a:pPr lvl="1">
              <a:lnSpc>
                <a:spcPct val="90000"/>
              </a:lnSpc>
            </a:pPr>
            <a:r>
              <a:rPr lang="en-US" sz="2000" dirty="0"/>
              <a:t>Breakdown historical sales data into four components (trend, cycle, seasonal, erratic).</a:t>
            </a:r>
          </a:p>
          <a:p>
            <a:pPr lvl="1">
              <a:lnSpc>
                <a:spcPct val="90000"/>
              </a:lnSpc>
            </a:pPr>
            <a:r>
              <a:rPr lang="en-US" sz="2000" dirty="0"/>
              <a:t>Evaluate the components and then reincorporate to create a forecast.</a:t>
            </a:r>
          </a:p>
        </p:txBody>
      </p:sp>
    </p:spTree>
    <p:extLst>
      <p:ext uri="{BB962C8B-B14F-4D97-AF65-F5344CB8AC3E}">
        <p14:creationId xmlns:p14="http://schemas.microsoft.com/office/powerpoint/2010/main" val="3831921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chemeClr val="bg2">
              <a:lumMod val="60000"/>
              <a:lumOff val="40000"/>
            </a:schemeClr>
          </a:solidFill>
        </p:spPr>
        <p:txBody>
          <a:bodyPr/>
          <a:lstStyle/>
          <a:p>
            <a:r>
              <a:rPr lang="en-US" dirty="0"/>
              <a:t>Moving Averages Forecast Example</a:t>
            </a:r>
          </a:p>
        </p:txBody>
      </p:sp>
      <p:graphicFrame>
        <p:nvGraphicFramePr>
          <p:cNvPr id="5" name="Table 4"/>
          <p:cNvGraphicFramePr>
            <a:graphicFrameLocks noGrp="1"/>
          </p:cNvGraphicFramePr>
          <p:nvPr>
            <p:extLst>
              <p:ext uri="{D42A27DB-BD31-4B8C-83A1-F6EECF244321}">
                <p14:modId xmlns:p14="http://schemas.microsoft.com/office/powerpoint/2010/main" val="1494649041"/>
              </p:ext>
            </p:extLst>
          </p:nvPr>
        </p:nvGraphicFramePr>
        <p:xfrm>
          <a:off x="1143000" y="1447800"/>
          <a:ext cx="6858002" cy="4023360"/>
        </p:xfrm>
        <a:graphic>
          <a:graphicData uri="http://schemas.openxmlformats.org/drawingml/2006/table">
            <a:tbl>
              <a:tblPr firstRow="1" bandRow="1"/>
              <a:tblGrid>
                <a:gridCol w="1285876">
                  <a:extLst>
                    <a:ext uri="{9D8B030D-6E8A-4147-A177-3AD203B41FA5}">
                      <a16:colId xmlns:a16="http://schemas.microsoft.com/office/drawing/2014/main" val="20000"/>
                    </a:ext>
                  </a:extLst>
                </a:gridCol>
                <a:gridCol w="2143126">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effectLst/>
                        </a:rPr>
                        <a:t>Year</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effectLst/>
                        </a:rPr>
                        <a:t>Actual Sales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effectLst/>
                        </a:rPr>
                        <a:t>Two-Year</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2400" dirty="0">
                          <a:effectLst/>
                        </a:rPr>
                        <a:t>Four-Year</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2016</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$8,400,000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endParaRPr lang="en-US" sz="2000" dirty="0">
                        <a:effectLst/>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endParaRPr lang="en-US" sz="2000" dirty="0">
                        <a:effectLst/>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2017</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$8,820,000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endParaRPr lang="en-US" sz="2000" dirty="0">
                        <a:effectLst/>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endParaRPr lang="en-US" sz="2000" dirty="0">
                        <a:effectLst/>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2018</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$8,644,000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$8,610,000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endParaRPr lang="en-US" sz="2000" dirty="0">
                        <a:effectLst/>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2019</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$8,212,000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$8,732,000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endParaRPr lang="en-US" sz="2000" dirty="0">
                        <a:effectLst/>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$8,622,000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$8,428,000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$8,520,000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2021</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$9,484,000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$8,418,000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$8,574,000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6"/>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2022</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$9,674,000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$9,054,000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$8,740,000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7"/>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2023</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$10,060,000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$9,579,000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$8,998,000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8"/>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2024</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2000" dirty="0">
                          <a:effectLst/>
                        </a:rPr>
                        <a:t>?</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$9,867,000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r"/>
                      <a:r>
                        <a:rPr lang="en-US" sz="2000" dirty="0">
                          <a:effectLst/>
                        </a:rPr>
                        <a:t>$9,460,000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9"/>
                  </a:ext>
                </a:extLst>
              </a:tr>
            </a:tbl>
          </a:graphicData>
        </a:graphic>
      </p:graphicFrame>
      <p:sp>
        <p:nvSpPr>
          <p:cNvPr id="6" name="TextBox 5">
            <a:extLst>
              <a:ext uri="{FF2B5EF4-FFF2-40B4-BE49-F238E27FC236}">
                <a16:creationId xmlns:a16="http://schemas.microsoft.com/office/drawing/2014/main" id="{2DBC2B41-695C-4711-8649-D0D53C0DCFD4}"/>
              </a:ext>
            </a:extLst>
          </p:cNvPr>
          <p:cNvSpPr txBox="1"/>
          <p:nvPr/>
        </p:nvSpPr>
        <p:spPr>
          <a:xfrm>
            <a:off x="76200" y="5616714"/>
            <a:ext cx="8991600" cy="707886"/>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Sales Forecast for next year </a:t>
            </a:r>
            <a:r>
              <a:rPr lang="en-US" sz="2000" dirty="0">
                <a:latin typeface="Arial" panose="020B0604020202020204" pitchFamily="34" charset="0"/>
                <a:cs typeface="Arial" panose="020B0604020202020204" pitchFamily="34" charset="0"/>
              </a:rPr>
              <a:t>= Actual sales for past two or four years /</a:t>
            </a:r>
          </a:p>
          <a:p>
            <a:r>
              <a:rPr lang="en-US" sz="2000" dirty="0">
                <a:latin typeface="Arial" panose="020B0604020202020204" pitchFamily="34" charset="0"/>
                <a:cs typeface="Arial" panose="020B0604020202020204" pitchFamily="34" charset="0"/>
              </a:rPr>
              <a:t>				Number of years…using two or four years</a:t>
            </a:r>
          </a:p>
        </p:txBody>
      </p:sp>
      <p:sp>
        <p:nvSpPr>
          <p:cNvPr id="2" name="Rectangle 1">
            <a:extLst>
              <a:ext uri="{FF2B5EF4-FFF2-40B4-BE49-F238E27FC236}">
                <a16:creationId xmlns:a16="http://schemas.microsoft.com/office/drawing/2014/main" id="{C5C0EFEC-4F55-4A2D-A899-8701199590F5}"/>
              </a:ext>
            </a:extLst>
          </p:cNvPr>
          <p:cNvSpPr/>
          <p:nvPr/>
        </p:nvSpPr>
        <p:spPr bwMode="auto">
          <a:xfrm>
            <a:off x="0" y="6324600"/>
            <a:ext cx="2133600" cy="5334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Tree>
    <p:extLst>
      <p:ext uri="{BB962C8B-B14F-4D97-AF65-F5344CB8AC3E}">
        <p14:creationId xmlns:p14="http://schemas.microsoft.com/office/powerpoint/2010/main" val="1239205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D302CFC-11C0-404B-89A3-8D04D1CFD9E8}"/>
              </a:ext>
            </a:extLst>
          </p:cNvPr>
          <p:cNvSpPr/>
          <p:nvPr/>
        </p:nvSpPr>
        <p:spPr bwMode="auto">
          <a:xfrm>
            <a:off x="0" y="6385034"/>
            <a:ext cx="22098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 name="Title 1">
            <a:extLst>
              <a:ext uri="{FF2B5EF4-FFF2-40B4-BE49-F238E27FC236}">
                <a16:creationId xmlns:a16="http://schemas.microsoft.com/office/drawing/2014/main" id="{AB4E5A22-CE76-4831-A10D-5C66F712FE83}"/>
              </a:ext>
            </a:extLst>
          </p:cNvPr>
          <p:cNvSpPr>
            <a:spLocks noGrp="1"/>
          </p:cNvSpPr>
          <p:nvPr>
            <p:ph type="title"/>
          </p:nvPr>
        </p:nvSpPr>
        <p:spPr>
          <a:xfrm>
            <a:off x="203994" y="76200"/>
            <a:ext cx="8610600" cy="1066800"/>
          </a:xfrm>
          <a:solidFill>
            <a:schemeClr val="bg2">
              <a:lumMod val="60000"/>
              <a:lumOff val="40000"/>
            </a:schemeClr>
          </a:solidFill>
        </p:spPr>
        <p:txBody>
          <a:bodyPr/>
          <a:lstStyle/>
          <a:p>
            <a:r>
              <a:rPr lang="en-US" dirty="0">
                <a:solidFill>
                  <a:srgbClr val="FF0000"/>
                </a:solidFill>
              </a:rPr>
              <a:t>Moving Averages Forecast Exercise</a:t>
            </a:r>
          </a:p>
        </p:txBody>
      </p:sp>
      <p:sp>
        <p:nvSpPr>
          <p:cNvPr id="3" name="Content Placeholder 2">
            <a:extLst>
              <a:ext uri="{FF2B5EF4-FFF2-40B4-BE49-F238E27FC236}">
                <a16:creationId xmlns:a16="http://schemas.microsoft.com/office/drawing/2014/main" id="{D9B5907A-5ECC-45CC-93DC-185F90E22B2D}"/>
              </a:ext>
            </a:extLst>
          </p:cNvPr>
          <p:cNvSpPr>
            <a:spLocks noGrp="1"/>
          </p:cNvSpPr>
          <p:nvPr>
            <p:ph idx="1"/>
          </p:nvPr>
        </p:nvSpPr>
        <p:spPr>
          <a:xfrm>
            <a:off x="406400" y="1174459"/>
            <a:ext cx="8205788" cy="3930941"/>
          </a:xfrm>
        </p:spPr>
        <p:txBody>
          <a:bodyPr/>
          <a:lstStyle/>
          <a:p>
            <a:pPr marL="0" marR="0" indent="0">
              <a:spcBef>
                <a:spcPts val="0"/>
              </a:spcBef>
              <a:spcAft>
                <a:spcPts val="0"/>
              </a:spcAft>
              <a:buNone/>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You have been asked to calculate 2024 sales.  Your company uses a </a:t>
            </a:r>
            <a:r>
              <a:rPr lang="en-US" sz="1800" b="1"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four-year moving average</a:t>
            </a: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 to forecast total U.S. company sales.  You are provided with the following information: </a:t>
            </a:r>
          </a:p>
          <a:p>
            <a:pPr marL="0" marR="0" indent="0">
              <a:spcBef>
                <a:spcPts val="0"/>
              </a:spcBef>
              <a:spcAft>
                <a:spcPts val="0"/>
              </a:spcAft>
              <a:buNone/>
            </a:pPr>
            <a:endPar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p>
            <a:pPr marL="0" marR="0" indent="0">
              <a:spcBef>
                <a:spcPts val="0"/>
              </a:spcBef>
              <a:spcAft>
                <a:spcPts val="0"/>
              </a:spcAft>
              <a:buNone/>
            </a:pPr>
            <a:r>
              <a:rPr lang="en-US" sz="1800" u="sng"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Year		Actual Sales </a:t>
            </a:r>
            <a:endPar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2016		$783,620,000</a:t>
            </a: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2017		  780,500,000</a:t>
            </a: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2018		  793,740,000</a:t>
            </a: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2019		  796,850,000</a:t>
            </a: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2020		  794,025,000</a:t>
            </a: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2021		  797,400,000</a:t>
            </a: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2022		  801,800,000</a:t>
            </a: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2023		  806,775,000</a:t>
            </a:r>
          </a:p>
          <a:p>
            <a:pPr marL="0" marR="0">
              <a:spcBef>
                <a:spcPts val="0"/>
              </a:spcBef>
              <a:spcAft>
                <a:spcPts val="0"/>
              </a:spcAft>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2024		       ????</a:t>
            </a:r>
          </a:p>
          <a:p>
            <a:pPr marL="0" marR="0">
              <a:spcBef>
                <a:spcPts val="0"/>
              </a:spcBef>
              <a:spcAft>
                <a:spcPts val="0"/>
              </a:spcAft>
            </a:pPr>
            <a:endPar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p>
            <a:pPr marL="0" marR="0" indent="0">
              <a:spcBef>
                <a:spcPts val="0"/>
              </a:spcBef>
              <a:spcAft>
                <a:spcPts val="0"/>
              </a:spcAft>
              <a:buNone/>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1) Forecast total company U.S. sales for 2024.</a:t>
            </a:r>
          </a:p>
          <a:p>
            <a:pPr marL="0" marR="0" indent="0">
              <a:spcBef>
                <a:spcPts val="0"/>
              </a:spcBef>
              <a:spcAft>
                <a:spcPts val="0"/>
              </a:spcAft>
              <a:buNone/>
            </a:pPr>
            <a:endPar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endParaRPr>
          </a:p>
          <a:p>
            <a:pPr marL="0" marR="0" indent="0">
              <a:spcBef>
                <a:spcPts val="0"/>
              </a:spcBef>
              <a:spcAft>
                <a:spcPts val="0"/>
              </a:spcAft>
              <a:buNone/>
            </a:pP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2) What would the forecast be if the company used a </a:t>
            </a:r>
            <a:r>
              <a:rPr lang="en-US" sz="1800" b="1"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two-year moving average </a:t>
            </a:r>
            <a:r>
              <a:rPr lang="en-US" sz="1800" dirty="0">
                <a:solidFill>
                  <a:srgbClr val="FF0000"/>
                </a:solidFill>
                <a:effectLst/>
                <a:latin typeface="Calibri" panose="020F0502020204030204" pitchFamily="34" charset="0"/>
                <a:ea typeface="SimSun" panose="02010600030101010101" pitchFamily="2" charset="-122"/>
                <a:cs typeface="Times New Roman" panose="02020603050405020304" pitchFamily="18" charset="0"/>
              </a:rPr>
              <a:t>to             forecast company sales?</a:t>
            </a:r>
          </a:p>
          <a:p>
            <a:endParaRPr lang="en-US" dirty="0"/>
          </a:p>
        </p:txBody>
      </p:sp>
    </p:spTree>
    <p:extLst>
      <p:ext uri="{BB962C8B-B14F-4D97-AF65-F5344CB8AC3E}">
        <p14:creationId xmlns:p14="http://schemas.microsoft.com/office/powerpoint/2010/main" val="2880305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7CE5705-1171-4144-A7FC-82574C8476E7}"/>
              </a:ext>
            </a:extLst>
          </p:cNvPr>
          <p:cNvSpPr/>
          <p:nvPr/>
        </p:nvSpPr>
        <p:spPr bwMode="auto">
          <a:xfrm>
            <a:off x="0" y="6400800"/>
            <a:ext cx="20574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2" name="Title 1"/>
          <p:cNvSpPr>
            <a:spLocks noGrp="1"/>
          </p:cNvSpPr>
          <p:nvPr>
            <p:ph type="title"/>
          </p:nvPr>
        </p:nvSpPr>
        <p:spPr>
          <a:solidFill>
            <a:schemeClr val="bg2">
              <a:lumMod val="60000"/>
              <a:lumOff val="40000"/>
            </a:schemeClr>
          </a:solidFill>
        </p:spPr>
        <p:txBody>
          <a:bodyPr/>
          <a:lstStyle/>
          <a:p>
            <a:r>
              <a:rPr lang="en-US" sz="3400" dirty="0"/>
              <a:t>Exponential Smoothing Forecast Example</a:t>
            </a:r>
          </a:p>
        </p:txBody>
      </p:sp>
      <p:graphicFrame>
        <p:nvGraphicFramePr>
          <p:cNvPr id="6" name="Table 5"/>
          <p:cNvGraphicFramePr>
            <a:graphicFrameLocks noGrp="1"/>
          </p:cNvGraphicFramePr>
          <p:nvPr>
            <p:extLst>
              <p:ext uri="{D42A27DB-BD31-4B8C-83A1-F6EECF244321}">
                <p14:modId xmlns:p14="http://schemas.microsoft.com/office/powerpoint/2010/main" val="3800606891"/>
              </p:ext>
            </p:extLst>
          </p:nvPr>
        </p:nvGraphicFramePr>
        <p:xfrm>
          <a:off x="304801" y="1676400"/>
          <a:ext cx="8305798" cy="3712845"/>
        </p:xfrm>
        <a:graphic>
          <a:graphicData uri="http://schemas.openxmlformats.org/drawingml/2006/table">
            <a:tbl>
              <a:tblPr firstRow="1" bandRow="1"/>
              <a:tblGrid>
                <a:gridCol w="1245871">
                  <a:extLst>
                    <a:ext uri="{9D8B030D-6E8A-4147-A177-3AD203B41FA5}">
                      <a16:colId xmlns:a16="http://schemas.microsoft.com/office/drawing/2014/main" val="20000"/>
                    </a:ext>
                  </a:extLst>
                </a:gridCol>
                <a:gridCol w="2076450">
                  <a:extLst>
                    <a:ext uri="{9D8B030D-6E8A-4147-A177-3AD203B41FA5}">
                      <a16:colId xmlns:a16="http://schemas.microsoft.com/office/drawing/2014/main" val="20001"/>
                    </a:ext>
                  </a:extLst>
                </a:gridCol>
                <a:gridCol w="1661159">
                  <a:extLst>
                    <a:ext uri="{9D8B030D-6E8A-4147-A177-3AD203B41FA5}">
                      <a16:colId xmlns:a16="http://schemas.microsoft.com/office/drawing/2014/main" val="20002"/>
                    </a:ext>
                  </a:extLst>
                </a:gridCol>
                <a:gridCol w="1661159">
                  <a:extLst>
                    <a:ext uri="{9D8B030D-6E8A-4147-A177-3AD203B41FA5}">
                      <a16:colId xmlns:a16="http://schemas.microsoft.com/office/drawing/2014/main" val="20003"/>
                    </a:ext>
                  </a:extLst>
                </a:gridCol>
                <a:gridCol w="1661159">
                  <a:extLst>
                    <a:ext uri="{9D8B030D-6E8A-4147-A177-3AD203B41FA5}">
                      <a16:colId xmlns:a16="http://schemas.microsoft.com/office/drawing/2014/main" val="20004"/>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n-US" sz="2400" kern="1200" dirty="0">
                          <a:effectLst>
                            <a:outerShdw blurRad="38100" dist="38100" dir="2700000" algn="tl">
                              <a:srgbClr val="000000">
                                <a:alpha val="43137"/>
                              </a:srgbClr>
                            </a:outerShdw>
                          </a:effectLst>
                        </a:rPr>
                        <a:t>Year</a:t>
                      </a:r>
                      <a:endParaRPr lang="en-US" sz="2400" b="1" kern="1200" dirty="0">
                        <a:solidFill>
                          <a:schemeClr val="lt1"/>
                        </a:solidFill>
                        <a:effectLst>
                          <a:outerShdw blurRad="38100" dist="38100" dir="2700000" algn="tl">
                            <a:srgbClr val="000000">
                              <a:alpha val="43137"/>
                            </a:srgbClr>
                          </a:outerShdw>
                        </a:effectLst>
                        <a:latin typeface="+mn-lt"/>
                        <a:ea typeface="+mn-ea"/>
                        <a:cs typeface="+mn-cs"/>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n-US" sz="2400" kern="1200" dirty="0">
                          <a:effectLst>
                            <a:outerShdw blurRad="38100" dist="38100" dir="2700000" algn="tl">
                              <a:srgbClr val="000000">
                                <a:alpha val="43137"/>
                              </a:srgbClr>
                            </a:outerShdw>
                          </a:effectLst>
                        </a:rPr>
                        <a:t>Actual Sales</a:t>
                      </a:r>
                      <a:endParaRPr lang="en-US" sz="2400" b="1" kern="1200" dirty="0">
                        <a:solidFill>
                          <a:schemeClr val="lt1"/>
                        </a:solidFill>
                        <a:effectLst>
                          <a:outerShdw blurRad="38100" dist="38100" dir="2700000" algn="tl">
                            <a:srgbClr val="000000">
                              <a:alpha val="43137"/>
                            </a:srgbClr>
                          </a:outerShdw>
                        </a:effectLst>
                        <a:latin typeface="+mn-lt"/>
                        <a:ea typeface="+mn-ea"/>
                        <a:cs typeface="+mn-cs"/>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l-GR" sz="2400" kern="1200" dirty="0">
                          <a:effectLst>
                            <a:outerShdw blurRad="38100" dist="38100" dir="2700000" algn="tl">
                              <a:srgbClr val="000000">
                                <a:alpha val="43137"/>
                              </a:srgbClr>
                            </a:outerShdw>
                          </a:effectLst>
                        </a:rPr>
                        <a:t>α</a:t>
                      </a:r>
                      <a:r>
                        <a:rPr lang="en-US" sz="2400" kern="1200" dirty="0">
                          <a:effectLst>
                            <a:outerShdw blurRad="38100" dist="38100" dir="2700000" algn="tl">
                              <a:srgbClr val="000000">
                                <a:alpha val="43137"/>
                              </a:srgbClr>
                            </a:outerShdw>
                          </a:effectLst>
                        </a:rPr>
                        <a:t> = 0.2</a:t>
                      </a:r>
                      <a:endParaRPr lang="en-US" sz="2400" b="1" kern="1200" dirty="0">
                        <a:solidFill>
                          <a:schemeClr val="lt1"/>
                        </a:solidFill>
                        <a:effectLst>
                          <a:outerShdw blurRad="38100" dist="38100" dir="2700000" algn="tl">
                            <a:srgbClr val="000000">
                              <a:alpha val="43137"/>
                            </a:srgbClr>
                          </a:outerShdw>
                        </a:effectLst>
                        <a:latin typeface="+mn-lt"/>
                        <a:ea typeface="+mn-ea"/>
                        <a:cs typeface="+mn-cs"/>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l-GR" sz="2400" kern="1200" dirty="0">
                          <a:effectLst>
                            <a:outerShdw blurRad="38100" dist="38100" dir="2700000" algn="tl">
                              <a:srgbClr val="000000">
                                <a:alpha val="43137"/>
                              </a:srgbClr>
                            </a:outerShdw>
                          </a:effectLst>
                        </a:rPr>
                        <a:t>α</a:t>
                      </a:r>
                      <a:r>
                        <a:rPr lang="en-US" sz="2400" kern="1200" dirty="0">
                          <a:effectLst>
                            <a:outerShdw blurRad="38100" dist="38100" dir="2700000" algn="tl">
                              <a:srgbClr val="000000">
                                <a:alpha val="43137"/>
                              </a:srgbClr>
                            </a:outerShdw>
                          </a:effectLst>
                        </a:rPr>
                        <a:t> = 0.5</a:t>
                      </a:r>
                      <a:endParaRPr lang="en-US" sz="2400" b="1" kern="1200" dirty="0">
                        <a:solidFill>
                          <a:schemeClr val="lt1"/>
                        </a:solidFill>
                        <a:effectLst>
                          <a:outerShdw blurRad="38100" dist="38100" dir="2700000" algn="tl">
                            <a:srgbClr val="000000">
                              <a:alpha val="43137"/>
                            </a:srgbClr>
                          </a:outerShdw>
                        </a:effectLst>
                        <a:latin typeface="+mn-lt"/>
                        <a:ea typeface="+mn-ea"/>
                        <a:cs typeface="+mn-cs"/>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algn="ctr" defTabSz="914400" rtl="0" eaLnBrk="1" fontAlgn="b" latinLnBrk="0" hangingPunct="1"/>
                      <a:r>
                        <a:rPr lang="el-GR" sz="2400" kern="1200" dirty="0">
                          <a:effectLst>
                            <a:outerShdw blurRad="38100" dist="38100" dir="2700000" algn="tl">
                              <a:srgbClr val="000000">
                                <a:alpha val="43137"/>
                              </a:srgbClr>
                            </a:outerShdw>
                          </a:effectLst>
                        </a:rPr>
                        <a:t>α</a:t>
                      </a:r>
                      <a:r>
                        <a:rPr lang="en-US" sz="2400" kern="1200" dirty="0">
                          <a:effectLst>
                            <a:outerShdw blurRad="38100" dist="38100" dir="2700000" algn="tl">
                              <a:srgbClr val="000000">
                                <a:alpha val="43137"/>
                              </a:srgbClr>
                            </a:outerShdw>
                          </a:effectLst>
                        </a:rPr>
                        <a:t> = 0.8</a:t>
                      </a:r>
                      <a:endParaRPr lang="en-US" sz="2400" b="1" kern="1200" dirty="0">
                        <a:solidFill>
                          <a:schemeClr val="lt1"/>
                        </a:solidFill>
                        <a:effectLst>
                          <a:outerShdw blurRad="38100" dist="38100" dir="2700000" algn="tl">
                            <a:srgbClr val="000000">
                              <a:alpha val="43137"/>
                            </a:srgbClr>
                          </a:outerShdw>
                        </a:effectLst>
                        <a:latin typeface="+mn-lt"/>
                        <a:ea typeface="+mn-ea"/>
                        <a:cs typeface="+mn-cs"/>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504D"/>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2016</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$8,400,000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fontAlgn="b"/>
                      <a:endParaRPr lang="en-US" sz="12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2017</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$8,820,000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$8,400,000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$8,400,000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$8,400,000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2018</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$8,644,000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$8,484,000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$861,000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$8,736,000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2019</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$8,212,000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$8,516,000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$8,627,000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$8,662,000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$8,622,000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$8,455,000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$8,420,000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$8,302,000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2021</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$9,484,000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$8,488,000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$8,521,000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$8,558,000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6"/>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2022</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$9,674,000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$8,687,000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$9,003,000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$9,299,000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7"/>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2023</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$10,060,000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$8,884,000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$9,339,000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$9,599,000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8"/>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2024</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$9,119,000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$9,700,000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fontAlgn="b"/>
                      <a:r>
                        <a:rPr lang="en-US" sz="2000" u="none" strike="noStrike" dirty="0"/>
                        <a:t>$9,968,000</a:t>
                      </a:r>
                      <a:endParaRPr lang="en-US" sz="2000" b="0" i="0" u="none" strike="noStrike" dirty="0">
                        <a:solidFill>
                          <a:srgbClr val="000000"/>
                        </a:solidFill>
                        <a:latin typeface="+mn-lt"/>
                      </a:endParaRPr>
                    </a:p>
                  </a:txBody>
                  <a:tcPr marL="9525" marR="9525" marT="9525" marB="0" anchor="b">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9"/>
                  </a:ext>
                </a:extLst>
              </a:tr>
            </a:tbl>
          </a:graphicData>
        </a:graphic>
      </p:graphicFrame>
      <p:sp>
        <p:nvSpPr>
          <p:cNvPr id="3" name="TextBox 2">
            <a:extLst>
              <a:ext uri="{FF2B5EF4-FFF2-40B4-BE49-F238E27FC236}">
                <a16:creationId xmlns:a16="http://schemas.microsoft.com/office/drawing/2014/main" id="{0776910A-FE3F-4C6C-B5CA-50A85F282ECC}"/>
              </a:ext>
            </a:extLst>
          </p:cNvPr>
          <p:cNvSpPr txBox="1"/>
          <p:nvPr/>
        </p:nvSpPr>
        <p:spPr>
          <a:xfrm>
            <a:off x="152400" y="5486400"/>
            <a:ext cx="8991600" cy="1323439"/>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Sales forecast for next year </a:t>
            </a:r>
            <a:r>
              <a:rPr lang="en-US" sz="2000" dirty="0">
                <a:latin typeface="Arial" panose="020B0604020202020204" pitchFamily="34" charset="0"/>
                <a:cs typeface="Arial" panose="020B0604020202020204" pitchFamily="34" charset="0"/>
              </a:rPr>
              <a:t>= (α)(actual sales this year) + (1 − α)(this year’s sales forecast)</a:t>
            </a:r>
          </a:p>
          <a:p>
            <a:r>
              <a:rPr lang="en-US" sz="2000" dirty="0">
                <a:latin typeface="Arial" panose="020B0604020202020204" pitchFamily="34" charset="0"/>
                <a:cs typeface="Arial" panose="020B0604020202020204" pitchFamily="34" charset="0"/>
              </a:rPr>
              <a:t>$9,119,000 = (0.2 x $10,060,000 + 0.8 x $8,884,000) / 2</a:t>
            </a:r>
          </a:p>
          <a:p>
            <a:r>
              <a:rPr lang="en-US" sz="2000" dirty="0">
                <a:latin typeface="Arial" panose="020B0604020202020204" pitchFamily="34" charset="0"/>
                <a:cs typeface="Arial" panose="020B0604020202020204" pitchFamily="34" charset="0"/>
              </a:rPr>
              <a:t>$8,884,000 = sales that were forecast for the current year; 0.8 = 1 - 0.2</a:t>
            </a:r>
          </a:p>
        </p:txBody>
      </p:sp>
    </p:spTree>
    <p:extLst>
      <p:ext uri="{BB962C8B-B14F-4D97-AF65-F5344CB8AC3E}">
        <p14:creationId xmlns:p14="http://schemas.microsoft.com/office/powerpoint/2010/main" val="2004425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r>
              <a:rPr lang="en-US" sz="3400" dirty="0"/>
              <a:t>Comparison of Forecasts using Moving Averages and Exponential Smoothing </a:t>
            </a:r>
          </a:p>
        </p:txBody>
      </p:sp>
      <p:graphicFrame>
        <p:nvGraphicFramePr>
          <p:cNvPr id="4" name="Chart 3"/>
          <p:cNvGraphicFramePr/>
          <p:nvPr>
            <p:extLst>
              <p:ext uri="{D42A27DB-BD31-4B8C-83A1-F6EECF244321}">
                <p14:modId xmlns:p14="http://schemas.microsoft.com/office/powerpoint/2010/main" val="2779970719"/>
              </p:ext>
            </p:extLst>
          </p:nvPr>
        </p:nvGraphicFramePr>
        <p:xfrm>
          <a:off x="647700" y="1524000"/>
          <a:ext cx="7848600" cy="4495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75284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6EE70-770E-40CB-AB3E-C02A007D42F0}"/>
              </a:ext>
            </a:extLst>
          </p:cNvPr>
          <p:cNvSpPr>
            <a:spLocks noGrp="1"/>
          </p:cNvSpPr>
          <p:nvPr>
            <p:ph type="title"/>
          </p:nvPr>
        </p:nvSpPr>
        <p:spPr>
          <a:xfrm>
            <a:off x="203994" y="76200"/>
            <a:ext cx="8610600" cy="1066800"/>
          </a:xfrm>
          <a:solidFill>
            <a:schemeClr val="bg2">
              <a:lumMod val="60000"/>
              <a:lumOff val="40000"/>
            </a:schemeClr>
          </a:solidFill>
        </p:spPr>
        <p:txBody>
          <a:bodyPr/>
          <a:lstStyle/>
          <a:p>
            <a:r>
              <a:rPr lang="en-US" sz="3400" dirty="0"/>
              <a:t>Decomposition Method Example</a:t>
            </a:r>
          </a:p>
        </p:txBody>
      </p:sp>
      <p:sp>
        <p:nvSpPr>
          <p:cNvPr id="3" name="Content Placeholder 2">
            <a:extLst>
              <a:ext uri="{FF2B5EF4-FFF2-40B4-BE49-F238E27FC236}">
                <a16:creationId xmlns:a16="http://schemas.microsoft.com/office/drawing/2014/main" id="{1D77540D-A254-4CA9-885E-813E7B9D7E50}"/>
              </a:ext>
            </a:extLst>
          </p:cNvPr>
          <p:cNvSpPr>
            <a:spLocks noGrp="1"/>
          </p:cNvSpPr>
          <p:nvPr>
            <p:ph idx="1"/>
          </p:nvPr>
        </p:nvSpPr>
        <p:spPr>
          <a:xfrm>
            <a:off x="469106" y="1295400"/>
            <a:ext cx="8205788" cy="5164931"/>
          </a:xfrm>
          <a:solidFill>
            <a:schemeClr val="bg2">
              <a:lumMod val="20000"/>
              <a:lumOff val="80000"/>
            </a:schemeClr>
          </a:solidFill>
          <a:scene3d>
            <a:camera prst="orthographicFront"/>
            <a:lightRig rig="threePt" dir="t"/>
          </a:scene3d>
          <a:sp3d>
            <a:bevelT/>
          </a:sp3d>
        </p:spPr>
        <p:txBody>
          <a:bodyPr/>
          <a:lstStyle/>
          <a:p>
            <a:pPr marR="3600"/>
            <a:r>
              <a:rPr lang="en-US" sz="1600" dirty="0"/>
              <a:t>Assume that various analyses have decomposed previous sales data into the following components: </a:t>
            </a:r>
          </a:p>
          <a:p>
            <a:pPr marR="3600"/>
            <a:r>
              <a:rPr lang="en-US" sz="1600" dirty="0"/>
              <a:t>A </a:t>
            </a:r>
            <a:r>
              <a:rPr lang="en-US" sz="1600" b="1" dirty="0">
                <a:solidFill>
                  <a:srgbClr val="FF0000"/>
                </a:solidFill>
              </a:rPr>
              <a:t>5% growth in sales is predicted due to basic developments in population, capital formation, and technology (</a:t>
            </a:r>
            <a:r>
              <a:rPr lang="en-US" sz="1600" b="1" u="sng" dirty="0">
                <a:solidFill>
                  <a:srgbClr val="FF0000"/>
                </a:solidFill>
              </a:rPr>
              <a:t>trend component</a:t>
            </a:r>
            <a:r>
              <a:rPr lang="en-US" sz="1600" b="1" dirty="0">
                <a:solidFill>
                  <a:srgbClr val="FF0000"/>
                </a:solidFill>
              </a:rPr>
              <a:t>).</a:t>
            </a:r>
            <a:r>
              <a:rPr lang="en-US" sz="1600" dirty="0"/>
              <a:t> A </a:t>
            </a:r>
            <a:r>
              <a:rPr lang="en-US" sz="1600" dirty="0">
                <a:solidFill>
                  <a:srgbClr val="00B0F0"/>
                </a:solidFill>
              </a:rPr>
              <a:t>10% decrease in sales is expected due to a business recession (</a:t>
            </a:r>
            <a:r>
              <a:rPr lang="en-US" sz="1600" b="1" u="sng" dirty="0">
                <a:solidFill>
                  <a:srgbClr val="00B0F0"/>
                </a:solidFill>
              </a:rPr>
              <a:t>cycle component</a:t>
            </a:r>
            <a:r>
              <a:rPr lang="en-US" sz="1600" dirty="0">
                <a:solidFill>
                  <a:srgbClr val="00B0F0"/>
                </a:solidFill>
              </a:rPr>
              <a:t>)</a:t>
            </a:r>
            <a:r>
              <a:rPr lang="en-US" sz="1600" dirty="0"/>
              <a:t>. </a:t>
            </a:r>
            <a:r>
              <a:rPr lang="en-US" sz="1600" dirty="0">
                <a:solidFill>
                  <a:schemeClr val="tx1"/>
                </a:solidFill>
              </a:rPr>
              <a:t>Increased tensions in the Middle East are expected to reduce sales by an additional 5% (</a:t>
            </a:r>
            <a:r>
              <a:rPr lang="en-US" sz="1600" b="1" u="sng" dirty="0">
                <a:solidFill>
                  <a:schemeClr val="tx1"/>
                </a:solidFill>
              </a:rPr>
              <a:t>erratic events component</a:t>
            </a:r>
            <a:r>
              <a:rPr lang="en-US" sz="1600" dirty="0">
                <a:solidFill>
                  <a:schemeClr val="tx1"/>
                </a:solidFill>
              </a:rPr>
              <a:t>)</a:t>
            </a:r>
            <a:r>
              <a:rPr lang="en-US" sz="1600" dirty="0"/>
              <a:t>. </a:t>
            </a:r>
            <a:r>
              <a:rPr lang="en-US" sz="1600" dirty="0">
                <a:solidFill>
                  <a:srgbClr val="7030A0"/>
                </a:solidFill>
              </a:rPr>
              <a:t>Sales results are reasonably consistent throughout the year except for the fourth quarter, where sales are expected to be 25% higher than the other quarters (</a:t>
            </a:r>
            <a:r>
              <a:rPr lang="en-US" sz="1600" b="1" u="sng" dirty="0">
                <a:solidFill>
                  <a:srgbClr val="7030A0"/>
                </a:solidFill>
              </a:rPr>
              <a:t>seasonal component</a:t>
            </a:r>
            <a:r>
              <a:rPr lang="en-US" sz="1600" dirty="0">
                <a:solidFill>
                  <a:srgbClr val="7030A0"/>
                </a:solidFill>
              </a:rPr>
              <a:t>). </a:t>
            </a:r>
          </a:p>
          <a:p>
            <a:pPr marR="3600"/>
            <a:r>
              <a:rPr lang="en-US" sz="1600" dirty="0"/>
              <a:t>A marketer of consumer products might recombine the different components in the following manner to forecast sales for 2024: </a:t>
            </a:r>
          </a:p>
          <a:p>
            <a:pPr marR="3600"/>
            <a:r>
              <a:rPr lang="en-US" sz="1600" dirty="0"/>
              <a:t>Sales in 2023 were $10,060,000. The trend component suggests that 2023 sales will be $10,563,000 ($10,060,000 × 1.05). However, incorporating the expected business recession represented in the cycle component changes the sales forecast to $9,506,700 ($10,563,000 × 0.90). The annual sales forecast is reduced to $9,031,365 when the erratic events component is introduced ($9,056,700 × 0.95). Quarterly sales forecasts would initially be calculated as $2,257,841 ($9,031,365 ÷ 4). However, incorporating the seasonal component suggests fourth-quarter sales of $2,822,302 ($2,257,841 × 1.25) and sales for the other three quarters of $2,069,688 ($9,031,365–$2,822,302 ÷ 3). </a:t>
            </a:r>
          </a:p>
        </p:txBody>
      </p:sp>
    </p:spTree>
    <p:extLst>
      <p:ext uri="{BB962C8B-B14F-4D97-AF65-F5344CB8AC3E}">
        <p14:creationId xmlns:p14="http://schemas.microsoft.com/office/powerpoint/2010/main" val="980485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solidFill>
            <a:schemeClr val="bg2">
              <a:lumMod val="60000"/>
              <a:lumOff val="40000"/>
            </a:schemeClr>
          </a:solidFill>
        </p:spPr>
        <p:txBody>
          <a:bodyPr/>
          <a:lstStyle/>
          <a:p>
            <a:r>
              <a:rPr lang="en-US" dirty="0"/>
              <a:t>Breakdown Methods</a:t>
            </a:r>
          </a:p>
        </p:txBody>
      </p:sp>
      <p:sp>
        <p:nvSpPr>
          <p:cNvPr id="8" name="Content Placeholder 7"/>
          <p:cNvSpPr>
            <a:spLocks noGrp="1"/>
          </p:cNvSpPr>
          <p:nvPr>
            <p:ph idx="1"/>
          </p:nvPr>
        </p:nvSpPr>
        <p:spPr>
          <a:xfrm>
            <a:off x="381000" y="1600200"/>
            <a:ext cx="5219700" cy="4087120"/>
          </a:xfrm>
          <a:solidFill>
            <a:schemeClr val="bg2">
              <a:lumMod val="20000"/>
              <a:lumOff val="80000"/>
            </a:schemeClr>
          </a:solidFill>
          <a:scene3d>
            <a:camera prst="orthographicFront"/>
            <a:lightRig rig="threePt" dir="t"/>
          </a:scene3d>
          <a:sp3d>
            <a:bevelT/>
          </a:sp3d>
        </p:spPr>
        <p:txBody>
          <a:bodyPr/>
          <a:lstStyle/>
          <a:p>
            <a:r>
              <a:rPr lang="en-US" sz="2400" dirty="0"/>
              <a:t>Use factors influencing sales at the region, district, and territory levels to adjust forecasts made at the business unit level (top-down method).</a:t>
            </a:r>
          </a:p>
          <a:p>
            <a:r>
              <a:rPr lang="en-US" sz="2400" dirty="0"/>
              <a:t>Factors should be continuously</a:t>
            </a:r>
            <a:br>
              <a:rPr lang="en-US" sz="2400" dirty="0"/>
            </a:br>
            <a:r>
              <a:rPr lang="en-US" sz="2400" dirty="0"/>
              <a:t>evaluated.</a:t>
            </a:r>
          </a:p>
          <a:p>
            <a:r>
              <a:rPr lang="en-US" dirty="0"/>
              <a:t>Examples: Buying Power Index; Household Penetration; FAN/Flu</a:t>
            </a:r>
            <a:endParaRPr lang="en-US" sz="2400" dirty="0"/>
          </a:p>
          <a:p>
            <a:endParaRPr lang="en-US" dirty="0"/>
          </a:p>
          <a:p>
            <a:pPr marL="0" indent="0">
              <a:buNone/>
            </a:pPr>
            <a:r>
              <a:rPr lang="en-US" i="1" dirty="0"/>
              <a:t>**not required to know how to calculate for exam</a:t>
            </a:r>
            <a:endParaRPr lang="en-US" sz="2400" i="1"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1752600"/>
            <a:ext cx="3578225" cy="393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4652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228600" y="274638"/>
            <a:ext cx="8686800" cy="1143000"/>
          </a:xfrm>
          <a:solidFill>
            <a:schemeClr val="bg2">
              <a:lumMod val="60000"/>
              <a:lumOff val="40000"/>
            </a:schemeClr>
          </a:solidFill>
        </p:spPr>
        <p:txBody>
          <a:bodyPr/>
          <a:lstStyle/>
          <a:p>
            <a:r>
              <a:rPr lang="en-US" dirty="0"/>
              <a:t>Even Allocation vs Breakdown Method</a:t>
            </a:r>
          </a:p>
        </p:txBody>
      </p:sp>
      <p:graphicFrame>
        <p:nvGraphicFramePr>
          <p:cNvPr id="5" name="Diagram 4"/>
          <p:cNvGraphicFramePr/>
          <p:nvPr>
            <p:extLst>
              <p:ext uri="{D42A27DB-BD31-4B8C-83A1-F6EECF244321}">
                <p14:modId xmlns:p14="http://schemas.microsoft.com/office/powerpoint/2010/main" val="2165088118"/>
              </p:ext>
            </p:extLst>
          </p:nvPr>
        </p:nvGraphicFramePr>
        <p:xfrm>
          <a:off x="685800" y="1371600"/>
          <a:ext cx="8001000" cy="30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4102032731"/>
              </p:ext>
            </p:extLst>
          </p:nvPr>
        </p:nvGraphicFramePr>
        <p:xfrm>
          <a:off x="685800" y="3581400"/>
          <a:ext cx="8001000" cy="3048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 name="TextBox 2">
            <a:extLst>
              <a:ext uri="{FF2B5EF4-FFF2-40B4-BE49-F238E27FC236}">
                <a16:creationId xmlns:a16="http://schemas.microsoft.com/office/drawing/2014/main" id="{EDA79F34-D5BD-406B-8EA5-857FD6EAAB25}"/>
              </a:ext>
            </a:extLst>
          </p:cNvPr>
          <p:cNvSpPr txBox="1"/>
          <p:nvPr/>
        </p:nvSpPr>
        <p:spPr>
          <a:xfrm rot="16200000">
            <a:off x="-155863" y="2664767"/>
            <a:ext cx="1023037" cy="461665"/>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EVEN</a:t>
            </a:r>
          </a:p>
        </p:txBody>
      </p:sp>
      <p:sp>
        <p:nvSpPr>
          <p:cNvPr id="7" name="TextBox 6">
            <a:extLst>
              <a:ext uri="{FF2B5EF4-FFF2-40B4-BE49-F238E27FC236}">
                <a16:creationId xmlns:a16="http://schemas.microsoft.com/office/drawing/2014/main" id="{4BE4CA26-3DC7-4A2D-ACC4-66A7082F5752}"/>
              </a:ext>
            </a:extLst>
          </p:cNvPr>
          <p:cNvSpPr txBox="1"/>
          <p:nvPr/>
        </p:nvSpPr>
        <p:spPr>
          <a:xfrm rot="16200000">
            <a:off x="-761055" y="4874567"/>
            <a:ext cx="2255746" cy="461665"/>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BREAKDOWN</a:t>
            </a:r>
          </a:p>
        </p:txBody>
      </p:sp>
    </p:spTree>
    <p:extLst>
      <p:ext uri="{BB962C8B-B14F-4D97-AF65-F5344CB8AC3E}">
        <p14:creationId xmlns:p14="http://schemas.microsoft.com/office/powerpoint/2010/main" val="1339279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266700" y="152400"/>
            <a:ext cx="8610600" cy="1066800"/>
          </a:xfrm>
          <a:solidFill>
            <a:schemeClr val="bg2">
              <a:lumMod val="60000"/>
              <a:lumOff val="40000"/>
            </a:schemeClr>
          </a:solidFill>
        </p:spPr>
        <p:txBody>
          <a:bodyPr/>
          <a:lstStyle/>
          <a:p>
            <a:r>
              <a:rPr lang="en-US" dirty="0"/>
              <a:t>Bottom-Up Approach Methods</a:t>
            </a:r>
          </a:p>
        </p:txBody>
      </p:sp>
      <p:sp>
        <p:nvSpPr>
          <p:cNvPr id="122883" name="Rectangle 3"/>
          <p:cNvSpPr>
            <a:spLocks noGrp="1" noChangeArrowheads="1"/>
          </p:cNvSpPr>
          <p:nvPr>
            <p:ph idx="1"/>
          </p:nvPr>
        </p:nvSpPr>
        <p:spPr>
          <a:xfrm>
            <a:off x="762000" y="1371600"/>
            <a:ext cx="7848600" cy="4525963"/>
          </a:xfrm>
        </p:spPr>
        <p:txBody>
          <a:bodyPr/>
          <a:lstStyle/>
          <a:p>
            <a:pPr>
              <a:lnSpc>
                <a:spcPct val="90000"/>
              </a:lnSpc>
            </a:pPr>
            <a:r>
              <a:rPr lang="en-US" sz="1700" b="1" dirty="0"/>
              <a:t>Survey of Buyer Intentions</a:t>
            </a:r>
          </a:p>
          <a:p>
            <a:pPr lvl="1">
              <a:lnSpc>
                <a:spcPct val="90000"/>
              </a:lnSpc>
            </a:pPr>
            <a:r>
              <a:rPr lang="en-US" sz="1700" dirty="0"/>
              <a:t>Survey buyers’ purchasing intentions.</a:t>
            </a:r>
          </a:p>
          <a:p>
            <a:pPr lvl="1">
              <a:lnSpc>
                <a:spcPct val="90000"/>
              </a:lnSpc>
            </a:pPr>
            <a:r>
              <a:rPr lang="en-US" sz="1700" dirty="0"/>
              <a:t>Aggregate buyer intentions.</a:t>
            </a:r>
          </a:p>
          <a:p>
            <a:pPr lvl="1">
              <a:lnSpc>
                <a:spcPct val="90000"/>
              </a:lnSpc>
            </a:pPr>
            <a:endParaRPr lang="en-US" sz="1700" dirty="0"/>
          </a:p>
          <a:p>
            <a:pPr>
              <a:lnSpc>
                <a:spcPct val="90000"/>
              </a:lnSpc>
            </a:pPr>
            <a:r>
              <a:rPr lang="en-US" sz="1700" b="1" dirty="0"/>
              <a:t>Jury of Executive Opinion</a:t>
            </a:r>
          </a:p>
          <a:p>
            <a:pPr lvl="1">
              <a:lnSpc>
                <a:spcPct val="90000"/>
              </a:lnSpc>
            </a:pPr>
            <a:r>
              <a:rPr lang="en-US" sz="1700" dirty="0"/>
              <a:t>Executives or other experts estimate sales at the </a:t>
            </a:r>
          </a:p>
          <a:p>
            <a:pPr marL="482600" lvl="1" indent="0">
              <a:lnSpc>
                <a:spcPct val="90000"/>
              </a:lnSpc>
              <a:buNone/>
            </a:pPr>
            <a:r>
              <a:rPr lang="en-US" sz="1700" dirty="0"/>
              <a:t>   account level.</a:t>
            </a:r>
          </a:p>
          <a:p>
            <a:pPr lvl="1">
              <a:lnSpc>
                <a:spcPct val="90000"/>
              </a:lnSpc>
            </a:pPr>
            <a:r>
              <a:rPr lang="en-US" sz="1700" dirty="0"/>
              <a:t>Estimates are averaged or otherwise agreed </a:t>
            </a:r>
          </a:p>
          <a:p>
            <a:pPr marL="482600" lvl="1" indent="0">
              <a:lnSpc>
                <a:spcPct val="90000"/>
              </a:lnSpc>
              <a:buNone/>
            </a:pPr>
            <a:r>
              <a:rPr lang="en-US" sz="1700" dirty="0"/>
              <a:t>   upon to generate a forecast.</a:t>
            </a:r>
          </a:p>
          <a:p>
            <a:pPr lvl="1">
              <a:lnSpc>
                <a:spcPct val="90000"/>
              </a:lnSpc>
            </a:pPr>
            <a:endParaRPr lang="en-US" sz="1700" dirty="0"/>
          </a:p>
          <a:p>
            <a:pPr>
              <a:lnSpc>
                <a:spcPct val="90000"/>
              </a:lnSpc>
            </a:pPr>
            <a:r>
              <a:rPr lang="en-US" sz="1700" b="1" dirty="0"/>
              <a:t>Delphi</a:t>
            </a:r>
            <a:r>
              <a:rPr lang="en-US" sz="1700" dirty="0"/>
              <a:t> (a form of jury of executive opinion)</a:t>
            </a:r>
          </a:p>
          <a:p>
            <a:pPr lvl="1">
              <a:lnSpc>
                <a:spcPct val="90000"/>
              </a:lnSpc>
            </a:pPr>
            <a:r>
              <a:rPr lang="en-US" sz="1700" dirty="0"/>
              <a:t>The “jury” is anonymous, and estimates are redistributed for revision.</a:t>
            </a:r>
          </a:p>
          <a:p>
            <a:pPr lvl="1">
              <a:lnSpc>
                <a:spcPct val="90000"/>
              </a:lnSpc>
            </a:pPr>
            <a:r>
              <a:rPr lang="en-US" sz="1700" dirty="0"/>
              <a:t>The “jury” reviews and revises estimates until consensus is reached.</a:t>
            </a:r>
          </a:p>
          <a:p>
            <a:pPr lvl="1">
              <a:lnSpc>
                <a:spcPct val="90000"/>
              </a:lnSpc>
            </a:pPr>
            <a:endParaRPr lang="en-US" sz="1700" dirty="0"/>
          </a:p>
          <a:p>
            <a:pPr>
              <a:lnSpc>
                <a:spcPct val="90000"/>
              </a:lnSpc>
            </a:pPr>
            <a:r>
              <a:rPr lang="en-US" sz="1700" b="1" dirty="0"/>
              <a:t>Salesforce Composite</a:t>
            </a:r>
          </a:p>
          <a:p>
            <a:pPr lvl="1">
              <a:lnSpc>
                <a:spcPct val="90000"/>
              </a:lnSpc>
            </a:pPr>
            <a:r>
              <a:rPr lang="en-US" sz="1700" dirty="0"/>
              <a:t>Salespeople create forecasts for their accounts and territories.</a:t>
            </a:r>
          </a:p>
          <a:p>
            <a:pPr lvl="1">
              <a:lnSpc>
                <a:spcPct val="90000"/>
              </a:lnSpc>
            </a:pPr>
            <a:r>
              <a:rPr lang="en-US" sz="1700" dirty="0"/>
              <a:t>Forecasts are aggregated.</a:t>
            </a:r>
          </a:p>
          <a:p>
            <a:pPr lvl="1">
              <a:lnSpc>
                <a:spcPct val="90000"/>
              </a:lnSpc>
            </a:pPr>
            <a:r>
              <a:rPr lang="en-US" sz="1800" dirty="0"/>
              <a:t>Sales cycle and opportunity stage forecasting.</a:t>
            </a:r>
          </a:p>
          <a:p>
            <a:pPr>
              <a:lnSpc>
                <a:spcPct val="90000"/>
              </a:lnSpc>
            </a:pPr>
            <a:endParaRPr lang="en-US" sz="2000" dirty="0"/>
          </a:p>
        </p:txBody>
      </p:sp>
      <p:sp>
        <p:nvSpPr>
          <p:cNvPr id="2" name="TextBox 1">
            <a:extLst>
              <a:ext uri="{FF2B5EF4-FFF2-40B4-BE49-F238E27FC236}">
                <a16:creationId xmlns:a16="http://schemas.microsoft.com/office/drawing/2014/main" id="{42229080-A55F-4647-9493-3D270AAE358E}"/>
              </a:ext>
            </a:extLst>
          </p:cNvPr>
          <p:cNvSpPr txBox="1"/>
          <p:nvPr/>
        </p:nvSpPr>
        <p:spPr>
          <a:xfrm>
            <a:off x="8077200" y="4487702"/>
            <a:ext cx="862737" cy="246221"/>
          </a:xfrm>
          <a:prstGeom prst="rect">
            <a:avLst/>
          </a:prstGeom>
          <a:noFill/>
        </p:spPr>
        <p:txBody>
          <a:bodyPr wrap="none" rtlCol="0">
            <a:spAutoFit/>
          </a:bodyPr>
          <a:lstStyle/>
          <a:p>
            <a:r>
              <a:rPr lang="en-US" sz="1000" dirty="0"/>
              <a:t>Freepik.com</a:t>
            </a:r>
          </a:p>
        </p:txBody>
      </p:sp>
      <p:pic>
        <p:nvPicPr>
          <p:cNvPr id="2050" name="Picture 2" descr="Free photo empowered business people discussing">
            <a:extLst>
              <a:ext uri="{FF2B5EF4-FFF2-40B4-BE49-F238E27FC236}">
                <a16:creationId xmlns:a16="http://schemas.microsoft.com/office/drawing/2014/main" id="{059D2CF9-D9FE-2F72-F35C-C184764A9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7385" y="1324689"/>
            <a:ext cx="2118730" cy="3180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4704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r>
              <a:rPr lang="en-US" dirty="0"/>
              <a:t>Forecasting with Regression Analysis</a:t>
            </a:r>
          </a:p>
        </p:txBody>
      </p:sp>
      <p:sp>
        <p:nvSpPr>
          <p:cNvPr id="3" name="Content Placeholder 2"/>
          <p:cNvSpPr>
            <a:spLocks noGrp="1"/>
          </p:cNvSpPr>
          <p:nvPr>
            <p:ph idx="1"/>
          </p:nvPr>
        </p:nvSpPr>
        <p:spPr>
          <a:xfrm>
            <a:off x="533400" y="1752600"/>
            <a:ext cx="7162800" cy="3200400"/>
          </a:xfrm>
          <a:solidFill>
            <a:schemeClr val="bg2">
              <a:lumMod val="20000"/>
              <a:lumOff val="80000"/>
            </a:schemeClr>
          </a:solidFill>
          <a:scene3d>
            <a:camera prst="orthographicFront"/>
            <a:lightRig rig="threePt" dir="t"/>
          </a:scene3d>
          <a:sp3d>
            <a:bevelT/>
          </a:sp3d>
        </p:spPr>
        <p:txBody>
          <a:bodyPr/>
          <a:lstStyle/>
          <a:p>
            <a:r>
              <a:rPr lang="en-US" sz="2400" dirty="0"/>
              <a:t>Statistical technique using predictor variables (factors) to forecast sales.</a:t>
            </a:r>
          </a:p>
          <a:p>
            <a:r>
              <a:rPr lang="en-US" sz="2400" dirty="0"/>
              <a:t>May be complex.</a:t>
            </a:r>
          </a:p>
          <a:p>
            <a:r>
              <a:rPr lang="en-US" sz="2400" dirty="0"/>
              <a:t>Requires collection of </a:t>
            </a:r>
            <a:br>
              <a:rPr lang="en-US" sz="2400" dirty="0"/>
            </a:br>
            <a:r>
              <a:rPr lang="en-US" sz="2400" dirty="0"/>
              <a:t>predictor variable data.</a:t>
            </a:r>
          </a:p>
          <a:p>
            <a:r>
              <a:rPr lang="en-US" sz="2400" dirty="0"/>
              <a:t>Analysis may be </a:t>
            </a:r>
            <a:br>
              <a:rPr lang="en-US" sz="2400" dirty="0"/>
            </a:br>
            <a:r>
              <a:rPr lang="en-US" sz="2400" dirty="0"/>
              <a:t>linear or logarithmic.</a:t>
            </a:r>
          </a:p>
        </p:txBody>
      </p:sp>
      <p:pic>
        <p:nvPicPr>
          <p:cNvPr id="2050" name="Picture 2" descr="Image result for regression analysis">
            <a:extLst>
              <a:ext uri="{FF2B5EF4-FFF2-40B4-BE49-F238E27FC236}">
                <a16:creationId xmlns:a16="http://schemas.microsoft.com/office/drawing/2014/main" id="{5C6F4D2D-6E32-41B0-B11A-8BF862A45D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3960" y="2590800"/>
            <a:ext cx="3596640" cy="4114800"/>
          </a:xfrm>
          <a:prstGeom prst="rect">
            <a:avLst/>
          </a:prstGeom>
          <a:noFill/>
          <a:effectLst>
            <a:softEdge rad="635000"/>
          </a:effectLst>
          <a:scene3d>
            <a:camera prst="orthographicFront"/>
            <a:lightRig rig="threePt" dir="t"/>
          </a:scene3d>
          <a:sp3d>
            <a:bevelT w="6985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2765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descr="A close up of a sign&#10;&#10;Description generated with very high confidence">
            <a:extLst>
              <a:ext uri="{FF2B5EF4-FFF2-40B4-BE49-F238E27FC236}">
                <a16:creationId xmlns:a16="http://schemas.microsoft.com/office/drawing/2014/main" id="{770568D4-7732-49C6-8F9C-AA9D5FFDC00D}"/>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tretch>
            <a:fillRect/>
          </a:stretch>
        </p:blipFill>
        <p:spPr>
          <a:xfrm>
            <a:off x="152400" y="1066800"/>
            <a:ext cx="8610600" cy="5419077"/>
          </a:xfrm>
          <a:scene3d>
            <a:camera prst="orthographicFront"/>
            <a:lightRig rig="threePt" dir="t"/>
          </a:scene3d>
          <a:sp3d>
            <a:bevelT/>
          </a:sp3d>
        </p:spPr>
      </p:pic>
      <p:sp>
        <p:nvSpPr>
          <p:cNvPr id="7" name="Title 1">
            <a:extLst>
              <a:ext uri="{FF2B5EF4-FFF2-40B4-BE49-F238E27FC236}">
                <a16:creationId xmlns:a16="http://schemas.microsoft.com/office/drawing/2014/main" id="{16422E68-9815-4350-96C2-23FC324950B5}"/>
              </a:ext>
            </a:extLst>
          </p:cNvPr>
          <p:cNvSpPr txBox="1">
            <a:spLocks/>
          </p:cNvSpPr>
          <p:nvPr/>
        </p:nvSpPr>
        <p:spPr bwMode="auto">
          <a:xfrm>
            <a:off x="152400" y="152400"/>
            <a:ext cx="8610600" cy="1066800"/>
          </a:xfrm>
          <a:prstGeom prst="rect">
            <a:avLst/>
          </a:prstGeom>
          <a:solidFill>
            <a:schemeClr val="bg2">
              <a:lumMod val="60000"/>
              <a:lumOff val="40000"/>
            </a:schemeClr>
          </a:solidFill>
          <a:ln>
            <a:noFill/>
          </a:ln>
          <a:effectLst/>
          <a:scene3d>
            <a:camera prst="orthographicFront"/>
            <a:lightRig rig="threePt" dir="t"/>
          </a:scene3d>
          <a:sp3d>
            <a:bevelT w="69850"/>
          </a:sp3d>
        </p:spPr>
        <p:txBody>
          <a:bodyPr vert="horz" wrap="square" lIns="91440" tIns="45720" rIns="91440" bIns="45720" numCol="1" anchor="ctr" anchorCtr="0" compatLnSpc="1">
            <a:prstTxWarp prst="textNoShape">
              <a:avLst/>
            </a:prstTxWarp>
          </a:bodyPr>
          <a:lstStyle>
            <a:lvl1pPr marL="192088" algn="l" rtl="0" eaLnBrk="1" fontAlgn="base" hangingPunct="1">
              <a:spcBef>
                <a:spcPct val="0"/>
              </a:spcBef>
              <a:spcAft>
                <a:spcPct val="0"/>
              </a:spcAft>
              <a:defRPr sz="36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itchFamily="66" charset="0"/>
              </a:defRPr>
            </a:lvl2pPr>
            <a:lvl3pPr marL="192088" algn="l" rtl="0" eaLnBrk="1" fontAlgn="base" hangingPunct="1">
              <a:spcBef>
                <a:spcPct val="0"/>
              </a:spcBef>
              <a:spcAft>
                <a:spcPct val="0"/>
              </a:spcAft>
              <a:defRPr sz="3600">
                <a:solidFill>
                  <a:schemeClr val="tx2"/>
                </a:solidFill>
                <a:latin typeface="Verdana" pitchFamily="66" charset="0"/>
              </a:defRPr>
            </a:lvl3pPr>
            <a:lvl4pPr marL="192088" algn="l" rtl="0" eaLnBrk="1" fontAlgn="base" hangingPunct="1">
              <a:spcBef>
                <a:spcPct val="0"/>
              </a:spcBef>
              <a:spcAft>
                <a:spcPct val="0"/>
              </a:spcAft>
              <a:defRPr sz="3600">
                <a:solidFill>
                  <a:schemeClr val="tx2"/>
                </a:solidFill>
                <a:latin typeface="Verdana" pitchFamily="66" charset="0"/>
              </a:defRPr>
            </a:lvl4pPr>
            <a:lvl5pPr marL="192088" algn="l" rtl="0" eaLnBrk="1" fontAlgn="base" hangingPunct="1">
              <a:spcBef>
                <a:spcPct val="0"/>
              </a:spcBef>
              <a:spcAft>
                <a:spcPct val="0"/>
              </a:spcAft>
              <a:defRPr sz="3600">
                <a:solidFill>
                  <a:schemeClr val="tx2"/>
                </a:solidFill>
                <a:latin typeface="Verdana" pitchFamily="66" charset="0"/>
              </a:defRPr>
            </a:lvl5pPr>
            <a:lvl6pPr marL="649288" algn="l" rtl="0" eaLnBrk="1" fontAlgn="base" hangingPunct="1">
              <a:spcBef>
                <a:spcPct val="0"/>
              </a:spcBef>
              <a:spcAft>
                <a:spcPct val="0"/>
              </a:spcAft>
              <a:defRPr sz="3600">
                <a:solidFill>
                  <a:schemeClr val="tx2"/>
                </a:solidFill>
                <a:latin typeface="Verdana" pitchFamily="66" charset="0"/>
              </a:defRPr>
            </a:lvl6pPr>
            <a:lvl7pPr marL="1106488" algn="l" rtl="0" eaLnBrk="1" fontAlgn="base" hangingPunct="1">
              <a:spcBef>
                <a:spcPct val="0"/>
              </a:spcBef>
              <a:spcAft>
                <a:spcPct val="0"/>
              </a:spcAft>
              <a:defRPr sz="3600">
                <a:solidFill>
                  <a:schemeClr val="tx2"/>
                </a:solidFill>
                <a:latin typeface="Verdana" pitchFamily="66" charset="0"/>
              </a:defRPr>
            </a:lvl7pPr>
            <a:lvl8pPr marL="1563688" algn="l" rtl="0" eaLnBrk="1" fontAlgn="base" hangingPunct="1">
              <a:spcBef>
                <a:spcPct val="0"/>
              </a:spcBef>
              <a:spcAft>
                <a:spcPct val="0"/>
              </a:spcAft>
              <a:defRPr sz="3600">
                <a:solidFill>
                  <a:schemeClr val="tx2"/>
                </a:solidFill>
                <a:latin typeface="Verdana" pitchFamily="66" charset="0"/>
              </a:defRPr>
            </a:lvl8pPr>
            <a:lvl9pPr marL="2020888" algn="l" rtl="0" eaLnBrk="1" fontAlgn="base" hangingPunct="1">
              <a:spcBef>
                <a:spcPct val="0"/>
              </a:spcBef>
              <a:spcAft>
                <a:spcPct val="0"/>
              </a:spcAft>
              <a:defRPr sz="3600">
                <a:solidFill>
                  <a:schemeClr val="tx2"/>
                </a:solidFill>
                <a:latin typeface="Verdana" pitchFamily="66" charset="0"/>
              </a:defRPr>
            </a:lvl9pPr>
          </a:lstStyle>
          <a:p>
            <a:r>
              <a:rPr lang="en-US" kern="0" dirty="0"/>
              <a:t>Market Response Framework</a:t>
            </a:r>
          </a:p>
        </p:txBody>
      </p:sp>
    </p:spTree>
    <p:extLst>
      <p:ext uri="{BB962C8B-B14F-4D97-AF65-F5344CB8AC3E}">
        <p14:creationId xmlns:p14="http://schemas.microsoft.com/office/powerpoint/2010/main" val="806691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CCA6-491F-4F1F-8D75-ED8FA702B360}"/>
              </a:ext>
            </a:extLst>
          </p:cNvPr>
          <p:cNvSpPr>
            <a:spLocks noGrp="1"/>
          </p:cNvSpPr>
          <p:nvPr>
            <p:ph type="title"/>
          </p:nvPr>
        </p:nvSpPr>
        <p:spPr>
          <a:solidFill>
            <a:schemeClr val="bg2">
              <a:lumMod val="60000"/>
              <a:lumOff val="40000"/>
            </a:schemeClr>
          </a:solidFill>
        </p:spPr>
        <p:txBody>
          <a:bodyPr/>
          <a:lstStyle/>
          <a:p>
            <a:r>
              <a:rPr lang="en-US" dirty="0"/>
              <a:t>Regression Model Examples</a:t>
            </a:r>
          </a:p>
        </p:txBody>
      </p:sp>
      <p:pic>
        <p:nvPicPr>
          <p:cNvPr id="5" name="Content Placeholder 4" descr="A screenshot of a cell phone&#10;&#10;Description generated with very high confidence">
            <a:extLst>
              <a:ext uri="{FF2B5EF4-FFF2-40B4-BE49-F238E27FC236}">
                <a16:creationId xmlns:a16="http://schemas.microsoft.com/office/drawing/2014/main" id="{FAAAD01B-9318-42C5-8F50-489E3CA8A80C}"/>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tretch>
            <a:fillRect/>
          </a:stretch>
        </p:blipFill>
        <p:spPr>
          <a:xfrm>
            <a:off x="98043" y="1524000"/>
            <a:ext cx="8893557" cy="4648200"/>
          </a:xfrm>
          <a:scene3d>
            <a:camera prst="orthographicFront"/>
            <a:lightRig rig="threePt" dir="t"/>
          </a:scene3d>
          <a:sp3d>
            <a:bevelT/>
          </a:sp3d>
        </p:spPr>
      </p:pic>
    </p:spTree>
    <p:extLst>
      <p:ext uri="{BB962C8B-B14F-4D97-AF65-F5344CB8AC3E}">
        <p14:creationId xmlns:p14="http://schemas.microsoft.com/office/powerpoint/2010/main" val="949257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77811-8A13-46CF-AEE1-1C8B99B2021F}"/>
              </a:ext>
            </a:extLst>
          </p:cNvPr>
          <p:cNvSpPr>
            <a:spLocks noGrp="1"/>
          </p:cNvSpPr>
          <p:nvPr>
            <p:ph type="title"/>
          </p:nvPr>
        </p:nvSpPr>
        <p:spPr>
          <a:xfrm>
            <a:off x="152400" y="76200"/>
            <a:ext cx="8610600" cy="533400"/>
          </a:xfrm>
        </p:spPr>
        <p:txBody>
          <a:bodyPr/>
          <a:lstStyle/>
          <a:p>
            <a:r>
              <a:rPr lang="en-US" dirty="0"/>
              <a:t>Strengths &amp; Weaknesses of Methods</a:t>
            </a:r>
          </a:p>
        </p:txBody>
      </p:sp>
      <p:pic>
        <p:nvPicPr>
          <p:cNvPr id="5" name="Picture 4">
            <a:extLst>
              <a:ext uri="{FF2B5EF4-FFF2-40B4-BE49-F238E27FC236}">
                <a16:creationId xmlns:a16="http://schemas.microsoft.com/office/drawing/2014/main" id="{CFF8A260-B801-4D23-BF64-E86F3EC0330E}"/>
              </a:ext>
            </a:extLst>
          </p:cNvPr>
          <p:cNvPicPr>
            <a:picLocks noChangeAspect="1"/>
          </p:cNvPicPr>
          <p:nvPr/>
        </p:nvPicPr>
        <p:blipFill rotWithShape="1">
          <a:blip r:embed="rId2"/>
          <a:srcRect l="9167" t="24469" r="5000" b="13120"/>
          <a:stretch/>
        </p:blipFill>
        <p:spPr>
          <a:xfrm>
            <a:off x="647700" y="685800"/>
            <a:ext cx="7848600" cy="3352800"/>
          </a:xfrm>
          <a:prstGeom prst="rect">
            <a:avLst/>
          </a:prstGeom>
        </p:spPr>
      </p:pic>
      <p:sp>
        <p:nvSpPr>
          <p:cNvPr id="8" name="Rectangle 7">
            <a:extLst>
              <a:ext uri="{FF2B5EF4-FFF2-40B4-BE49-F238E27FC236}">
                <a16:creationId xmlns:a16="http://schemas.microsoft.com/office/drawing/2014/main" id="{A742F365-CE10-4BB6-A385-035F5A8CA680}"/>
              </a:ext>
            </a:extLst>
          </p:cNvPr>
          <p:cNvSpPr/>
          <p:nvPr/>
        </p:nvSpPr>
        <p:spPr bwMode="auto">
          <a:xfrm>
            <a:off x="0" y="6324600"/>
            <a:ext cx="1981200" cy="5334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pic>
        <p:nvPicPr>
          <p:cNvPr id="7" name="Picture 6">
            <a:extLst>
              <a:ext uri="{FF2B5EF4-FFF2-40B4-BE49-F238E27FC236}">
                <a16:creationId xmlns:a16="http://schemas.microsoft.com/office/drawing/2014/main" id="{28B4EDAC-D8DB-46B9-A569-3766383BE004}"/>
              </a:ext>
            </a:extLst>
          </p:cNvPr>
          <p:cNvPicPr>
            <a:picLocks noChangeAspect="1"/>
          </p:cNvPicPr>
          <p:nvPr/>
        </p:nvPicPr>
        <p:blipFill rotWithShape="1">
          <a:blip r:embed="rId3"/>
          <a:srcRect l="9167" t="25886" r="5000" b="23049"/>
          <a:stretch/>
        </p:blipFill>
        <p:spPr>
          <a:xfrm>
            <a:off x="647700" y="4038600"/>
            <a:ext cx="7848600" cy="2743200"/>
          </a:xfrm>
          <a:prstGeom prst="rect">
            <a:avLst/>
          </a:prstGeom>
        </p:spPr>
      </p:pic>
    </p:spTree>
    <p:extLst>
      <p:ext uri="{BB962C8B-B14F-4D97-AF65-F5344CB8AC3E}">
        <p14:creationId xmlns:p14="http://schemas.microsoft.com/office/powerpoint/2010/main" val="2668292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77811-8A13-46CF-AEE1-1C8B99B2021F}"/>
              </a:ext>
            </a:extLst>
          </p:cNvPr>
          <p:cNvSpPr>
            <a:spLocks noGrp="1"/>
          </p:cNvSpPr>
          <p:nvPr>
            <p:ph type="title"/>
          </p:nvPr>
        </p:nvSpPr>
        <p:spPr>
          <a:xfrm>
            <a:off x="381000" y="0"/>
            <a:ext cx="8382000" cy="451945"/>
          </a:xfrm>
        </p:spPr>
        <p:txBody>
          <a:bodyPr/>
          <a:lstStyle/>
          <a:p>
            <a:r>
              <a:rPr lang="en-US" sz="2000" b="1" dirty="0"/>
              <a:t>Technique	Strengths</a:t>
            </a:r>
            <a:r>
              <a:rPr lang="en-US" sz="2000" dirty="0"/>
              <a:t>          	</a:t>
            </a:r>
            <a:r>
              <a:rPr lang="en-US" sz="2000" b="1" dirty="0"/>
              <a:t>Weaknesses</a:t>
            </a:r>
            <a:endParaRPr lang="en-US" b="1" dirty="0"/>
          </a:p>
        </p:txBody>
      </p:sp>
      <p:sp>
        <p:nvSpPr>
          <p:cNvPr id="8" name="Rectangle 7">
            <a:extLst>
              <a:ext uri="{FF2B5EF4-FFF2-40B4-BE49-F238E27FC236}">
                <a16:creationId xmlns:a16="http://schemas.microsoft.com/office/drawing/2014/main" id="{A742F365-CE10-4BB6-A385-035F5A8CA680}"/>
              </a:ext>
            </a:extLst>
          </p:cNvPr>
          <p:cNvSpPr/>
          <p:nvPr/>
        </p:nvSpPr>
        <p:spPr bwMode="auto">
          <a:xfrm>
            <a:off x="0" y="6324600"/>
            <a:ext cx="2057400" cy="5334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a:ea typeface="+mn-ea"/>
              <a:cs typeface="+mn-cs"/>
            </a:endParaRPr>
          </a:p>
        </p:txBody>
      </p:sp>
      <p:pic>
        <p:nvPicPr>
          <p:cNvPr id="4" name="Picture 3">
            <a:extLst>
              <a:ext uri="{FF2B5EF4-FFF2-40B4-BE49-F238E27FC236}">
                <a16:creationId xmlns:a16="http://schemas.microsoft.com/office/drawing/2014/main" id="{88F0E79A-761F-44FE-8918-BB7CA410F159}"/>
              </a:ext>
            </a:extLst>
          </p:cNvPr>
          <p:cNvPicPr>
            <a:picLocks noChangeAspect="1"/>
          </p:cNvPicPr>
          <p:nvPr/>
        </p:nvPicPr>
        <p:blipFill rotWithShape="1">
          <a:blip r:embed="rId2"/>
          <a:srcRect l="9167" t="25887" r="5000" b="7446"/>
          <a:stretch/>
        </p:blipFill>
        <p:spPr>
          <a:xfrm>
            <a:off x="647700" y="457200"/>
            <a:ext cx="7848600" cy="3581400"/>
          </a:xfrm>
          <a:prstGeom prst="rect">
            <a:avLst/>
          </a:prstGeom>
        </p:spPr>
      </p:pic>
      <p:pic>
        <p:nvPicPr>
          <p:cNvPr id="9" name="Picture 8">
            <a:extLst>
              <a:ext uri="{FF2B5EF4-FFF2-40B4-BE49-F238E27FC236}">
                <a16:creationId xmlns:a16="http://schemas.microsoft.com/office/drawing/2014/main" id="{DE7EE88E-7B3D-4283-9E04-50D45615B29C}"/>
              </a:ext>
            </a:extLst>
          </p:cNvPr>
          <p:cNvPicPr>
            <a:picLocks noChangeAspect="1"/>
          </p:cNvPicPr>
          <p:nvPr/>
        </p:nvPicPr>
        <p:blipFill rotWithShape="1">
          <a:blip r:embed="rId3"/>
          <a:srcRect l="9166" t="25887" r="5833" b="21630"/>
          <a:stretch/>
        </p:blipFill>
        <p:spPr>
          <a:xfrm>
            <a:off x="647700" y="4038600"/>
            <a:ext cx="7772400" cy="2819400"/>
          </a:xfrm>
          <a:prstGeom prst="rect">
            <a:avLst/>
          </a:prstGeom>
        </p:spPr>
      </p:pic>
    </p:spTree>
    <p:extLst>
      <p:ext uri="{BB962C8B-B14F-4D97-AF65-F5344CB8AC3E}">
        <p14:creationId xmlns:p14="http://schemas.microsoft.com/office/powerpoint/2010/main" val="1502096802"/>
      </p:ext>
    </p:extLst>
  </p:cSld>
  <p:clrMapOvr>
    <a:masterClrMapping/>
  </p:clrMapOvr>
</p:sld>
</file>

<file path=ppt/theme/theme1.xml><?xml version="1.0" encoding="utf-8"?>
<a:theme xmlns:a="http://schemas.openxmlformats.org/drawingml/2006/main" name="Sales Management 2015 Routledg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Office Them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outledge_master.potx" id="{9A77C883-1095-4854-8E7E-82E4EE26E2F8}" vid="{0FC05ABE-6AF4-47F1-8D35-2814AB325C2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Sales Management 2015 Routledge</Template>
  <TotalTime>1035</TotalTime>
  <Words>4348</Words>
  <Application>Microsoft Office PowerPoint</Application>
  <PresentationFormat>On-screen Show (4:3)</PresentationFormat>
  <Paragraphs>327</Paragraphs>
  <Slides>21</Slides>
  <Notes>19</Notes>
  <HiddenSlides>4</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Rockwell</vt:lpstr>
      <vt:lpstr>Times</vt:lpstr>
      <vt:lpstr>Verdana</vt:lpstr>
      <vt:lpstr>Sales Management 2015 Routledge</vt:lpstr>
      <vt:lpstr>Office Theme</vt:lpstr>
      <vt:lpstr>PowerPoint Presentation</vt:lpstr>
      <vt:lpstr>Why Forecast?</vt:lpstr>
      <vt:lpstr>Defining the Forecast</vt:lpstr>
      <vt:lpstr>Types of Forecasts</vt:lpstr>
      <vt:lpstr>Top-Down vs. Bottom-Up Forecasting</vt:lpstr>
      <vt:lpstr>Top-Down Approach</vt:lpstr>
      <vt:lpstr>Bottom-Up Approach</vt:lpstr>
      <vt:lpstr>Company Forecasting Methods</vt:lpstr>
      <vt:lpstr>Moving Averages Forecast Example</vt:lpstr>
      <vt:lpstr>Moving Averages Forecast Exercise</vt:lpstr>
      <vt:lpstr>Exponential Smoothing Forecast Example</vt:lpstr>
      <vt:lpstr>Comparison of Forecasts using Moving Averages and Exponential Smoothing </vt:lpstr>
      <vt:lpstr>Decomposition Method Example</vt:lpstr>
      <vt:lpstr>Breakdown Methods</vt:lpstr>
      <vt:lpstr>Even Allocation vs Breakdown Method</vt:lpstr>
      <vt:lpstr>Bottom-Up Approach Methods</vt:lpstr>
      <vt:lpstr>Forecasting with Regression Analysis</vt:lpstr>
      <vt:lpstr>PowerPoint Presentation</vt:lpstr>
      <vt:lpstr>Regression Model Examples</vt:lpstr>
      <vt:lpstr>Strengths &amp; Weaknesses of Methods</vt:lpstr>
      <vt:lpstr>Technique Strengths           Weaknesses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Organization Structure and Salesforce Deployment</dc:title>
  <dc:creator>Scott A. Inks</dc:creator>
  <cp:lastModifiedBy>Selva, Jorge</cp:lastModifiedBy>
  <cp:revision>58</cp:revision>
  <dcterms:created xsi:type="dcterms:W3CDTF">2015-06-30T01:17:32Z</dcterms:created>
  <dcterms:modified xsi:type="dcterms:W3CDTF">2025-02-10T16:50:27Z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bbab825-a111-45e4-86a1-18cee0005896_Enabled">
    <vt:lpwstr>true</vt:lpwstr>
  </property>
  <property fmtid="{D5CDD505-2E9C-101B-9397-08002B2CF9AE}" pid="3" name="MSIP_Label_2bbab825-a111-45e4-86a1-18cee0005896_SetDate">
    <vt:lpwstr>2023-09-27T14:34:39Z</vt:lpwstr>
  </property>
  <property fmtid="{D5CDD505-2E9C-101B-9397-08002B2CF9AE}" pid="4" name="MSIP_Label_2bbab825-a111-45e4-86a1-18cee0005896_Method">
    <vt:lpwstr>Standard</vt:lpwstr>
  </property>
  <property fmtid="{D5CDD505-2E9C-101B-9397-08002B2CF9AE}" pid="5" name="MSIP_Label_2bbab825-a111-45e4-86a1-18cee0005896_Name">
    <vt:lpwstr>2bbab825-a111-45e4-86a1-18cee0005896</vt:lpwstr>
  </property>
  <property fmtid="{D5CDD505-2E9C-101B-9397-08002B2CF9AE}" pid="6" name="MSIP_Label_2bbab825-a111-45e4-86a1-18cee0005896_SiteId">
    <vt:lpwstr>2567d566-604c-408a-8a60-55d0dc9d9d6b</vt:lpwstr>
  </property>
  <property fmtid="{D5CDD505-2E9C-101B-9397-08002B2CF9AE}" pid="7" name="MSIP_Label_2bbab825-a111-45e4-86a1-18cee0005896_ActionId">
    <vt:lpwstr>43eefc1e-d2ec-4dd9-818a-250bffb8ac81</vt:lpwstr>
  </property>
  <property fmtid="{D5CDD505-2E9C-101B-9397-08002B2CF9AE}" pid="8" name="MSIP_Label_2bbab825-a111-45e4-86a1-18cee0005896_ContentBits">
    <vt:lpwstr>2</vt:lpwstr>
  </property>
  <property fmtid="{D5CDD505-2E9C-101B-9397-08002B2CF9AE}" pid="9" name="ClassificationContentMarkingFooterLocations">
    <vt:lpwstr>Sales Management 2015 Routledge:3\Office Theme:3</vt:lpwstr>
  </property>
  <property fmtid="{D5CDD505-2E9C-101B-9397-08002B2CF9AE}" pid="10" name="ClassificationContentMarkingFooterText">
    <vt:lpwstr>Information Classification: General</vt:lpwstr>
  </property>
</Properties>
</file>