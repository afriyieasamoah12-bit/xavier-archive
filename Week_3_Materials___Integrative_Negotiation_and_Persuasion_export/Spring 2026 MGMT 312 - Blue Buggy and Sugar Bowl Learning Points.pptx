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315" r:id="rId3"/>
    <p:sldId id="31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5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CE75D-EBCD-47C6-AB0F-471530D4562E}" type="datetimeFigureOut">
              <a:rPr lang="en-US" smtClean="0"/>
              <a:t>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63BFF-7FDF-44A7-89B2-E4CDFC9B6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24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40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95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49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2680-4024-43EA-8035-0614013E83A5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81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BF49-3A07-40BA-9BBA-E663501D39AF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08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4DEB-9D1E-49BA-B43C-B835B8D7A747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976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30CA-7FFF-4306-9214-7B7580902882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92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C3F6-74B7-44C1-9CBE-95E3AA052BE3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57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EBAD-1B65-499B-B30B-B30DBA97BFCE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66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7F1-3B8E-4FFB-9779-E9FD233CD721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18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8BDF-3186-48AB-8767-941C758F90F9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68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CC83-C368-4FB2-9508-81CA2D369CA6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72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CF0F-F8B5-4897-93C2-FDDACFCAAC72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91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AEFB-17CE-4D83-986F-0AF580007747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43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E39B6-0C38-40E8-86A4-436A675CD9C9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1/28/2025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19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8458200" cy="50292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C2340"/>
                </a:solidFill>
              </a:rPr>
              <a:t>NEGOTIATION AND CONFLICT MANAGEMENT</a:t>
            </a:r>
            <a:br>
              <a:rPr lang="en-US" sz="2800" b="1" dirty="0">
                <a:solidFill>
                  <a:srgbClr val="0C2340"/>
                </a:solidFill>
              </a:rPr>
            </a:br>
            <a:br>
              <a:rPr lang="en-US" sz="2800" dirty="0">
                <a:solidFill>
                  <a:srgbClr val="0C2340"/>
                </a:solidFill>
              </a:rPr>
            </a:br>
            <a:r>
              <a:rPr lang="en-US" sz="2800" dirty="0">
                <a:solidFill>
                  <a:srgbClr val="0C2340"/>
                </a:solidFill>
              </a:rPr>
              <a:t>Blue Buggy and Sugar Bowl Learning Points</a:t>
            </a:r>
            <a:endParaRPr lang="en-US" dirty="0">
              <a:solidFill>
                <a:srgbClr val="0C234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>
                <a:solidFill>
                  <a:srgbClr val="632423">
                    <a:tint val="75000"/>
                  </a:srgbClr>
                </a:solidFill>
                <a:latin typeface="Times New Roman"/>
              </a:rPr>
              <a:pPr/>
              <a:t>1</a:t>
            </a:fld>
            <a:endParaRPr lang="en-US" dirty="0">
              <a:solidFill>
                <a:srgbClr val="632423">
                  <a:tint val="75000"/>
                </a:srgb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6530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3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Times New Roman"/>
              </a:rPr>
              <a:t>BB Learning Points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" y="1188723"/>
            <a:ext cx="88392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C2340"/>
                </a:solidFill>
              </a:rPr>
              <a:t>Remember your </a:t>
            </a:r>
            <a:r>
              <a:rPr lang="en-US" sz="2000" b="1" dirty="0" err="1">
                <a:solidFill>
                  <a:srgbClr val="0C2340"/>
                </a:solidFill>
              </a:rPr>
              <a:t>BATNA</a:t>
            </a:r>
            <a:endParaRPr lang="en-US" sz="2000" b="1" dirty="0">
              <a:solidFill>
                <a:srgbClr val="0C234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C2340"/>
                </a:solidFill>
              </a:rPr>
              <a:t>Best Alternative To a Negotiate Agreement </a:t>
            </a:r>
            <a:r>
              <a:rPr lang="en-US" sz="2000" dirty="0">
                <a:solidFill>
                  <a:srgbClr val="0C2340"/>
                </a:solidFill>
              </a:rPr>
              <a:t>(your backup plan)</a:t>
            </a:r>
            <a:endParaRPr lang="en-US" sz="2000" b="1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C2340"/>
                </a:solidFill>
              </a:rPr>
              <a:t>Emotional appeal is very influential for some people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C2340"/>
                </a:solidFill>
              </a:rPr>
              <a:t>Individuals interpret and value information differently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C2340"/>
                </a:solidFill>
                <a:latin typeface="Times New Roman"/>
              </a:rPr>
              <a:t>Trust in </a:t>
            </a:r>
            <a:r>
              <a:rPr lang="en-US" sz="2000" dirty="0" err="1">
                <a:solidFill>
                  <a:srgbClr val="0C2340"/>
                </a:solidFill>
                <a:latin typeface="Times New Roman"/>
              </a:rPr>
              <a:t>BATNA</a:t>
            </a:r>
            <a:r>
              <a:rPr lang="en-US" sz="2000" dirty="0">
                <a:solidFill>
                  <a:srgbClr val="0C2340"/>
                </a:solidFill>
                <a:latin typeface="Times New Roman"/>
              </a:rPr>
              <a:t> can vary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C2340"/>
                </a:solidFill>
              </a:rPr>
              <a:t>Creative solutions can be excellent, but new possible outcomes create new issues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C2340"/>
                </a:solidFill>
              </a:rPr>
              <a:t>Logistics and trust – how do you guarantee they pay?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C2340"/>
                </a:solidFill>
              </a:rPr>
              <a:t>Beware of agreement bias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C2340"/>
                </a:solidFill>
              </a:rPr>
              <a:t>Negotiators sometimes feel as though they have failed if they do not come to an agreement with the other party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0C2340"/>
                </a:solidFill>
              </a:rPr>
              <a:t>In some situations, the rational and correct decision is to walk away</a:t>
            </a:r>
            <a:endParaRPr lang="en-US" sz="2000" dirty="0">
              <a:solidFill>
                <a:srgbClr val="0C234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C2340"/>
                </a:solidFill>
              </a:rPr>
              <a:t>All efforts should be made to collaborate with the other party, but in some cases the bargaining zones do not overlap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C234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C2340"/>
              </a:solidFill>
              <a:latin typeface="Times New Roman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>
                <a:solidFill>
                  <a:srgbClr val="632423">
                    <a:tint val="75000"/>
                  </a:srgbClr>
                </a:solidFill>
                <a:latin typeface="Times New Roman"/>
              </a:rPr>
              <a:pPr/>
              <a:t>2</a:t>
            </a:fld>
            <a:endParaRPr lang="en-US" dirty="0">
              <a:solidFill>
                <a:srgbClr val="632423">
                  <a:tint val="75000"/>
                </a:srgb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93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2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  <a:latin typeface="Times New Roman"/>
              </a:rPr>
              <a:t>SB Learning Points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4320" y="1089168"/>
            <a:ext cx="85953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Ask lots of questions – and listen</a:t>
            </a:r>
          </a:p>
          <a:p>
            <a:pPr marL="742932" lvl="1" indent="-285744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/>
              </a:rPr>
              <a:t>Gather information and learn about situation, the other party, and her/his needs and wants</a:t>
            </a:r>
          </a:p>
          <a:p>
            <a:pPr marL="742932" lvl="1" indent="-285744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Use this information</a:t>
            </a:r>
          </a:p>
          <a:p>
            <a:pPr marL="742932" lvl="1" indent="-285744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/>
              </a:rPr>
              <a:t>In most cases it is better to learn the thoughts and various issues of the other party before discussing price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2060"/>
              </a:solidFill>
              <a:latin typeface="Times New Roman"/>
            </a:endParaRP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/>
              </a:rPr>
              <a:t>“Step back” and consider the other side’s perspective (e.g., Why are they here? What do they want? What is their situation?)</a:t>
            </a:r>
          </a:p>
          <a:p>
            <a:pPr marL="742932" lvl="1" indent="-285744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/>
              </a:rPr>
              <a:t>An understanding of the other side’s goals, issues, options, and reservation point will greatly affect your success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2060"/>
              </a:solidFill>
              <a:latin typeface="Times New Roman"/>
            </a:endParaRP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/>
              </a:rPr>
              <a:t>Use information gathered and an appraisal of the other side’s perspective to determine the bargaining zone</a:t>
            </a:r>
          </a:p>
          <a:p>
            <a:pPr marL="742932" lvl="1" indent="-285744">
              <a:buFont typeface="Wingdings" panose="05000000000000000000" pitchFamily="2" charset="2"/>
              <a:buChar char="§"/>
            </a:pPr>
            <a:r>
              <a:rPr lang="en-US" sz="2000" b="1" dirty="0" err="1">
                <a:solidFill>
                  <a:srgbClr val="002060"/>
                </a:solidFill>
                <a:latin typeface="Times New Roman"/>
              </a:rPr>
              <a:t>ZOPA</a:t>
            </a: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 – Zone of Possible Agreement</a:t>
            </a:r>
          </a:p>
          <a:p>
            <a:pPr marL="285744" indent="-285744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2060"/>
              </a:solidFill>
              <a:latin typeface="Times New Roman"/>
            </a:endParaRPr>
          </a:p>
          <a:p>
            <a:pPr marL="285744" indent="-285744"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002060"/>
                </a:solidFill>
                <a:latin typeface="Times New Roman"/>
              </a:rPr>
              <a:t>Don’t focus on your worst case scenario</a:t>
            </a:r>
            <a:r>
              <a:rPr lang="en-US" sz="2000" dirty="0">
                <a:solidFill>
                  <a:srgbClr val="002060"/>
                </a:solidFill>
                <a:latin typeface="Times New Roman"/>
              </a:rPr>
              <a:t> (</a:t>
            </a: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reservation point</a:t>
            </a:r>
            <a:r>
              <a:rPr lang="en-US" sz="2000" dirty="0">
                <a:solidFill>
                  <a:srgbClr val="002060"/>
                </a:solidFill>
                <a:latin typeface="Times New Roman"/>
              </a:rPr>
              <a:t>)</a:t>
            </a:r>
          </a:p>
          <a:p>
            <a:pPr marL="742932" lvl="1" indent="-285744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Focus on your target</a:t>
            </a:r>
            <a:r>
              <a:rPr lang="en-US" sz="2000" dirty="0">
                <a:solidFill>
                  <a:srgbClr val="002060"/>
                </a:solidFill>
                <a:latin typeface="Times New Roman"/>
              </a:rPr>
              <a:t> and learn about the other party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>
                <a:solidFill>
                  <a:srgbClr val="632423">
                    <a:tint val="75000"/>
                  </a:srgbClr>
                </a:solidFill>
                <a:latin typeface="Times New Roman"/>
              </a:rPr>
              <a:pPr/>
              <a:t>3</a:t>
            </a:fld>
            <a:endParaRPr lang="en-US" dirty="0">
              <a:solidFill>
                <a:srgbClr val="632423">
                  <a:tint val="75000"/>
                </a:srgb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5236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su slide">
  <a:themeElements>
    <a:clrScheme name="Custom 1">
      <a:dk1>
        <a:srgbClr val="632423"/>
      </a:dk1>
      <a:lt1>
        <a:sysClr val="window" lastClr="FFFFFF"/>
      </a:lt1>
      <a:dk2>
        <a:srgbClr val="632423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282</Words>
  <Application>Microsoft Office PowerPoint</Application>
  <PresentationFormat>On-screen Show (4:3)</PresentationFormat>
  <Paragraphs>37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Wingdings</vt:lpstr>
      <vt:lpstr>fsu slide</vt:lpstr>
      <vt:lpstr>NEGOTIATION AND CONFLICT MANAGEMENT  Blue Buggy and Sugar Bowl Learning Points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NEGOTIATION AND CONFLICT MANAGEMENT  Blue Buggy</dc:title>
  <dc:creator>Russell, Zachary</dc:creator>
  <cp:lastModifiedBy>Russell, Zachary</cp:lastModifiedBy>
  <cp:revision>5</cp:revision>
  <dcterms:created xsi:type="dcterms:W3CDTF">2024-01-09T18:42:28Z</dcterms:created>
  <dcterms:modified xsi:type="dcterms:W3CDTF">2025-01-28T15:52:40Z</dcterms:modified>
</cp:coreProperties>
</file>