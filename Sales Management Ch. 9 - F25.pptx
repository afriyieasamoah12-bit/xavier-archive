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 id="2147483674" r:id="rId2"/>
    <p:sldMasterId id="2147483686" r:id="rId3"/>
  </p:sldMasterIdLst>
  <p:notesMasterIdLst>
    <p:notesMasterId r:id="rId50"/>
  </p:notesMasterIdLst>
  <p:sldIdLst>
    <p:sldId id="340" r:id="rId4"/>
    <p:sldId id="268" r:id="rId5"/>
    <p:sldId id="269" r:id="rId6"/>
    <p:sldId id="270" r:id="rId7"/>
    <p:sldId id="271" r:id="rId8"/>
    <p:sldId id="299" r:id="rId9"/>
    <p:sldId id="272" r:id="rId10"/>
    <p:sldId id="331" r:id="rId11"/>
    <p:sldId id="273" r:id="rId12"/>
    <p:sldId id="274" r:id="rId13"/>
    <p:sldId id="275" r:id="rId14"/>
    <p:sldId id="276" r:id="rId15"/>
    <p:sldId id="277" r:id="rId16"/>
    <p:sldId id="280" r:id="rId17"/>
    <p:sldId id="278" r:id="rId18"/>
    <p:sldId id="281" r:id="rId19"/>
    <p:sldId id="279" r:id="rId20"/>
    <p:sldId id="282" r:id="rId21"/>
    <p:sldId id="283" r:id="rId22"/>
    <p:sldId id="284" r:id="rId23"/>
    <p:sldId id="300" r:id="rId24"/>
    <p:sldId id="285" r:id="rId25"/>
    <p:sldId id="286" r:id="rId26"/>
    <p:sldId id="320" r:id="rId27"/>
    <p:sldId id="287" r:id="rId28"/>
    <p:sldId id="288" r:id="rId29"/>
    <p:sldId id="289" r:id="rId30"/>
    <p:sldId id="290" r:id="rId31"/>
    <p:sldId id="343" r:id="rId32"/>
    <p:sldId id="344" r:id="rId33"/>
    <p:sldId id="345" r:id="rId34"/>
    <p:sldId id="346" r:id="rId35"/>
    <p:sldId id="348" r:id="rId36"/>
    <p:sldId id="329" r:id="rId37"/>
    <p:sldId id="291" r:id="rId38"/>
    <p:sldId id="292" r:id="rId39"/>
    <p:sldId id="293" r:id="rId40"/>
    <p:sldId id="294" r:id="rId41"/>
    <p:sldId id="295" r:id="rId42"/>
    <p:sldId id="296" r:id="rId43"/>
    <p:sldId id="297" r:id="rId44"/>
    <p:sldId id="327" r:id="rId45"/>
    <p:sldId id="301" r:id="rId46"/>
    <p:sldId id="330" r:id="rId47"/>
    <p:sldId id="341" r:id="rId48"/>
    <p:sldId id="298" r:id="rId4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a:ea typeface="+mn-ea"/>
        <a:cs typeface="+mn-cs"/>
      </a:defRPr>
    </a:lvl1pPr>
    <a:lvl2pPr marL="457200" algn="l" rtl="0" eaLnBrk="0" fontAlgn="base" hangingPunct="0">
      <a:spcBef>
        <a:spcPct val="0"/>
      </a:spcBef>
      <a:spcAft>
        <a:spcPct val="0"/>
      </a:spcAft>
      <a:defRPr sz="2400" kern="1200">
        <a:solidFill>
          <a:schemeClr val="tx1"/>
        </a:solidFill>
        <a:latin typeface="Times"/>
        <a:ea typeface="+mn-ea"/>
        <a:cs typeface="+mn-cs"/>
      </a:defRPr>
    </a:lvl2pPr>
    <a:lvl3pPr marL="914400" algn="l" rtl="0" eaLnBrk="0" fontAlgn="base" hangingPunct="0">
      <a:spcBef>
        <a:spcPct val="0"/>
      </a:spcBef>
      <a:spcAft>
        <a:spcPct val="0"/>
      </a:spcAft>
      <a:defRPr sz="2400" kern="1200">
        <a:solidFill>
          <a:schemeClr val="tx1"/>
        </a:solidFill>
        <a:latin typeface="Times"/>
        <a:ea typeface="+mn-ea"/>
        <a:cs typeface="+mn-cs"/>
      </a:defRPr>
    </a:lvl3pPr>
    <a:lvl4pPr marL="1371600" algn="l" rtl="0" eaLnBrk="0" fontAlgn="base" hangingPunct="0">
      <a:spcBef>
        <a:spcPct val="0"/>
      </a:spcBef>
      <a:spcAft>
        <a:spcPct val="0"/>
      </a:spcAft>
      <a:defRPr sz="2400" kern="1200">
        <a:solidFill>
          <a:schemeClr val="tx1"/>
        </a:solidFill>
        <a:latin typeface="Times"/>
        <a:ea typeface="+mn-ea"/>
        <a:cs typeface="+mn-cs"/>
      </a:defRPr>
    </a:lvl4pPr>
    <a:lvl5pPr marL="1828800" algn="l" rtl="0" eaLnBrk="0" fontAlgn="base" hangingPunct="0">
      <a:spcBef>
        <a:spcPct val="0"/>
      </a:spcBef>
      <a:spcAft>
        <a:spcPct val="0"/>
      </a:spcAft>
      <a:defRPr sz="2400" kern="1200">
        <a:solidFill>
          <a:schemeClr val="tx1"/>
        </a:solidFill>
        <a:latin typeface="Times"/>
        <a:ea typeface="+mn-ea"/>
        <a:cs typeface="+mn-cs"/>
      </a:defRPr>
    </a:lvl5pPr>
    <a:lvl6pPr marL="2286000" algn="l" defTabSz="914400" rtl="0" eaLnBrk="1" latinLnBrk="0" hangingPunct="1">
      <a:defRPr sz="2400" kern="1200">
        <a:solidFill>
          <a:schemeClr val="tx1"/>
        </a:solidFill>
        <a:latin typeface="Times"/>
        <a:ea typeface="+mn-ea"/>
        <a:cs typeface="+mn-cs"/>
      </a:defRPr>
    </a:lvl6pPr>
    <a:lvl7pPr marL="2743200" algn="l" defTabSz="914400" rtl="0" eaLnBrk="1" latinLnBrk="0" hangingPunct="1">
      <a:defRPr sz="2400" kern="1200">
        <a:solidFill>
          <a:schemeClr val="tx1"/>
        </a:solidFill>
        <a:latin typeface="Times"/>
        <a:ea typeface="+mn-ea"/>
        <a:cs typeface="+mn-cs"/>
      </a:defRPr>
    </a:lvl7pPr>
    <a:lvl8pPr marL="3200400" algn="l" defTabSz="914400" rtl="0" eaLnBrk="1" latinLnBrk="0" hangingPunct="1">
      <a:defRPr sz="2400" kern="1200">
        <a:solidFill>
          <a:schemeClr val="tx1"/>
        </a:solidFill>
        <a:latin typeface="Times"/>
        <a:ea typeface="+mn-ea"/>
        <a:cs typeface="+mn-cs"/>
      </a:defRPr>
    </a:lvl8pPr>
    <a:lvl9pPr marL="3657600" algn="l" defTabSz="914400" rtl="0" eaLnBrk="1" latinLnBrk="0" hangingPunct="1">
      <a:defRPr sz="2400" kern="1200">
        <a:solidFill>
          <a:schemeClr val="tx1"/>
        </a:solidFill>
        <a:latin typeface="Times"/>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E5E5"/>
    <a:srgbClr val="F8C8C8"/>
    <a:srgbClr val="E64848"/>
    <a:srgbClr val="F5FAFE"/>
    <a:srgbClr val="E75353"/>
    <a:srgbClr val="E96161"/>
    <a:srgbClr val="EB6B6B"/>
    <a:srgbClr val="FF5757"/>
    <a:srgbClr val="A94417"/>
    <a:srgbClr val="8CBA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27" autoAdjust="0"/>
    <p:restoredTop sz="75736" autoAdjust="0"/>
  </p:normalViewPr>
  <p:slideViewPr>
    <p:cSldViewPr>
      <p:cViewPr varScale="1">
        <p:scale>
          <a:sx n="58" d="100"/>
          <a:sy n="58" d="100"/>
        </p:scale>
        <p:origin x="1592" y="4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lva, Jorge" userId="c1a77cdc-26a4-48a1-b565-b21e42cdab32" providerId="ADAL" clId="{3DF75C0D-D42D-4158-8F9E-80D76BF1B9F0}"/>
    <pc:docChg chg="undo custSel delSld modSld">
      <pc:chgData name="Selva, Jorge" userId="c1a77cdc-26a4-48a1-b565-b21e42cdab32" providerId="ADAL" clId="{3DF75C0D-D42D-4158-8F9E-80D76BF1B9F0}" dt="2025-04-07T10:21:18.777" v="596" actId="115"/>
      <pc:docMkLst>
        <pc:docMk/>
      </pc:docMkLst>
      <pc:sldChg chg="modSp del mod modNotesTx">
        <pc:chgData name="Selva, Jorge" userId="c1a77cdc-26a4-48a1-b565-b21e42cdab32" providerId="ADAL" clId="{3DF75C0D-D42D-4158-8F9E-80D76BF1B9F0}" dt="2025-04-07T05:19:56.130" v="412" actId="47"/>
        <pc:sldMkLst>
          <pc:docMk/>
          <pc:sldMk cId="0" sldId="256"/>
        </pc:sldMkLst>
        <pc:spChg chg="mod">
          <ac:chgData name="Selva, Jorge" userId="c1a77cdc-26a4-48a1-b565-b21e42cdab32" providerId="ADAL" clId="{3DF75C0D-D42D-4158-8F9E-80D76BF1B9F0}" dt="2025-04-07T00:58:51.945" v="39" actId="1076"/>
          <ac:spMkLst>
            <pc:docMk/>
            <pc:sldMk cId="0" sldId="256"/>
            <ac:spMk id="2" creationId="{00000000-0000-0000-0000-000000000000}"/>
          </ac:spMkLst>
        </pc:spChg>
        <pc:spChg chg="mod">
          <ac:chgData name="Selva, Jorge" userId="c1a77cdc-26a4-48a1-b565-b21e42cdab32" providerId="ADAL" clId="{3DF75C0D-D42D-4158-8F9E-80D76BF1B9F0}" dt="2025-04-07T00:58:56.712" v="40" actId="1076"/>
          <ac:spMkLst>
            <pc:docMk/>
            <pc:sldMk cId="0" sldId="256"/>
            <ac:spMk id="3" creationId="{00000000-0000-0000-0000-000000000000}"/>
          </ac:spMkLst>
        </pc:spChg>
      </pc:sldChg>
      <pc:sldChg chg="modSp del mod modNotesTx">
        <pc:chgData name="Selva, Jorge" userId="c1a77cdc-26a4-48a1-b565-b21e42cdab32" providerId="ADAL" clId="{3DF75C0D-D42D-4158-8F9E-80D76BF1B9F0}" dt="2025-04-07T05:19:56.130" v="412" actId="47"/>
        <pc:sldMkLst>
          <pc:docMk/>
          <pc:sldMk cId="0" sldId="257"/>
        </pc:sldMkLst>
        <pc:spChg chg="mod">
          <ac:chgData name="Selva, Jorge" userId="c1a77cdc-26a4-48a1-b565-b21e42cdab32" providerId="ADAL" clId="{3DF75C0D-D42D-4158-8F9E-80D76BF1B9F0}" dt="2025-04-07T00:57:19.763" v="32" actId="20577"/>
          <ac:spMkLst>
            <pc:docMk/>
            <pc:sldMk cId="0" sldId="257"/>
            <ac:spMk id="2" creationId="{00000000-0000-0000-0000-000000000000}"/>
          </ac:spMkLst>
        </pc:spChg>
        <pc:spChg chg="mod">
          <ac:chgData name="Selva, Jorge" userId="c1a77cdc-26a4-48a1-b565-b21e42cdab32" providerId="ADAL" clId="{3DF75C0D-D42D-4158-8F9E-80D76BF1B9F0}" dt="2025-04-07T00:57:04.799" v="24" actId="108"/>
          <ac:spMkLst>
            <pc:docMk/>
            <pc:sldMk cId="0" sldId="257"/>
            <ac:spMk id="3" creationId="{00000000-0000-0000-0000-000000000000}"/>
          </ac:spMkLst>
        </pc:spChg>
      </pc:sldChg>
      <pc:sldChg chg="modSp del mod">
        <pc:chgData name="Selva, Jorge" userId="c1a77cdc-26a4-48a1-b565-b21e42cdab32" providerId="ADAL" clId="{3DF75C0D-D42D-4158-8F9E-80D76BF1B9F0}" dt="2025-04-07T05:19:56.130" v="412" actId="47"/>
        <pc:sldMkLst>
          <pc:docMk/>
          <pc:sldMk cId="0" sldId="258"/>
        </pc:sldMkLst>
        <pc:spChg chg="mod">
          <ac:chgData name="Selva, Jorge" userId="c1a77cdc-26a4-48a1-b565-b21e42cdab32" providerId="ADAL" clId="{3DF75C0D-D42D-4158-8F9E-80D76BF1B9F0}" dt="2025-04-07T00:59:23.118" v="46" actId="20577"/>
          <ac:spMkLst>
            <pc:docMk/>
            <pc:sldMk cId="0" sldId="258"/>
            <ac:spMk id="3" creationId="{00000000-0000-0000-0000-000000000000}"/>
          </ac:spMkLst>
        </pc:spChg>
      </pc:sldChg>
      <pc:sldChg chg="modSp del mod">
        <pc:chgData name="Selva, Jorge" userId="c1a77cdc-26a4-48a1-b565-b21e42cdab32" providerId="ADAL" clId="{3DF75C0D-D42D-4158-8F9E-80D76BF1B9F0}" dt="2025-04-07T05:19:56.130" v="412" actId="47"/>
        <pc:sldMkLst>
          <pc:docMk/>
          <pc:sldMk cId="0" sldId="259"/>
        </pc:sldMkLst>
        <pc:spChg chg="mod">
          <ac:chgData name="Selva, Jorge" userId="c1a77cdc-26a4-48a1-b565-b21e42cdab32" providerId="ADAL" clId="{3DF75C0D-D42D-4158-8F9E-80D76BF1B9F0}" dt="2025-04-07T00:59:55.417" v="52" actId="20577"/>
          <ac:spMkLst>
            <pc:docMk/>
            <pc:sldMk cId="0" sldId="259"/>
            <ac:spMk id="3" creationId="{00000000-0000-0000-0000-000000000000}"/>
          </ac:spMkLst>
        </pc:spChg>
      </pc:sldChg>
      <pc:sldChg chg="modSp del mod">
        <pc:chgData name="Selva, Jorge" userId="c1a77cdc-26a4-48a1-b565-b21e42cdab32" providerId="ADAL" clId="{3DF75C0D-D42D-4158-8F9E-80D76BF1B9F0}" dt="2025-04-07T05:19:56.130" v="412" actId="47"/>
        <pc:sldMkLst>
          <pc:docMk/>
          <pc:sldMk cId="0" sldId="260"/>
        </pc:sldMkLst>
        <pc:spChg chg="mod">
          <ac:chgData name="Selva, Jorge" userId="c1a77cdc-26a4-48a1-b565-b21e42cdab32" providerId="ADAL" clId="{3DF75C0D-D42D-4158-8F9E-80D76BF1B9F0}" dt="2025-04-07T01:00:24.362" v="59" actId="20577"/>
          <ac:spMkLst>
            <pc:docMk/>
            <pc:sldMk cId="0" sldId="260"/>
            <ac:spMk id="3" creationId="{00000000-0000-0000-0000-000000000000}"/>
          </ac:spMkLst>
        </pc:spChg>
      </pc:sldChg>
      <pc:sldChg chg="modSp del mod">
        <pc:chgData name="Selva, Jorge" userId="c1a77cdc-26a4-48a1-b565-b21e42cdab32" providerId="ADAL" clId="{3DF75C0D-D42D-4158-8F9E-80D76BF1B9F0}" dt="2025-04-07T05:19:56.130" v="412" actId="47"/>
        <pc:sldMkLst>
          <pc:docMk/>
          <pc:sldMk cId="0" sldId="261"/>
        </pc:sldMkLst>
        <pc:spChg chg="mod">
          <ac:chgData name="Selva, Jorge" userId="c1a77cdc-26a4-48a1-b565-b21e42cdab32" providerId="ADAL" clId="{3DF75C0D-D42D-4158-8F9E-80D76BF1B9F0}" dt="2025-04-07T01:01:27.663" v="67" actId="20577"/>
          <ac:spMkLst>
            <pc:docMk/>
            <pc:sldMk cId="0" sldId="261"/>
            <ac:spMk id="3" creationId="{00000000-0000-0000-0000-000000000000}"/>
          </ac:spMkLst>
        </pc:spChg>
      </pc:sldChg>
      <pc:sldChg chg="modSp del mod">
        <pc:chgData name="Selva, Jorge" userId="c1a77cdc-26a4-48a1-b565-b21e42cdab32" providerId="ADAL" clId="{3DF75C0D-D42D-4158-8F9E-80D76BF1B9F0}" dt="2025-04-07T05:19:56.130" v="412" actId="47"/>
        <pc:sldMkLst>
          <pc:docMk/>
          <pc:sldMk cId="0" sldId="262"/>
        </pc:sldMkLst>
        <pc:spChg chg="mod">
          <ac:chgData name="Selva, Jorge" userId="c1a77cdc-26a4-48a1-b565-b21e42cdab32" providerId="ADAL" clId="{3DF75C0D-D42D-4158-8F9E-80D76BF1B9F0}" dt="2025-04-07T01:01:43.068" v="73" actId="20577"/>
          <ac:spMkLst>
            <pc:docMk/>
            <pc:sldMk cId="0" sldId="262"/>
            <ac:spMk id="3" creationId="{00000000-0000-0000-0000-000000000000}"/>
          </ac:spMkLst>
        </pc:spChg>
      </pc:sldChg>
      <pc:sldChg chg="modSp del mod">
        <pc:chgData name="Selva, Jorge" userId="c1a77cdc-26a4-48a1-b565-b21e42cdab32" providerId="ADAL" clId="{3DF75C0D-D42D-4158-8F9E-80D76BF1B9F0}" dt="2025-04-07T05:19:56.130" v="412" actId="47"/>
        <pc:sldMkLst>
          <pc:docMk/>
          <pc:sldMk cId="0" sldId="263"/>
        </pc:sldMkLst>
        <pc:spChg chg="mod">
          <ac:chgData name="Selva, Jorge" userId="c1a77cdc-26a4-48a1-b565-b21e42cdab32" providerId="ADAL" clId="{3DF75C0D-D42D-4158-8F9E-80D76BF1B9F0}" dt="2025-04-07T01:01:54.858" v="77" actId="20577"/>
          <ac:spMkLst>
            <pc:docMk/>
            <pc:sldMk cId="0" sldId="263"/>
            <ac:spMk id="3" creationId="{00000000-0000-0000-0000-000000000000}"/>
          </ac:spMkLst>
        </pc:spChg>
      </pc:sldChg>
      <pc:sldChg chg="modSp mod modNotesTx">
        <pc:chgData name="Selva, Jorge" userId="c1a77cdc-26a4-48a1-b565-b21e42cdab32" providerId="ADAL" clId="{3DF75C0D-D42D-4158-8F9E-80D76BF1B9F0}" dt="2025-04-07T04:35:11.344" v="97" actId="1037"/>
        <pc:sldMkLst>
          <pc:docMk/>
          <pc:sldMk cId="4071549464" sldId="287"/>
        </pc:sldMkLst>
        <pc:spChg chg="mod">
          <ac:chgData name="Selva, Jorge" userId="c1a77cdc-26a4-48a1-b565-b21e42cdab32" providerId="ADAL" clId="{3DF75C0D-D42D-4158-8F9E-80D76BF1B9F0}" dt="2025-04-07T04:35:11.344" v="97" actId="1037"/>
          <ac:spMkLst>
            <pc:docMk/>
            <pc:sldMk cId="4071549464" sldId="287"/>
            <ac:spMk id="60421" creationId="{00000000-0000-0000-0000-000000000000}"/>
          </ac:spMkLst>
        </pc:spChg>
      </pc:sldChg>
      <pc:sldChg chg="modSp mod modNotesTx">
        <pc:chgData name="Selva, Jorge" userId="c1a77cdc-26a4-48a1-b565-b21e42cdab32" providerId="ADAL" clId="{3DF75C0D-D42D-4158-8F9E-80D76BF1B9F0}" dt="2025-04-07T05:02:10.702" v="351" actId="688"/>
        <pc:sldMkLst>
          <pc:docMk/>
          <pc:sldMk cId="323666227" sldId="288"/>
        </pc:sldMkLst>
        <pc:spChg chg="mod">
          <ac:chgData name="Selva, Jorge" userId="c1a77cdc-26a4-48a1-b565-b21e42cdab32" providerId="ADAL" clId="{3DF75C0D-D42D-4158-8F9E-80D76BF1B9F0}" dt="2025-04-07T04:35:49.725" v="98" actId="113"/>
          <ac:spMkLst>
            <pc:docMk/>
            <pc:sldMk cId="323666227" sldId="288"/>
            <ac:spMk id="86021" creationId="{00000000-0000-0000-0000-000000000000}"/>
          </ac:spMkLst>
        </pc:spChg>
        <pc:spChg chg="mod">
          <ac:chgData name="Selva, Jorge" userId="c1a77cdc-26a4-48a1-b565-b21e42cdab32" providerId="ADAL" clId="{3DF75C0D-D42D-4158-8F9E-80D76BF1B9F0}" dt="2025-04-07T05:01:20.043" v="346" actId="115"/>
          <ac:spMkLst>
            <pc:docMk/>
            <pc:sldMk cId="323666227" sldId="288"/>
            <ac:spMk id="86022" creationId="{00000000-0000-0000-0000-000000000000}"/>
          </ac:spMkLst>
        </pc:spChg>
        <pc:picChg chg="mod">
          <ac:chgData name="Selva, Jorge" userId="c1a77cdc-26a4-48a1-b565-b21e42cdab32" providerId="ADAL" clId="{3DF75C0D-D42D-4158-8F9E-80D76BF1B9F0}" dt="2025-04-07T05:02:10.702" v="351" actId="688"/>
          <ac:picMkLst>
            <pc:docMk/>
            <pc:sldMk cId="323666227" sldId="288"/>
            <ac:picMk id="5" creationId="{00000000-0000-0000-0000-000000000000}"/>
          </ac:picMkLst>
        </pc:picChg>
      </pc:sldChg>
      <pc:sldChg chg="addSp modSp mod modNotesTx">
        <pc:chgData name="Selva, Jorge" userId="c1a77cdc-26a4-48a1-b565-b21e42cdab32" providerId="ADAL" clId="{3DF75C0D-D42D-4158-8F9E-80D76BF1B9F0}" dt="2025-04-07T10:01:16.695" v="515" actId="20577"/>
        <pc:sldMkLst>
          <pc:docMk/>
          <pc:sldMk cId="2256366140" sldId="289"/>
        </pc:sldMkLst>
        <pc:spChg chg="add mod ord">
          <ac:chgData name="Selva, Jorge" userId="c1a77cdc-26a4-48a1-b565-b21e42cdab32" providerId="ADAL" clId="{3DF75C0D-D42D-4158-8F9E-80D76BF1B9F0}" dt="2025-04-07T05:08:43.045" v="369" actId="167"/>
          <ac:spMkLst>
            <pc:docMk/>
            <pc:sldMk cId="2256366140" sldId="289"/>
            <ac:spMk id="2" creationId="{F70AD54A-9A51-42E5-9024-8912C4656316}"/>
          </ac:spMkLst>
        </pc:spChg>
        <pc:spChg chg="add mod">
          <ac:chgData name="Selva, Jorge" userId="c1a77cdc-26a4-48a1-b565-b21e42cdab32" providerId="ADAL" clId="{3DF75C0D-D42D-4158-8F9E-80D76BF1B9F0}" dt="2025-04-07T10:01:16.695" v="515" actId="20577"/>
          <ac:spMkLst>
            <pc:docMk/>
            <pc:sldMk cId="2256366140" sldId="289"/>
            <ac:spMk id="3" creationId="{0F25DA27-3688-4B74-A198-41B43B316528}"/>
          </ac:spMkLst>
        </pc:spChg>
        <pc:grpChg chg="mod">
          <ac:chgData name="Selva, Jorge" userId="c1a77cdc-26a4-48a1-b565-b21e42cdab32" providerId="ADAL" clId="{3DF75C0D-D42D-4158-8F9E-80D76BF1B9F0}" dt="2025-04-07T05:03:12.239" v="353" actId="14100"/>
          <ac:grpSpMkLst>
            <pc:docMk/>
            <pc:sldMk cId="2256366140" sldId="289"/>
            <ac:grpSpMk id="62467" creationId="{00000000-0000-0000-0000-000000000000}"/>
          </ac:grpSpMkLst>
        </pc:grpChg>
      </pc:sldChg>
      <pc:sldChg chg="modSp mod modNotesTx">
        <pc:chgData name="Selva, Jorge" userId="c1a77cdc-26a4-48a1-b565-b21e42cdab32" providerId="ADAL" clId="{3DF75C0D-D42D-4158-8F9E-80D76BF1B9F0}" dt="2025-04-07T05:12:27.739" v="394" actId="20577"/>
        <pc:sldMkLst>
          <pc:docMk/>
          <pc:sldMk cId="768390985" sldId="290"/>
        </pc:sldMkLst>
        <pc:spChg chg="mod">
          <ac:chgData name="Selva, Jorge" userId="c1a77cdc-26a4-48a1-b565-b21e42cdab32" providerId="ADAL" clId="{3DF75C0D-D42D-4158-8F9E-80D76BF1B9F0}" dt="2025-04-07T04:36:19.579" v="99" actId="113"/>
          <ac:spMkLst>
            <pc:docMk/>
            <pc:sldMk cId="768390985" sldId="290"/>
            <ac:spMk id="64516" creationId="{00000000-0000-0000-0000-000000000000}"/>
          </ac:spMkLst>
        </pc:spChg>
      </pc:sldChg>
      <pc:sldChg chg="addSp modSp mod modNotesTx">
        <pc:chgData name="Selva, Jorge" userId="c1a77cdc-26a4-48a1-b565-b21e42cdab32" providerId="ADAL" clId="{3DF75C0D-D42D-4158-8F9E-80D76BF1B9F0}" dt="2025-04-07T10:21:18.777" v="596" actId="115"/>
        <pc:sldMkLst>
          <pc:docMk/>
          <pc:sldMk cId="2758391404" sldId="291"/>
        </pc:sldMkLst>
        <pc:spChg chg="add mod">
          <ac:chgData name="Selva, Jorge" userId="c1a77cdc-26a4-48a1-b565-b21e42cdab32" providerId="ADAL" clId="{3DF75C0D-D42D-4158-8F9E-80D76BF1B9F0}" dt="2025-04-07T09:59:48.448" v="512" actId="115"/>
          <ac:spMkLst>
            <pc:docMk/>
            <pc:sldMk cId="2758391404" sldId="291"/>
            <ac:spMk id="2" creationId="{8343B74B-F8E3-4C18-A13E-FABA474CA40B}"/>
          </ac:spMkLst>
        </pc:spChg>
        <pc:spChg chg="mod">
          <ac:chgData name="Selva, Jorge" userId="c1a77cdc-26a4-48a1-b565-b21e42cdab32" providerId="ADAL" clId="{3DF75C0D-D42D-4158-8F9E-80D76BF1B9F0}" dt="2025-04-07T05:28:09.679" v="478" actId="115"/>
          <ac:spMkLst>
            <pc:docMk/>
            <pc:sldMk cId="2758391404" sldId="291"/>
            <ac:spMk id="66565" creationId="{00000000-0000-0000-0000-000000000000}"/>
          </ac:spMkLst>
        </pc:spChg>
        <pc:spChg chg="mod">
          <ac:chgData name="Selva, Jorge" userId="c1a77cdc-26a4-48a1-b565-b21e42cdab32" providerId="ADAL" clId="{3DF75C0D-D42D-4158-8F9E-80D76BF1B9F0}" dt="2025-04-07T10:21:18.777" v="596" actId="115"/>
          <ac:spMkLst>
            <pc:docMk/>
            <pc:sldMk cId="2758391404" sldId="291"/>
            <ac:spMk id="66566" creationId="{00000000-0000-0000-0000-000000000000}"/>
          </ac:spMkLst>
        </pc:spChg>
      </pc:sldChg>
      <pc:sldChg chg="modSp mod">
        <pc:chgData name="Selva, Jorge" userId="c1a77cdc-26a4-48a1-b565-b21e42cdab32" providerId="ADAL" clId="{3DF75C0D-D42D-4158-8F9E-80D76BF1B9F0}" dt="2025-04-07T05:28:27.091" v="479" actId="115"/>
        <pc:sldMkLst>
          <pc:docMk/>
          <pc:sldMk cId="593982948" sldId="292"/>
        </pc:sldMkLst>
        <pc:spChg chg="mod">
          <ac:chgData name="Selva, Jorge" userId="c1a77cdc-26a4-48a1-b565-b21e42cdab32" providerId="ADAL" clId="{3DF75C0D-D42D-4158-8F9E-80D76BF1B9F0}" dt="2025-04-07T05:28:27.091" v="479" actId="115"/>
          <ac:spMkLst>
            <pc:docMk/>
            <pc:sldMk cId="593982948" sldId="292"/>
            <ac:spMk id="68611" creationId="{00000000-0000-0000-0000-000000000000}"/>
          </ac:spMkLst>
        </pc:spChg>
      </pc:sldChg>
      <pc:sldChg chg="modSp mod modNotesTx">
        <pc:chgData name="Selva, Jorge" userId="c1a77cdc-26a4-48a1-b565-b21e42cdab32" providerId="ADAL" clId="{3DF75C0D-D42D-4158-8F9E-80D76BF1B9F0}" dt="2025-04-07T10:05:18.136" v="549" actId="114"/>
        <pc:sldMkLst>
          <pc:docMk/>
          <pc:sldMk cId="1127515038" sldId="293"/>
        </pc:sldMkLst>
        <pc:spChg chg="mod">
          <ac:chgData name="Selva, Jorge" userId="c1a77cdc-26a4-48a1-b565-b21e42cdab32" providerId="ADAL" clId="{3DF75C0D-D42D-4158-8F9E-80D76BF1B9F0}" dt="2025-04-07T10:05:18.136" v="549" actId="114"/>
          <ac:spMkLst>
            <pc:docMk/>
            <pc:sldMk cId="1127515038" sldId="293"/>
            <ac:spMk id="70660" creationId="{00000000-0000-0000-0000-000000000000}"/>
          </ac:spMkLst>
        </pc:spChg>
      </pc:sldChg>
      <pc:sldChg chg="addSp modSp mod">
        <pc:chgData name="Selva, Jorge" userId="c1a77cdc-26a4-48a1-b565-b21e42cdab32" providerId="ADAL" clId="{3DF75C0D-D42D-4158-8F9E-80D76BF1B9F0}" dt="2025-04-07T10:18:24.558" v="592" actId="688"/>
        <pc:sldMkLst>
          <pc:docMk/>
          <pc:sldMk cId="821708374" sldId="301"/>
        </pc:sldMkLst>
        <pc:spChg chg="add mod">
          <ac:chgData name="Selva, Jorge" userId="c1a77cdc-26a4-48a1-b565-b21e42cdab32" providerId="ADAL" clId="{3DF75C0D-D42D-4158-8F9E-80D76BF1B9F0}" dt="2025-04-07T10:18:24.558" v="592" actId="688"/>
          <ac:spMkLst>
            <pc:docMk/>
            <pc:sldMk cId="821708374" sldId="301"/>
            <ac:spMk id="4" creationId="{57BB0C85-9322-450F-B438-A5F9CAC26C78}"/>
          </ac:spMkLst>
        </pc:spChg>
      </pc:sldChg>
      <pc:sldChg chg="modSp mod modNotesTx">
        <pc:chgData name="Selva, Jorge" userId="c1a77cdc-26a4-48a1-b565-b21e42cdab32" providerId="ADAL" clId="{3DF75C0D-D42D-4158-8F9E-80D76BF1B9F0}" dt="2025-04-07T05:16:10.185" v="410" actId="115"/>
        <pc:sldMkLst>
          <pc:docMk/>
          <pc:sldMk cId="2865500388" sldId="329"/>
        </pc:sldMkLst>
        <pc:spChg chg="mod">
          <ac:chgData name="Selva, Jorge" userId="c1a77cdc-26a4-48a1-b565-b21e42cdab32" providerId="ADAL" clId="{3DF75C0D-D42D-4158-8F9E-80D76BF1B9F0}" dt="2025-04-07T05:13:06.125" v="395" actId="14100"/>
          <ac:spMkLst>
            <pc:docMk/>
            <pc:sldMk cId="2865500388" sldId="329"/>
            <ac:spMk id="2" creationId="{AF207AF9-267E-416C-985F-4CF0755F2B7F}"/>
          </ac:spMkLst>
        </pc:spChg>
        <pc:picChg chg="mod">
          <ac:chgData name="Selva, Jorge" userId="c1a77cdc-26a4-48a1-b565-b21e42cdab32" providerId="ADAL" clId="{3DF75C0D-D42D-4158-8F9E-80D76BF1B9F0}" dt="2025-04-07T05:13:16.101" v="399" actId="1038"/>
          <ac:picMkLst>
            <pc:docMk/>
            <pc:sldMk cId="2865500388" sldId="329"/>
            <ac:picMk id="5" creationId="{37E97682-A7EA-4F98-82DC-F923927290C9}"/>
          </ac:picMkLst>
        </pc:picChg>
      </pc:sldChg>
      <pc:sldChg chg="addSp modSp mod">
        <pc:chgData name="Selva, Jorge" userId="c1a77cdc-26a4-48a1-b565-b21e42cdab32" providerId="ADAL" clId="{3DF75C0D-D42D-4158-8F9E-80D76BF1B9F0}" dt="2025-04-07T10:10:34.762" v="565" actId="1036"/>
        <pc:sldMkLst>
          <pc:docMk/>
          <pc:sldMk cId="2399316773" sldId="330"/>
        </pc:sldMkLst>
        <pc:spChg chg="add mod ord">
          <ac:chgData name="Selva, Jorge" userId="c1a77cdc-26a4-48a1-b565-b21e42cdab32" providerId="ADAL" clId="{3DF75C0D-D42D-4158-8F9E-80D76BF1B9F0}" dt="2025-04-07T10:10:34.762" v="565" actId="1036"/>
          <ac:spMkLst>
            <pc:docMk/>
            <pc:sldMk cId="2399316773" sldId="330"/>
            <ac:spMk id="3" creationId="{0FC062EB-40D4-417E-AC20-E1E8C933CE52}"/>
          </ac:spMkLst>
        </pc:spChg>
        <pc:picChg chg="mod">
          <ac:chgData name="Selva, Jorge" userId="c1a77cdc-26a4-48a1-b565-b21e42cdab32" providerId="ADAL" clId="{3DF75C0D-D42D-4158-8F9E-80D76BF1B9F0}" dt="2025-04-07T10:09:57.078" v="560" actId="1037"/>
          <ac:picMkLst>
            <pc:docMk/>
            <pc:sldMk cId="2399316773" sldId="330"/>
            <ac:picMk id="5" creationId="{019B3504-A59B-49BC-BFA1-B1440CF9F64A}"/>
          </ac:picMkLst>
        </pc:picChg>
      </pc:sldChg>
      <pc:sldChg chg="delSp mod">
        <pc:chgData name="Selva, Jorge" userId="c1a77cdc-26a4-48a1-b565-b21e42cdab32" providerId="ADAL" clId="{3DF75C0D-D42D-4158-8F9E-80D76BF1B9F0}" dt="2025-04-07T10:19:05.579" v="593" actId="478"/>
        <pc:sldMkLst>
          <pc:docMk/>
          <pc:sldMk cId="0" sldId="340"/>
        </pc:sldMkLst>
        <pc:spChg chg="del">
          <ac:chgData name="Selva, Jorge" userId="c1a77cdc-26a4-48a1-b565-b21e42cdab32" providerId="ADAL" clId="{3DF75C0D-D42D-4158-8F9E-80D76BF1B9F0}" dt="2025-04-07T10:19:05.579" v="593" actId="478"/>
          <ac:spMkLst>
            <pc:docMk/>
            <pc:sldMk cId="0" sldId="340"/>
            <ac:spMk id="2" creationId="{F2DF3869-9D4B-489D-B77F-1372E2F83BA1}"/>
          </ac:spMkLst>
        </pc:spChg>
      </pc:sldChg>
      <pc:sldChg chg="addSp delSp modSp del modNotesTx">
        <pc:chgData name="Selva, Jorge" userId="c1a77cdc-26a4-48a1-b565-b21e42cdab32" providerId="ADAL" clId="{3DF75C0D-D42D-4158-8F9E-80D76BF1B9F0}" dt="2025-04-07T05:19:56.130" v="412" actId="47"/>
        <pc:sldMkLst>
          <pc:docMk/>
          <pc:sldMk cId="3568395215" sldId="342"/>
        </pc:sldMkLst>
        <pc:spChg chg="del">
          <ac:chgData name="Selva, Jorge" userId="c1a77cdc-26a4-48a1-b565-b21e42cdab32" providerId="ADAL" clId="{3DF75C0D-D42D-4158-8F9E-80D76BF1B9F0}" dt="2025-04-07T01:02:24.182" v="79" actId="478"/>
          <ac:spMkLst>
            <pc:docMk/>
            <pc:sldMk cId="3568395215" sldId="342"/>
            <ac:spMk id="2" creationId="{00000000-0000-0000-0000-000000000000}"/>
          </ac:spMkLst>
        </pc:spChg>
        <pc:spChg chg="del">
          <ac:chgData name="Selva, Jorge" userId="c1a77cdc-26a4-48a1-b565-b21e42cdab32" providerId="ADAL" clId="{3DF75C0D-D42D-4158-8F9E-80D76BF1B9F0}" dt="2025-04-07T01:02:22.123" v="78" actId="478"/>
          <ac:spMkLst>
            <pc:docMk/>
            <pc:sldMk cId="3568395215" sldId="342"/>
            <ac:spMk id="3" creationId="{00000000-0000-0000-0000-000000000000}"/>
          </ac:spMkLst>
        </pc:spChg>
        <pc:spChg chg="add del mod">
          <ac:chgData name="Selva, Jorge" userId="c1a77cdc-26a4-48a1-b565-b21e42cdab32" providerId="ADAL" clId="{3DF75C0D-D42D-4158-8F9E-80D76BF1B9F0}" dt="2025-04-07T01:02:27.751" v="81" actId="478"/>
          <ac:spMkLst>
            <pc:docMk/>
            <pc:sldMk cId="3568395215" sldId="342"/>
            <ac:spMk id="4" creationId="{C559DFFD-F1AF-41CF-8179-5A5C2CFCE4DF}"/>
          </ac:spMkLst>
        </pc:spChg>
        <pc:spChg chg="add del mod">
          <ac:chgData name="Selva, Jorge" userId="c1a77cdc-26a4-48a1-b565-b21e42cdab32" providerId="ADAL" clId="{3DF75C0D-D42D-4158-8F9E-80D76BF1B9F0}" dt="2025-04-07T01:02:26.181" v="80" actId="478"/>
          <ac:spMkLst>
            <pc:docMk/>
            <pc:sldMk cId="3568395215" sldId="342"/>
            <ac:spMk id="5" creationId="{BDA0C10D-AFCA-4E8C-A45A-4DE2CEA7D2B1}"/>
          </ac:spMkLst>
        </pc:spChg>
      </pc:sldChg>
      <pc:sldChg chg="modSp">
        <pc:chgData name="Selva, Jorge" userId="c1a77cdc-26a4-48a1-b565-b21e42cdab32" providerId="ADAL" clId="{3DF75C0D-D42D-4158-8F9E-80D76BF1B9F0}" dt="2025-04-07T05:22:42.842" v="443" actId="207"/>
        <pc:sldMkLst>
          <pc:docMk/>
          <pc:sldMk cId="713877101" sldId="343"/>
        </pc:sldMkLst>
        <pc:spChg chg="mod">
          <ac:chgData name="Selva, Jorge" userId="c1a77cdc-26a4-48a1-b565-b21e42cdab32" providerId="ADAL" clId="{3DF75C0D-D42D-4158-8F9E-80D76BF1B9F0}" dt="2025-04-07T05:22:42.842" v="443" actId="207"/>
          <ac:spMkLst>
            <pc:docMk/>
            <pc:sldMk cId="713877101" sldId="343"/>
            <ac:spMk id="2" creationId="{00000000-0000-0000-0000-000000000000}"/>
          </ac:spMkLst>
        </pc:spChg>
      </pc:sldChg>
      <pc:sldChg chg="modSp mod">
        <pc:chgData name="Selva, Jorge" userId="c1a77cdc-26a4-48a1-b565-b21e42cdab32" providerId="ADAL" clId="{3DF75C0D-D42D-4158-8F9E-80D76BF1B9F0}" dt="2025-04-07T05:24:14.830" v="475" actId="12"/>
        <pc:sldMkLst>
          <pc:docMk/>
          <pc:sldMk cId="2893408799" sldId="346"/>
        </pc:sldMkLst>
        <pc:spChg chg="mod">
          <ac:chgData name="Selva, Jorge" userId="c1a77cdc-26a4-48a1-b565-b21e42cdab32" providerId="ADAL" clId="{3DF75C0D-D42D-4158-8F9E-80D76BF1B9F0}" dt="2025-04-07T05:24:14.830" v="475" actId="12"/>
          <ac:spMkLst>
            <pc:docMk/>
            <pc:sldMk cId="2893408799" sldId="346"/>
            <ac:spMk id="3" creationId="{00000000-0000-0000-0000-000000000000}"/>
          </ac:spMkLst>
        </pc:spChg>
      </pc:sldChg>
      <pc:sldChg chg="del">
        <pc:chgData name="Selva, Jorge" userId="c1a77cdc-26a4-48a1-b565-b21e42cdab32" providerId="ADAL" clId="{3DF75C0D-D42D-4158-8F9E-80D76BF1B9F0}" dt="2025-04-07T05:19:30.389" v="411" actId="47"/>
        <pc:sldMkLst>
          <pc:docMk/>
          <pc:sldMk cId="1380614556" sldId="347"/>
        </pc:sldMkLst>
      </pc:sldChg>
      <pc:sldMasterChg chg="delSldLayout">
        <pc:chgData name="Selva, Jorge" userId="c1a77cdc-26a4-48a1-b565-b21e42cdab32" providerId="ADAL" clId="{3DF75C0D-D42D-4158-8F9E-80D76BF1B9F0}" dt="2025-04-07T05:19:56.130" v="412" actId="47"/>
        <pc:sldMasterMkLst>
          <pc:docMk/>
          <pc:sldMasterMk cId="0" sldId="2147483650"/>
        </pc:sldMasterMkLst>
        <pc:sldLayoutChg chg="del">
          <pc:chgData name="Selva, Jorge" userId="c1a77cdc-26a4-48a1-b565-b21e42cdab32" providerId="ADAL" clId="{3DF75C0D-D42D-4158-8F9E-80D76BF1B9F0}" dt="2025-04-07T05:19:56.130" v="412" actId="47"/>
          <pc:sldLayoutMkLst>
            <pc:docMk/>
            <pc:sldMasterMk cId="0" sldId="2147483650"/>
            <pc:sldLayoutMk cId="3248083812" sldId="214748369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dirty="0"/>
          </a:p>
        </p:txBody>
      </p:sp>
      <p:sp>
        <p:nvSpPr>
          <p:cNvPr id="112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dirty="0"/>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2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dirty="0"/>
          </a:p>
        </p:txBody>
      </p:sp>
      <p:sp>
        <p:nvSpPr>
          <p:cNvPr id="112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237E3A48-5816-4407-BD05-29482C893C3E}" type="slidenum">
              <a:rPr lang="en-US" altLang="en-US"/>
              <a:pPr/>
              <a:t>‹#›</a:t>
            </a:fld>
            <a:endParaRPr lang="en-US" altLang="en-US" dirty="0"/>
          </a:p>
        </p:txBody>
      </p:sp>
    </p:spTree>
    <p:extLst>
      <p:ext uri="{BB962C8B-B14F-4D97-AF65-F5344CB8AC3E}">
        <p14:creationId xmlns:p14="http://schemas.microsoft.com/office/powerpoint/2010/main" val="309790726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a:ea typeface="+mn-ea"/>
        <a:cs typeface="+mn-cs"/>
      </a:defRPr>
    </a:lvl1pPr>
    <a:lvl2pPr marL="457200" algn="l" rtl="0" fontAlgn="base">
      <a:spcBef>
        <a:spcPct val="30000"/>
      </a:spcBef>
      <a:spcAft>
        <a:spcPct val="0"/>
      </a:spcAft>
      <a:defRPr sz="1200" kern="1200">
        <a:solidFill>
          <a:schemeClr val="tx1"/>
        </a:solidFill>
        <a:latin typeface="Times"/>
        <a:ea typeface="+mn-ea"/>
        <a:cs typeface="+mn-cs"/>
      </a:defRPr>
    </a:lvl2pPr>
    <a:lvl3pPr marL="914400" algn="l" rtl="0" fontAlgn="base">
      <a:spcBef>
        <a:spcPct val="30000"/>
      </a:spcBef>
      <a:spcAft>
        <a:spcPct val="0"/>
      </a:spcAft>
      <a:defRPr sz="1200" kern="1200">
        <a:solidFill>
          <a:schemeClr val="tx1"/>
        </a:solidFill>
        <a:latin typeface="Times"/>
        <a:ea typeface="+mn-ea"/>
        <a:cs typeface="+mn-cs"/>
      </a:defRPr>
    </a:lvl3pPr>
    <a:lvl4pPr marL="1371600" algn="l" rtl="0" fontAlgn="base">
      <a:spcBef>
        <a:spcPct val="30000"/>
      </a:spcBef>
      <a:spcAft>
        <a:spcPct val="0"/>
      </a:spcAft>
      <a:defRPr sz="1200" kern="1200">
        <a:solidFill>
          <a:schemeClr val="tx1"/>
        </a:solidFill>
        <a:latin typeface="Times"/>
        <a:ea typeface="+mn-ea"/>
        <a:cs typeface="+mn-cs"/>
      </a:defRPr>
    </a:lvl4pPr>
    <a:lvl5pPr marL="1828800" algn="l" rtl="0" fontAlgn="base">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F1C8950-4EAD-475C-8143-D3C582BC5981}"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476777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BEA190-9BE1-4222-B018-6E1DE5058083}" type="slidenum">
              <a:rPr lang="en-US" smtClean="0"/>
              <a:pPr/>
              <a:t>2</a:t>
            </a:fld>
            <a:endParaRPr lang="en-US" dirty="0"/>
          </a:p>
        </p:txBody>
      </p:sp>
    </p:spTree>
    <p:extLst>
      <p:ext uri="{BB962C8B-B14F-4D97-AF65-F5344CB8AC3E}">
        <p14:creationId xmlns:p14="http://schemas.microsoft.com/office/powerpoint/2010/main" val="289581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BEA190-9BE1-4222-B018-6E1DE5058083}" type="slidenum">
              <a:rPr lang="en-US" smtClean="0"/>
              <a:pPr/>
              <a:t>3</a:t>
            </a:fld>
            <a:endParaRPr lang="en-US" dirty="0"/>
          </a:p>
        </p:txBody>
      </p:sp>
    </p:spTree>
    <p:extLst>
      <p:ext uri="{BB962C8B-B14F-4D97-AF65-F5344CB8AC3E}">
        <p14:creationId xmlns:p14="http://schemas.microsoft.com/office/powerpoint/2010/main" val="2012246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Assessing the success of a sales organization is difficult because so many factors must be considered</a:t>
            </a:r>
            <a:r>
              <a:rPr lang="en-US" dirty="0"/>
              <a:t>. For example, the success of the sales organization must be differentiated from the success of individual salespeople (see Figure above). </a:t>
            </a:r>
          </a:p>
          <a:p>
            <a:endParaRPr lang="en-US" dirty="0"/>
          </a:p>
          <a:p>
            <a:r>
              <a:rPr lang="en-US" dirty="0"/>
              <a:t>Whereas </a:t>
            </a:r>
            <a:r>
              <a:rPr lang="en-US" b="1" dirty="0"/>
              <a:t>sales organization effectiveness is a function of how well the sales organization achieved its goals and objectives overall</a:t>
            </a:r>
            <a:r>
              <a:rPr lang="en-US" dirty="0"/>
              <a:t>, </a:t>
            </a:r>
            <a:r>
              <a:rPr lang="en-US" b="1" i="1" dirty="0"/>
              <a:t>salesperson performance is a function of how well each salesperson performed in his or her particular situation</a:t>
            </a:r>
            <a:r>
              <a:rPr lang="en-US" dirty="0"/>
              <a:t>. Thus, salesperson performance contributes to, but does not completely determine, sales organization effectiveness.</a:t>
            </a:r>
          </a:p>
          <a:p>
            <a:endParaRPr lang="en-US" dirty="0"/>
          </a:p>
          <a:p>
            <a:r>
              <a:rPr lang="en-US" dirty="0"/>
              <a:t>The focus of the sales organization evaluation is on the overall sales organization—including management levels which comprise the sales organization: districts, regions, territories, and even sales teams.</a:t>
            </a:r>
          </a:p>
        </p:txBody>
      </p:sp>
      <p:sp>
        <p:nvSpPr>
          <p:cNvPr id="4" name="Slide Number Placeholder 3"/>
          <p:cNvSpPr>
            <a:spLocks noGrp="1"/>
          </p:cNvSpPr>
          <p:nvPr>
            <p:ph type="sldNum" sz="quarter" idx="10"/>
          </p:nvPr>
        </p:nvSpPr>
        <p:spPr/>
        <p:txBody>
          <a:bodyPr/>
          <a:lstStyle/>
          <a:p>
            <a:fld id="{86BEA190-9BE1-4222-B018-6E1DE5058083}" type="slidenum">
              <a:rPr lang="en-US" smtClean="0"/>
              <a:pPr/>
              <a:t>4</a:t>
            </a:fld>
            <a:endParaRPr lang="en-US" dirty="0"/>
          </a:p>
        </p:txBody>
      </p:sp>
    </p:spTree>
    <p:extLst>
      <p:ext uri="{BB962C8B-B14F-4D97-AF65-F5344CB8AC3E}">
        <p14:creationId xmlns:p14="http://schemas.microsoft.com/office/powerpoint/2010/main" val="4196906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8535A9F-AB73-44D1-8C1C-0FD6040B65E3}" type="slidenum">
              <a:rPr lang="en-US"/>
              <a:pPr/>
              <a:t>5</a:t>
            </a:fld>
            <a:endParaRPr lang="en-US" dirty="0"/>
          </a:p>
        </p:txBody>
      </p:sp>
      <p:sp>
        <p:nvSpPr>
          <p:cNvPr id="2457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2457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3</a:t>
            </a:r>
          </a:p>
        </p:txBody>
      </p:sp>
      <p:sp>
        <p:nvSpPr>
          <p:cNvPr id="2458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2458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24582" name="Rectangle 6"/>
          <p:cNvSpPr>
            <a:spLocks noGrp="1" noRot="1" noChangeAspect="1" noChangeArrowheads="1" noTextEdit="1"/>
          </p:cNvSpPr>
          <p:nvPr>
            <p:ph type="sldImg"/>
          </p:nvPr>
        </p:nvSpPr>
        <p:spPr>
          <a:xfrm>
            <a:off x="1150938" y="692150"/>
            <a:ext cx="4556125" cy="3416300"/>
          </a:xfrm>
          <a:ln w="12700" cap="flat"/>
        </p:spPr>
      </p:sp>
      <p:sp>
        <p:nvSpPr>
          <p:cNvPr id="24583" name="Rectangle 7"/>
          <p:cNvSpPr>
            <a:spLocks noGrp="1" noChangeArrowheads="1"/>
          </p:cNvSpPr>
          <p:nvPr>
            <p:ph type="body" idx="1"/>
          </p:nvPr>
        </p:nvSpPr>
        <p:spPr>
          <a:xfrm>
            <a:off x="914400" y="4343400"/>
            <a:ext cx="5029200" cy="4114800"/>
          </a:xfrm>
          <a:ln/>
        </p:spPr>
        <p:txBody>
          <a:bodyPr lIns="90488" tIns="44450" rIns="90488" bIns="44450"/>
          <a:lstStyle/>
          <a:p>
            <a:r>
              <a:rPr lang="en-US" b="1" dirty="0"/>
              <a:t>The purpose of a sales organization audit is to assess the adequacy of a firm’s sales management process and to provide direction for improved performance and prescription for needed changes</a:t>
            </a:r>
            <a:r>
              <a:rPr lang="en-US" dirty="0"/>
              <a:t>. It is a tool that should be used by all firms whether or not they are achieving their goals.</a:t>
            </a:r>
          </a:p>
        </p:txBody>
      </p:sp>
    </p:spTree>
    <p:extLst>
      <p:ext uri="{BB962C8B-B14F-4D97-AF65-F5344CB8AC3E}">
        <p14:creationId xmlns:p14="http://schemas.microsoft.com/office/powerpoint/2010/main" val="1491999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8535A9F-AB73-44D1-8C1C-0FD6040B65E3}" type="slidenum">
              <a:rPr lang="en-US"/>
              <a:pPr/>
              <a:t>6</a:t>
            </a:fld>
            <a:endParaRPr lang="en-US" dirty="0"/>
          </a:p>
        </p:txBody>
      </p:sp>
      <p:sp>
        <p:nvSpPr>
          <p:cNvPr id="2457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2457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3</a:t>
            </a:r>
          </a:p>
        </p:txBody>
      </p:sp>
      <p:sp>
        <p:nvSpPr>
          <p:cNvPr id="2458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2458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24582" name="Rectangle 6"/>
          <p:cNvSpPr>
            <a:spLocks noGrp="1" noRot="1" noChangeAspect="1" noChangeArrowheads="1" noTextEdit="1"/>
          </p:cNvSpPr>
          <p:nvPr>
            <p:ph type="sldImg"/>
          </p:nvPr>
        </p:nvSpPr>
        <p:spPr>
          <a:xfrm>
            <a:off x="1150938" y="692150"/>
            <a:ext cx="4556125" cy="3416300"/>
          </a:xfrm>
          <a:ln w="12700" cap="flat"/>
        </p:spPr>
      </p:sp>
      <p:sp>
        <p:nvSpPr>
          <p:cNvPr id="24583" name="Rectangle 7"/>
          <p:cNvSpPr>
            <a:spLocks noGrp="1" noChangeArrowheads="1"/>
          </p:cNvSpPr>
          <p:nvPr>
            <p:ph type="body" idx="1"/>
          </p:nvPr>
        </p:nvSpPr>
        <p:spPr>
          <a:xfrm>
            <a:off x="914400" y="4343400"/>
            <a:ext cx="5029200" cy="4114800"/>
          </a:xfrm>
          <a:ln/>
        </p:spPr>
        <p:txBody>
          <a:bodyPr lIns="90488" tIns="44450" rIns="90488" bIns="44450"/>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For example, the </a:t>
            </a:r>
            <a:r>
              <a:rPr lang="en-US" b="1" dirty="0"/>
              <a:t>more effective sales organizations generated much higher sales per salesperson </a:t>
            </a:r>
            <a:r>
              <a:rPr lang="en-US" dirty="0"/>
              <a:t>($3,988,000 versus $1,755,000) and </a:t>
            </a:r>
            <a:r>
              <a:rPr lang="en-US" b="1" dirty="0"/>
              <a:t>much lower selling expenses as a percentage of sales</a:t>
            </a:r>
            <a:r>
              <a:rPr lang="en-US" dirty="0"/>
              <a:t> (13 percent versus 18 percent) than the less effective sales organizations. The salespeople in the more effective organizations also outperformed salespeople in the less effective ones in several areas. However, the differences in salesperson performance were not sufficient to completely explain the differences in sales organization effectiveness. Thus, sales organization effectiveness is the result of salesperson performance as well as many other factors (e.g., sales organization structure and deployment and sales management performance).</a:t>
            </a:r>
          </a:p>
          <a:p>
            <a:endParaRPr lang="en-US" dirty="0"/>
          </a:p>
        </p:txBody>
      </p:sp>
    </p:spTree>
    <p:extLst>
      <p:ext uri="{BB962C8B-B14F-4D97-AF65-F5344CB8AC3E}">
        <p14:creationId xmlns:p14="http://schemas.microsoft.com/office/powerpoint/2010/main" val="1801198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4BA59470-2D41-4536-892E-3879B9799A31}" type="slidenum">
              <a:rPr lang="en-US"/>
              <a:pPr/>
              <a:t>7</a:t>
            </a:fld>
            <a:endParaRPr lang="en-US" dirty="0"/>
          </a:p>
        </p:txBody>
      </p:sp>
      <p:sp>
        <p:nvSpPr>
          <p:cNvPr id="2662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2662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4</a:t>
            </a:r>
          </a:p>
        </p:txBody>
      </p:sp>
      <p:sp>
        <p:nvSpPr>
          <p:cNvPr id="2662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2662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26630" name="Rectangle 6"/>
          <p:cNvSpPr>
            <a:spLocks noGrp="1" noRot="1" noChangeAspect="1" noChangeArrowheads="1" noTextEdit="1"/>
          </p:cNvSpPr>
          <p:nvPr>
            <p:ph type="sldImg"/>
          </p:nvPr>
        </p:nvSpPr>
        <p:spPr>
          <a:xfrm>
            <a:off x="1150938" y="692150"/>
            <a:ext cx="4556125" cy="3416300"/>
          </a:xfrm>
          <a:ln w="12700" cap="flat"/>
        </p:spPr>
      </p:sp>
      <p:sp>
        <p:nvSpPr>
          <p:cNvPr id="26631" name="Rectangle 7"/>
          <p:cNvSpPr>
            <a:spLocks noGrp="1" noChangeArrowheads="1"/>
          </p:cNvSpPr>
          <p:nvPr>
            <p:ph type="body" idx="1"/>
          </p:nvPr>
        </p:nvSpPr>
        <p:spPr>
          <a:xfrm>
            <a:off x="914400" y="4343400"/>
            <a:ext cx="5029200" cy="4114800"/>
          </a:xfrm>
          <a:ln/>
        </p:spPr>
        <p:txBody>
          <a:bodyPr lIns="90488" tIns="44450" rIns="90488" bIns="44450"/>
          <a:lstStyle/>
          <a:p>
            <a:r>
              <a:rPr lang="en-US" dirty="0"/>
              <a:t>As indicated in the figure, </a:t>
            </a:r>
            <a:r>
              <a:rPr lang="en-US" u="sng" dirty="0"/>
              <a:t>the audit addresses four major areas</a:t>
            </a:r>
            <a:r>
              <a:rPr lang="en-US" dirty="0"/>
              <a:t>: </a:t>
            </a:r>
            <a:r>
              <a:rPr lang="en-US" b="1" dirty="0"/>
              <a:t>sales organization environment</a:t>
            </a:r>
            <a:r>
              <a:rPr lang="en-US" dirty="0"/>
              <a:t>, </a:t>
            </a:r>
            <a:r>
              <a:rPr lang="en-US" b="1" dirty="0"/>
              <a:t>sales management evaluation</a:t>
            </a:r>
            <a:r>
              <a:rPr lang="en-US" dirty="0"/>
              <a:t>, </a:t>
            </a:r>
            <a:r>
              <a:rPr lang="en-US" b="1" dirty="0"/>
              <a:t>sales organization planning system</a:t>
            </a:r>
            <a:r>
              <a:rPr lang="en-US" dirty="0"/>
              <a:t>, and </a:t>
            </a:r>
            <a:r>
              <a:rPr lang="en-US" b="1" dirty="0"/>
              <a:t>sales management functions</a:t>
            </a:r>
            <a:r>
              <a:rPr lang="en-US" dirty="0"/>
              <a:t>. The purpose of the audit is to investigate, systematically and comprehensively, each of these areas to identify existing or potential problems, determine their causes, and take the necessary corrective actions. For example, after having an agency conduct an audit, Guinness was able to redesign its salesforce to improve its structure and clarity. This resulted in a more motivated, focused, efficient, and subsequently higher-performing sales organization.</a:t>
            </a:r>
          </a:p>
        </p:txBody>
      </p:sp>
    </p:spTree>
    <p:extLst>
      <p:ext uri="{BB962C8B-B14F-4D97-AF65-F5344CB8AC3E}">
        <p14:creationId xmlns:p14="http://schemas.microsoft.com/office/powerpoint/2010/main" val="1574913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many sales organizations focus on sales analysis, evaluation of the customer experience (CX) is rapidly becoming a valuable indicator of sales organization effectiveness. This involves acquiring and analyzing data that covers the full spectrum of CX including customer satisfaction, customer loyalty/retention/churn, customer advocacy/reputation, quality, and employee engagement.</a:t>
            </a:r>
          </a:p>
        </p:txBody>
      </p:sp>
      <p:sp>
        <p:nvSpPr>
          <p:cNvPr id="4" name="Slide Number Placeholder 3"/>
          <p:cNvSpPr>
            <a:spLocks noGrp="1"/>
          </p:cNvSpPr>
          <p:nvPr>
            <p:ph type="sldNum" sz="quarter" idx="5"/>
          </p:nvPr>
        </p:nvSpPr>
        <p:spPr/>
        <p:txBody>
          <a:bodyPr/>
          <a:lstStyle/>
          <a:p>
            <a:fld id="{237E3A48-5816-4407-BD05-29482C893C3E}" type="slidenum">
              <a:rPr lang="en-US" altLang="en-US" smtClean="0"/>
              <a:pPr/>
              <a:t>8</a:t>
            </a:fld>
            <a:endParaRPr lang="en-US" altLang="en-US" dirty="0"/>
          </a:p>
        </p:txBody>
      </p:sp>
    </p:spTree>
    <p:extLst>
      <p:ext uri="{BB962C8B-B14F-4D97-AF65-F5344CB8AC3E}">
        <p14:creationId xmlns:p14="http://schemas.microsoft.com/office/powerpoint/2010/main" val="4283617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3F1E1AD9-97D5-4529-B873-D5EF4203CB91}" type="slidenum">
              <a:rPr lang="en-US"/>
              <a:pPr/>
              <a:t>9</a:t>
            </a:fld>
            <a:endParaRPr lang="en-US" dirty="0"/>
          </a:p>
        </p:txBody>
      </p:sp>
      <p:sp>
        <p:nvSpPr>
          <p:cNvPr id="327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327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5</a:t>
            </a:r>
          </a:p>
        </p:txBody>
      </p:sp>
      <p:sp>
        <p:nvSpPr>
          <p:cNvPr id="327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327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32774" name="Rectangle 6"/>
          <p:cNvSpPr>
            <a:spLocks noGrp="1" noRot="1" noChangeAspect="1" noChangeArrowheads="1" noTextEdit="1"/>
          </p:cNvSpPr>
          <p:nvPr>
            <p:ph type="sldImg"/>
          </p:nvPr>
        </p:nvSpPr>
        <p:spPr>
          <a:xfrm>
            <a:off x="1150938" y="692150"/>
            <a:ext cx="4556125" cy="3416300"/>
          </a:xfrm>
          <a:ln w="12700" cap="flat"/>
        </p:spPr>
      </p:sp>
      <p:sp>
        <p:nvSpPr>
          <p:cNvPr id="32775"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1296989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2D7B8C1C-8512-4998-A112-71B096DFA36A}" type="slidenum">
              <a:rPr lang="en-US"/>
              <a:pPr/>
              <a:t>10</a:t>
            </a:fld>
            <a:endParaRPr lang="en-US" dirty="0"/>
          </a:p>
        </p:txBody>
      </p:sp>
      <p:sp>
        <p:nvSpPr>
          <p:cNvPr id="3481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3481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5</a:t>
            </a:r>
          </a:p>
        </p:txBody>
      </p:sp>
      <p:sp>
        <p:nvSpPr>
          <p:cNvPr id="3482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3482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34822" name="Rectangle 6"/>
          <p:cNvSpPr>
            <a:spLocks noGrp="1" noRot="1" noChangeAspect="1" noChangeArrowheads="1" noTextEdit="1"/>
          </p:cNvSpPr>
          <p:nvPr>
            <p:ph type="sldImg"/>
          </p:nvPr>
        </p:nvSpPr>
        <p:spPr>
          <a:xfrm>
            <a:off x="1150938" y="692150"/>
            <a:ext cx="4556125" cy="3416300"/>
          </a:xfrm>
          <a:ln w="12700" cap="flat"/>
        </p:spPr>
      </p:sp>
      <p:sp>
        <p:nvSpPr>
          <p:cNvPr id="34823" name="Rectangle 7"/>
          <p:cNvSpPr>
            <a:spLocks noGrp="1" noChangeArrowheads="1"/>
          </p:cNvSpPr>
          <p:nvPr>
            <p:ph type="body" idx="1"/>
          </p:nvPr>
        </p:nvSpPr>
        <p:spPr>
          <a:xfrm>
            <a:off x="914400" y="4343400"/>
            <a:ext cx="5029200" cy="4114800"/>
          </a:xfrm>
          <a:ln/>
        </p:spPr>
        <p:txBody>
          <a:bodyPr lIns="90488" tIns="44450" rIns="90488" bIns="44450"/>
          <a:lstStyle/>
          <a:p>
            <a:r>
              <a:rPr lang="en-US" b="1" dirty="0"/>
              <a:t>Conducting analyses in each of these areas is a complex task </a:t>
            </a:r>
            <a:r>
              <a:rPr lang="en-US" dirty="0"/>
              <a:t>for two reasons. </a:t>
            </a:r>
            <a:r>
              <a:rPr lang="en-US" b="1" dirty="0"/>
              <a:t>First, many types of analyses can be performed to evaluate sales, cost, profitability, and productivity results</a:t>
            </a:r>
            <a:r>
              <a:rPr lang="en-US" dirty="0"/>
              <a:t>. For example, a sales analysis might focus on total sales, sales of specific products, sales to specific customers, or other types of sales and might include sales comparisons to sales quotas, to previous periods, to sales of competitors, or other types of analyses. </a:t>
            </a:r>
            <a:r>
              <a:rPr lang="en-US" b="1" dirty="0"/>
              <a:t>Second, separate sales analyses need to be performed for the different levels in the sales organization</a:t>
            </a:r>
            <a:r>
              <a:rPr lang="en-US" dirty="0"/>
              <a:t>. Thus, a typical evaluation would include separate sales analyses for sales zones, regions, districts, and territories.</a:t>
            </a:r>
          </a:p>
        </p:txBody>
      </p:sp>
    </p:spTree>
    <p:extLst>
      <p:ext uri="{BB962C8B-B14F-4D97-AF65-F5344CB8AC3E}">
        <p14:creationId xmlns:p14="http://schemas.microsoft.com/office/powerpoint/2010/main" val="3671276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E9BD9E58-1CD4-462E-BB9E-AA93A7EB32C8}" type="slidenum">
              <a:rPr lang="en-US"/>
              <a:pPr/>
              <a:t>11</a:t>
            </a:fld>
            <a:endParaRPr lang="en-US" dirty="0"/>
          </a:p>
        </p:txBody>
      </p:sp>
      <p:sp>
        <p:nvSpPr>
          <p:cNvPr id="3686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3686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9</a:t>
            </a:r>
          </a:p>
        </p:txBody>
      </p:sp>
      <p:sp>
        <p:nvSpPr>
          <p:cNvPr id="3686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3686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36870" name="Rectangle 6"/>
          <p:cNvSpPr>
            <a:spLocks noGrp="1" noRot="1" noChangeAspect="1" noChangeArrowheads="1" noTextEdit="1"/>
          </p:cNvSpPr>
          <p:nvPr>
            <p:ph type="sldImg"/>
          </p:nvPr>
        </p:nvSpPr>
        <p:spPr>
          <a:xfrm>
            <a:off x="1150938" y="692150"/>
            <a:ext cx="4556125" cy="3416300"/>
          </a:xfrm>
          <a:ln w="12700" cap="flat"/>
        </p:spPr>
      </p:sp>
      <p:sp>
        <p:nvSpPr>
          <p:cNvPr id="36871" name="Rectangle 7"/>
          <p:cNvSpPr>
            <a:spLocks noGrp="1" noChangeArrowheads="1"/>
          </p:cNvSpPr>
          <p:nvPr>
            <p:ph type="body" idx="1"/>
          </p:nvPr>
        </p:nvSpPr>
        <p:spPr>
          <a:xfrm>
            <a:off x="914400" y="4343400"/>
            <a:ext cx="5029200" cy="4114800"/>
          </a:xfrm>
          <a:ln/>
        </p:spPr>
        <p:txBody>
          <a:bodyPr lIns="90488" tIns="44450" rIns="90488" bIns="44450"/>
          <a:lstStyle/>
          <a:p>
            <a:r>
              <a:rPr lang="en-US" i="1" dirty="0"/>
              <a:t>Note:</a:t>
            </a:r>
            <a:r>
              <a:rPr lang="en-US" i="1" baseline="0" dirty="0"/>
              <a:t> This slide is constructed with layers.  It won’t print correctly, but it will play correctly in a slideshow.</a:t>
            </a:r>
          </a:p>
          <a:p>
            <a:r>
              <a:rPr lang="en-US" dirty="0"/>
              <a:t>Because the basic purpose of a sales organization is to generate sales, sales analysis is an obvious and important element of evaluating sales organization effectiveness. The difficulty, however, is in </a:t>
            </a:r>
            <a:r>
              <a:rPr lang="en-US" b="1" dirty="0"/>
              <a:t>determining exactly what should be analyzed</a:t>
            </a:r>
            <a:r>
              <a:rPr lang="en-US" dirty="0"/>
              <a:t>. </a:t>
            </a:r>
            <a:r>
              <a:rPr lang="en-US" b="1" dirty="0"/>
              <a:t>One key consideration is in defining </a:t>
            </a:r>
            <a:r>
              <a:rPr lang="en-US" b="1" u="sng" dirty="0"/>
              <a:t>what is meant by a sale</a:t>
            </a:r>
            <a:r>
              <a:rPr lang="en-US" dirty="0"/>
              <a:t>. Definitions include a placed order, a shipped order, and a paid order. </a:t>
            </a:r>
            <a:r>
              <a:rPr lang="en-US" b="1" dirty="0"/>
              <a:t>Defining a sale by when an order is shipped is probably most common</a:t>
            </a:r>
            <a:r>
              <a:rPr lang="en-US" dirty="0"/>
              <a:t>. Regardless of the definition used, the sales organization must be consistent and develop an information system to track sales based on whatever sales definition is used.</a:t>
            </a:r>
          </a:p>
          <a:p>
            <a:endParaRPr lang="en-US" dirty="0"/>
          </a:p>
          <a:p>
            <a:r>
              <a:rPr lang="en-US" dirty="0"/>
              <a:t>Another consideration is whether to focus on sales dollars or sales units. This can be extremely important during times when prices increase or when salespeople have substantial latitude in negotiating selling prices.</a:t>
            </a:r>
          </a:p>
        </p:txBody>
      </p:sp>
    </p:spTree>
    <p:extLst>
      <p:ext uri="{BB962C8B-B14F-4D97-AF65-F5344CB8AC3E}">
        <p14:creationId xmlns:p14="http://schemas.microsoft.com/office/powerpoint/2010/main" val="203458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E0785196-3854-487C-B7AA-81BB99153FFF}" type="slidenum">
              <a:rPr lang="en-US"/>
              <a:pPr/>
              <a:t>12</a:t>
            </a:fld>
            <a:endParaRPr lang="en-US" dirty="0"/>
          </a:p>
        </p:txBody>
      </p:sp>
      <p:sp>
        <p:nvSpPr>
          <p:cNvPr id="389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389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10</a:t>
            </a:r>
          </a:p>
        </p:txBody>
      </p:sp>
      <p:sp>
        <p:nvSpPr>
          <p:cNvPr id="389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389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38918" name="Rectangle 6"/>
          <p:cNvSpPr>
            <a:spLocks noGrp="1" noRot="1" noChangeAspect="1" noChangeArrowheads="1" noTextEdit="1"/>
          </p:cNvSpPr>
          <p:nvPr>
            <p:ph type="sldImg"/>
          </p:nvPr>
        </p:nvSpPr>
        <p:spPr>
          <a:xfrm>
            <a:off x="1150938" y="692150"/>
            <a:ext cx="4556125" cy="3416300"/>
          </a:xfrm>
          <a:ln w="12700" cap="flat"/>
        </p:spPr>
      </p:sp>
      <p:sp>
        <p:nvSpPr>
          <p:cNvPr id="38919"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2620748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9D7B2D94-D227-4871-8C40-64D1F3686D0B}" type="slidenum">
              <a:rPr lang="en-US"/>
              <a:pPr/>
              <a:t>13</a:t>
            </a:fld>
            <a:endParaRPr lang="en-US" dirty="0"/>
          </a:p>
        </p:txBody>
      </p:sp>
      <p:sp>
        <p:nvSpPr>
          <p:cNvPr id="4096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4096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10</a:t>
            </a:r>
          </a:p>
        </p:txBody>
      </p:sp>
      <p:sp>
        <p:nvSpPr>
          <p:cNvPr id="4096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4096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40966" name="Rectangle 6"/>
          <p:cNvSpPr>
            <a:spLocks noGrp="1" noRot="1" noChangeAspect="1" noChangeArrowheads="1" noTextEdit="1"/>
          </p:cNvSpPr>
          <p:nvPr>
            <p:ph type="sldImg"/>
          </p:nvPr>
        </p:nvSpPr>
        <p:spPr>
          <a:xfrm>
            <a:off x="1150938" y="692150"/>
            <a:ext cx="4556125" cy="3416300"/>
          </a:xfrm>
          <a:ln w="12700" cap="flat"/>
        </p:spPr>
      </p:sp>
      <p:sp>
        <p:nvSpPr>
          <p:cNvPr id="40967"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1082964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41BF0622-0EAD-4129-A3F9-FECA38E92FDC}" type="slidenum">
              <a:rPr lang="en-US"/>
              <a:pPr/>
              <a:t>14</a:t>
            </a:fld>
            <a:endParaRPr lang="en-US" dirty="0"/>
          </a:p>
        </p:txBody>
      </p:sp>
      <p:sp>
        <p:nvSpPr>
          <p:cNvPr id="4710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4710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11</a:t>
            </a:r>
          </a:p>
        </p:txBody>
      </p:sp>
      <p:sp>
        <p:nvSpPr>
          <p:cNvPr id="4710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4710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47110" name="Rectangle 6"/>
          <p:cNvSpPr>
            <a:spLocks noGrp="1" noRot="1" noChangeAspect="1" noChangeArrowheads="1" noTextEdit="1"/>
          </p:cNvSpPr>
          <p:nvPr>
            <p:ph type="sldImg"/>
          </p:nvPr>
        </p:nvSpPr>
        <p:spPr>
          <a:xfrm>
            <a:off x="1150938" y="692150"/>
            <a:ext cx="4556125" cy="3416300"/>
          </a:xfrm>
          <a:ln w="12700" cap="flat"/>
        </p:spPr>
      </p:sp>
      <p:sp>
        <p:nvSpPr>
          <p:cNvPr id="47111" name="Rectangle 7"/>
          <p:cNvSpPr>
            <a:spLocks noGrp="1" noChangeArrowheads="1"/>
          </p:cNvSpPr>
          <p:nvPr>
            <p:ph type="body" idx="1"/>
          </p:nvPr>
        </p:nvSpPr>
        <p:spPr>
          <a:xfrm>
            <a:off x="914400" y="4343400"/>
            <a:ext cx="5029200" cy="4114800"/>
          </a:xfrm>
          <a:ln/>
        </p:spPr>
        <p:txBody>
          <a:bodyPr lIns="90488" tIns="44450" rIns="90488" bIns="44450"/>
          <a:lstStyle/>
          <a:p>
            <a:r>
              <a:rPr lang="en-US" dirty="0"/>
              <a:t>Sales analyses should be performed for all levels in the sales organization for two basic reasons. First, sales managers at each level need sales analyses at their level and the next level below for evaluation and control purposes. For example, a regional sales manager should have sales analyses for all regions as well as for all districts within his or her region. This makes it possible to assess the sales effectiveness of the region and to determine the sales contribution of each district.</a:t>
            </a:r>
          </a:p>
          <a:p>
            <a:r>
              <a:rPr lang="en-US" dirty="0"/>
              <a:t>Second, a useful way to identify problem areas in achieving sales effectiveness is to perform a hierarchical sales analysis, which consists of evaluating sales results</a:t>
            </a:r>
          </a:p>
          <a:p>
            <a:r>
              <a:rPr lang="en-US" dirty="0"/>
              <a:t>throughout the sales organization from a top-down perspective. </a:t>
            </a:r>
            <a:r>
              <a:rPr lang="en-US" b="1" dirty="0"/>
              <a:t>Essentially, the analysis begins with total sales for the sales organization and proceeds through each successively lower level in the sales organization</a:t>
            </a:r>
            <a:r>
              <a:rPr lang="en-US" dirty="0"/>
              <a:t>. </a:t>
            </a:r>
            <a:r>
              <a:rPr lang="en-US" b="1" dirty="0"/>
              <a:t>The emphasis is on identifying potential problem areas at each level and then using analyses at lower levels to pinpoint the specific problems. </a:t>
            </a:r>
            <a:endParaRPr lang="en-US" b="0" dirty="0"/>
          </a:p>
          <a:p>
            <a:endParaRPr lang="en-US" b="0" dirty="0"/>
          </a:p>
          <a:p>
            <a:r>
              <a:rPr lang="en-US" b="0" dirty="0"/>
              <a:t>In the present example, region 3 has the lowest sales, so all districts in region 3 are examined. District 4 has poor sales results, so all the territories in district 4 are examined. Additional analysis is indicated for territory 5.</a:t>
            </a:r>
          </a:p>
        </p:txBody>
      </p:sp>
    </p:spTree>
    <p:extLst>
      <p:ext uri="{BB962C8B-B14F-4D97-AF65-F5344CB8AC3E}">
        <p14:creationId xmlns:p14="http://schemas.microsoft.com/office/powerpoint/2010/main" val="186922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63A1ECE8-D9D6-43C5-9CAD-8F64DC76ADE7}" type="slidenum">
              <a:rPr lang="en-US"/>
              <a:pPr/>
              <a:t>15</a:t>
            </a:fld>
            <a:endParaRPr lang="en-US" dirty="0"/>
          </a:p>
        </p:txBody>
      </p:sp>
      <p:sp>
        <p:nvSpPr>
          <p:cNvPr id="4301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4301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10</a:t>
            </a:r>
          </a:p>
        </p:txBody>
      </p:sp>
      <p:sp>
        <p:nvSpPr>
          <p:cNvPr id="4301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4301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43014" name="Rectangle 6"/>
          <p:cNvSpPr>
            <a:spLocks noGrp="1" noRot="1" noChangeAspect="1" noChangeArrowheads="1" noTextEdit="1"/>
          </p:cNvSpPr>
          <p:nvPr>
            <p:ph type="sldImg"/>
          </p:nvPr>
        </p:nvSpPr>
        <p:spPr>
          <a:xfrm>
            <a:off x="1150938" y="692150"/>
            <a:ext cx="4556125" cy="3416300"/>
          </a:xfrm>
          <a:ln w="12700" cap="flat"/>
        </p:spPr>
      </p:sp>
      <p:sp>
        <p:nvSpPr>
          <p:cNvPr id="43015"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7850590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E05981C9-5274-4C6B-9FBC-9AA96605C43B}" type="slidenum">
              <a:rPr lang="en-US"/>
              <a:pPr/>
              <a:t>16</a:t>
            </a:fld>
            <a:endParaRPr lang="en-US" dirty="0"/>
          </a:p>
        </p:txBody>
      </p:sp>
      <p:sp>
        <p:nvSpPr>
          <p:cNvPr id="4915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4915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11</a:t>
            </a:r>
          </a:p>
        </p:txBody>
      </p:sp>
      <p:sp>
        <p:nvSpPr>
          <p:cNvPr id="4915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4915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49158" name="Rectangle 6"/>
          <p:cNvSpPr>
            <a:spLocks noGrp="1" noRot="1" noChangeAspect="1" noChangeArrowheads="1" noTextEdit="1"/>
          </p:cNvSpPr>
          <p:nvPr>
            <p:ph type="sldImg"/>
          </p:nvPr>
        </p:nvSpPr>
        <p:spPr>
          <a:xfrm>
            <a:off x="1150938" y="692150"/>
            <a:ext cx="4556125" cy="3416300"/>
          </a:xfrm>
          <a:ln w="12700" cap="flat"/>
        </p:spPr>
      </p:sp>
      <p:sp>
        <p:nvSpPr>
          <p:cNvPr id="49159" name="Rectangle 7"/>
          <p:cNvSpPr>
            <a:spLocks noGrp="1" noChangeArrowheads="1"/>
          </p:cNvSpPr>
          <p:nvPr>
            <p:ph type="body" idx="1"/>
          </p:nvPr>
        </p:nvSpPr>
        <p:spPr>
          <a:xfrm>
            <a:off x="914400" y="4343400"/>
            <a:ext cx="5029200" cy="4114800"/>
          </a:xfrm>
          <a:ln/>
        </p:spPr>
        <p:txBody>
          <a:bodyPr lIns="90488" tIns="44450" rIns="90488" bIns="44450"/>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Times"/>
                <a:ea typeface="+mn-ea"/>
                <a:cs typeface="+mn-cs"/>
              </a:rPr>
              <a:t>This example suggests especially low sales volume for product type A and account type B. Additional analyses within these product and account types would be needed to determine why sales are low in these areas and what needs to be done to improve sales effectiveness.</a:t>
            </a:r>
          </a:p>
        </p:txBody>
      </p:sp>
    </p:spTree>
    <p:extLst>
      <p:ext uri="{BB962C8B-B14F-4D97-AF65-F5344CB8AC3E}">
        <p14:creationId xmlns:p14="http://schemas.microsoft.com/office/powerpoint/2010/main" val="1644404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BC075AC5-D53E-4E95-839D-9982B8D266A6}" type="slidenum">
              <a:rPr lang="en-US"/>
              <a:pPr/>
              <a:t>17</a:t>
            </a:fld>
            <a:endParaRPr lang="en-US" dirty="0"/>
          </a:p>
        </p:txBody>
      </p:sp>
      <p:sp>
        <p:nvSpPr>
          <p:cNvPr id="4505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4505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10</a:t>
            </a:r>
          </a:p>
        </p:txBody>
      </p:sp>
      <p:sp>
        <p:nvSpPr>
          <p:cNvPr id="4506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4506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45062" name="Rectangle 6"/>
          <p:cNvSpPr>
            <a:spLocks noGrp="1" noRot="1" noChangeAspect="1" noChangeArrowheads="1" noTextEdit="1"/>
          </p:cNvSpPr>
          <p:nvPr>
            <p:ph type="sldImg"/>
          </p:nvPr>
        </p:nvSpPr>
        <p:spPr>
          <a:xfrm>
            <a:off x="1150938" y="692150"/>
            <a:ext cx="4556125" cy="3416300"/>
          </a:xfrm>
          <a:ln w="12700" cap="flat"/>
        </p:spPr>
      </p:sp>
      <p:sp>
        <p:nvSpPr>
          <p:cNvPr id="45063" name="Rectangle 7"/>
          <p:cNvSpPr>
            <a:spLocks noGrp="1" noChangeArrowheads="1"/>
          </p:cNvSpPr>
          <p:nvPr>
            <p:ph type="body" idx="1"/>
          </p:nvPr>
        </p:nvSpPr>
        <p:spPr>
          <a:xfrm>
            <a:off x="914400" y="4343400"/>
            <a:ext cx="5029200" cy="4114800"/>
          </a:xfrm>
          <a:ln/>
        </p:spPr>
        <p:txBody>
          <a:bodyPr lIns="90488" tIns="44450" rIns="90488" bIns="44450"/>
          <a:lstStyle/>
          <a:p>
            <a:r>
              <a:rPr lang="en-US" dirty="0"/>
              <a:t>Comparing actual sales results with sales forecasts and quotas is extremely revealing. A </a:t>
            </a:r>
            <a:r>
              <a:rPr lang="en-US" b="1" dirty="0"/>
              <a:t>sales forecast represents an expected level of firm sales for defined products, markets, and time periods and for a specified strategy</a:t>
            </a:r>
            <a:r>
              <a:rPr lang="en-US" dirty="0"/>
              <a:t>. Based on this definition, a sales forecast provides a basis for establishing specific sales quotas and reasonable sales objectives for a territory, district, region, or zone.</a:t>
            </a:r>
          </a:p>
        </p:txBody>
      </p:sp>
    </p:spTree>
    <p:extLst>
      <p:ext uri="{BB962C8B-B14F-4D97-AF65-F5344CB8AC3E}">
        <p14:creationId xmlns:p14="http://schemas.microsoft.com/office/powerpoint/2010/main" val="1807300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44F2A07B-31F8-425E-BCF8-6870FAC74B0C}" type="slidenum">
              <a:rPr lang="en-US"/>
              <a:pPr/>
              <a:t>18</a:t>
            </a:fld>
            <a:endParaRPr lang="en-US" dirty="0"/>
          </a:p>
        </p:txBody>
      </p:sp>
      <p:sp>
        <p:nvSpPr>
          <p:cNvPr id="5120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5120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13</a:t>
            </a:r>
          </a:p>
        </p:txBody>
      </p:sp>
      <p:sp>
        <p:nvSpPr>
          <p:cNvPr id="5120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5120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51206" name="Rectangle 6"/>
          <p:cNvSpPr>
            <a:spLocks noGrp="1" noRot="1" noChangeAspect="1" noChangeArrowheads="1" noTextEdit="1"/>
          </p:cNvSpPr>
          <p:nvPr>
            <p:ph type="sldImg"/>
          </p:nvPr>
        </p:nvSpPr>
        <p:spPr>
          <a:xfrm>
            <a:off x="1150938" y="692150"/>
            <a:ext cx="4556125" cy="3416300"/>
          </a:xfrm>
          <a:ln w="12700" cap="flat"/>
        </p:spPr>
      </p:sp>
      <p:sp>
        <p:nvSpPr>
          <p:cNvPr id="51207" name="Rectangle 7"/>
          <p:cNvSpPr>
            <a:spLocks noGrp="1" noChangeArrowheads="1"/>
          </p:cNvSpPr>
          <p:nvPr>
            <p:ph type="body" idx="1"/>
          </p:nvPr>
        </p:nvSpPr>
        <p:spPr>
          <a:xfrm>
            <a:off x="914400" y="4343400"/>
            <a:ext cx="5029200" cy="4114800"/>
          </a:xfrm>
          <a:ln/>
        </p:spPr>
        <p:txBody>
          <a:bodyPr lIns="90488" tIns="44450" rIns="90488" bIns="44450"/>
          <a:lstStyle/>
          <a:p>
            <a:r>
              <a:rPr lang="en-US" dirty="0"/>
              <a:t>An effectiveness index can be computed by dividing actual sales results by the sales quota and multiplying by 100. As illustrated in this Exhibit, sales results in excess of quota will have index values greater than 100, and results lower than quota will have index values less than 100. The sales effectiveness index makes it easy to compare directly the sales effectiveness of different organizational levels and different types of sales.</a:t>
            </a:r>
          </a:p>
          <a:p>
            <a:endParaRPr lang="en-US" dirty="0"/>
          </a:p>
          <a:p>
            <a:r>
              <a:rPr lang="en-US" dirty="0"/>
              <a:t>Another type of analysis to be considered is a comparison of actual sales results to those achieved by competitors (i.e., market share). This type of analysis can again be performed at different organizational levels and for different types of sales. If the comparison is extended to overall industry sales, various types of market share can be calculated.</a:t>
            </a:r>
          </a:p>
        </p:txBody>
      </p:sp>
    </p:spTree>
    <p:extLst>
      <p:ext uri="{BB962C8B-B14F-4D97-AF65-F5344CB8AC3E}">
        <p14:creationId xmlns:p14="http://schemas.microsoft.com/office/powerpoint/2010/main" val="960748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66B860AE-88D0-4756-81A2-FE453AD5660E}" type="slidenum">
              <a:rPr lang="en-US"/>
              <a:pPr/>
              <a:t>19</a:t>
            </a:fld>
            <a:endParaRPr lang="en-US" dirty="0"/>
          </a:p>
        </p:txBody>
      </p:sp>
      <p:sp>
        <p:nvSpPr>
          <p:cNvPr id="5325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5325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9</a:t>
            </a:r>
          </a:p>
        </p:txBody>
      </p:sp>
      <p:sp>
        <p:nvSpPr>
          <p:cNvPr id="5325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5325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53254" name="Rectangle 6"/>
          <p:cNvSpPr>
            <a:spLocks noGrp="1" noRot="1" noChangeAspect="1" noChangeArrowheads="1" noTextEdit="1"/>
          </p:cNvSpPr>
          <p:nvPr>
            <p:ph type="sldImg"/>
          </p:nvPr>
        </p:nvSpPr>
        <p:spPr>
          <a:xfrm>
            <a:off x="1150938" y="692150"/>
            <a:ext cx="4556125" cy="3416300"/>
          </a:xfrm>
          <a:ln w="12700" cap="flat"/>
        </p:spPr>
      </p:sp>
      <p:sp>
        <p:nvSpPr>
          <p:cNvPr id="53255"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8764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D440A0DF-F951-4E8D-B7BB-4C6390B92421}" type="slidenum">
              <a:rPr lang="en-US"/>
              <a:pPr/>
              <a:t>20</a:t>
            </a:fld>
            <a:endParaRPr lang="en-US" dirty="0"/>
          </a:p>
        </p:txBody>
      </p:sp>
      <p:sp>
        <p:nvSpPr>
          <p:cNvPr id="5529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5529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9</a:t>
            </a:r>
          </a:p>
        </p:txBody>
      </p:sp>
      <p:sp>
        <p:nvSpPr>
          <p:cNvPr id="5530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5530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55302" name="Rectangle 6"/>
          <p:cNvSpPr>
            <a:spLocks noGrp="1" noRot="1" noChangeAspect="1" noChangeArrowheads="1" noTextEdit="1"/>
          </p:cNvSpPr>
          <p:nvPr>
            <p:ph type="sldImg"/>
          </p:nvPr>
        </p:nvSpPr>
        <p:spPr>
          <a:xfrm>
            <a:off x="1150938" y="692150"/>
            <a:ext cx="4556125" cy="3416300"/>
          </a:xfrm>
          <a:ln w="12700" cap="flat"/>
        </p:spPr>
      </p:sp>
      <p:sp>
        <p:nvSpPr>
          <p:cNvPr id="55303" name="Rectangle 7"/>
          <p:cNvSpPr>
            <a:spLocks noGrp="1" noChangeArrowheads="1"/>
          </p:cNvSpPr>
          <p:nvPr>
            <p:ph type="body" idx="1"/>
          </p:nvPr>
        </p:nvSpPr>
        <p:spPr>
          <a:xfrm>
            <a:off x="914400" y="4343400"/>
            <a:ext cx="5029200" cy="4114800"/>
          </a:xfrm>
          <a:ln/>
        </p:spPr>
        <p:txBody>
          <a:bodyPr lIns="90488" tIns="44450" rIns="90488" bIns="44450"/>
          <a:lstStyle/>
          <a:p>
            <a:r>
              <a:rPr lang="en-US" dirty="0"/>
              <a:t>The emphasis here is </a:t>
            </a:r>
            <a:r>
              <a:rPr lang="en-US" b="1" dirty="0"/>
              <a:t>on assessing the costs incurred by the sales organization to generate the achieved levels of sales</a:t>
            </a:r>
            <a:r>
              <a:rPr lang="en-US" dirty="0"/>
              <a:t>. The general approach is to compare the costs incurred with planned costs as defined by selling budgets.</a:t>
            </a:r>
          </a:p>
          <a:p>
            <a:r>
              <a:rPr lang="en-US" dirty="0"/>
              <a:t>Corporate resources earmarked for personal selling expenses for a designated period represent the total selling budget. The key sales management budgeting task is to determine the best way to allocate these sales resources throughout the sales organization and across the different selling activities. The budgeting process is intended to instill cost consciousness and profit awareness throughout the organization, and it is necessary for establishing benchmarks for evaluating selling costs.</a:t>
            </a:r>
          </a:p>
          <a:p>
            <a:r>
              <a:rPr lang="en-US" dirty="0"/>
              <a:t>Selling budgets are developed at all levels of the sales organization and for all key expenditure categories. Our discussion focuses on the major selling expense categories and methods for establishing specific expenditure levels within the budget.</a:t>
            </a:r>
          </a:p>
          <a:p>
            <a:r>
              <a:rPr lang="en-US" dirty="0"/>
              <a:t>Firms differ considerably in how they define their selling expense categories. Nevertheless, all sales organizations should plan expenditures carefully for the major selling and sales management activities and for the different levels in the sales organization structure. The selling budget addresses controllable expenses, not uncontrollable ones.</a:t>
            </a:r>
          </a:p>
        </p:txBody>
      </p:sp>
    </p:spTree>
    <p:extLst>
      <p:ext uri="{BB962C8B-B14F-4D97-AF65-F5344CB8AC3E}">
        <p14:creationId xmlns:p14="http://schemas.microsoft.com/office/powerpoint/2010/main" val="7050645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Selling budgets are developed at all levels of the sales organization and for all key expenditure categories. We’ll focus on the major selling expense categories and methods for establishing specific expenditure levels within the budget.</a:t>
            </a:r>
          </a:p>
          <a:p>
            <a:r>
              <a:rPr lang="en-US" dirty="0"/>
              <a:t>Firms differ considerably in how they define their selling expense categories. Nevertheless, all sales organizations should plan expenditures carefully for the major selling and sales management activities and for the different levels in the sales organization structure. The selling budget addresses controllable expenses, not uncontrollable ones.</a:t>
            </a:r>
          </a:p>
          <a:p>
            <a:endParaRPr lang="en-US" dirty="0"/>
          </a:p>
          <a:p>
            <a:r>
              <a:rPr lang="en-US" b="1" dirty="0"/>
              <a:t>Probably the most often used, </a:t>
            </a:r>
            <a:r>
              <a:rPr lang="en-US" b="1" u="sng" dirty="0"/>
              <a:t>the percentage of sales method </a:t>
            </a:r>
            <a:r>
              <a:rPr lang="en-US" dirty="0"/>
              <a:t>calculates an expenditure level for each category by multiplying an expenditure percentage times forecasted sales. </a:t>
            </a:r>
            <a:r>
              <a:rPr lang="en-US" b="1" dirty="0"/>
              <a:t>The effectiveness of the percentage of sales method depends on the accuracy of sales forecasts and the appropriateness of the expenditure percentages</a:t>
            </a:r>
            <a:r>
              <a:rPr lang="en-US" dirty="0"/>
              <a:t>. If the sales forecasts are not accurate, the selling budgets will be incorrect, regardless of the expenditure percentages used. If sales forecasts are accurate, the key is determining the expenditure percentages. This percentage may be derived from historical spending patterns or industry averages. Sales management should adjust the percentage up or down to reflect the unique aspects of their sales organization.</a:t>
            </a:r>
          </a:p>
          <a:p>
            <a:r>
              <a:rPr lang="en-US" dirty="0"/>
              <a:t>The </a:t>
            </a:r>
            <a:r>
              <a:rPr lang="en-US" b="1" dirty="0"/>
              <a:t>objective and task method takes an entirely different approach</a:t>
            </a:r>
            <a:r>
              <a:rPr lang="en-US" dirty="0"/>
              <a:t>. In its most basic form, </a:t>
            </a:r>
            <a:r>
              <a:rPr lang="en-US" b="1" u="sng" dirty="0"/>
              <a:t>it is a type of zero-based budgeting</a:t>
            </a:r>
            <a:r>
              <a:rPr lang="en-US" dirty="0"/>
              <a:t>. In essence, each sales manager prepares a separate budget request that stipulates the objectives to be achieved, the tasks required to achieve these objectives, and the costs associated with performing the necessary tasks. These requests are reviewed, and, through an iterative process, selling budgets are approved. Many variations of the objective and task method are used by different sales organizations.</a:t>
            </a:r>
          </a:p>
        </p:txBody>
      </p:sp>
      <p:sp>
        <p:nvSpPr>
          <p:cNvPr id="4" name="Slide Number Placeholder 3"/>
          <p:cNvSpPr>
            <a:spLocks noGrp="1"/>
          </p:cNvSpPr>
          <p:nvPr>
            <p:ph type="sldNum" sz="quarter" idx="5"/>
          </p:nvPr>
        </p:nvSpPr>
        <p:spPr/>
        <p:txBody>
          <a:bodyPr/>
          <a:lstStyle/>
          <a:p>
            <a:fld id="{237E3A48-5816-4407-BD05-29482C893C3E}" type="slidenum">
              <a:rPr lang="en-US" altLang="en-US" smtClean="0"/>
              <a:pPr/>
              <a:t>21</a:t>
            </a:fld>
            <a:endParaRPr lang="en-US" altLang="en-US" dirty="0"/>
          </a:p>
        </p:txBody>
      </p:sp>
    </p:spTree>
    <p:extLst>
      <p:ext uri="{BB962C8B-B14F-4D97-AF65-F5344CB8AC3E}">
        <p14:creationId xmlns:p14="http://schemas.microsoft.com/office/powerpoint/2010/main" val="14080910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B060C2F6-9248-4878-AA64-8558078DE95C}" type="slidenum">
              <a:rPr lang="en-US"/>
              <a:pPr/>
              <a:t>22</a:t>
            </a:fld>
            <a:endParaRPr lang="en-US" dirty="0"/>
          </a:p>
        </p:txBody>
      </p:sp>
      <p:sp>
        <p:nvSpPr>
          <p:cNvPr id="5734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5734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15</a:t>
            </a:r>
          </a:p>
        </p:txBody>
      </p:sp>
      <p:sp>
        <p:nvSpPr>
          <p:cNvPr id="5734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5734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57350" name="Rectangle 6"/>
          <p:cNvSpPr>
            <a:spLocks noGrp="1" noRot="1" noChangeAspect="1" noChangeArrowheads="1" noTextEdit="1"/>
          </p:cNvSpPr>
          <p:nvPr>
            <p:ph type="sldImg"/>
          </p:nvPr>
        </p:nvSpPr>
        <p:spPr>
          <a:xfrm>
            <a:off x="1150938" y="692150"/>
            <a:ext cx="4556125" cy="3416300"/>
          </a:xfrm>
          <a:ln w="12700" cap="flat"/>
        </p:spPr>
      </p:sp>
      <p:sp>
        <p:nvSpPr>
          <p:cNvPr id="57351" name="Rectangle 7"/>
          <p:cNvSpPr>
            <a:spLocks noGrp="1" noChangeArrowheads="1"/>
          </p:cNvSpPr>
          <p:nvPr>
            <p:ph type="body" idx="1"/>
          </p:nvPr>
        </p:nvSpPr>
        <p:spPr>
          <a:xfrm>
            <a:off x="914400" y="4343400"/>
            <a:ext cx="5029200" cy="4114800"/>
          </a:xfrm>
          <a:ln/>
        </p:spPr>
        <p:txBody>
          <a:bodyPr lIns="90488" tIns="44450" rIns="90488" bIns="44450"/>
          <a:lstStyle/>
          <a:p>
            <a:r>
              <a:rPr lang="en-US" dirty="0"/>
              <a:t>The emphasis here is on assessing the costs incurred by the sales organization to generate the achieved levels of sales. The general approach is to compare the costs incurred with planned costs as defined by selling budgets.</a:t>
            </a:r>
          </a:p>
          <a:p>
            <a:r>
              <a:rPr lang="en-US" dirty="0"/>
              <a:t>Corporate resources earmarked for personal selling expenses for a designated period represent the total selling budget. The key sales management budgeting task is to determine the best way to allocate these sales resources throughout the sales organization and across the different selling activities. The budgeting process is intended to instill cost consciousness and profit awareness throughout the organization, and it is necessary for establishing benchmarks for evaluating selling costs.</a:t>
            </a:r>
          </a:p>
          <a:p>
            <a:r>
              <a:rPr lang="en-US" dirty="0"/>
              <a:t>Selling budgets are developed at all levels of the sales organization and for all key expenditure categories. Our discussion focuses on the major selling expense categories and methods for establishing specific expenditure levels within the budget.</a:t>
            </a:r>
          </a:p>
          <a:p>
            <a:r>
              <a:rPr lang="en-US" dirty="0"/>
              <a:t>Firms differ considerably in how they define their selling expense categories. Nevertheless, all sales organizations should plan expenditures carefully for the major selling and sales management activities and for the different levels in the sales organization structure. The selling budget addresses controllable expenses, not uncontrollable ones.</a:t>
            </a:r>
          </a:p>
        </p:txBody>
      </p:sp>
    </p:spTree>
    <p:extLst>
      <p:ext uri="{BB962C8B-B14F-4D97-AF65-F5344CB8AC3E}">
        <p14:creationId xmlns:p14="http://schemas.microsoft.com/office/powerpoint/2010/main" val="982380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323C2FC3-ABCA-4AFD-A577-C459CA0E035F}" type="slidenum">
              <a:rPr lang="en-US"/>
              <a:pPr/>
              <a:t>23</a:t>
            </a:fld>
            <a:endParaRPr lang="en-US" dirty="0"/>
          </a:p>
        </p:txBody>
      </p:sp>
      <p:sp>
        <p:nvSpPr>
          <p:cNvPr id="5939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5939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15</a:t>
            </a:r>
          </a:p>
        </p:txBody>
      </p:sp>
      <p:sp>
        <p:nvSpPr>
          <p:cNvPr id="5939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5939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59398" name="Rectangle 6"/>
          <p:cNvSpPr>
            <a:spLocks noGrp="1" noRot="1" noChangeAspect="1" noChangeArrowheads="1" noTextEdit="1"/>
          </p:cNvSpPr>
          <p:nvPr>
            <p:ph type="sldImg"/>
          </p:nvPr>
        </p:nvSpPr>
        <p:spPr>
          <a:xfrm>
            <a:off x="1150938" y="692150"/>
            <a:ext cx="4556125" cy="3416300"/>
          </a:xfrm>
          <a:ln w="12700" cap="flat"/>
        </p:spPr>
      </p:sp>
      <p:sp>
        <p:nvSpPr>
          <p:cNvPr id="59399" name="Rectangle 7"/>
          <p:cNvSpPr>
            <a:spLocks noGrp="1" noChangeArrowheads="1"/>
          </p:cNvSpPr>
          <p:nvPr>
            <p:ph type="body" idx="1"/>
          </p:nvPr>
        </p:nvSpPr>
        <p:spPr>
          <a:xfrm>
            <a:off x="914400" y="4343400"/>
            <a:ext cx="5029200" cy="4114800"/>
          </a:xfrm>
          <a:ln/>
        </p:spPr>
        <p:txBody>
          <a:bodyPr lIns="90488" tIns="44450" rIns="90488" bIns="44450"/>
          <a:lstStyle/>
          <a:p>
            <a:r>
              <a:rPr lang="en-US" dirty="0"/>
              <a:t>The first analysis calculates the variance between actual costs and budgeted costs for the regions in a sales organization. Regions with the largest variation, especially when actual costs far exceed budgeted costs, should be highlighted for further analysis. Large variations are not necessarily bad, but the reasons for the variations should be determined. For example, the ultimate purpose of selling costs is to generate sales. Therefore, the objective is not necessarily to minimize selling costs, but to ensure that a specified relationship between sales and selling costs is maintained.</a:t>
            </a:r>
          </a:p>
        </p:txBody>
      </p:sp>
    </p:spTree>
    <p:extLst>
      <p:ext uri="{BB962C8B-B14F-4D97-AF65-F5344CB8AC3E}">
        <p14:creationId xmlns:p14="http://schemas.microsoft.com/office/powerpoint/2010/main" val="20681899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CA9B7D55-3282-437F-B6B7-1DD36994F175}" type="slidenum">
              <a:rPr lang="en-US"/>
              <a:pPr/>
              <a:t>25</a:t>
            </a:fld>
            <a:endParaRPr lang="en-US" dirty="0"/>
          </a:p>
        </p:txBody>
      </p:sp>
      <p:sp>
        <p:nvSpPr>
          <p:cNvPr id="6144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6144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16</a:t>
            </a:r>
          </a:p>
        </p:txBody>
      </p:sp>
      <p:sp>
        <p:nvSpPr>
          <p:cNvPr id="6144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6144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61446" name="Rectangle 6"/>
          <p:cNvSpPr>
            <a:spLocks noGrp="1" noRot="1" noChangeAspect="1" noChangeArrowheads="1" noTextEdit="1"/>
          </p:cNvSpPr>
          <p:nvPr>
            <p:ph type="sldImg"/>
          </p:nvPr>
        </p:nvSpPr>
        <p:spPr>
          <a:xfrm>
            <a:off x="1150938" y="692150"/>
            <a:ext cx="4556125" cy="3416300"/>
          </a:xfrm>
          <a:ln w="12700" cap="flat"/>
        </p:spPr>
      </p:sp>
      <p:sp>
        <p:nvSpPr>
          <p:cNvPr id="61447" name="Rectangle 7"/>
          <p:cNvSpPr>
            <a:spLocks noGrp="1" noChangeArrowheads="1"/>
          </p:cNvSpPr>
          <p:nvPr>
            <p:ph type="body" idx="1"/>
          </p:nvPr>
        </p:nvSpPr>
        <p:spPr>
          <a:xfrm>
            <a:off x="914400" y="4343400"/>
            <a:ext cx="5029200" cy="4114800"/>
          </a:xfrm>
          <a:ln/>
        </p:spPr>
        <p:txBody>
          <a:bodyPr lIns="90488" tIns="44450" rIns="90488" bIns="44450"/>
          <a:lstStyle/>
          <a:p>
            <a:r>
              <a:rPr lang="en-US" dirty="0"/>
              <a:t>Start Day 2 Here:</a:t>
            </a:r>
          </a:p>
          <a:p>
            <a:r>
              <a:rPr lang="en-US" dirty="0"/>
              <a:t>Sales and cost data can be combined in various ways to produce evaluations of sales organization profitability for different organizational levels of different types of sales.</a:t>
            </a:r>
          </a:p>
        </p:txBody>
      </p:sp>
    </p:spTree>
    <p:extLst>
      <p:ext uri="{BB962C8B-B14F-4D97-AF65-F5344CB8AC3E}">
        <p14:creationId xmlns:p14="http://schemas.microsoft.com/office/powerpoint/2010/main" val="3774885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160F9D18-3670-4A92-A407-FE0F8B4B3E51}" type="slidenum">
              <a:rPr lang="en-US"/>
              <a:pPr/>
              <a:t>26</a:t>
            </a:fld>
            <a:endParaRPr lang="en-US" dirty="0"/>
          </a:p>
        </p:txBody>
      </p:sp>
      <p:sp>
        <p:nvSpPr>
          <p:cNvPr id="8704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8704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16</a:t>
            </a:r>
          </a:p>
        </p:txBody>
      </p:sp>
      <p:sp>
        <p:nvSpPr>
          <p:cNvPr id="8704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8704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87046" name="Rectangle 6"/>
          <p:cNvSpPr>
            <a:spLocks noGrp="1" noRot="1" noChangeAspect="1" noChangeArrowheads="1" noTextEdit="1"/>
          </p:cNvSpPr>
          <p:nvPr>
            <p:ph type="sldImg"/>
          </p:nvPr>
        </p:nvSpPr>
        <p:spPr>
          <a:xfrm>
            <a:off x="1150938" y="692150"/>
            <a:ext cx="4556125" cy="3416300"/>
          </a:xfrm>
          <a:ln w="12700" cap="flat"/>
        </p:spPr>
      </p:sp>
      <p:sp>
        <p:nvSpPr>
          <p:cNvPr id="87047" name="Rectangle 7"/>
          <p:cNvSpPr>
            <a:spLocks noGrp="1" noChangeArrowheads="1"/>
          </p:cNvSpPr>
          <p:nvPr>
            <p:ph type="body" idx="1"/>
          </p:nvPr>
        </p:nvSpPr>
        <p:spPr>
          <a:xfrm>
            <a:off x="914400" y="4343400"/>
            <a:ext cx="5029200" cy="4114800"/>
          </a:xfrm>
          <a:ln/>
        </p:spPr>
        <p:txBody>
          <a:bodyPr lIns="90488" tIns="44450" rIns="90488" bIns="44450"/>
          <a:lstStyle/>
          <a:p>
            <a:r>
              <a:rPr lang="en-US" dirty="0"/>
              <a:t>The different levels in a sales organization and different types of sales can be considered as separate businesses. Consequently, income statements can be developed for profitability analysis. </a:t>
            </a:r>
            <a:r>
              <a:rPr lang="en-US" b="1" dirty="0"/>
              <a:t>One of the major difficulties in income statement analysis is that some costs are shared between organizational levels </a:t>
            </a:r>
            <a:r>
              <a:rPr lang="en-US" dirty="0"/>
              <a:t>or sales types.</a:t>
            </a:r>
          </a:p>
          <a:p>
            <a:endParaRPr lang="en-US" dirty="0"/>
          </a:p>
          <a:p>
            <a:r>
              <a:rPr lang="en-US" dirty="0"/>
              <a:t>The </a:t>
            </a:r>
            <a:r>
              <a:rPr lang="en-US" b="1" dirty="0"/>
              <a:t>full cost approach </a:t>
            </a:r>
            <a:r>
              <a:rPr lang="en-US" dirty="0"/>
              <a:t>attempts to allocate the shared costs to individual units based on some type of cost allocation procedure. This results in a net profit figure for each unit.</a:t>
            </a:r>
          </a:p>
          <a:p>
            <a:endParaRPr lang="en-US" dirty="0"/>
          </a:p>
          <a:p>
            <a:r>
              <a:rPr lang="en-US" dirty="0"/>
              <a:t>The </a:t>
            </a:r>
            <a:r>
              <a:rPr lang="en-US" b="1" dirty="0"/>
              <a:t>contribution approach </a:t>
            </a:r>
            <a:r>
              <a:rPr lang="en-US" dirty="0"/>
              <a:t>is different in that </a:t>
            </a:r>
            <a:r>
              <a:rPr lang="en-US" u="sng" dirty="0"/>
              <a:t>only direct costs are included in the profitability analysis</a:t>
            </a:r>
            <a:r>
              <a:rPr lang="en-US" dirty="0"/>
              <a:t>; the indirect or shared costs are not included. The net contribution calculated from this approach represents the profit contribution of the unit being analyzed. This profit contribution must be sufficient to cover indirect costs and other overhead and to provide the net profit for the firm.</a:t>
            </a:r>
          </a:p>
        </p:txBody>
      </p:sp>
    </p:spTree>
    <p:extLst>
      <p:ext uri="{BB962C8B-B14F-4D97-AF65-F5344CB8AC3E}">
        <p14:creationId xmlns:p14="http://schemas.microsoft.com/office/powerpoint/2010/main" val="312784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D92B2490-649A-4E6E-8AF8-D680F5071590}" type="slidenum">
              <a:rPr lang="en-US"/>
              <a:pPr/>
              <a:t>27</a:t>
            </a:fld>
            <a:endParaRPr lang="en-US" dirty="0"/>
          </a:p>
        </p:txBody>
      </p:sp>
      <p:sp>
        <p:nvSpPr>
          <p:cNvPr id="6349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6349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18</a:t>
            </a:r>
          </a:p>
        </p:txBody>
      </p:sp>
      <p:sp>
        <p:nvSpPr>
          <p:cNvPr id="6349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6349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63494" name="Rectangle 6"/>
          <p:cNvSpPr>
            <a:spLocks noGrp="1" noRot="1" noChangeAspect="1" noChangeArrowheads="1" noTextEdit="1"/>
          </p:cNvSpPr>
          <p:nvPr>
            <p:ph type="sldImg"/>
          </p:nvPr>
        </p:nvSpPr>
        <p:spPr>
          <a:xfrm>
            <a:off x="1150938" y="692150"/>
            <a:ext cx="4556125" cy="3416300"/>
          </a:xfrm>
          <a:ln w="12700" cap="flat"/>
        </p:spPr>
      </p:sp>
      <p:sp>
        <p:nvSpPr>
          <p:cNvPr id="63495" name="Rectangle 7"/>
          <p:cNvSpPr>
            <a:spLocks noGrp="1" noChangeArrowheads="1"/>
          </p:cNvSpPr>
          <p:nvPr>
            <p:ph type="body" idx="1"/>
          </p:nvPr>
        </p:nvSpPr>
        <p:spPr>
          <a:xfrm>
            <a:off x="914400" y="4343400"/>
            <a:ext cx="5029200" cy="4114800"/>
          </a:xfrm>
          <a:ln/>
        </p:spPr>
        <p:txBody>
          <a:bodyPr lIns="90488" tIns="44450" rIns="90488" bIns="44450"/>
          <a:lstStyle/>
          <a:p>
            <a:r>
              <a:rPr lang="en-US" dirty="0"/>
              <a:t>This example uses the </a:t>
            </a:r>
            <a:r>
              <a:rPr lang="en-US" b="1" dirty="0"/>
              <a:t>full cost approach for assessing sales region profitability </a:t>
            </a:r>
            <a:r>
              <a:rPr lang="en-US" dirty="0"/>
              <a:t>and the </a:t>
            </a:r>
            <a:r>
              <a:rPr lang="en-US" b="1" dirty="0"/>
              <a:t>contribution approach for evaluating the districts within this region</a:t>
            </a:r>
            <a:r>
              <a:rPr lang="en-US" dirty="0"/>
              <a:t>. Notice that the profitability calculations for each district include only district sales, cost of goods sold, and district direct selling expenses. A profit contribution is generated for each district. The profitability calculations for the region include district selling expenses, region direct selling expenses that have not been allocated to the districts, and an allocated portion of shared zone costs. This produces a net profit figure for a profitability evaluation of the region.</a:t>
            </a:r>
          </a:p>
          <a:p>
            <a:endParaRPr lang="en-US" dirty="0"/>
          </a:p>
          <a:p>
            <a:r>
              <a:rPr lang="en-US" dirty="0"/>
              <a:t>Although either approach might be used, </a:t>
            </a:r>
            <a:r>
              <a:rPr lang="en-US" b="1" dirty="0"/>
              <a:t>there seems to be a trend toward the </a:t>
            </a:r>
            <a:r>
              <a:rPr lang="en-US" b="1" u="sng" dirty="0"/>
              <a:t>contribution approach</a:t>
            </a:r>
            <a:r>
              <a:rPr lang="en-US" b="1" dirty="0"/>
              <a:t>, probably because of the difficulty in arriving at a satisfactory procedure for allocating the shared costs</a:t>
            </a:r>
            <a:r>
              <a:rPr lang="en-US" dirty="0"/>
              <a:t>. Different cost allocation methods produce different results. Thus, many firms feel more comfortable with the contribution approach because it eliminates the need for cost allocation judgments and is viewed as more objective.</a:t>
            </a:r>
          </a:p>
        </p:txBody>
      </p:sp>
    </p:spTree>
    <p:extLst>
      <p:ext uri="{BB962C8B-B14F-4D97-AF65-F5344CB8AC3E}">
        <p14:creationId xmlns:p14="http://schemas.microsoft.com/office/powerpoint/2010/main" val="25304596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379152FF-3B5A-4578-A205-F23C156ED8B5}" type="slidenum">
              <a:rPr lang="en-US"/>
              <a:pPr/>
              <a:t>28</a:t>
            </a:fld>
            <a:endParaRPr lang="en-US" dirty="0"/>
          </a:p>
        </p:txBody>
      </p:sp>
      <p:sp>
        <p:nvSpPr>
          <p:cNvPr id="655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655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17</a:t>
            </a:r>
          </a:p>
        </p:txBody>
      </p:sp>
      <p:sp>
        <p:nvSpPr>
          <p:cNvPr id="655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655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65542" name="Rectangle 6"/>
          <p:cNvSpPr>
            <a:spLocks noGrp="1" noRot="1" noChangeAspect="1" noChangeArrowheads="1" noTextEdit="1"/>
          </p:cNvSpPr>
          <p:nvPr>
            <p:ph type="sldImg"/>
          </p:nvPr>
        </p:nvSpPr>
        <p:spPr>
          <a:xfrm>
            <a:off x="1150938" y="692150"/>
            <a:ext cx="4556125" cy="3416300"/>
          </a:xfrm>
          <a:ln w="12700" cap="flat"/>
        </p:spPr>
      </p:sp>
      <p:sp>
        <p:nvSpPr>
          <p:cNvPr id="65543" name="Rectangle 7"/>
          <p:cNvSpPr>
            <a:spLocks noGrp="1" noChangeArrowheads="1"/>
          </p:cNvSpPr>
          <p:nvPr>
            <p:ph type="body" idx="1"/>
          </p:nvPr>
        </p:nvSpPr>
        <p:spPr>
          <a:xfrm>
            <a:off x="914400" y="4343400"/>
            <a:ext cx="5029200" cy="4114800"/>
          </a:xfrm>
          <a:ln/>
        </p:spPr>
        <p:txBody>
          <a:bodyPr lIns="90488" tIns="44450" rIns="90488" bIns="44450"/>
          <a:lstStyle/>
          <a:p>
            <a:r>
              <a:rPr lang="en-US" dirty="0"/>
              <a:t>Activity-based costing (ABC) allocates costs to individual units on the basis of how the units actually expend or cause these costs. Costs are accumulated and then allocated to the units by the appropriate drivers, factors that drive costs up or down.</a:t>
            </a:r>
          </a:p>
        </p:txBody>
      </p:sp>
    </p:spTree>
    <p:extLst>
      <p:ext uri="{BB962C8B-B14F-4D97-AF65-F5344CB8AC3E}">
        <p14:creationId xmlns:p14="http://schemas.microsoft.com/office/powerpoint/2010/main" val="985949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Encourage students to think about the differences in serving different types of customers.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750718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definition of ABC and its key principles. Emphasize that it's about linking costs to actual activities rather than spreading them evenly.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039005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 and contrast traditional costing and ABC. Give examples, such as using a flat rate for support vs. tracking time per customer.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557177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example calculations for Customers A and B. Ask students who they think is more profitable and why.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37357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lesson. Reinforce how ABC helps sales managers make smarter decisions about pricing, targeting, and service.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865537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illustrates how the profitability picture changed for a building supplies company that switched to ABC to assess distribution channel profitability. Notice that </a:t>
            </a:r>
            <a:r>
              <a:rPr lang="en-US" b="1" dirty="0"/>
              <a:t>with ABC, selling expenses are no longer allocated to each channel based on a percentage of that channel’s sales revenues</a:t>
            </a:r>
            <a:r>
              <a:rPr lang="en-US" dirty="0"/>
              <a:t>. </a:t>
            </a:r>
            <a:r>
              <a:rPr lang="en-US" u="sng" dirty="0"/>
              <a:t>Instead, costs associated with each activity used to generate sales for a specific channel are allocated to that channel</a:t>
            </a:r>
            <a:r>
              <a:rPr lang="en-US" dirty="0"/>
              <a:t>. With ABC, a clearer picture of operating profits per channel emerges. In particular, the original equipment manufacturer channel appears to be much more profitable than the firm’s prior accounting system indicates.</a:t>
            </a:r>
          </a:p>
          <a:p>
            <a:r>
              <a:rPr lang="en-US" dirty="0"/>
              <a:t>ABC places greater emphasis on more accurately defining unit profitability by tracing activities and their associated costs directly to a specific unit. For example, using ABC analysis, the Doig Corporation was able to lower costs by identifying which tasks added value and which ones did not. For instance, it identified which customers could be served just as well by phone, saving both reps and the company time and money.</a:t>
            </a:r>
          </a:p>
        </p:txBody>
      </p:sp>
      <p:sp>
        <p:nvSpPr>
          <p:cNvPr id="4" name="Slide Number Placeholder 3"/>
          <p:cNvSpPr>
            <a:spLocks noGrp="1"/>
          </p:cNvSpPr>
          <p:nvPr>
            <p:ph type="sldNum" sz="quarter" idx="5"/>
          </p:nvPr>
        </p:nvSpPr>
        <p:spPr/>
        <p:txBody>
          <a:bodyPr/>
          <a:lstStyle/>
          <a:p>
            <a:fld id="{237E3A48-5816-4407-BD05-29482C893C3E}" type="slidenum">
              <a:rPr lang="en-US" altLang="en-US" smtClean="0"/>
              <a:pPr/>
              <a:t>34</a:t>
            </a:fld>
            <a:endParaRPr lang="en-US" altLang="en-US" dirty="0"/>
          </a:p>
        </p:txBody>
      </p:sp>
    </p:spTree>
    <p:extLst>
      <p:ext uri="{BB962C8B-B14F-4D97-AF65-F5344CB8AC3E}">
        <p14:creationId xmlns:p14="http://schemas.microsoft.com/office/powerpoint/2010/main" val="6992184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C5BE887F-F7BC-410D-812A-E9C5760D2C2D}" type="slidenum">
              <a:rPr lang="en-US"/>
              <a:pPr/>
              <a:t>35</a:t>
            </a:fld>
            <a:endParaRPr lang="en-US" dirty="0"/>
          </a:p>
        </p:txBody>
      </p:sp>
      <p:sp>
        <p:nvSpPr>
          <p:cNvPr id="6758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6758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17</a:t>
            </a:r>
          </a:p>
        </p:txBody>
      </p:sp>
      <p:sp>
        <p:nvSpPr>
          <p:cNvPr id="6758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6758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67590" name="Rectangle 6"/>
          <p:cNvSpPr>
            <a:spLocks noGrp="1" noRot="1" noChangeAspect="1" noChangeArrowheads="1" noTextEdit="1"/>
          </p:cNvSpPr>
          <p:nvPr>
            <p:ph type="sldImg"/>
          </p:nvPr>
        </p:nvSpPr>
        <p:spPr>
          <a:xfrm>
            <a:off x="1150938" y="692150"/>
            <a:ext cx="4556125" cy="3416300"/>
          </a:xfrm>
          <a:ln w="12700" cap="flat"/>
        </p:spPr>
      </p:sp>
      <p:sp>
        <p:nvSpPr>
          <p:cNvPr id="67591" name="Rectangle 7"/>
          <p:cNvSpPr>
            <a:spLocks noGrp="1" noChangeArrowheads="1"/>
          </p:cNvSpPr>
          <p:nvPr>
            <p:ph type="body" idx="1"/>
          </p:nvPr>
        </p:nvSpPr>
        <p:spPr>
          <a:xfrm>
            <a:off x="914400" y="4343400"/>
            <a:ext cx="5029200" cy="4114800"/>
          </a:xfrm>
          <a:ln/>
        </p:spPr>
        <p:txBody>
          <a:bodyPr lIns="90488" tIns="44450" rIns="90488" bIns="44450"/>
          <a:lstStyle/>
          <a:p>
            <a:r>
              <a:rPr lang="en-US" dirty="0"/>
              <a:t>The income statement approach to profitability assessment produces net profit or profit contribution in dollars or expressed as a percentage of sales. Although necessary and valuable, </a:t>
            </a:r>
            <a:r>
              <a:rPr lang="en-US" b="1" dirty="0"/>
              <a:t>the income statement approach is incomplete because it does not incorporate any evaluation of the investment in assets required to generate the net profit or profit contribution</a:t>
            </a:r>
            <a:r>
              <a:rPr lang="en-US" dirty="0"/>
              <a:t>.</a:t>
            </a:r>
          </a:p>
          <a:p>
            <a:r>
              <a:rPr lang="en-US" dirty="0"/>
              <a:t>The calculation of return on assets managed (ROAM) can extend the income statement analysis to include asset investment considerations.</a:t>
            </a:r>
          </a:p>
        </p:txBody>
      </p:sp>
    </p:spTree>
    <p:extLst>
      <p:ext uri="{BB962C8B-B14F-4D97-AF65-F5344CB8AC3E}">
        <p14:creationId xmlns:p14="http://schemas.microsoft.com/office/powerpoint/2010/main" val="4013069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7AE7A62-2C29-4710-B06B-86F885A82988}" type="slidenum">
              <a:rPr lang="en-US"/>
              <a:pPr/>
              <a:t>36</a:t>
            </a:fld>
            <a:endParaRPr lang="en-US" dirty="0"/>
          </a:p>
        </p:txBody>
      </p:sp>
      <p:sp>
        <p:nvSpPr>
          <p:cNvPr id="6963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6963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18</a:t>
            </a:r>
          </a:p>
        </p:txBody>
      </p:sp>
      <p:sp>
        <p:nvSpPr>
          <p:cNvPr id="6963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6963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69638" name="Rectangle 6"/>
          <p:cNvSpPr>
            <a:spLocks noGrp="1" noRot="1" noChangeAspect="1" noChangeArrowheads="1" noTextEdit="1"/>
          </p:cNvSpPr>
          <p:nvPr>
            <p:ph type="sldImg"/>
          </p:nvPr>
        </p:nvSpPr>
        <p:spPr>
          <a:xfrm>
            <a:off x="1150938" y="692150"/>
            <a:ext cx="4556125" cy="3416300"/>
          </a:xfrm>
          <a:ln w="12700" cap="flat"/>
        </p:spPr>
      </p:sp>
      <p:sp>
        <p:nvSpPr>
          <p:cNvPr id="69639"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13673532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93CCB0E7-64F1-4FC7-B836-F663877010B0}" type="slidenum">
              <a:rPr lang="en-US"/>
              <a:pPr/>
              <a:t>37</a:t>
            </a:fld>
            <a:endParaRPr lang="en-US" dirty="0"/>
          </a:p>
        </p:txBody>
      </p:sp>
      <p:sp>
        <p:nvSpPr>
          <p:cNvPr id="7168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7168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19</a:t>
            </a:r>
          </a:p>
        </p:txBody>
      </p:sp>
      <p:sp>
        <p:nvSpPr>
          <p:cNvPr id="7168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7168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71686" name="Rectangle 6"/>
          <p:cNvSpPr>
            <a:spLocks noGrp="1" noRot="1" noChangeAspect="1" noChangeArrowheads="1" noTextEdit="1"/>
          </p:cNvSpPr>
          <p:nvPr>
            <p:ph type="sldImg"/>
          </p:nvPr>
        </p:nvSpPr>
        <p:spPr>
          <a:xfrm>
            <a:off x="1150938" y="692150"/>
            <a:ext cx="4556125" cy="3416300"/>
          </a:xfrm>
          <a:ln w="12700" cap="flat"/>
        </p:spPr>
      </p:sp>
      <p:sp>
        <p:nvSpPr>
          <p:cNvPr id="71687" name="Rectangle 7"/>
          <p:cNvSpPr>
            <a:spLocks noGrp="1" noChangeArrowheads="1"/>
          </p:cNvSpPr>
          <p:nvPr>
            <p:ph type="body" idx="1"/>
          </p:nvPr>
        </p:nvSpPr>
        <p:spPr>
          <a:xfrm>
            <a:off x="914400" y="4343400"/>
            <a:ext cx="5029200" cy="4114800"/>
          </a:xfrm>
          <a:ln/>
        </p:spPr>
        <p:txBody>
          <a:bodyPr lIns="90488" tIns="44450" rIns="90488" bIns="44450"/>
          <a:lstStyle/>
          <a:p>
            <a:r>
              <a:rPr lang="en-US" dirty="0"/>
              <a:t>Productivity is typically measured in terms of ratios between outputs and inputs.</a:t>
            </a:r>
          </a:p>
        </p:txBody>
      </p:sp>
    </p:spTree>
    <p:extLst>
      <p:ext uri="{BB962C8B-B14F-4D97-AF65-F5344CB8AC3E}">
        <p14:creationId xmlns:p14="http://schemas.microsoft.com/office/powerpoint/2010/main" val="37455608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278E65F4-7D82-4328-AEB0-9F542695A36F}" type="slidenum">
              <a:rPr lang="en-US"/>
              <a:pPr/>
              <a:t>38</a:t>
            </a:fld>
            <a:endParaRPr lang="en-US" dirty="0"/>
          </a:p>
        </p:txBody>
      </p:sp>
      <p:sp>
        <p:nvSpPr>
          <p:cNvPr id="7373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7373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20</a:t>
            </a:r>
          </a:p>
        </p:txBody>
      </p:sp>
      <p:sp>
        <p:nvSpPr>
          <p:cNvPr id="7373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7373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73734" name="Rectangle 6"/>
          <p:cNvSpPr>
            <a:spLocks noGrp="1" noRot="1" noChangeAspect="1" noChangeArrowheads="1" noTextEdit="1"/>
          </p:cNvSpPr>
          <p:nvPr>
            <p:ph type="sldImg"/>
          </p:nvPr>
        </p:nvSpPr>
        <p:spPr>
          <a:xfrm>
            <a:off x="1150938" y="692150"/>
            <a:ext cx="4556125" cy="3416300"/>
          </a:xfrm>
          <a:ln w="12700" cap="flat"/>
        </p:spPr>
      </p:sp>
      <p:sp>
        <p:nvSpPr>
          <p:cNvPr id="73735"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38455390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30CE0BA2-F206-4037-B1AB-D41B77E0C573}" type="slidenum">
              <a:rPr lang="en-US"/>
              <a:pPr/>
              <a:t>39</a:t>
            </a:fld>
            <a:endParaRPr lang="en-US" dirty="0"/>
          </a:p>
        </p:txBody>
      </p:sp>
      <p:sp>
        <p:nvSpPr>
          <p:cNvPr id="2867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2867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7</a:t>
            </a:r>
          </a:p>
        </p:txBody>
      </p:sp>
      <p:sp>
        <p:nvSpPr>
          <p:cNvPr id="2867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2867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28678" name="Rectangle 6"/>
          <p:cNvSpPr>
            <a:spLocks noGrp="1" noRot="1" noChangeAspect="1" noChangeArrowheads="1" noTextEdit="1"/>
          </p:cNvSpPr>
          <p:nvPr>
            <p:ph type="sldImg"/>
          </p:nvPr>
        </p:nvSpPr>
        <p:spPr>
          <a:xfrm>
            <a:off x="1150938" y="692150"/>
            <a:ext cx="4556125" cy="3416300"/>
          </a:xfrm>
          <a:ln w="12700" cap="flat"/>
        </p:spPr>
      </p:sp>
      <p:sp>
        <p:nvSpPr>
          <p:cNvPr id="28679"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42139580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5CE2342-B4DA-442E-A22D-1B2F5996D9CF}" type="slidenum">
              <a:rPr lang="en-US"/>
              <a:pPr/>
              <a:t>40</a:t>
            </a:fld>
            <a:endParaRPr lang="en-US" dirty="0"/>
          </a:p>
        </p:txBody>
      </p:sp>
      <p:sp>
        <p:nvSpPr>
          <p:cNvPr id="3072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3072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8</a:t>
            </a:r>
          </a:p>
        </p:txBody>
      </p:sp>
      <p:sp>
        <p:nvSpPr>
          <p:cNvPr id="3072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3072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30726" name="Rectangle 6"/>
          <p:cNvSpPr>
            <a:spLocks noGrp="1" noRot="1" noChangeAspect="1" noChangeArrowheads="1" noTextEdit="1"/>
          </p:cNvSpPr>
          <p:nvPr>
            <p:ph type="sldImg"/>
          </p:nvPr>
        </p:nvSpPr>
        <p:spPr>
          <a:xfrm>
            <a:off x="1150938" y="692150"/>
            <a:ext cx="4556125" cy="3416300"/>
          </a:xfrm>
          <a:ln w="12700" cap="flat"/>
        </p:spPr>
      </p:sp>
      <p:sp>
        <p:nvSpPr>
          <p:cNvPr id="30727"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20372466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BEA190-9BE1-4222-B018-6E1DE5058083}" type="slidenum">
              <a:rPr lang="en-US" smtClean="0"/>
              <a:pPr/>
              <a:t>41</a:t>
            </a:fld>
            <a:endParaRPr lang="en-US" dirty="0"/>
          </a:p>
        </p:txBody>
      </p:sp>
    </p:spTree>
    <p:extLst>
      <p:ext uri="{BB962C8B-B14F-4D97-AF65-F5344CB8AC3E}">
        <p14:creationId xmlns:p14="http://schemas.microsoft.com/office/powerpoint/2010/main" val="24874758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BEA190-9BE1-4222-B018-6E1DE5058083}" type="slidenum">
              <a:rPr lang="en-US" smtClean="0"/>
              <a:pPr/>
              <a:t>46</a:t>
            </a:fld>
            <a:endParaRPr lang="en-US" dirty="0"/>
          </a:p>
        </p:txBody>
      </p:sp>
    </p:spTree>
    <p:extLst>
      <p:ext uri="{BB962C8B-B14F-4D97-AF65-F5344CB8AC3E}">
        <p14:creationId xmlns:p14="http://schemas.microsoft.com/office/powerpoint/2010/main" val="15285048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155" name="Rectangle 3"/>
          <p:cNvSpPr>
            <a:spLocks noGrp="1" noChangeArrowheads="1"/>
          </p:cNvSpPr>
          <p:nvPr>
            <p:ph type="ctrTitle"/>
          </p:nvPr>
        </p:nvSpPr>
        <p:spPr>
          <a:xfrm>
            <a:off x="228600" y="2514600"/>
            <a:ext cx="7467600" cy="1295400"/>
          </a:xfrm>
        </p:spPr>
        <p:txBody>
          <a:bodyPr anchor="t"/>
          <a:lstStyle>
            <a:lvl1pPr>
              <a:defRPr/>
            </a:lvl1pPr>
          </a:lstStyle>
          <a:p>
            <a:pPr lvl="0"/>
            <a:r>
              <a:rPr lang="en-US" altLang="en-US" noProof="0"/>
              <a:t>Click to edit Master title style</a:t>
            </a:r>
          </a:p>
        </p:txBody>
      </p:sp>
      <p:pic>
        <p:nvPicPr>
          <p:cNvPr id="49170" name="Picture 18" descr="Routledge_RGB.jpg                                              0003463BMacintosh HD                   BC35053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2761"/>
            <a:ext cx="1905000" cy="5348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546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393704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sz="half" idx="1"/>
          </p:nvPr>
        </p:nvSpPr>
        <p:spPr>
          <a:xfrm>
            <a:off x="406400" y="1557338"/>
            <a:ext cx="4025900" cy="4233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4700" y="1557338"/>
            <a:ext cx="4027488" cy="4233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4226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7599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Tree>
    <p:extLst>
      <p:ext uri="{BB962C8B-B14F-4D97-AF65-F5344CB8AC3E}">
        <p14:creationId xmlns:p14="http://schemas.microsoft.com/office/powerpoint/2010/main" val="602034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9237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32820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40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7747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1526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304800"/>
            <a:ext cx="63055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0433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155" name="Rectangle 3"/>
          <p:cNvSpPr>
            <a:spLocks noGrp="1" noChangeArrowheads="1"/>
          </p:cNvSpPr>
          <p:nvPr>
            <p:ph type="ctrTitle"/>
          </p:nvPr>
        </p:nvSpPr>
        <p:spPr>
          <a:xfrm>
            <a:off x="228600" y="2514600"/>
            <a:ext cx="7467600" cy="1295400"/>
          </a:xfrm>
          <a:solidFill>
            <a:schemeClr val="bg1">
              <a:lumMod val="85000"/>
            </a:schemeClr>
          </a:solidFill>
          <a:scene3d>
            <a:camera prst="orthographicFront"/>
            <a:lightRig rig="threePt" dir="t"/>
          </a:scene3d>
          <a:sp3d>
            <a:bevelT w="69850"/>
          </a:sp3d>
        </p:spPr>
        <p:txBody>
          <a:bodyPr anchor="t"/>
          <a:lstStyle>
            <a:lvl1pPr>
              <a:defRPr/>
            </a:lvl1pPr>
          </a:lstStyle>
          <a:p>
            <a:pPr lvl="0"/>
            <a:r>
              <a:rPr lang="en-US" altLang="en-US" noProof="0" dirty="0"/>
              <a:t>Click to edit Master title style</a:t>
            </a:r>
          </a:p>
        </p:txBody>
      </p:sp>
      <p:pic>
        <p:nvPicPr>
          <p:cNvPr id="5" name="Picture 18" descr="Routledge_RGB.jpg                                              0003463BMacintosh HD                   BC35053E:"/>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22761"/>
            <a:ext cx="1905000" cy="534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5960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983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3145454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sz="half" idx="1"/>
          </p:nvPr>
        </p:nvSpPr>
        <p:spPr>
          <a:xfrm>
            <a:off x="406400" y="1557338"/>
            <a:ext cx="4025900"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4700" y="1557338"/>
            <a:ext cx="4027488"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7241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01684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Tree>
    <p:extLst>
      <p:ext uri="{BB962C8B-B14F-4D97-AF65-F5344CB8AC3E}">
        <p14:creationId xmlns:p14="http://schemas.microsoft.com/office/powerpoint/2010/main" val="3381368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110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8367500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891300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98207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1526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304800"/>
            <a:ext cx="63055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63872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155" name="Rectangle 3"/>
          <p:cNvSpPr>
            <a:spLocks noGrp="1" noChangeArrowheads="1"/>
          </p:cNvSpPr>
          <p:nvPr>
            <p:ph type="ctrTitle"/>
          </p:nvPr>
        </p:nvSpPr>
        <p:spPr>
          <a:xfrm>
            <a:off x="228600" y="2514600"/>
            <a:ext cx="7467600" cy="1295400"/>
          </a:xfrm>
        </p:spPr>
        <p:txBody>
          <a:bodyPr anchor="t"/>
          <a:lstStyle>
            <a:lvl1pPr>
              <a:defRPr/>
            </a:lvl1pPr>
          </a:lstStyle>
          <a:p>
            <a:pPr lvl="0"/>
            <a:r>
              <a:rPr lang="en-US" altLang="en-US" noProof="0"/>
              <a:t>Click to edit Master title style</a:t>
            </a:r>
          </a:p>
        </p:txBody>
      </p:sp>
      <p:pic>
        <p:nvPicPr>
          <p:cNvPr id="49170" name="Picture 18" descr="Routledge_RGB.jpg                                              0003463BMacintosh HD                   BC35053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2761"/>
            <a:ext cx="1905000" cy="534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58033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61246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9440064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557338"/>
            <a:ext cx="4025900" cy="4233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4700" y="1557338"/>
            <a:ext cx="4027488" cy="4233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58807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62938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Tree>
    <p:extLst>
      <p:ext uri="{BB962C8B-B14F-4D97-AF65-F5344CB8AC3E}">
        <p14:creationId xmlns:p14="http://schemas.microsoft.com/office/powerpoint/2010/main" val="26932341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5558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688906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478103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52048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1526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304800"/>
            <a:ext cx="63055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9231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4.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bwMode="auto">
          <a:xfrm>
            <a:off x="152400" y="304800"/>
            <a:ext cx="8610600" cy="1066800"/>
          </a:xfrm>
          <a:prstGeom prst="rect">
            <a:avLst/>
          </a:prstGeom>
          <a:noFill/>
          <a:ln>
            <a:noFill/>
          </a:ln>
          <a:effectLst/>
          <a:extLst>
            <a:ext uri="{909E8E84-426E-40DD-AFC4-6F175D3DCCD1}">
              <a14:hiddenFill xmlns:a14="http://schemas.microsoft.com/office/drawing/2010/main">
                <a:solidFill>
                  <a:srgbClr val="11147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8132" name="Rectangle 4"/>
          <p:cNvSpPr>
            <a:spLocks noGrp="1" noChangeArrowheads="1"/>
          </p:cNvSpPr>
          <p:nvPr>
            <p:ph type="body" idx="1"/>
          </p:nvPr>
        </p:nvSpPr>
        <p:spPr bwMode="auto">
          <a:xfrm>
            <a:off x="406400" y="1557338"/>
            <a:ext cx="8205788"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pic>
        <p:nvPicPr>
          <p:cNvPr id="48146" name="Picture 18" descr="Routledge_RGB.jpg                                              0003463BMacintosh HD                   BC35053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6448389"/>
            <a:ext cx="1447800" cy="4061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ADDD5E6-C3D1-D93C-1E5A-9D0AB41B75D6}"/>
              </a:ext>
            </a:extLst>
          </p:cNvPr>
          <p:cNvSpPr txBox="1"/>
          <p:nvPr userDrawn="1">
            <p:extLst>
              <p:ext uri="{1162E1C5-73C7-4A58-AE30-91384D911F3F}">
                <p184:classification xmlns:p184="http://schemas.microsoft.com/office/powerpoint/2018/4/main" val="ftr"/>
              </p:ext>
            </p:extLst>
          </p:nvPr>
        </p:nvSpPr>
        <p:spPr>
          <a:xfrm>
            <a:off x="190500" y="6530340"/>
            <a:ext cx="1857375" cy="137160"/>
          </a:xfrm>
          <a:prstGeom prst="rect">
            <a:avLst/>
          </a:prstGeom>
        </p:spPr>
        <p:txBody>
          <a:bodyPr horzOverflow="overflow" lIns="0" tIns="0" rIns="0" bIns="0">
            <a:spAutoFit/>
          </a:bodyPr>
          <a:lstStyle/>
          <a:p>
            <a:pPr algn="l"/>
            <a:r>
              <a:rPr lang="en-GB" sz="900">
                <a:solidFill>
                  <a:srgbClr val="0078D7"/>
                </a:solidFill>
                <a:latin typeface="Rockwell" panose="02060603020205020403" pitchFamily="18" charset="0"/>
              </a:rPr>
              <a:t>Information Classification: General</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marL="192088" algn="l" rtl="0" eaLnBrk="1" fontAlgn="base" hangingPunct="1">
        <a:spcBef>
          <a:spcPct val="0"/>
        </a:spcBef>
        <a:spcAft>
          <a:spcPct val="0"/>
        </a:spcAft>
        <a:defRPr sz="36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itchFamily="66" charset="0"/>
        </a:defRPr>
      </a:lvl2pPr>
      <a:lvl3pPr marL="192088" algn="l" rtl="0" eaLnBrk="1" fontAlgn="base" hangingPunct="1">
        <a:spcBef>
          <a:spcPct val="0"/>
        </a:spcBef>
        <a:spcAft>
          <a:spcPct val="0"/>
        </a:spcAft>
        <a:defRPr sz="3600">
          <a:solidFill>
            <a:schemeClr val="tx2"/>
          </a:solidFill>
          <a:latin typeface="Verdana" pitchFamily="66" charset="0"/>
        </a:defRPr>
      </a:lvl3pPr>
      <a:lvl4pPr marL="192088" algn="l" rtl="0" eaLnBrk="1" fontAlgn="base" hangingPunct="1">
        <a:spcBef>
          <a:spcPct val="0"/>
        </a:spcBef>
        <a:spcAft>
          <a:spcPct val="0"/>
        </a:spcAft>
        <a:defRPr sz="3600">
          <a:solidFill>
            <a:schemeClr val="tx2"/>
          </a:solidFill>
          <a:latin typeface="Verdana" pitchFamily="66" charset="0"/>
        </a:defRPr>
      </a:lvl4pPr>
      <a:lvl5pPr marL="192088" algn="l" rtl="0" eaLnBrk="1" fontAlgn="base" hangingPunct="1">
        <a:spcBef>
          <a:spcPct val="0"/>
        </a:spcBef>
        <a:spcAft>
          <a:spcPct val="0"/>
        </a:spcAft>
        <a:defRPr sz="3600">
          <a:solidFill>
            <a:schemeClr val="tx2"/>
          </a:solidFill>
          <a:latin typeface="Verdana" pitchFamily="66" charset="0"/>
        </a:defRPr>
      </a:lvl5pPr>
      <a:lvl6pPr marL="649288" algn="l" rtl="0" eaLnBrk="1" fontAlgn="base" hangingPunct="1">
        <a:spcBef>
          <a:spcPct val="0"/>
        </a:spcBef>
        <a:spcAft>
          <a:spcPct val="0"/>
        </a:spcAft>
        <a:defRPr sz="3600">
          <a:solidFill>
            <a:schemeClr val="tx2"/>
          </a:solidFill>
          <a:latin typeface="Verdana" pitchFamily="66" charset="0"/>
        </a:defRPr>
      </a:lvl6pPr>
      <a:lvl7pPr marL="1106488" algn="l" rtl="0" eaLnBrk="1" fontAlgn="base" hangingPunct="1">
        <a:spcBef>
          <a:spcPct val="0"/>
        </a:spcBef>
        <a:spcAft>
          <a:spcPct val="0"/>
        </a:spcAft>
        <a:defRPr sz="3600">
          <a:solidFill>
            <a:schemeClr val="tx2"/>
          </a:solidFill>
          <a:latin typeface="Verdana" pitchFamily="66" charset="0"/>
        </a:defRPr>
      </a:lvl7pPr>
      <a:lvl8pPr marL="1563688" algn="l" rtl="0" eaLnBrk="1" fontAlgn="base" hangingPunct="1">
        <a:spcBef>
          <a:spcPct val="0"/>
        </a:spcBef>
        <a:spcAft>
          <a:spcPct val="0"/>
        </a:spcAft>
        <a:defRPr sz="3600">
          <a:solidFill>
            <a:schemeClr val="tx2"/>
          </a:solidFill>
          <a:latin typeface="Verdana" pitchFamily="66" charset="0"/>
        </a:defRPr>
      </a:lvl8pPr>
      <a:lvl9pPr marL="2020888" algn="l" rtl="0" eaLnBrk="1" fontAlgn="base" hangingPunct="1">
        <a:spcBef>
          <a:spcPct val="0"/>
        </a:spcBef>
        <a:spcAft>
          <a:spcPct val="0"/>
        </a:spcAft>
        <a:defRPr sz="3600">
          <a:solidFill>
            <a:schemeClr val="tx2"/>
          </a:solidFill>
          <a:latin typeface="Verdana" pitchFamily="66" charset="0"/>
        </a:defRPr>
      </a:lvl9pPr>
    </p:titleStyle>
    <p:bodyStyle>
      <a:lvl1pPr marL="292100" indent="-292100" algn="l" rtl="0" eaLnBrk="1" fontAlgn="base" hangingPunct="1">
        <a:spcBef>
          <a:spcPct val="20000"/>
        </a:spcBef>
        <a:spcAft>
          <a:spcPct val="0"/>
        </a:spcAft>
        <a:buClr>
          <a:srgbClr val="0A57A5"/>
        </a:buClr>
        <a:buChar char="•"/>
        <a:defRPr sz="2400">
          <a:solidFill>
            <a:schemeClr val="tx2"/>
          </a:solidFill>
          <a:latin typeface="Arial" panose="020B0604020202020204" pitchFamily="34" charset="0"/>
          <a:ea typeface="+mn-ea"/>
          <a:cs typeface="Arial" panose="020B0604020202020204" pitchFamily="34" charset="0"/>
        </a:defRPr>
      </a:lvl1pPr>
      <a:lvl2pPr marL="673100" indent="-190500" algn="l" rtl="0" eaLnBrk="1" fontAlgn="base" hangingPunct="1">
        <a:spcBef>
          <a:spcPct val="20000"/>
        </a:spcBef>
        <a:spcAft>
          <a:spcPct val="0"/>
        </a:spcAft>
        <a:buClr>
          <a:srgbClr val="0A57A5"/>
        </a:buClr>
        <a:buFont typeface="Times"/>
        <a:buChar char="•"/>
        <a:defRPr sz="2000">
          <a:solidFill>
            <a:srgbClr val="1A137B"/>
          </a:solidFill>
          <a:latin typeface="Arial" panose="020B0604020202020204" pitchFamily="34" charset="0"/>
          <a:cs typeface="Arial" panose="020B0604020202020204" pitchFamily="34" charset="0"/>
        </a:defRPr>
      </a:lvl2pPr>
      <a:lvl3pPr marL="1054100" indent="-190500" algn="l" rtl="0" eaLnBrk="1" fontAlgn="base" hangingPunct="1">
        <a:spcBef>
          <a:spcPct val="20000"/>
        </a:spcBef>
        <a:spcAft>
          <a:spcPct val="0"/>
        </a:spcAft>
        <a:buClr>
          <a:srgbClr val="0A57A5"/>
        </a:buClr>
        <a:buFont typeface="Times"/>
        <a:buChar char="•"/>
        <a:defRPr>
          <a:solidFill>
            <a:srgbClr val="1A137B"/>
          </a:solidFill>
          <a:latin typeface="Arial" panose="020B0604020202020204" pitchFamily="34" charset="0"/>
          <a:cs typeface="Arial" panose="020B0604020202020204" pitchFamily="34" charset="0"/>
        </a:defRPr>
      </a:lvl3pPr>
      <a:lvl4pPr marL="1435100" indent="-190500" algn="l" rtl="0" eaLnBrk="1" fontAlgn="base" hangingPunct="1">
        <a:spcBef>
          <a:spcPct val="20000"/>
        </a:spcBef>
        <a:spcAft>
          <a:spcPct val="0"/>
        </a:spcAft>
        <a:buClr>
          <a:srgbClr val="0A57A5"/>
        </a:buClr>
        <a:buFont typeface="Times"/>
        <a:buChar char="•"/>
        <a:defRPr sz="1600">
          <a:solidFill>
            <a:srgbClr val="1A137B"/>
          </a:solidFill>
          <a:latin typeface="Arial" panose="020B0604020202020204" pitchFamily="34" charset="0"/>
          <a:cs typeface="Arial" panose="020B0604020202020204" pitchFamily="34" charset="0"/>
        </a:defRPr>
      </a:lvl4pPr>
      <a:lvl5pPr marL="1816100" indent="-190500" algn="l" rtl="0" eaLnBrk="1" fontAlgn="base" hangingPunct="1">
        <a:spcBef>
          <a:spcPct val="20000"/>
        </a:spcBef>
        <a:spcAft>
          <a:spcPct val="0"/>
        </a:spcAft>
        <a:buClr>
          <a:srgbClr val="0A57A5"/>
        </a:buClr>
        <a:buFont typeface="Times"/>
        <a:buChar char="•"/>
        <a:defRPr sz="1600">
          <a:solidFill>
            <a:srgbClr val="1A137B"/>
          </a:solidFill>
          <a:latin typeface="Arial" panose="020B0604020202020204" pitchFamily="34" charset="0"/>
          <a:cs typeface="Arial" panose="020B0604020202020204" pitchFamily="34" charset="0"/>
        </a:defRPr>
      </a:lvl5pPr>
      <a:lvl6pPr marL="22733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6pPr>
      <a:lvl7pPr marL="27305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7pPr>
      <a:lvl8pPr marL="31877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8pPr>
      <a:lvl9pPr marL="36449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bwMode="auto">
          <a:xfrm>
            <a:off x="152400" y="304800"/>
            <a:ext cx="8610600" cy="1066800"/>
          </a:xfrm>
          <a:prstGeom prst="rect">
            <a:avLst/>
          </a:prstGeom>
          <a:noFill/>
          <a:ln>
            <a:noFill/>
          </a:ln>
          <a:effectLst/>
          <a:extLst>
            <a:ext uri="{909E8E84-426E-40DD-AFC4-6F175D3DCCD1}">
              <a14:hiddenFill xmlns:a14="http://schemas.microsoft.com/office/drawing/2010/main">
                <a:solidFill>
                  <a:srgbClr val="11147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48132" name="Rectangle 4"/>
          <p:cNvSpPr>
            <a:spLocks noGrp="1" noChangeArrowheads="1"/>
          </p:cNvSpPr>
          <p:nvPr>
            <p:ph type="body" idx="1"/>
          </p:nvPr>
        </p:nvSpPr>
        <p:spPr bwMode="auto">
          <a:xfrm>
            <a:off x="406400" y="1557338"/>
            <a:ext cx="8205788"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5" name="Picture 18" descr="Routledge_RGB.jpg                                              0003463BMacintosh HD                   BC35053E:"/>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6448389"/>
            <a:ext cx="1447800" cy="4061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52A3784-38C7-927B-9A7E-BA3C94A74B4D}"/>
              </a:ext>
            </a:extLst>
          </p:cNvPr>
          <p:cNvSpPr txBox="1"/>
          <p:nvPr userDrawn="1">
            <p:extLst>
              <p:ext uri="{1162E1C5-73C7-4A58-AE30-91384D911F3F}">
                <p184:classification xmlns:p184="http://schemas.microsoft.com/office/powerpoint/2018/4/main" val="ftr"/>
              </p:ext>
            </p:extLst>
          </p:nvPr>
        </p:nvSpPr>
        <p:spPr>
          <a:xfrm>
            <a:off x="190500" y="6530340"/>
            <a:ext cx="1857375" cy="137160"/>
          </a:xfrm>
          <a:prstGeom prst="rect">
            <a:avLst/>
          </a:prstGeom>
        </p:spPr>
        <p:txBody>
          <a:bodyPr horzOverflow="overflow" lIns="0" tIns="0" rIns="0" bIns="0">
            <a:spAutoFit/>
          </a:bodyPr>
          <a:lstStyle/>
          <a:p>
            <a:pPr algn="l"/>
            <a:r>
              <a:rPr lang="en-GB" sz="900">
                <a:solidFill>
                  <a:srgbClr val="0078D7"/>
                </a:solidFill>
                <a:latin typeface="Rockwell" panose="02060603020205020403" pitchFamily="18" charset="0"/>
              </a:rPr>
              <a:t>Information Classification: General</a:t>
            </a:r>
          </a:p>
        </p:txBody>
      </p:sp>
    </p:spTree>
    <p:extLst>
      <p:ext uri="{BB962C8B-B14F-4D97-AF65-F5344CB8AC3E}">
        <p14:creationId xmlns:p14="http://schemas.microsoft.com/office/powerpoint/2010/main" val="424414109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p:titleStyle>
    <p:bodyStyle>
      <a:lvl1pPr marL="292100" indent="-292100" algn="l" rtl="0" eaLnBrk="1" fontAlgn="base" hangingPunct="1">
        <a:spcBef>
          <a:spcPct val="20000"/>
        </a:spcBef>
        <a:spcAft>
          <a:spcPct val="0"/>
        </a:spcAft>
        <a:buClr>
          <a:srgbClr val="0A57A5"/>
        </a:buClr>
        <a:buChar char="•"/>
        <a:defRPr sz="2400" kern="1200">
          <a:solidFill>
            <a:schemeClr val="tx2"/>
          </a:solidFill>
          <a:latin typeface="Arial" panose="020B0604020202020204" pitchFamily="34" charset="0"/>
          <a:ea typeface="+mn-ea"/>
          <a:cs typeface="Arial" panose="020B0604020202020204" pitchFamily="34" charset="0"/>
        </a:defRPr>
      </a:lvl1pPr>
      <a:lvl2pPr marL="673100" indent="-190500" algn="l" rtl="0" eaLnBrk="1" fontAlgn="base" hangingPunct="1">
        <a:spcBef>
          <a:spcPct val="20000"/>
        </a:spcBef>
        <a:spcAft>
          <a:spcPct val="0"/>
        </a:spcAft>
        <a:buClr>
          <a:srgbClr val="0A57A5"/>
        </a:buClr>
        <a:buFont typeface="Times" panose="02020603050405020304" pitchFamily="18" charset="0"/>
        <a:buChar char="•"/>
        <a:defRPr sz="2000" kern="1200">
          <a:solidFill>
            <a:srgbClr val="1A137B"/>
          </a:solidFill>
          <a:latin typeface="Arial" panose="020B0604020202020204" pitchFamily="34" charset="0"/>
          <a:ea typeface="+mn-ea"/>
          <a:cs typeface="Arial" panose="020B0604020202020204" pitchFamily="34" charset="0"/>
        </a:defRPr>
      </a:lvl2pPr>
      <a:lvl3pPr marL="1054100" indent="-190500" algn="l" rtl="0" eaLnBrk="1" fontAlgn="base" hangingPunct="1">
        <a:spcBef>
          <a:spcPct val="20000"/>
        </a:spcBef>
        <a:spcAft>
          <a:spcPct val="0"/>
        </a:spcAft>
        <a:buClr>
          <a:srgbClr val="0A57A5"/>
        </a:buClr>
        <a:buFont typeface="Times" panose="02020603050405020304" pitchFamily="18" charset="0"/>
        <a:buChar char="•"/>
        <a:defRPr kern="1200">
          <a:solidFill>
            <a:srgbClr val="1A137B"/>
          </a:solidFill>
          <a:latin typeface="Arial" panose="020B0604020202020204" pitchFamily="34" charset="0"/>
          <a:ea typeface="+mn-ea"/>
          <a:cs typeface="Arial" panose="020B0604020202020204" pitchFamily="34" charset="0"/>
        </a:defRPr>
      </a:lvl3pPr>
      <a:lvl4pPr marL="1435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4pPr>
      <a:lvl5pPr marL="1816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bwMode="auto">
          <a:xfrm>
            <a:off x="152400" y="304800"/>
            <a:ext cx="8610600" cy="1066800"/>
          </a:xfrm>
          <a:prstGeom prst="rect">
            <a:avLst/>
          </a:prstGeom>
          <a:noFill/>
          <a:ln>
            <a:noFill/>
          </a:ln>
          <a:effectLst/>
          <a:extLst>
            <a:ext uri="{909E8E84-426E-40DD-AFC4-6F175D3DCCD1}">
              <a14:hiddenFill xmlns:a14="http://schemas.microsoft.com/office/drawing/2010/main">
                <a:solidFill>
                  <a:srgbClr val="11147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8132" name="Rectangle 4"/>
          <p:cNvSpPr>
            <a:spLocks noGrp="1" noChangeArrowheads="1"/>
          </p:cNvSpPr>
          <p:nvPr>
            <p:ph type="body" idx="1"/>
          </p:nvPr>
        </p:nvSpPr>
        <p:spPr bwMode="auto">
          <a:xfrm>
            <a:off x="406400" y="1557338"/>
            <a:ext cx="8205788"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48146" name="Picture 18" descr="Routledge_RGB.jpg                                              0003463BMacintosh HD                   BC35053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6448389"/>
            <a:ext cx="1447800" cy="4061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1F942C7-45F0-372B-CDEC-0C97BB81F8C7}"/>
              </a:ext>
            </a:extLst>
          </p:cNvPr>
          <p:cNvSpPr txBox="1"/>
          <p:nvPr userDrawn="1">
            <p:extLst>
              <p:ext uri="{1162E1C5-73C7-4A58-AE30-91384D911F3F}">
                <p184:classification xmlns:p184="http://schemas.microsoft.com/office/powerpoint/2018/4/main" val="ftr"/>
              </p:ext>
            </p:extLst>
          </p:nvPr>
        </p:nvSpPr>
        <p:spPr>
          <a:xfrm>
            <a:off x="190500" y="6530340"/>
            <a:ext cx="1857375" cy="137160"/>
          </a:xfrm>
          <a:prstGeom prst="rect">
            <a:avLst/>
          </a:prstGeom>
        </p:spPr>
        <p:txBody>
          <a:bodyPr horzOverflow="overflow" lIns="0" tIns="0" rIns="0" bIns="0">
            <a:spAutoFit/>
          </a:bodyPr>
          <a:lstStyle/>
          <a:p>
            <a:pPr algn="l"/>
            <a:r>
              <a:rPr lang="en-GB" sz="900">
                <a:solidFill>
                  <a:srgbClr val="0078D7"/>
                </a:solidFill>
                <a:latin typeface="Rockwell" panose="02060603020205020403" pitchFamily="18" charset="0"/>
              </a:rPr>
              <a:t>Information Classification: General</a:t>
            </a:r>
          </a:p>
        </p:txBody>
      </p:sp>
    </p:spTree>
    <p:extLst>
      <p:ext uri="{BB962C8B-B14F-4D97-AF65-F5344CB8AC3E}">
        <p14:creationId xmlns:p14="http://schemas.microsoft.com/office/powerpoint/2010/main" val="1213079523"/>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marL="192088" algn="l" rtl="0" eaLnBrk="1" fontAlgn="base" hangingPunct="1">
        <a:spcBef>
          <a:spcPct val="0"/>
        </a:spcBef>
        <a:spcAft>
          <a:spcPct val="0"/>
        </a:spcAft>
        <a:defRPr sz="3600">
          <a:solidFill>
            <a:schemeClr val="tx2"/>
          </a:solidFill>
          <a:latin typeface="+mj-lt"/>
          <a:ea typeface="+mj-ea"/>
          <a:cs typeface="+mj-cs"/>
        </a:defRPr>
      </a:lvl1pPr>
      <a:lvl2pPr marL="192088" algn="l" rtl="0" eaLnBrk="1" fontAlgn="base" hangingPunct="1">
        <a:spcBef>
          <a:spcPct val="0"/>
        </a:spcBef>
        <a:spcAft>
          <a:spcPct val="0"/>
        </a:spcAft>
        <a:defRPr sz="3600">
          <a:solidFill>
            <a:schemeClr val="tx2"/>
          </a:solidFill>
          <a:latin typeface="Verdana" pitchFamily="66" charset="0"/>
        </a:defRPr>
      </a:lvl2pPr>
      <a:lvl3pPr marL="192088" algn="l" rtl="0" eaLnBrk="1" fontAlgn="base" hangingPunct="1">
        <a:spcBef>
          <a:spcPct val="0"/>
        </a:spcBef>
        <a:spcAft>
          <a:spcPct val="0"/>
        </a:spcAft>
        <a:defRPr sz="3600">
          <a:solidFill>
            <a:schemeClr val="tx2"/>
          </a:solidFill>
          <a:latin typeface="Verdana" pitchFamily="66" charset="0"/>
        </a:defRPr>
      </a:lvl3pPr>
      <a:lvl4pPr marL="192088" algn="l" rtl="0" eaLnBrk="1" fontAlgn="base" hangingPunct="1">
        <a:spcBef>
          <a:spcPct val="0"/>
        </a:spcBef>
        <a:spcAft>
          <a:spcPct val="0"/>
        </a:spcAft>
        <a:defRPr sz="3600">
          <a:solidFill>
            <a:schemeClr val="tx2"/>
          </a:solidFill>
          <a:latin typeface="Verdana" pitchFamily="66" charset="0"/>
        </a:defRPr>
      </a:lvl4pPr>
      <a:lvl5pPr marL="192088" algn="l" rtl="0" eaLnBrk="1" fontAlgn="base" hangingPunct="1">
        <a:spcBef>
          <a:spcPct val="0"/>
        </a:spcBef>
        <a:spcAft>
          <a:spcPct val="0"/>
        </a:spcAft>
        <a:defRPr sz="3600">
          <a:solidFill>
            <a:schemeClr val="tx2"/>
          </a:solidFill>
          <a:latin typeface="Verdana" pitchFamily="66" charset="0"/>
        </a:defRPr>
      </a:lvl5pPr>
      <a:lvl6pPr marL="649288" algn="l" rtl="0" eaLnBrk="1" fontAlgn="base" hangingPunct="1">
        <a:spcBef>
          <a:spcPct val="0"/>
        </a:spcBef>
        <a:spcAft>
          <a:spcPct val="0"/>
        </a:spcAft>
        <a:defRPr sz="3600">
          <a:solidFill>
            <a:schemeClr val="tx2"/>
          </a:solidFill>
          <a:latin typeface="Verdana" pitchFamily="66" charset="0"/>
        </a:defRPr>
      </a:lvl6pPr>
      <a:lvl7pPr marL="1106488" algn="l" rtl="0" eaLnBrk="1" fontAlgn="base" hangingPunct="1">
        <a:spcBef>
          <a:spcPct val="0"/>
        </a:spcBef>
        <a:spcAft>
          <a:spcPct val="0"/>
        </a:spcAft>
        <a:defRPr sz="3600">
          <a:solidFill>
            <a:schemeClr val="tx2"/>
          </a:solidFill>
          <a:latin typeface="Verdana" pitchFamily="66" charset="0"/>
        </a:defRPr>
      </a:lvl7pPr>
      <a:lvl8pPr marL="1563688" algn="l" rtl="0" eaLnBrk="1" fontAlgn="base" hangingPunct="1">
        <a:spcBef>
          <a:spcPct val="0"/>
        </a:spcBef>
        <a:spcAft>
          <a:spcPct val="0"/>
        </a:spcAft>
        <a:defRPr sz="3600">
          <a:solidFill>
            <a:schemeClr val="tx2"/>
          </a:solidFill>
          <a:latin typeface="Verdana" pitchFamily="66" charset="0"/>
        </a:defRPr>
      </a:lvl8pPr>
      <a:lvl9pPr marL="2020888" algn="l" rtl="0" eaLnBrk="1" fontAlgn="base" hangingPunct="1">
        <a:spcBef>
          <a:spcPct val="0"/>
        </a:spcBef>
        <a:spcAft>
          <a:spcPct val="0"/>
        </a:spcAft>
        <a:defRPr sz="3600">
          <a:solidFill>
            <a:schemeClr val="tx2"/>
          </a:solidFill>
          <a:latin typeface="Verdana" pitchFamily="66" charset="0"/>
        </a:defRPr>
      </a:lvl9pPr>
    </p:titleStyle>
    <p:bodyStyle>
      <a:lvl1pPr marL="292100" indent="-292100" algn="l" rtl="0" eaLnBrk="1" fontAlgn="base" hangingPunct="1">
        <a:spcBef>
          <a:spcPct val="20000"/>
        </a:spcBef>
        <a:spcAft>
          <a:spcPct val="0"/>
        </a:spcAft>
        <a:buClr>
          <a:srgbClr val="0A57A5"/>
        </a:buClr>
        <a:buChar char="•"/>
        <a:defRPr sz="2400">
          <a:solidFill>
            <a:schemeClr val="tx2"/>
          </a:solidFill>
          <a:latin typeface="+mn-lt"/>
          <a:ea typeface="+mn-ea"/>
          <a:cs typeface="+mn-cs"/>
        </a:defRPr>
      </a:lvl1pPr>
      <a:lvl2pPr marL="673100" indent="-190500" algn="l" rtl="0" eaLnBrk="1" fontAlgn="base" hangingPunct="1">
        <a:spcBef>
          <a:spcPct val="20000"/>
        </a:spcBef>
        <a:spcAft>
          <a:spcPct val="0"/>
        </a:spcAft>
        <a:buClr>
          <a:srgbClr val="0A57A5"/>
        </a:buClr>
        <a:buFont typeface="Times"/>
        <a:buChar char="•"/>
        <a:defRPr sz="2000">
          <a:solidFill>
            <a:srgbClr val="1A137B"/>
          </a:solidFill>
          <a:latin typeface="+mn-lt"/>
        </a:defRPr>
      </a:lvl2pPr>
      <a:lvl3pPr marL="1054100" indent="-190500" algn="l" rtl="0" eaLnBrk="1" fontAlgn="base" hangingPunct="1">
        <a:spcBef>
          <a:spcPct val="20000"/>
        </a:spcBef>
        <a:spcAft>
          <a:spcPct val="0"/>
        </a:spcAft>
        <a:buClr>
          <a:srgbClr val="0A57A5"/>
        </a:buClr>
        <a:buFont typeface="Times"/>
        <a:buChar char="•"/>
        <a:defRPr>
          <a:solidFill>
            <a:srgbClr val="1A137B"/>
          </a:solidFill>
          <a:latin typeface="+mn-lt"/>
        </a:defRPr>
      </a:lvl3pPr>
      <a:lvl4pPr marL="14351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4pPr>
      <a:lvl5pPr marL="18161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5pPr>
      <a:lvl6pPr marL="22733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6pPr>
      <a:lvl7pPr marL="27305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7pPr>
      <a:lvl8pPr marL="31877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8pPr>
      <a:lvl9pPr marL="36449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t0Lc4NBWlQY?start=4&amp;feature=oembed" TargetMode="External"/><Relationship Id="rId5" Type="http://schemas.openxmlformats.org/officeDocument/2006/relationships/image" Target="../media/image11.jpe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microsoft.com/office/2007/relationships/hdphoto" Target="../media/hdphoto2.wdp"/></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ideo" Target="https://www.youtube.com/embed/tj8Saa1MbrI" TargetMode="External"/><Relationship Id="rId4" Type="http://schemas.openxmlformats.org/officeDocument/2006/relationships/image" Target="../media/image27.jpeg"/></Relationships>
</file>

<file path=ppt/slides/_rels/slide4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16A8ED4-9B1B-44CB-B7F3-49C8019E0B0B}"/>
              </a:ext>
            </a:extLst>
          </p:cNvPr>
          <p:cNvSpPr>
            <a:spLocks noGrp="1"/>
          </p:cNvSpPr>
          <p:nvPr>
            <p:ph sz="half" idx="2"/>
          </p:nvPr>
        </p:nvSpPr>
        <p:spPr>
          <a:xfrm>
            <a:off x="4621824" y="1447800"/>
            <a:ext cx="4495799" cy="4233862"/>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0" indent="0">
              <a:buNone/>
            </a:pPr>
            <a:r>
              <a:rPr lang="en-US" altLang="en-US" sz="4000" kern="0" dirty="0"/>
              <a:t>Chapter 9</a:t>
            </a:r>
          </a:p>
          <a:p>
            <a:pPr marL="0" indent="0">
              <a:buNone/>
            </a:pPr>
            <a:br>
              <a:rPr lang="en-US" altLang="en-US" sz="4000" kern="0" dirty="0"/>
            </a:br>
            <a:r>
              <a:rPr lang="en-US" altLang="en-US" sz="4000" kern="0" dirty="0">
                <a:solidFill>
                  <a:srgbClr val="11147D"/>
                </a:solidFill>
              </a:rPr>
              <a:t>Evaluating the Effectiveness </a:t>
            </a:r>
            <a:br>
              <a:rPr lang="en-US" altLang="en-US" sz="4000" kern="0" dirty="0">
                <a:solidFill>
                  <a:srgbClr val="11147D"/>
                </a:solidFill>
              </a:rPr>
            </a:br>
            <a:r>
              <a:rPr lang="en-US" altLang="en-US" sz="4000" kern="0" dirty="0">
                <a:solidFill>
                  <a:srgbClr val="11147D"/>
                </a:solidFill>
              </a:rPr>
              <a:t>of the Organization</a:t>
            </a:r>
            <a:endParaRPr lang="en-US" sz="4000" dirty="0"/>
          </a:p>
        </p:txBody>
      </p:sp>
      <p:pic>
        <p:nvPicPr>
          <p:cNvPr id="1026" name="Picture 2" descr="Sales Management: Analysis and Decision Making book cover">
            <a:extLst>
              <a:ext uri="{FF2B5EF4-FFF2-40B4-BE49-F238E27FC236}">
                <a16:creationId xmlns:a16="http://schemas.microsoft.com/office/drawing/2014/main" id="{2A0ED225-7B2F-4518-83C2-55C50A7468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785" y="457200"/>
            <a:ext cx="4105275" cy="54893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Grp="1" noChangeArrowheads="1"/>
          </p:cNvSpPr>
          <p:nvPr>
            <p:ph type="title"/>
          </p:nvPr>
        </p:nvSpPr>
        <p:spPr>
          <a:solidFill>
            <a:schemeClr val="bg2">
              <a:lumMod val="60000"/>
              <a:lumOff val="40000"/>
            </a:schemeClr>
          </a:solidFill>
          <a:scene3d>
            <a:camera prst="orthographicFront"/>
            <a:lightRig rig="threePt" dir="t"/>
          </a:scene3d>
          <a:sp3d>
            <a:bevelT w="69850"/>
          </a:sp3d>
        </p:spPr>
        <p:txBody>
          <a:bodyPr/>
          <a:lstStyle/>
          <a:p>
            <a:r>
              <a:rPr lang="en-US" dirty="0"/>
              <a:t>Learning Objectives</a:t>
            </a:r>
          </a:p>
        </p:txBody>
      </p:sp>
      <p:sp>
        <p:nvSpPr>
          <p:cNvPr id="74756" name="Rectangle 4"/>
          <p:cNvSpPr>
            <a:spLocks noGrp="1" noChangeArrowheads="1"/>
          </p:cNvSpPr>
          <p:nvPr>
            <p:ph idx="1"/>
          </p:nvPr>
        </p:nvSpPr>
        <p:spPr/>
        <p:txBody>
          <a:bodyPr/>
          <a:lstStyle/>
          <a:p>
            <a:pPr marL="533400" indent="-533400">
              <a:lnSpc>
                <a:spcPct val="90000"/>
              </a:lnSpc>
              <a:buFontTx/>
              <a:buAutoNum type="arabicPeriod"/>
            </a:pPr>
            <a:r>
              <a:rPr lang="en-US" sz="2200" dirty="0"/>
              <a:t>Differentiate between sales organization effectiveness and salesperson performance.  </a:t>
            </a:r>
            <a:br>
              <a:rPr lang="en-US" sz="2200" dirty="0"/>
            </a:br>
            <a:endParaRPr lang="en-US" sz="2200" dirty="0"/>
          </a:p>
          <a:p>
            <a:pPr marL="533400" indent="-533400">
              <a:lnSpc>
                <a:spcPct val="90000"/>
              </a:lnSpc>
              <a:buFontTx/>
              <a:buAutoNum type="arabicPeriod"/>
            </a:pPr>
            <a:r>
              <a:rPr lang="en-US" sz="2200" dirty="0"/>
              <a:t>Define a sales organization audit and discuss how it should be conducted.</a:t>
            </a:r>
            <a:br>
              <a:rPr lang="en-US" sz="2200" dirty="0"/>
            </a:br>
            <a:endParaRPr lang="en-US" sz="2200" dirty="0"/>
          </a:p>
          <a:p>
            <a:pPr marL="533400" indent="-533400">
              <a:lnSpc>
                <a:spcPct val="90000"/>
              </a:lnSpc>
              <a:buFontTx/>
              <a:buAutoNum type="arabicPeriod"/>
            </a:pPr>
            <a:r>
              <a:rPr lang="en-US" sz="2200" dirty="0"/>
              <a:t>Describe how to perform different methods of sales analyses for different organizational levels and types of sales.</a:t>
            </a:r>
            <a:br>
              <a:rPr lang="en-US" sz="2200" dirty="0"/>
            </a:br>
            <a:endParaRPr lang="en-US" sz="2200" dirty="0"/>
          </a:p>
          <a:p>
            <a:pPr marL="533400" indent="-533400">
              <a:lnSpc>
                <a:spcPct val="90000"/>
              </a:lnSpc>
              <a:buFontTx/>
              <a:buAutoNum type="arabicPeriod"/>
            </a:pPr>
            <a:r>
              <a:rPr lang="en-US" sz="2200" dirty="0"/>
              <a:t>Describe how to perform a cost analysis for a sales organization.  </a:t>
            </a:r>
          </a:p>
        </p:txBody>
      </p:sp>
    </p:spTree>
    <p:extLst>
      <p:ext uri="{BB962C8B-B14F-4D97-AF65-F5344CB8AC3E}">
        <p14:creationId xmlns:p14="http://schemas.microsoft.com/office/powerpoint/2010/main" val="1021847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type="title"/>
          </p:nvPr>
        </p:nvSpPr>
        <p:spPr>
          <a:solidFill>
            <a:schemeClr val="bg2">
              <a:lumMod val="60000"/>
              <a:lumOff val="40000"/>
            </a:schemeClr>
          </a:solidFill>
        </p:spPr>
        <p:txBody>
          <a:bodyPr/>
          <a:lstStyle/>
          <a:p>
            <a:r>
              <a:rPr lang="en-US" dirty="0"/>
              <a:t>Learning Objectives</a:t>
            </a:r>
          </a:p>
        </p:txBody>
      </p:sp>
      <p:sp>
        <p:nvSpPr>
          <p:cNvPr id="75780" name="Rectangle 4"/>
          <p:cNvSpPr>
            <a:spLocks noGrp="1" noChangeArrowheads="1"/>
          </p:cNvSpPr>
          <p:nvPr>
            <p:ph idx="1"/>
          </p:nvPr>
        </p:nvSpPr>
        <p:spPr/>
        <p:txBody>
          <a:bodyPr/>
          <a:lstStyle/>
          <a:p>
            <a:pPr marL="533400" indent="-533400">
              <a:lnSpc>
                <a:spcPct val="90000"/>
              </a:lnSpc>
              <a:buFontTx/>
              <a:buAutoNum type="arabicPeriod" startAt="5"/>
            </a:pPr>
            <a:r>
              <a:rPr lang="en-US" sz="2200" dirty="0"/>
              <a:t>Describe how to perform an income statement analysis, activity-based costing, and return on assets managed to assess sales organization profitability.  </a:t>
            </a:r>
            <a:br>
              <a:rPr lang="en-US" sz="2200" dirty="0"/>
            </a:br>
            <a:endParaRPr lang="en-US" sz="2200" dirty="0"/>
          </a:p>
          <a:p>
            <a:pPr marL="533400" indent="-533400">
              <a:lnSpc>
                <a:spcPct val="90000"/>
              </a:lnSpc>
              <a:buFontTx/>
              <a:buAutoNum type="arabicPeriod" startAt="5"/>
            </a:pPr>
            <a:r>
              <a:rPr lang="en-US" sz="2200" dirty="0"/>
              <a:t>Describe how to perform a productivity analysis for a sales organization.</a:t>
            </a:r>
            <a:br>
              <a:rPr lang="en-US" sz="2200" dirty="0"/>
            </a:br>
            <a:r>
              <a:rPr lang="en-US" sz="2200" dirty="0"/>
              <a:t> </a:t>
            </a:r>
          </a:p>
          <a:p>
            <a:pPr marL="533400" indent="-533400">
              <a:lnSpc>
                <a:spcPct val="90000"/>
              </a:lnSpc>
              <a:buFontTx/>
              <a:buAutoNum type="arabicPeriod" startAt="5"/>
            </a:pPr>
            <a:r>
              <a:rPr lang="en-US" sz="2200" dirty="0"/>
              <a:t>Define benchmarking and Six Sigma and discuss how each should be conducted.              </a:t>
            </a:r>
          </a:p>
        </p:txBody>
      </p:sp>
    </p:spTree>
    <p:extLst>
      <p:ext uri="{BB962C8B-B14F-4D97-AF65-F5344CB8AC3E}">
        <p14:creationId xmlns:p14="http://schemas.microsoft.com/office/powerpoint/2010/main" val="2041186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solidFill>
            <a:schemeClr val="bg2">
              <a:lumMod val="60000"/>
              <a:lumOff val="40000"/>
            </a:schemeClr>
          </a:solidFill>
        </p:spPr>
        <p:txBody>
          <a:bodyPr/>
          <a:lstStyle/>
          <a:p>
            <a:r>
              <a:rPr lang="en-US" sz="3200" dirty="0"/>
              <a:t>Sales Organization Effectiveness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682" y="1752600"/>
            <a:ext cx="7894637" cy="446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544926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A7EB4B5-1D84-4E42-9DDB-61109C483CF3}"/>
              </a:ext>
            </a:extLst>
          </p:cNvPr>
          <p:cNvSpPr/>
          <p:nvPr/>
        </p:nvSpPr>
        <p:spPr bwMode="auto">
          <a:xfrm>
            <a:off x="0" y="6400800"/>
            <a:ext cx="21336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3554" name="Rectangle 2"/>
          <p:cNvSpPr>
            <a:spLocks noGrp="1" noChangeArrowheads="1"/>
          </p:cNvSpPr>
          <p:nvPr>
            <p:ph type="title"/>
          </p:nvPr>
        </p:nvSpPr>
        <p:spPr>
          <a:solidFill>
            <a:schemeClr val="bg2">
              <a:lumMod val="60000"/>
              <a:lumOff val="40000"/>
            </a:schemeClr>
          </a:solidFill>
        </p:spPr>
        <p:txBody>
          <a:bodyPr/>
          <a:lstStyle/>
          <a:p>
            <a:r>
              <a:rPr lang="en-US" dirty="0"/>
              <a:t>Sales Organization Audit</a:t>
            </a:r>
          </a:p>
        </p:txBody>
      </p:sp>
      <p:sp>
        <p:nvSpPr>
          <p:cNvPr id="2" name="Content Placeholder 1"/>
          <p:cNvSpPr>
            <a:spLocks noGrp="1"/>
          </p:cNvSpPr>
          <p:nvPr>
            <p:ph idx="1"/>
          </p:nvPr>
        </p:nvSpPr>
        <p:spPr>
          <a:xfrm>
            <a:off x="406400" y="1371600"/>
            <a:ext cx="8205788" cy="5181600"/>
          </a:xfrm>
        </p:spPr>
        <p:txBody>
          <a:bodyPr/>
          <a:lstStyle/>
          <a:p>
            <a:r>
              <a:rPr lang="en-US" dirty="0"/>
              <a:t>Comprehensive, systematic, diagnostic and prescriptive tool.  </a:t>
            </a:r>
          </a:p>
          <a:p>
            <a:r>
              <a:rPr lang="en-US" dirty="0"/>
              <a:t>Assesses the firm’s sales management process.</a:t>
            </a:r>
          </a:p>
          <a:p>
            <a:r>
              <a:rPr lang="en-US" dirty="0"/>
              <a:t>Provides direction for improved performance and prescription for needed </a:t>
            </a:r>
            <a:br>
              <a:rPr lang="en-US" dirty="0"/>
            </a:br>
            <a:r>
              <a:rPr lang="en-US" dirty="0"/>
              <a:t>changes.</a:t>
            </a:r>
          </a:p>
          <a:p>
            <a:r>
              <a:rPr lang="en-US" dirty="0"/>
              <a:t>Should be performed </a:t>
            </a:r>
            <a:br>
              <a:rPr lang="en-US" dirty="0"/>
            </a:br>
            <a:r>
              <a:rPr lang="en-US" dirty="0"/>
              <a:t>regularly.</a:t>
            </a:r>
          </a:p>
          <a:p>
            <a:r>
              <a:rPr lang="en-US" dirty="0"/>
              <a:t>Should be conducted by </a:t>
            </a:r>
            <a:br>
              <a:rPr lang="en-US" dirty="0"/>
            </a:br>
            <a:r>
              <a:rPr lang="en-US" dirty="0"/>
              <a:t>someone from outside </a:t>
            </a:r>
            <a:br>
              <a:rPr lang="en-US" dirty="0"/>
            </a:br>
            <a:r>
              <a:rPr lang="en-US" dirty="0"/>
              <a:t>the sales organization, </a:t>
            </a:r>
            <a:r>
              <a:rPr lang="en-US" b="1" dirty="0"/>
              <a:t>but                                        salespeople should be active                                                 participants</a:t>
            </a:r>
          </a:p>
        </p:txBody>
      </p:sp>
      <p:pic>
        <p:nvPicPr>
          <p:cNvPr id="3074" name="Picture 2" descr="Free vector accounting isometric composition with charts documentation and human characters during audit on blue">
            <a:extLst>
              <a:ext uri="{FF2B5EF4-FFF2-40B4-BE49-F238E27FC236}">
                <a16:creationId xmlns:a16="http://schemas.microsoft.com/office/drawing/2014/main" id="{F3F0715D-F370-2FCB-0937-838FFB2224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661" t="3994" r="12938" b="18611"/>
          <a:stretch/>
        </p:blipFill>
        <p:spPr bwMode="auto">
          <a:xfrm>
            <a:off x="5421295" y="3276600"/>
            <a:ext cx="3266299" cy="3352800"/>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140317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solidFill>
            <a:schemeClr val="bg2">
              <a:lumMod val="60000"/>
              <a:lumOff val="40000"/>
            </a:schemeClr>
          </a:solidFill>
        </p:spPr>
        <p:txBody>
          <a:bodyPr/>
          <a:lstStyle/>
          <a:p>
            <a:r>
              <a:rPr lang="en-US" dirty="0"/>
              <a:t>Sales Organization Audit</a:t>
            </a:r>
          </a:p>
        </p:txBody>
      </p:sp>
      <p:sp>
        <p:nvSpPr>
          <p:cNvPr id="6" name="Rectangle 6"/>
          <p:cNvSpPr>
            <a:spLocks noChangeArrowheads="1"/>
          </p:cNvSpPr>
          <p:nvPr/>
        </p:nvSpPr>
        <p:spPr bwMode="auto">
          <a:xfrm>
            <a:off x="1371600" y="3657600"/>
            <a:ext cx="6324600" cy="1328023"/>
          </a:xfrm>
          <a:prstGeom prst="roundRect">
            <a:avLst/>
          </a:prstGeom>
          <a:gradFill rotWithShape="1">
            <a:gsLst>
              <a:gs pos="0">
                <a:srgbClr val="4F81BD">
                  <a:satMod val="103000"/>
                  <a:lumMod val="102000"/>
                  <a:tint val="94000"/>
                </a:srgbClr>
              </a:gs>
              <a:gs pos="50000">
                <a:srgbClr val="4F81BD">
                  <a:satMod val="110000"/>
                  <a:lumMod val="100000"/>
                  <a:shade val="100000"/>
                </a:srgbClr>
              </a:gs>
              <a:gs pos="100000">
                <a:srgbClr val="4F81BD">
                  <a:lumMod val="99000"/>
                  <a:satMod val="120000"/>
                  <a:shade val="78000"/>
                </a:srgbClr>
              </a:gs>
            </a:gsLst>
            <a:lin ang="5400000" scaled="0"/>
          </a:gradFill>
          <a:ln w="6350" cap="flat" cmpd="sng" algn="ctr">
            <a:noFill/>
            <a:prstDash val="solid"/>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Calibri" panose="020F0502020204030204"/>
                <a:ea typeface="+mn-ea"/>
                <a:cs typeface="+mn-cs"/>
              </a:rPr>
              <a:t>Although it is an expensive and time-consuming process, the sales organization audit generates benefits that usually outweigh the costs.</a:t>
            </a:r>
          </a:p>
        </p:txBody>
      </p:sp>
      <p:pic>
        <p:nvPicPr>
          <p:cNvPr id="4" name="Picture 3"/>
          <p:cNvPicPr>
            <a:picLocks noChangeAspect="1"/>
          </p:cNvPicPr>
          <p:nvPr/>
        </p:nvPicPr>
        <p:blipFill>
          <a:blip r:embed="rId3" cstate="print">
            <a:extLst>
              <a:ext uri="{BEBA8EAE-BF5A-486C-A8C5-ECC9F3942E4B}">
                <a14:imgProps xmlns:a14="http://schemas.microsoft.com/office/drawing/2010/main">
                  <a14:imgLayer r:embed="rId4">
                    <a14:imgEffect>
                      <a14:backgroundRemoval t="431" b="100000" l="0" r="99885">
                        <a14:foregroundMark x1="14154" y1="16613" x2="14154" y2="16613"/>
                        <a14:foregroundMark x1="20368" y1="19417" x2="21404" y2="20065"/>
                        <a14:foregroundMark x1="26007" y1="20065" x2="26467" y2="20065"/>
                        <a14:backgroundMark x1="83199" y1="73679" x2="72497" y2="71521"/>
                      </a14:backgroundRemoval>
                    </a14:imgEffect>
                  </a14:imgLayer>
                </a14:imgProps>
              </a:ext>
              <a:ext uri="{28A0092B-C50C-407E-A947-70E740481C1C}">
                <a14:useLocalDpi xmlns:a14="http://schemas.microsoft.com/office/drawing/2010/main" val="0"/>
              </a:ext>
            </a:extLst>
          </a:blip>
          <a:stretch>
            <a:fillRect/>
          </a:stretch>
        </p:blipFill>
        <p:spPr>
          <a:xfrm>
            <a:off x="1539240" y="1295400"/>
            <a:ext cx="6156960" cy="3283712"/>
          </a:xfrm>
          <a:prstGeom prst="rect">
            <a:avLst/>
          </a:prstGeom>
        </p:spPr>
      </p:pic>
      <p:sp>
        <p:nvSpPr>
          <p:cNvPr id="2" name="TextBox 1">
            <a:extLst>
              <a:ext uri="{FF2B5EF4-FFF2-40B4-BE49-F238E27FC236}">
                <a16:creationId xmlns:a16="http://schemas.microsoft.com/office/drawing/2014/main" id="{8470CB43-965B-4EDA-A712-0BC1A9747B66}"/>
              </a:ext>
            </a:extLst>
          </p:cNvPr>
          <p:cNvSpPr txBox="1"/>
          <p:nvPr/>
        </p:nvSpPr>
        <p:spPr>
          <a:xfrm>
            <a:off x="685800" y="5105400"/>
            <a:ext cx="7956024" cy="1200329"/>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Ultimately want higher productivity (among other things): </a:t>
            </a:r>
          </a:p>
          <a:p>
            <a:pPr marL="342900" indent="-342900">
              <a:buFont typeface="Wingdings" panose="05000000000000000000" pitchFamily="2" charset="2"/>
              <a:buChar char="ü"/>
            </a:pPr>
            <a:r>
              <a:rPr lang="en-US" b="1" i="1" dirty="0">
                <a:latin typeface="Arial" panose="020B0604020202020204" pitchFamily="34" charset="0"/>
                <a:cs typeface="Arial" panose="020B0604020202020204" pitchFamily="34" charset="0"/>
              </a:rPr>
              <a:t>higher sales per salesperson</a:t>
            </a:r>
            <a:r>
              <a:rPr lang="en-US" dirty="0">
                <a:latin typeface="Arial" panose="020B0604020202020204" pitchFamily="34" charset="0"/>
                <a:cs typeface="Arial" panose="020B0604020202020204" pitchFamily="34" charset="0"/>
              </a:rPr>
              <a:t>, and </a:t>
            </a:r>
          </a:p>
          <a:p>
            <a:pPr marL="342900" indent="-342900">
              <a:buFont typeface="Wingdings" panose="05000000000000000000" pitchFamily="2" charset="2"/>
              <a:buChar char="ü"/>
            </a:pPr>
            <a:r>
              <a:rPr lang="en-US" b="1" i="1" dirty="0">
                <a:latin typeface="Arial" panose="020B0604020202020204" pitchFamily="34" charset="0"/>
                <a:cs typeface="Arial" panose="020B0604020202020204" pitchFamily="34" charset="0"/>
              </a:rPr>
              <a:t>lower selling expenses as a percentage of sales</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08138338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66700" y="207433"/>
            <a:ext cx="8610600" cy="1066800"/>
          </a:xfrm>
          <a:solidFill>
            <a:schemeClr val="bg2">
              <a:lumMod val="60000"/>
              <a:lumOff val="40000"/>
            </a:schemeClr>
          </a:solidFill>
        </p:spPr>
        <p:txBody>
          <a:bodyPr/>
          <a:lstStyle/>
          <a:p>
            <a:r>
              <a:rPr lang="en-US" dirty="0"/>
              <a:t>Sales Organization Audit Framework</a:t>
            </a:r>
          </a:p>
        </p:txBody>
      </p:sp>
      <p:sp>
        <p:nvSpPr>
          <p:cNvPr id="25622" name="Line 22"/>
          <p:cNvSpPr>
            <a:spLocks noChangeShapeType="1"/>
          </p:cNvSpPr>
          <p:nvPr/>
        </p:nvSpPr>
        <p:spPr bwMode="auto">
          <a:xfrm>
            <a:off x="3505200" y="4611688"/>
            <a:ext cx="0" cy="381000"/>
          </a:xfrm>
          <a:prstGeom prst="line">
            <a:avLst/>
          </a:prstGeom>
          <a:noFill/>
          <a:ln w="12700">
            <a:noFill/>
            <a:round/>
            <a:headEnd/>
            <a:tailEnd/>
          </a:ln>
          <a:effectLst/>
        </p:spPr>
        <p:txBody>
          <a:bodyPr/>
          <a:lstStyle/>
          <a:p>
            <a:endParaRPr lang="en-US" dirty="0"/>
          </a:p>
        </p:txBody>
      </p:sp>
      <p:sp>
        <p:nvSpPr>
          <p:cNvPr id="25623" name="Line 23"/>
          <p:cNvSpPr>
            <a:spLocks noChangeShapeType="1"/>
          </p:cNvSpPr>
          <p:nvPr/>
        </p:nvSpPr>
        <p:spPr bwMode="auto">
          <a:xfrm>
            <a:off x="3962400" y="5297488"/>
            <a:ext cx="1371600" cy="0"/>
          </a:xfrm>
          <a:prstGeom prst="line">
            <a:avLst/>
          </a:prstGeom>
          <a:noFill/>
          <a:ln w="12700">
            <a:noFill/>
            <a:round/>
            <a:headEnd/>
            <a:tailEnd/>
          </a:ln>
          <a:effectLst/>
        </p:spPr>
        <p:txBody>
          <a:bodyPr/>
          <a:lstStyle/>
          <a:p>
            <a:endParaRPr lang="en-US" dirty="0"/>
          </a:p>
        </p:txBody>
      </p:sp>
      <p:sp>
        <p:nvSpPr>
          <p:cNvPr id="25624" name="Line 24"/>
          <p:cNvSpPr>
            <a:spLocks noChangeShapeType="1"/>
          </p:cNvSpPr>
          <p:nvPr/>
        </p:nvSpPr>
        <p:spPr bwMode="auto">
          <a:xfrm>
            <a:off x="3810000" y="1792288"/>
            <a:ext cx="1524000" cy="0"/>
          </a:xfrm>
          <a:prstGeom prst="line">
            <a:avLst/>
          </a:prstGeom>
          <a:noFill/>
          <a:ln w="12700">
            <a:noFill/>
            <a:round/>
            <a:headEnd/>
            <a:tailEnd/>
          </a:ln>
          <a:effectLst/>
        </p:spPr>
        <p:txBody>
          <a:bodyPr/>
          <a:lstStyle/>
          <a:p>
            <a:endParaRPr lang="en-US" dirty="0"/>
          </a:p>
        </p:txBody>
      </p:sp>
      <p:sp>
        <p:nvSpPr>
          <p:cNvPr id="25625" name="Line 25"/>
          <p:cNvSpPr>
            <a:spLocks noChangeShapeType="1"/>
          </p:cNvSpPr>
          <p:nvPr/>
        </p:nvSpPr>
        <p:spPr bwMode="auto">
          <a:xfrm>
            <a:off x="5791200" y="2478088"/>
            <a:ext cx="0" cy="533400"/>
          </a:xfrm>
          <a:prstGeom prst="line">
            <a:avLst/>
          </a:prstGeom>
          <a:noFill/>
          <a:ln w="12700">
            <a:noFill/>
            <a:round/>
            <a:headEnd/>
            <a:tailEnd/>
          </a:ln>
          <a:effectLst/>
        </p:spPr>
        <p:txBody>
          <a:bodyPr/>
          <a:lstStyle/>
          <a:p>
            <a:endParaRPr lang="en-US" dirty="0"/>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309" y="1344093"/>
            <a:ext cx="8972691" cy="5462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591E020B-7038-4942-9B66-600D6AF15063}"/>
              </a:ext>
            </a:extLst>
          </p:cNvPr>
          <p:cNvSpPr txBox="1"/>
          <p:nvPr/>
        </p:nvSpPr>
        <p:spPr>
          <a:xfrm>
            <a:off x="4800603" y="4767589"/>
            <a:ext cx="4076697" cy="261610"/>
          </a:xfrm>
          <a:prstGeom prst="rect">
            <a:avLst/>
          </a:prstGeom>
          <a:gradFill>
            <a:gsLst>
              <a:gs pos="100000">
                <a:srgbClr val="8CBA62"/>
              </a:gs>
              <a:gs pos="100000">
                <a:srgbClr val="83C6C6"/>
              </a:gs>
              <a:gs pos="49000">
                <a:srgbClr val="92D050"/>
              </a:gs>
            </a:gsLst>
            <a:path path="circle">
              <a:fillToRect r="100000" b="100000"/>
            </a:path>
          </a:gradFill>
        </p:spPr>
        <p:txBody>
          <a:bodyPr wrap="square" rtlCol="0">
            <a:spAutoFit/>
          </a:bodyPr>
          <a:lstStyle/>
          <a:p>
            <a:pPr marL="171450" indent="-171450">
              <a:buFont typeface="Arial" panose="020B0604020202020204" pitchFamily="34" charset="0"/>
              <a:buChar char="•"/>
            </a:pPr>
            <a:r>
              <a:rPr lang="en-US" sz="1100" dirty="0">
                <a:solidFill>
                  <a:schemeClr val="bg1"/>
                </a:solidFill>
                <a:latin typeface="+mj-lt"/>
                <a:cs typeface="Arial" panose="020B0604020202020204" pitchFamily="34" charset="0"/>
              </a:rPr>
              <a:t>Salesforce Organization; Recruitment and Selection</a:t>
            </a:r>
          </a:p>
        </p:txBody>
      </p:sp>
      <p:sp>
        <p:nvSpPr>
          <p:cNvPr id="3" name="TextBox 2">
            <a:extLst>
              <a:ext uri="{FF2B5EF4-FFF2-40B4-BE49-F238E27FC236}">
                <a16:creationId xmlns:a16="http://schemas.microsoft.com/office/drawing/2014/main" id="{B35D696D-10C6-423C-93CC-C7BFA7E5D5C9}"/>
              </a:ext>
            </a:extLst>
          </p:cNvPr>
          <p:cNvSpPr txBox="1"/>
          <p:nvPr/>
        </p:nvSpPr>
        <p:spPr>
          <a:xfrm>
            <a:off x="3805507" y="3664803"/>
            <a:ext cx="1757093" cy="830997"/>
          </a:xfrm>
          <a:prstGeom prst="rect">
            <a:avLst/>
          </a:prstGeom>
          <a:solidFill>
            <a:srgbClr val="4B84BD"/>
          </a:solidFill>
          <a:effectLst>
            <a:softEdge rad="25400"/>
          </a:effectLst>
        </p:spPr>
        <p:txBody>
          <a:bodyPr wrap="square" rtlCol="0">
            <a:spAutoFit/>
          </a:bodyPr>
          <a:lstStyle/>
          <a:p>
            <a:pPr algn="ctr"/>
            <a:r>
              <a:rPr lang="en-US" sz="1600" b="1" dirty="0">
                <a:latin typeface="+mj-lt"/>
              </a:rPr>
              <a:t>Salesforce </a:t>
            </a:r>
          </a:p>
          <a:p>
            <a:pPr algn="ctr"/>
            <a:r>
              <a:rPr lang="en-US" sz="1600" b="1" dirty="0">
                <a:latin typeface="+mj-lt"/>
              </a:rPr>
              <a:t>Management</a:t>
            </a:r>
          </a:p>
          <a:p>
            <a:pPr algn="ctr"/>
            <a:r>
              <a:rPr lang="en-US" sz="1600" b="1" dirty="0">
                <a:latin typeface="+mj-lt"/>
              </a:rPr>
              <a:t>Auditor</a:t>
            </a:r>
          </a:p>
        </p:txBody>
      </p:sp>
    </p:spTree>
    <p:extLst>
      <p:ext uri="{BB962C8B-B14F-4D97-AF65-F5344CB8AC3E}">
        <p14:creationId xmlns:p14="http://schemas.microsoft.com/office/powerpoint/2010/main" val="100385308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58C2E-5FA1-4774-801D-7CFC300921D6}"/>
              </a:ext>
            </a:extLst>
          </p:cNvPr>
          <p:cNvSpPr>
            <a:spLocks noGrp="1"/>
          </p:cNvSpPr>
          <p:nvPr>
            <p:ph type="title"/>
          </p:nvPr>
        </p:nvSpPr>
        <p:spPr>
          <a:xfrm>
            <a:off x="266700" y="322262"/>
            <a:ext cx="8610600" cy="1066800"/>
          </a:xfrm>
          <a:solidFill>
            <a:schemeClr val="bg2">
              <a:lumMod val="60000"/>
              <a:lumOff val="40000"/>
            </a:schemeClr>
          </a:solidFill>
        </p:spPr>
        <p:txBody>
          <a:bodyPr/>
          <a:lstStyle/>
          <a:p>
            <a:r>
              <a:rPr lang="en-US" sz="3400" dirty="0"/>
              <a:t>Evaluating Effectiveness through </a:t>
            </a:r>
            <a:r>
              <a:rPr lang="en-US" sz="3400" b="1" dirty="0"/>
              <a:t>Customer Satisfaction Surveys </a:t>
            </a:r>
          </a:p>
        </p:txBody>
      </p:sp>
      <p:pic>
        <p:nvPicPr>
          <p:cNvPr id="4" name="Picture 2" descr="Image result for an icon for video">
            <a:extLst>
              <a:ext uri="{FF2B5EF4-FFF2-40B4-BE49-F238E27FC236}">
                <a16:creationId xmlns:a16="http://schemas.microsoft.com/office/drawing/2014/main" id="{97460ED6-2ED5-42B8-88E0-B9D67110108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01000" y="644525"/>
            <a:ext cx="4222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Image result for an icon for video">
            <a:extLst>
              <a:ext uri="{FF2B5EF4-FFF2-40B4-BE49-F238E27FC236}">
                <a16:creationId xmlns:a16="http://schemas.microsoft.com/office/drawing/2014/main" id="{26DA4040-A8C5-4DAF-B5B2-840DDD3957C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76700" y="362029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Online Media 2" title="Simple Survey for Salesforce">
            <a:hlinkClick r:id="" action="ppaction://media"/>
            <a:extLst>
              <a:ext uri="{FF2B5EF4-FFF2-40B4-BE49-F238E27FC236}">
                <a16:creationId xmlns:a16="http://schemas.microsoft.com/office/drawing/2014/main" id="{AF644673-EA40-4F1F-A9D4-D710F1F5C839}"/>
              </a:ext>
            </a:extLst>
          </p:cNvPr>
          <p:cNvPicPr>
            <a:picLocks noRot="1" noChangeAspect="1"/>
          </p:cNvPicPr>
          <p:nvPr>
            <a:videoFile r:link="rId1"/>
          </p:nvPr>
        </p:nvPicPr>
        <p:blipFill>
          <a:blip r:embed="rId5"/>
          <a:stretch>
            <a:fillRect/>
          </a:stretch>
        </p:blipFill>
        <p:spPr>
          <a:xfrm>
            <a:off x="228600" y="1490691"/>
            <a:ext cx="8690458" cy="4910109"/>
          </a:xfrm>
          <a:prstGeom prst="rect">
            <a:avLst/>
          </a:prstGeom>
        </p:spPr>
      </p:pic>
      <p:sp>
        <p:nvSpPr>
          <p:cNvPr id="8" name="TextBox 7">
            <a:extLst>
              <a:ext uri="{FF2B5EF4-FFF2-40B4-BE49-F238E27FC236}">
                <a16:creationId xmlns:a16="http://schemas.microsoft.com/office/drawing/2014/main" id="{DF12ECCA-7B4A-442D-B32F-FD6BE5330441}"/>
              </a:ext>
            </a:extLst>
          </p:cNvPr>
          <p:cNvSpPr txBox="1"/>
          <p:nvPr/>
        </p:nvSpPr>
        <p:spPr>
          <a:xfrm>
            <a:off x="4267200" y="6477000"/>
            <a:ext cx="784189" cy="461665"/>
          </a:xfrm>
          <a:prstGeom prst="rect">
            <a:avLst/>
          </a:prstGeom>
          <a:noFill/>
        </p:spPr>
        <p:txBody>
          <a:bodyPr wrap="none" rtlCol="0">
            <a:spAutoFit/>
          </a:bodyPr>
          <a:lstStyle/>
          <a:p>
            <a:r>
              <a:rPr lang="en-US" dirty="0">
                <a:solidFill>
                  <a:srgbClr val="000000"/>
                </a:solidFill>
                <a:latin typeface="Arial" panose="020B0604020202020204"/>
              </a:rPr>
              <a:t>3:19</a:t>
            </a:r>
          </a:p>
        </p:txBody>
      </p:sp>
    </p:spTree>
    <p:extLst>
      <p:ext uri="{BB962C8B-B14F-4D97-AF65-F5344CB8AC3E}">
        <p14:creationId xmlns:p14="http://schemas.microsoft.com/office/powerpoint/2010/main" val="394343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31748" name="Rectangle 4"/>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dirty="0"/>
          </a:p>
        </p:txBody>
      </p:sp>
      <p:sp>
        <p:nvSpPr>
          <p:cNvPr id="31749" name="Rectangle 5"/>
          <p:cNvSpPr>
            <a:spLocks noGrp="1" noChangeArrowheads="1"/>
          </p:cNvSpPr>
          <p:nvPr>
            <p:ph type="title"/>
          </p:nvPr>
        </p:nvSpPr>
        <p:spPr>
          <a:solidFill>
            <a:schemeClr val="bg2">
              <a:lumMod val="60000"/>
              <a:lumOff val="40000"/>
            </a:schemeClr>
          </a:solidFill>
        </p:spPr>
        <p:txBody>
          <a:bodyPr/>
          <a:lstStyle/>
          <a:p>
            <a:r>
              <a:rPr lang="en-US" sz="3200" dirty="0"/>
              <a:t>Sales Organization Effectiveness Evaluations</a:t>
            </a:r>
          </a:p>
        </p:txBody>
      </p:sp>
      <p:sp>
        <p:nvSpPr>
          <p:cNvPr id="2" name="Content Placeholder 1"/>
          <p:cNvSpPr>
            <a:spLocks noGrp="1"/>
          </p:cNvSpPr>
          <p:nvPr>
            <p:ph idx="1"/>
          </p:nvPr>
        </p:nvSpPr>
        <p:spPr>
          <a:xfrm>
            <a:off x="685800" y="1828800"/>
            <a:ext cx="7772400" cy="4005262"/>
          </a:xfrm>
          <a:solidFill>
            <a:schemeClr val="bg2">
              <a:lumMod val="20000"/>
              <a:lumOff val="80000"/>
            </a:schemeClr>
          </a:solidFill>
          <a:scene3d>
            <a:camera prst="orthographicFront"/>
            <a:lightRig rig="threePt" dir="t"/>
          </a:scene3d>
          <a:sp3d>
            <a:bevelT/>
          </a:sp3d>
        </p:spPr>
        <p:txBody>
          <a:bodyPr/>
          <a:lstStyle/>
          <a:p>
            <a:r>
              <a:rPr lang="en-US" dirty="0"/>
              <a:t>Multiple factors must be assessed.</a:t>
            </a:r>
          </a:p>
          <a:p>
            <a:r>
              <a:rPr lang="en-US" dirty="0"/>
              <a:t>Four types of analyses</a:t>
            </a:r>
          </a:p>
          <a:p>
            <a:pPr lvl="1"/>
            <a:r>
              <a:rPr lang="en-US" dirty="0"/>
              <a:t>Sales</a:t>
            </a:r>
          </a:p>
          <a:p>
            <a:pPr lvl="1"/>
            <a:r>
              <a:rPr lang="en-US" dirty="0"/>
              <a:t>Cost</a:t>
            </a:r>
          </a:p>
          <a:p>
            <a:pPr lvl="1"/>
            <a:r>
              <a:rPr lang="en-US" dirty="0"/>
              <a:t>Profitability</a:t>
            </a:r>
          </a:p>
          <a:p>
            <a:pPr lvl="1"/>
            <a:r>
              <a:rPr lang="en-US" dirty="0"/>
              <a:t>Productivity</a:t>
            </a:r>
          </a:p>
          <a:p>
            <a:r>
              <a:rPr lang="en-US" dirty="0"/>
              <a:t>Conducting an analysis in each of these areas is a complex task.</a:t>
            </a:r>
          </a:p>
          <a:p>
            <a:endParaRPr lang="en-US" dirty="0"/>
          </a:p>
        </p:txBody>
      </p:sp>
    </p:spTree>
    <p:extLst>
      <p:ext uri="{BB962C8B-B14F-4D97-AF65-F5344CB8AC3E}">
        <p14:creationId xmlns:p14="http://schemas.microsoft.com/office/powerpoint/2010/main" val="206804472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solidFill>
            <a:schemeClr val="bg2">
              <a:lumMod val="60000"/>
              <a:lumOff val="40000"/>
            </a:schemeClr>
          </a:solidFill>
        </p:spPr>
        <p:txBody>
          <a:bodyPr/>
          <a:lstStyle/>
          <a:p>
            <a:r>
              <a:rPr lang="en-US" sz="3200" dirty="0"/>
              <a:t>Sales Organization Effectiveness Framework</a:t>
            </a:r>
          </a:p>
        </p:txBody>
      </p:sp>
      <p:grpSp>
        <p:nvGrpSpPr>
          <p:cNvPr id="52" name="Group 51"/>
          <p:cNvGrpSpPr/>
          <p:nvPr/>
        </p:nvGrpSpPr>
        <p:grpSpPr>
          <a:xfrm>
            <a:off x="838200" y="2133600"/>
            <a:ext cx="7315200" cy="3429000"/>
            <a:chOff x="838200" y="2133600"/>
            <a:chExt cx="7315200" cy="3429000"/>
          </a:xfrm>
        </p:grpSpPr>
        <p:sp>
          <p:nvSpPr>
            <p:cNvPr id="53" name="AutoShape 4"/>
            <p:cNvSpPr>
              <a:spLocks noChangeArrowheads="1"/>
            </p:cNvSpPr>
            <p:nvPr/>
          </p:nvSpPr>
          <p:spPr bwMode="auto">
            <a:xfrm>
              <a:off x="838200" y="2667000"/>
              <a:ext cx="2133600" cy="990600"/>
            </a:xfrm>
            <a:prstGeom prst="roundRect">
              <a:avLst>
                <a:gd name="adj" fmla="val 16667"/>
              </a:avLst>
            </a:prstGeom>
            <a:solidFill>
              <a:srgbClr val="C0504D"/>
            </a:solidFill>
            <a:ln w="12700" cap="flat" cmpd="sng" algn="ctr">
              <a:noFill/>
              <a:prstDash val="solid"/>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Sales</a:t>
              </a:r>
              <a:b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br>
              <a: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Analysis</a:t>
              </a:r>
            </a:p>
          </p:txBody>
        </p:sp>
        <p:sp>
          <p:nvSpPr>
            <p:cNvPr id="54" name="AutoShape 7"/>
            <p:cNvSpPr>
              <a:spLocks noChangeArrowheads="1"/>
            </p:cNvSpPr>
            <p:nvPr/>
          </p:nvSpPr>
          <p:spPr bwMode="auto">
            <a:xfrm>
              <a:off x="838200" y="4038600"/>
              <a:ext cx="2133600" cy="990600"/>
            </a:xfrm>
            <a:prstGeom prst="roundRect">
              <a:avLst>
                <a:gd name="adj" fmla="val 16667"/>
              </a:avLst>
            </a:prstGeom>
            <a:solidFill>
              <a:srgbClr val="C0504D"/>
            </a:solidFill>
            <a:ln w="12700" cap="flat" cmpd="sng" algn="ctr">
              <a:noFill/>
              <a:prstDash val="solid"/>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Cost</a:t>
              </a:r>
              <a:b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br>
              <a: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Analysis</a:t>
              </a:r>
            </a:p>
          </p:txBody>
        </p:sp>
        <p:sp>
          <p:nvSpPr>
            <p:cNvPr id="55" name="AutoShape 10"/>
            <p:cNvSpPr>
              <a:spLocks noChangeArrowheads="1"/>
            </p:cNvSpPr>
            <p:nvPr/>
          </p:nvSpPr>
          <p:spPr bwMode="auto">
            <a:xfrm>
              <a:off x="6019800" y="2667000"/>
              <a:ext cx="2133600" cy="990600"/>
            </a:xfrm>
            <a:prstGeom prst="roundRect">
              <a:avLst>
                <a:gd name="adj" fmla="val 16667"/>
              </a:avLst>
            </a:prstGeom>
            <a:solidFill>
              <a:srgbClr val="C0504D"/>
            </a:solidFill>
            <a:ln w="12700" cap="flat" cmpd="sng" algn="ctr">
              <a:noFill/>
              <a:prstDash val="solid"/>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Profitability</a:t>
              </a:r>
              <a:b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br>
              <a: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Analysis</a:t>
              </a:r>
            </a:p>
          </p:txBody>
        </p:sp>
        <p:sp>
          <p:nvSpPr>
            <p:cNvPr id="56" name="AutoShape 13"/>
            <p:cNvSpPr>
              <a:spLocks noChangeArrowheads="1"/>
            </p:cNvSpPr>
            <p:nvPr/>
          </p:nvSpPr>
          <p:spPr bwMode="auto">
            <a:xfrm>
              <a:off x="6019800" y="4038600"/>
              <a:ext cx="2133600" cy="990600"/>
            </a:xfrm>
            <a:prstGeom prst="roundRect">
              <a:avLst>
                <a:gd name="adj" fmla="val 16667"/>
              </a:avLst>
            </a:prstGeom>
            <a:solidFill>
              <a:srgbClr val="C0504D"/>
            </a:solidFill>
            <a:ln w="12700" cap="flat" cmpd="sng" algn="ctr">
              <a:noFill/>
              <a:prstDash val="solid"/>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Productivity</a:t>
              </a:r>
              <a:b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br>
              <a:r>
                <a:rPr kumimoji="0" lang="en-US"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Analysis</a:t>
              </a:r>
            </a:p>
          </p:txBody>
        </p:sp>
        <p:sp>
          <p:nvSpPr>
            <p:cNvPr id="57" name="AutoShape 16"/>
            <p:cNvSpPr>
              <a:spLocks noChangeArrowheads="1"/>
            </p:cNvSpPr>
            <p:nvPr/>
          </p:nvSpPr>
          <p:spPr bwMode="auto">
            <a:xfrm>
              <a:off x="3467100" y="3200400"/>
              <a:ext cx="2209800" cy="1371600"/>
            </a:xfrm>
            <a:prstGeom prst="roundRect">
              <a:avLst>
                <a:gd name="adj" fmla="val 16667"/>
              </a:avLst>
            </a:prstGeom>
            <a:solidFill>
              <a:srgbClr val="4F81BD"/>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algn="ctr" eaLnBrk="1" fontAlgn="auto" hangingPunct="1">
                <a:spcBef>
                  <a:spcPts val="0"/>
                </a:spcBef>
                <a:spcAft>
                  <a:spcPts val="0"/>
                </a:spcAft>
              </a:pPr>
              <a:r>
                <a:rPr lang="en-US" kern="0" dirty="0">
                  <a:solidFill>
                    <a:prstClr val="white"/>
                  </a:solidFill>
                  <a:effectLst>
                    <a:outerShdw blurRad="38100" dist="38100" dir="2700000" algn="tl">
                      <a:srgbClr val="000000">
                        <a:alpha val="43137"/>
                      </a:srgbClr>
                    </a:outerShdw>
                  </a:effectLst>
                  <a:latin typeface="Calibri" panose="020F0502020204030204"/>
                </a:rPr>
                <a:t>Sales </a:t>
              </a:r>
              <a:br>
                <a:rPr lang="en-US" kern="0" dirty="0">
                  <a:solidFill>
                    <a:prstClr val="white"/>
                  </a:solidFill>
                  <a:effectLst>
                    <a:outerShdw blurRad="38100" dist="38100" dir="2700000" algn="tl">
                      <a:srgbClr val="000000">
                        <a:alpha val="43137"/>
                      </a:srgbClr>
                    </a:outerShdw>
                  </a:effectLst>
                  <a:latin typeface="Calibri" panose="020F0502020204030204"/>
                </a:rPr>
              </a:br>
              <a:r>
                <a:rPr lang="en-US" kern="0" dirty="0">
                  <a:solidFill>
                    <a:prstClr val="white"/>
                  </a:solidFill>
                  <a:effectLst>
                    <a:outerShdw blurRad="38100" dist="38100" dir="2700000" algn="tl">
                      <a:srgbClr val="000000">
                        <a:alpha val="43137"/>
                      </a:srgbClr>
                    </a:outerShdw>
                  </a:effectLst>
                  <a:latin typeface="Calibri" panose="020F0502020204030204"/>
                </a:rPr>
                <a:t>Organization</a:t>
              </a:r>
              <a:br>
                <a:rPr lang="en-US" kern="0" dirty="0">
                  <a:solidFill>
                    <a:prstClr val="white"/>
                  </a:solidFill>
                  <a:effectLst>
                    <a:outerShdw blurRad="38100" dist="38100" dir="2700000" algn="tl">
                      <a:srgbClr val="000000">
                        <a:alpha val="43137"/>
                      </a:srgbClr>
                    </a:outerShdw>
                  </a:effectLst>
                  <a:latin typeface="Calibri" panose="020F0502020204030204"/>
                </a:rPr>
              </a:br>
              <a:r>
                <a:rPr lang="en-US" kern="0" dirty="0">
                  <a:solidFill>
                    <a:prstClr val="white"/>
                  </a:solidFill>
                  <a:effectLst>
                    <a:outerShdw blurRad="38100" dist="38100" dir="2700000" algn="tl">
                      <a:srgbClr val="000000">
                        <a:alpha val="43137"/>
                      </a:srgbClr>
                    </a:outerShdw>
                  </a:effectLst>
                  <a:latin typeface="Calibri" panose="020F0502020204030204"/>
                </a:rPr>
                <a:t>Effectiveness</a:t>
              </a:r>
              <a:endParaRPr kumimoji="0" lang="en-US"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59" name="Line 19"/>
            <p:cNvSpPr>
              <a:spLocks noChangeShapeType="1"/>
            </p:cNvSpPr>
            <p:nvPr/>
          </p:nvSpPr>
          <p:spPr bwMode="auto">
            <a:xfrm flipV="1">
              <a:off x="1905000" y="5562600"/>
              <a:ext cx="2133600" cy="0"/>
            </a:xfrm>
            <a:prstGeom prst="line">
              <a:avLst/>
            </a:prstGeom>
            <a:noFill/>
            <a:ln w="381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0" name="Line 20"/>
            <p:cNvSpPr>
              <a:spLocks noChangeShapeType="1"/>
            </p:cNvSpPr>
            <p:nvPr/>
          </p:nvSpPr>
          <p:spPr bwMode="auto">
            <a:xfrm>
              <a:off x="1905000" y="5029200"/>
              <a:ext cx="0" cy="533400"/>
            </a:xfrm>
            <a:prstGeom prst="line">
              <a:avLst/>
            </a:prstGeom>
            <a:noFill/>
            <a:ln w="381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1" name="Line 21"/>
            <p:cNvSpPr>
              <a:spLocks noChangeShapeType="1"/>
            </p:cNvSpPr>
            <p:nvPr/>
          </p:nvSpPr>
          <p:spPr bwMode="auto">
            <a:xfrm>
              <a:off x="4038600" y="4572000"/>
              <a:ext cx="0" cy="990600"/>
            </a:xfrm>
            <a:prstGeom prst="line">
              <a:avLst/>
            </a:prstGeom>
            <a:noFill/>
            <a:ln w="38100">
              <a:solidFill>
                <a:sysClr val="windowText" lastClr="000000"/>
              </a:solidFill>
              <a:round/>
              <a:headEnd type="triangle" w="med" len="lg"/>
              <a:tailEnd type="none" w="med" len="lg"/>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2" name="Line 22"/>
            <p:cNvSpPr>
              <a:spLocks noChangeShapeType="1"/>
            </p:cNvSpPr>
            <p:nvPr/>
          </p:nvSpPr>
          <p:spPr bwMode="auto">
            <a:xfrm>
              <a:off x="4953000" y="4572000"/>
              <a:ext cx="0" cy="990600"/>
            </a:xfrm>
            <a:prstGeom prst="line">
              <a:avLst/>
            </a:prstGeom>
            <a:noFill/>
            <a:ln w="38100">
              <a:solidFill>
                <a:sysClr val="windowText" lastClr="000000"/>
              </a:solidFill>
              <a:round/>
              <a:headEnd type="triangle" w="med" len="lg"/>
              <a:tailEnd type="none" w="med" len="lg"/>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3" name="Line 23"/>
            <p:cNvSpPr>
              <a:spLocks noChangeShapeType="1"/>
            </p:cNvSpPr>
            <p:nvPr/>
          </p:nvSpPr>
          <p:spPr bwMode="auto">
            <a:xfrm flipV="1">
              <a:off x="4953000" y="5562600"/>
              <a:ext cx="2133600" cy="0"/>
            </a:xfrm>
            <a:prstGeom prst="line">
              <a:avLst/>
            </a:prstGeom>
            <a:noFill/>
            <a:ln w="381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4" name="Line 24"/>
            <p:cNvSpPr>
              <a:spLocks noChangeShapeType="1"/>
            </p:cNvSpPr>
            <p:nvPr/>
          </p:nvSpPr>
          <p:spPr bwMode="auto">
            <a:xfrm>
              <a:off x="7086600" y="5029200"/>
              <a:ext cx="0" cy="533400"/>
            </a:xfrm>
            <a:prstGeom prst="line">
              <a:avLst/>
            </a:prstGeom>
            <a:noFill/>
            <a:ln w="381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5" name="Line 25"/>
            <p:cNvSpPr>
              <a:spLocks noChangeShapeType="1"/>
            </p:cNvSpPr>
            <p:nvPr/>
          </p:nvSpPr>
          <p:spPr bwMode="auto">
            <a:xfrm flipV="1">
              <a:off x="1905000" y="2133600"/>
              <a:ext cx="2133600" cy="0"/>
            </a:xfrm>
            <a:prstGeom prst="line">
              <a:avLst/>
            </a:prstGeom>
            <a:noFill/>
            <a:ln w="381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6" name="Line 26"/>
            <p:cNvSpPr>
              <a:spLocks noChangeShapeType="1"/>
            </p:cNvSpPr>
            <p:nvPr/>
          </p:nvSpPr>
          <p:spPr bwMode="auto">
            <a:xfrm flipV="1">
              <a:off x="4876800" y="2133600"/>
              <a:ext cx="2133600" cy="0"/>
            </a:xfrm>
            <a:prstGeom prst="line">
              <a:avLst/>
            </a:prstGeom>
            <a:noFill/>
            <a:ln w="381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7" name="Line 27"/>
            <p:cNvSpPr>
              <a:spLocks noChangeShapeType="1"/>
            </p:cNvSpPr>
            <p:nvPr/>
          </p:nvSpPr>
          <p:spPr bwMode="auto">
            <a:xfrm>
              <a:off x="1905000" y="2133600"/>
              <a:ext cx="0" cy="533400"/>
            </a:xfrm>
            <a:prstGeom prst="line">
              <a:avLst/>
            </a:prstGeom>
            <a:noFill/>
            <a:ln w="381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8" name="Line 28"/>
            <p:cNvSpPr>
              <a:spLocks noChangeShapeType="1"/>
            </p:cNvSpPr>
            <p:nvPr/>
          </p:nvSpPr>
          <p:spPr bwMode="auto">
            <a:xfrm>
              <a:off x="7010400" y="2133600"/>
              <a:ext cx="0" cy="533400"/>
            </a:xfrm>
            <a:prstGeom prst="line">
              <a:avLst/>
            </a:prstGeom>
            <a:noFill/>
            <a:ln w="381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9" name="Line 29"/>
            <p:cNvSpPr>
              <a:spLocks noChangeShapeType="1"/>
            </p:cNvSpPr>
            <p:nvPr/>
          </p:nvSpPr>
          <p:spPr bwMode="auto">
            <a:xfrm>
              <a:off x="4038600" y="2133600"/>
              <a:ext cx="0" cy="1066800"/>
            </a:xfrm>
            <a:prstGeom prst="line">
              <a:avLst/>
            </a:prstGeom>
            <a:noFill/>
            <a:ln w="381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0" name="Line 30"/>
            <p:cNvSpPr>
              <a:spLocks noChangeShapeType="1"/>
            </p:cNvSpPr>
            <p:nvPr/>
          </p:nvSpPr>
          <p:spPr bwMode="auto">
            <a:xfrm>
              <a:off x="4876800" y="2133600"/>
              <a:ext cx="0" cy="1066800"/>
            </a:xfrm>
            <a:prstGeom prst="line">
              <a:avLst/>
            </a:prstGeom>
            <a:noFill/>
            <a:ln w="381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grpSp>
    </p:spTree>
    <p:extLst>
      <p:ext uri="{BB962C8B-B14F-4D97-AF65-F5344CB8AC3E}">
        <p14:creationId xmlns:p14="http://schemas.microsoft.com/office/powerpoint/2010/main" val="218712114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5"/>
          <p:cNvSpPr>
            <a:spLocks noGrp="1" noChangeArrowheads="1"/>
          </p:cNvSpPr>
          <p:nvPr>
            <p:ph type="title"/>
          </p:nvPr>
        </p:nvSpPr>
        <p:spPr>
          <a:solidFill>
            <a:schemeClr val="bg2">
              <a:lumMod val="60000"/>
              <a:lumOff val="40000"/>
            </a:schemeClr>
          </a:solidFill>
        </p:spPr>
        <p:txBody>
          <a:bodyPr/>
          <a:lstStyle/>
          <a:p>
            <a:r>
              <a:rPr lang="en-US" dirty="0"/>
              <a:t>Sales Analysis</a:t>
            </a:r>
          </a:p>
        </p:txBody>
      </p:sp>
      <p:sp>
        <p:nvSpPr>
          <p:cNvPr id="35842" name="Rectangle 2"/>
          <p:cNvSpPr>
            <a:spLocks noGrp="1" noChangeArrowheads="1"/>
          </p:cNvSpPr>
          <p:nvPr>
            <p:ph idx="1"/>
          </p:nvPr>
        </p:nvSpPr>
        <p:spPr/>
        <p:txBody>
          <a:bodyPr/>
          <a:lstStyle/>
          <a:p>
            <a:r>
              <a:rPr lang="en-US" sz="2600" dirty="0"/>
              <a:t>When should we count an order as a sale?</a:t>
            </a:r>
          </a:p>
          <a:p>
            <a:pPr lvl="1"/>
            <a:r>
              <a:rPr lang="en-US" sz="2200" dirty="0"/>
              <a:t>When an order is placed?</a:t>
            </a:r>
          </a:p>
          <a:p>
            <a:pPr lvl="1"/>
            <a:r>
              <a:rPr lang="en-US" sz="2200" b="1" dirty="0"/>
              <a:t>When an order is shipped</a:t>
            </a:r>
            <a:r>
              <a:rPr lang="en-US" sz="2200" dirty="0"/>
              <a:t>?</a:t>
            </a:r>
          </a:p>
          <a:p>
            <a:pPr lvl="1"/>
            <a:r>
              <a:rPr lang="en-US" sz="2200" dirty="0"/>
              <a:t>When payment is received?</a:t>
            </a:r>
          </a:p>
          <a:p>
            <a:r>
              <a:rPr lang="en-US" sz="2600" dirty="0"/>
              <a:t>What is the primary metric?</a:t>
            </a:r>
          </a:p>
          <a:p>
            <a:pPr lvl="1"/>
            <a:r>
              <a:rPr lang="en-US" sz="2200" dirty="0"/>
              <a:t>Dollars </a:t>
            </a:r>
            <a:r>
              <a:rPr lang="en-US" sz="1800" dirty="0"/>
              <a:t>(watch out: improvement from price increases) </a:t>
            </a:r>
          </a:p>
          <a:p>
            <a:pPr lvl="1"/>
            <a:r>
              <a:rPr lang="en-US" sz="2200" dirty="0"/>
              <a:t>Units</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3581400"/>
            <a:ext cx="1948336" cy="146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4084" y="1890424"/>
            <a:ext cx="2119312" cy="1614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4852937"/>
            <a:ext cx="2743200" cy="1553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4842051"/>
            <a:ext cx="3030340" cy="171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909925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4"/>
          <p:cNvSpPr>
            <a:spLocks noGrp="1" noChangeArrowheads="1"/>
          </p:cNvSpPr>
          <p:nvPr>
            <p:ph type="title"/>
          </p:nvPr>
        </p:nvSpPr>
        <p:spPr>
          <a:solidFill>
            <a:schemeClr val="bg2">
              <a:lumMod val="60000"/>
              <a:lumOff val="40000"/>
            </a:schemeClr>
          </a:solidFill>
        </p:spPr>
        <p:txBody>
          <a:bodyPr/>
          <a:lstStyle/>
          <a:p>
            <a:r>
              <a:rPr lang="en-US" dirty="0"/>
              <a:t>Sales Analysis Framework </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63" y="1828800"/>
            <a:ext cx="8193087"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792876EF-8DBE-4CCF-ADCA-8BF30D607B33}"/>
              </a:ext>
            </a:extLst>
          </p:cNvPr>
          <p:cNvSpPr txBox="1"/>
          <p:nvPr/>
        </p:nvSpPr>
        <p:spPr>
          <a:xfrm>
            <a:off x="6301154" y="3562290"/>
            <a:ext cx="2343150" cy="400110"/>
          </a:xfrm>
          <a:prstGeom prst="rect">
            <a:avLst/>
          </a:prstGeom>
          <a:gradFill>
            <a:gsLst>
              <a:gs pos="100000">
                <a:srgbClr val="E64848"/>
              </a:gs>
              <a:gs pos="100000">
                <a:schemeClr val="accent1">
                  <a:lumMod val="45000"/>
                  <a:lumOff val="55000"/>
                </a:schemeClr>
              </a:gs>
              <a:gs pos="100000">
                <a:schemeClr val="accent1">
                  <a:lumMod val="45000"/>
                  <a:lumOff val="55000"/>
                </a:schemeClr>
              </a:gs>
              <a:gs pos="100000">
                <a:scrgbClr r="0" g="0" b="0"/>
              </a:gs>
              <a:gs pos="100000">
                <a:srgbClr val="F5FAFE"/>
              </a:gs>
            </a:gsLst>
            <a:lin ang="5400000" scaled="1"/>
          </a:gradFill>
          <a:effectLst>
            <a:softEdge rad="38100"/>
          </a:effectLst>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Method of Analysis</a:t>
            </a:r>
          </a:p>
        </p:txBody>
      </p:sp>
    </p:spTree>
    <p:extLst>
      <p:ext uri="{BB962C8B-B14F-4D97-AF65-F5344CB8AC3E}">
        <p14:creationId xmlns:p14="http://schemas.microsoft.com/office/powerpoint/2010/main" val="14555416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4"/>
          <p:cNvSpPr>
            <a:spLocks noGrp="1" noChangeArrowheads="1"/>
          </p:cNvSpPr>
          <p:nvPr>
            <p:ph type="title"/>
          </p:nvPr>
        </p:nvSpPr>
        <p:spPr>
          <a:xfrm>
            <a:off x="266700" y="250291"/>
            <a:ext cx="8610600" cy="1066800"/>
          </a:xfrm>
          <a:solidFill>
            <a:schemeClr val="bg2">
              <a:lumMod val="60000"/>
              <a:lumOff val="40000"/>
            </a:schemeClr>
          </a:solidFill>
        </p:spPr>
        <p:txBody>
          <a:bodyPr/>
          <a:lstStyle/>
          <a:p>
            <a:r>
              <a:rPr lang="en-US" dirty="0"/>
              <a:t>Organization Level of Analysis</a:t>
            </a:r>
          </a:p>
        </p:txBody>
      </p:sp>
      <p:pic>
        <p:nvPicPr>
          <p:cNvPr id="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47" y="1496834"/>
            <a:ext cx="8193087"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914400" y="3962400"/>
            <a:ext cx="1676400" cy="2400657"/>
          </a:xfrm>
          <a:prstGeom prst="rect">
            <a:avLst/>
          </a:prstGeom>
          <a:solidFill>
            <a:schemeClr val="bg2">
              <a:lumMod val="20000"/>
              <a:lumOff val="80000"/>
            </a:schemeClr>
          </a:solidFill>
          <a:scene3d>
            <a:camera prst="orthographicFront"/>
            <a:lightRig rig="threePt" dir="t"/>
          </a:scene3d>
          <a:sp3d>
            <a:bevelT/>
          </a:sp3d>
        </p:spPr>
        <p:txBody>
          <a:bodyPr wrap="square" rtlCol="0">
            <a:spAutoFit/>
          </a:bodyPr>
          <a:lstStyle/>
          <a:p>
            <a:pPr marL="344488" indent="-344488">
              <a:lnSpc>
                <a:spcPct val="150000"/>
              </a:lnSpc>
              <a:buFontTx/>
              <a:buChar char="•"/>
            </a:pPr>
            <a:r>
              <a:rPr lang="en-US" sz="2000" dirty="0">
                <a:latin typeface="Arial" panose="020B0604020202020204" pitchFamily="34" charset="0"/>
                <a:cs typeface="Arial" panose="020B0604020202020204" pitchFamily="34" charset="0"/>
              </a:rPr>
              <a:t>Zones</a:t>
            </a:r>
          </a:p>
          <a:p>
            <a:pPr marL="344488" indent="-344488">
              <a:lnSpc>
                <a:spcPct val="150000"/>
              </a:lnSpc>
              <a:buFontTx/>
              <a:buChar char="•"/>
            </a:pPr>
            <a:r>
              <a:rPr lang="en-US" sz="2000" dirty="0">
                <a:latin typeface="Arial" panose="020B0604020202020204" pitchFamily="34" charset="0"/>
                <a:cs typeface="Arial" panose="020B0604020202020204" pitchFamily="34" charset="0"/>
              </a:rPr>
              <a:t>Regions</a:t>
            </a:r>
          </a:p>
          <a:p>
            <a:pPr marL="344488" indent="-344488">
              <a:lnSpc>
                <a:spcPct val="150000"/>
              </a:lnSpc>
              <a:buFontTx/>
              <a:buChar char="•"/>
            </a:pPr>
            <a:r>
              <a:rPr lang="en-US" sz="2000" dirty="0">
                <a:latin typeface="Arial" panose="020B0604020202020204" pitchFamily="34" charset="0"/>
                <a:cs typeface="Arial" panose="020B0604020202020204" pitchFamily="34" charset="0"/>
              </a:rPr>
              <a:t>Districts</a:t>
            </a:r>
          </a:p>
          <a:p>
            <a:pPr marL="344488" indent="-344488">
              <a:lnSpc>
                <a:spcPct val="150000"/>
              </a:lnSpc>
              <a:buFontTx/>
              <a:buChar char="•"/>
            </a:pPr>
            <a:r>
              <a:rPr lang="en-US" sz="2000" dirty="0">
                <a:latin typeface="Arial" panose="020B0604020202020204" pitchFamily="34" charset="0"/>
                <a:cs typeface="Arial" panose="020B0604020202020204" pitchFamily="34" charset="0"/>
              </a:rPr>
              <a:t>Territories</a:t>
            </a:r>
          </a:p>
          <a:p>
            <a:pPr marL="344488" indent="-344488">
              <a:lnSpc>
                <a:spcPct val="150000"/>
              </a:lnSpc>
              <a:buFontTx/>
              <a:buChar char="•"/>
            </a:pPr>
            <a:r>
              <a:rPr lang="en-US" sz="2000" dirty="0">
                <a:latin typeface="Arial" panose="020B0604020202020204" pitchFamily="34" charset="0"/>
                <a:cs typeface="Arial" panose="020B0604020202020204" pitchFamily="34" charset="0"/>
              </a:rPr>
              <a:t>Accounts</a:t>
            </a:r>
          </a:p>
        </p:txBody>
      </p:sp>
      <p:sp>
        <p:nvSpPr>
          <p:cNvPr id="4" name="Rounded Rectangle 3"/>
          <p:cNvSpPr/>
          <p:nvPr/>
        </p:nvSpPr>
        <p:spPr bwMode="auto">
          <a:xfrm>
            <a:off x="3343303" y="2963774"/>
            <a:ext cx="5314950" cy="930452"/>
          </a:xfrm>
          <a:prstGeom prst="roundRect">
            <a:avLst/>
          </a:prstGeom>
          <a:solidFill>
            <a:srgbClr val="FFFFFF">
              <a:alpha val="74902"/>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a:endParaRPr>
          </a:p>
        </p:txBody>
      </p:sp>
      <p:sp>
        <p:nvSpPr>
          <p:cNvPr id="6" name="TextBox 5">
            <a:extLst>
              <a:ext uri="{FF2B5EF4-FFF2-40B4-BE49-F238E27FC236}">
                <a16:creationId xmlns:a16="http://schemas.microsoft.com/office/drawing/2014/main" id="{B2332955-744F-4105-BC1F-7DF93749628A}"/>
              </a:ext>
            </a:extLst>
          </p:cNvPr>
          <p:cNvSpPr txBox="1"/>
          <p:nvPr/>
        </p:nvSpPr>
        <p:spPr>
          <a:xfrm>
            <a:off x="6282446" y="3228945"/>
            <a:ext cx="2343150" cy="400110"/>
          </a:xfrm>
          <a:prstGeom prst="rect">
            <a:avLst/>
          </a:prstGeom>
          <a:solidFill>
            <a:srgbClr val="FBE5E5"/>
          </a:solidFill>
          <a:effectLst>
            <a:softEdge rad="38100"/>
          </a:effectLst>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Method of Analysis</a:t>
            </a:r>
          </a:p>
        </p:txBody>
      </p:sp>
    </p:spTree>
    <p:extLst>
      <p:ext uri="{BB962C8B-B14F-4D97-AF65-F5344CB8AC3E}">
        <p14:creationId xmlns:p14="http://schemas.microsoft.com/office/powerpoint/2010/main" val="308545053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solidFill>
            <a:schemeClr val="bg2">
              <a:lumMod val="60000"/>
              <a:lumOff val="40000"/>
            </a:schemeClr>
          </a:solidFill>
        </p:spPr>
        <p:txBody>
          <a:bodyPr/>
          <a:lstStyle/>
          <a:p>
            <a:r>
              <a:rPr lang="en-US" dirty="0"/>
              <a:t>Example of </a:t>
            </a:r>
            <a:r>
              <a:rPr lang="en-US" b="1" dirty="0"/>
              <a:t>Hierarchical</a:t>
            </a:r>
            <a:r>
              <a:rPr lang="en-US" dirty="0"/>
              <a:t> Sales Analysis</a:t>
            </a:r>
          </a:p>
        </p:txBody>
      </p:sp>
      <p:grpSp>
        <p:nvGrpSpPr>
          <p:cNvPr id="61" name="Group 3"/>
          <p:cNvGrpSpPr>
            <a:grpSpLocks/>
          </p:cNvGrpSpPr>
          <p:nvPr/>
        </p:nvGrpSpPr>
        <p:grpSpPr bwMode="auto">
          <a:xfrm>
            <a:off x="381000" y="1524000"/>
            <a:ext cx="7832725" cy="5158866"/>
            <a:chOff x="244" y="720"/>
            <a:chExt cx="5127" cy="3639"/>
          </a:xfrm>
        </p:grpSpPr>
        <p:sp>
          <p:nvSpPr>
            <p:cNvPr id="62" name="Rectangle 4"/>
            <p:cNvSpPr>
              <a:spLocks noChangeArrowheads="1"/>
            </p:cNvSpPr>
            <p:nvPr/>
          </p:nvSpPr>
          <p:spPr bwMode="auto">
            <a:xfrm>
              <a:off x="611" y="1432"/>
              <a:ext cx="681" cy="438"/>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Region 1</a:t>
              </a:r>
            </a:p>
          </p:txBody>
        </p:sp>
        <p:sp>
          <p:nvSpPr>
            <p:cNvPr id="63" name="Rectangle 5"/>
            <p:cNvSpPr>
              <a:spLocks noChangeArrowheads="1"/>
            </p:cNvSpPr>
            <p:nvPr/>
          </p:nvSpPr>
          <p:spPr bwMode="auto">
            <a:xfrm>
              <a:off x="2655" y="720"/>
              <a:ext cx="681" cy="438"/>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Sales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Organization</a:t>
              </a:r>
            </a:p>
          </p:txBody>
        </p:sp>
        <p:sp>
          <p:nvSpPr>
            <p:cNvPr id="64" name="Rectangle 6"/>
            <p:cNvSpPr>
              <a:spLocks noChangeArrowheads="1"/>
            </p:cNvSpPr>
            <p:nvPr/>
          </p:nvSpPr>
          <p:spPr bwMode="auto">
            <a:xfrm>
              <a:off x="1974" y="1432"/>
              <a:ext cx="681" cy="438"/>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Region 2</a:t>
              </a:r>
            </a:p>
          </p:txBody>
        </p:sp>
        <p:sp>
          <p:nvSpPr>
            <p:cNvPr id="65" name="Rectangle 7"/>
            <p:cNvSpPr>
              <a:spLocks noChangeArrowheads="1"/>
            </p:cNvSpPr>
            <p:nvPr/>
          </p:nvSpPr>
          <p:spPr bwMode="auto">
            <a:xfrm>
              <a:off x="3336" y="1432"/>
              <a:ext cx="682"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Region 3</a:t>
              </a:r>
            </a:p>
          </p:txBody>
        </p:sp>
        <p:sp>
          <p:nvSpPr>
            <p:cNvPr id="66" name="Rectangle 8"/>
            <p:cNvSpPr>
              <a:spLocks noChangeArrowheads="1"/>
            </p:cNvSpPr>
            <p:nvPr/>
          </p:nvSpPr>
          <p:spPr bwMode="auto">
            <a:xfrm>
              <a:off x="4646" y="1432"/>
              <a:ext cx="681" cy="438"/>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Region 4</a:t>
              </a:r>
            </a:p>
          </p:txBody>
        </p:sp>
        <p:sp>
          <p:nvSpPr>
            <p:cNvPr id="67" name="Rectangle 9"/>
            <p:cNvSpPr>
              <a:spLocks noChangeArrowheads="1"/>
            </p:cNvSpPr>
            <p:nvPr/>
          </p:nvSpPr>
          <p:spPr bwMode="auto">
            <a:xfrm>
              <a:off x="611" y="2363"/>
              <a:ext cx="681"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District 1</a:t>
              </a:r>
            </a:p>
          </p:txBody>
        </p:sp>
        <p:sp>
          <p:nvSpPr>
            <p:cNvPr id="68" name="Rectangle 10"/>
            <p:cNvSpPr>
              <a:spLocks noChangeArrowheads="1"/>
            </p:cNvSpPr>
            <p:nvPr/>
          </p:nvSpPr>
          <p:spPr bwMode="auto">
            <a:xfrm>
              <a:off x="611" y="3239"/>
              <a:ext cx="681"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Territory 1</a:t>
              </a:r>
            </a:p>
          </p:txBody>
        </p:sp>
        <p:sp>
          <p:nvSpPr>
            <p:cNvPr id="69" name="Rectangle 11"/>
            <p:cNvSpPr>
              <a:spLocks noChangeArrowheads="1"/>
            </p:cNvSpPr>
            <p:nvPr/>
          </p:nvSpPr>
          <p:spPr bwMode="auto">
            <a:xfrm>
              <a:off x="1398" y="3239"/>
              <a:ext cx="681"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Territory 2</a:t>
              </a:r>
            </a:p>
          </p:txBody>
        </p:sp>
        <p:sp>
          <p:nvSpPr>
            <p:cNvPr id="70" name="Rectangle 12"/>
            <p:cNvSpPr>
              <a:spLocks noChangeArrowheads="1"/>
            </p:cNvSpPr>
            <p:nvPr/>
          </p:nvSpPr>
          <p:spPr bwMode="auto">
            <a:xfrm>
              <a:off x="2236" y="3239"/>
              <a:ext cx="681"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Territory 3</a:t>
              </a:r>
            </a:p>
          </p:txBody>
        </p:sp>
        <p:sp>
          <p:nvSpPr>
            <p:cNvPr id="71" name="Rectangle 13"/>
            <p:cNvSpPr>
              <a:spLocks noChangeArrowheads="1"/>
            </p:cNvSpPr>
            <p:nvPr/>
          </p:nvSpPr>
          <p:spPr bwMode="auto">
            <a:xfrm>
              <a:off x="3021" y="3239"/>
              <a:ext cx="682"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Territory 4</a:t>
              </a:r>
            </a:p>
          </p:txBody>
        </p:sp>
        <p:sp>
          <p:nvSpPr>
            <p:cNvPr id="72" name="Rectangle 14"/>
            <p:cNvSpPr>
              <a:spLocks noChangeArrowheads="1"/>
            </p:cNvSpPr>
            <p:nvPr/>
          </p:nvSpPr>
          <p:spPr bwMode="auto">
            <a:xfrm>
              <a:off x="3861" y="3239"/>
              <a:ext cx="681"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Territory 5</a:t>
              </a:r>
            </a:p>
          </p:txBody>
        </p:sp>
        <p:sp>
          <p:nvSpPr>
            <p:cNvPr id="73" name="Rectangle 15"/>
            <p:cNvSpPr>
              <a:spLocks noChangeArrowheads="1"/>
            </p:cNvSpPr>
            <p:nvPr/>
          </p:nvSpPr>
          <p:spPr bwMode="auto">
            <a:xfrm>
              <a:off x="4646" y="3239"/>
              <a:ext cx="681"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Territory 6</a:t>
              </a:r>
            </a:p>
          </p:txBody>
        </p:sp>
        <p:sp>
          <p:nvSpPr>
            <p:cNvPr id="74" name="Rectangle 16"/>
            <p:cNvSpPr>
              <a:spLocks noChangeArrowheads="1"/>
            </p:cNvSpPr>
            <p:nvPr/>
          </p:nvSpPr>
          <p:spPr bwMode="auto">
            <a:xfrm>
              <a:off x="4646" y="2363"/>
              <a:ext cx="681"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District 5</a:t>
              </a:r>
            </a:p>
          </p:txBody>
        </p:sp>
        <p:sp>
          <p:nvSpPr>
            <p:cNvPr id="75" name="Rectangle 17"/>
            <p:cNvSpPr>
              <a:spLocks noChangeArrowheads="1"/>
            </p:cNvSpPr>
            <p:nvPr/>
          </p:nvSpPr>
          <p:spPr bwMode="auto">
            <a:xfrm>
              <a:off x="3651" y="2363"/>
              <a:ext cx="681"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District 4</a:t>
              </a:r>
            </a:p>
          </p:txBody>
        </p:sp>
        <p:sp>
          <p:nvSpPr>
            <p:cNvPr id="76" name="Rectangle 18"/>
            <p:cNvSpPr>
              <a:spLocks noChangeArrowheads="1"/>
            </p:cNvSpPr>
            <p:nvPr/>
          </p:nvSpPr>
          <p:spPr bwMode="auto">
            <a:xfrm>
              <a:off x="2655" y="2363"/>
              <a:ext cx="681"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District 3</a:t>
              </a:r>
            </a:p>
          </p:txBody>
        </p:sp>
        <p:sp>
          <p:nvSpPr>
            <p:cNvPr id="77" name="Rectangle 19"/>
            <p:cNvSpPr>
              <a:spLocks noChangeArrowheads="1"/>
            </p:cNvSpPr>
            <p:nvPr/>
          </p:nvSpPr>
          <p:spPr bwMode="auto">
            <a:xfrm>
              <a:off x="1607" y="2363"/>
              <a:ext cx="681" cy="438"/>
            </a:xfrm>
            <a:prstGeom prst="roundRect">
              <a:avLst/>
            </a:prstGeom>
            <a:solidFill>
              <a:srgbClr val="C0504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District 2</a:t>
              </a:r>
            </a:p>
          </p:txBody>
        </p:sp>
        <p:sp>
          <p:nvSpPr>
            <p:cNvPr id="78" name="Text Box 20"/>
            <p:cNvSpPr txBox="1">
              <a:spLocks noChangeArrowheads="1"/>
            </p:cNvSpPr>
            <p:nvPr/>
          </p:nvSpPr>
          <p:spPr bwMode="auto">
            <a:xfrm>
              <a:off x="244" y="3675"/>
              <a:ext cx="380"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Sales</a:t>
              </a:r>
            </a:p>
          </p:txBody>
        </p:sp>
        <p:sp>
          <p:nvSpPr>
            <p:cNvPr id="79" name="Text Box 21"/>
            <p:cNvSpPr txBox="1">
              <a:spLocks noChangeArrowheads="1"/>
            </p:cNvSpPr>
            <p:nvPr/>
          </p:nvSpPr>
          <p:spPr bwMode="auto">
            <a:xfrm>
              <a:off x="244" y="1869"/>
              <a:ext cx="380"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Sales</a:t>
              </a:r>
            </a:p>
          </p:txBody>
        </p:sp>
        <p:sp>
          <p:nvSpPr>
            <p:cNvPr id="80" name="Text Box 22"/>
            <p:cNvSpPr txBox="1">
              <a:spLocks noChangeArrowheads="1"/>
            </p:cNvSpPr>
            <p:nvPr/>
          </p:nvSpPr>
          <p:spPr bwMode="auto">
            <a:xfrm>
              <a:off x="244" y="2799"/>
              <a:ext cx="380"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Sales</a:t>
              </a:r>
            </a:p>
          </p:txBody>
        </p:sp>
        <p:sp>
          <p:nvSpPr>
            <p:cNvPr id="81" name="Text Box 23"/>
            <p:cNvSpPr txBox="1">
              <a:spLocks noChangeArrowheads="1"/>
            </p:cNvSpPr>
            <p:nvPr/>
          </p:nvSpPr>
          <p:spPr bwMode="auto">
            <a:xfrm>
              <a:off x="642" y="1869"/>
              <a:ext cx="672"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$62,000,000</a:t>
              </a:r>
            </a:p>
          </p:txBody>
        </p:sp>
        <p:sp>
          <p:nvSpPr>
            <p:cNvPr id="82" name="Text Box 24"/>
            <p:cNvSpPr txBox="1">
              <a:spLocks noChangeArrowheads="1"/>
            </p:cNvSpPr>
            <p:nvPr/>
          </p:nvSpPr>
          <p:spPr bwMode="auto">
            <a:xfrm>
              <a:off x="1974" y="1890"/>
              <a:ext cx="672"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$62,000,000</a:t>
              </a:r>
            </a:p>
          </p:txBody>
        </p:sp>
        <p:sp>
          <p:nvSpPr>
            <p:cNvPr id="83" name="Text Box 25"/>
            <p:cNvSpPr txBox="1">
              <a:spLocks noChangeArrowheads="1"/>
            </p:cNvSpPr>
            <p:nvPr/>
          </p:nvSpPr>
          <p:spPr bwMode="auto">
            <a:xfrm>
              <a:off x="3340" y="1869"/>
              <a:ext cx="672"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$56,000,000</a:t>
              </a:r>
            </a:p>
          </p:txBody>
        </p:sp>
        <p:sp>
          <p:nvSpPr>
            <p:cNvPr id="84" name="Line 26"/>
            <p:cNvSpPr>
              <a:spLocks noChangeShapeType="1"/>
            </p:cNvSpPr>
            <p:nvPr/>
          </p:nvSpPr>
          <p:spPr bwMode="auto">
            <a:xfrm>
              <a:off x="925" y="1268"/>
              <a:ext cx="4088" cy="0"/>
            </a:xfrm>
            <a:prstGeom prst="line">
              <a:avLst/>
            </a:prstGeom>
            <a:noFill/>
            <a:ln w="12700">
              <a:solidFill>
                <a:sysClr val="windowText" lastClr="000000"/>
              </a:solidFill>
              <a:round/>
              <a:headEnd/>
              <a:tailEn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85" name="Line 27"/>
            <p:cNvSpPr>
              <a:spLocks noChangeShapeType="1"/>
            </p:cNvSpPr>
            <p:nvPr/>
          </p:nvSpPr>
          <p:spPr bwMode="auto">
            <a:xfrm>
              <a:off x="925" y="2198"/>
              <a:ext cx="4088" cy="0"/>
            </a:xfrm>
            <a:prstGeom prst="line">
              <a:avLst/>
            </a:prstGeom>
            <a:noFill/>
            <a:ln w="12700">
              <a:solidFill>
                <a:sysClr val="windowText" lastClr="000000"/>
              </a:solidFill>
              <a:round/>
              <a:headEnd/>
              <a:tailEn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86" name="Line 28"/>
            <p:cNvSpPr>
              <a:spLocks noChangeShapeType="1"/>
            </p:cNvSpPr>
            <p:nvPr/>
          </p:nvSpPr>
          <p:spPr bwMode="auto">
            <a:xfrm>
              <a:off x="925" y="3074"/>
              <a:ext cx="4088" cy="0"/>
            </a:xfrm>
            <a:prstGeom prst="line">
              <a:avLst/>
            </a:prstGeom>
            <a:noFill/>
            <a:ln w="12700">
              <a:solidFill>
                <a:sysClr val="windowText" lastClr="000000"/>
              </a:solidFill>
              <a:round/>
              <a:headEnd/>
              <a:tailEn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87" name="Line 29"/>
            <p:cNvSpPr>
              <a:spLocks noChangeShapeType="1"/>
            </p:cNvSpPr>
            <p:nvPr/>
          </p:nvSpPr>
          <p:spPr bwMode="auto">
            <a:xfrm>
              <a:off x="925" y="1268"/>
              <a:ext cx="0" cy="164"/>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88" name="Line 30"/>
            <p:cNvSpPr>
              <a:spLocks noChangeShapeType="1"/>
            </p:cNvSpPr>
            <p:nvPr/>
          </p:nvSpPr>
          <p:spPr bwMode="auto">
            <a:xfrm>
              <a:off x="2341" y="1268"/>
              <a:ext cx="0" cy="164"/>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89" name="Line 31"/>
            <p:cNvSpPr>
              <a:spLocks noChangeShapeType="1"/>
            </p:cNvSpPr>
            <p:nvPr/>
          </p:nvSpPr>
          <p:spPr bwMode="auto">
            <a:xfrm>
              <a:off x="3703" y="1268"/>
              <a:ext cx="0" cy="164"/>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90" name="Line 32"/>
            <p:cNvSpPr>
              <a:spLocks noChangeShapeType="1"/>
            </p:cNvSpPr>
            <p:nvPr/>
          </p:nvSpPr>
          <p:spPr bwMode="auto">
            <a:xfrm>
              <a:off x="5013" y="1268"/>
              <a:ext cx="0" cy="164"/>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91" name="Line 33"/>
            <p:cNvSpPr>
              <a:spLocks noChangeShapeType="1"/>
            </p:cNvSpPr>
            <p:nvPr/>
          </p:nvSpPr>
          <p:spPr bwMode="auto">
            <a:xfrm>
              <a:off x="925" y="2198"/>
              <a:ext cx="0" cy="165"/>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92" name="Line 34"/>
            <p:cNvSpPr>
              <a:spLocks noChangeShapeType="1"/>
            </p:cNvSpPr>
            <p:nvPr/>
          </p:nvSpPr>
          <p:spPr bwMode="auto">
            <a:xfrm>
              <a:off x="1974" y="2198"/>
              <a:ext cx="0" cy="165"/>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93" name="Line 35"/>
            <p:cNvSpPr>
              <a:spLocks noChangeShapeType="1"/>
            </p:cNvSpPr>
            <p:nvPr/>
          </p:nvSpPr>
          <p:spPr bwMode="auto">
            <a:xfrm>
              <a:off x="3021" y="2198"/>
              <a:ext cx="0" cy="165"/>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94" name="Line 36"/>
            <p:cNvSpPr>
              <a:spLocks noChangeShapeType="1"/>
            </p:cNvSpPr>
            <p:nvPr/>
          </p:nvSpPr>
          <p:spPr bwMode="auto">
            <a:xfrm>
              <a:off x="4018" y="2198"/>
              <a:ext cx="0" cy="165"/>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95" name="Line 37"/>
            <p:cNvSpPr>
              <a:spLocks noChangeShapeType="1"/>
            </p:cNvSpPr>
            <p:nvPr/>
          </p:nvSpPr>
          <p:spPr bwMode="auto">
            <a:xfrm>
              <a:off x="5013" y="2198"/>
              <a:ext cx="0" cy="165"/>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96" name="Text Box 38"/>
            <p:cNvSpPr txBox="1">
              <a:spLocks noChangeArrowheads="1"/>
            </p:cNvSpPr>
            <p:nvPr/>
          </p:nvSpPr>
          <p:spPr bwMode="auto">
            <a:xfrm>
              <a:off x="4676" y="1869"/>
              <a:ext cx="672"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$73,000,000</a:t>
              </a:r>
            </a:p>
          </p:txBody>
        </p:sp>
        <p:sp>
          <p:nvSpPr>
            <p:cNvPr id="97" name="Line 39"/>
            <p:cNvSpPr>
              <a:spLocks noChangeShapeType="1"/>
            </p:cNvSpPr>
            <p:nvPr/>
          </p:nvSpPr>
          <p:spPr bwMode="auto">
            <a:xfrm>
              <a:off x="2969" y="1158"/>
              <a:ext cx="0" cy="110"/>
            </a:xfrm>
            <a:prstGeom prst="line">
              <a:avLst/>
            </a:prstGeom>
            <a:noFill/>
            <a:ln w="12700">
              <a:solidFill>
                <a:sysClr val="windowText" lastClr="000000"/>
              </a:solidFill>
              <a:round/>
              <a:headEnd/>
              <a:tailEn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98" name="Line 40"/>
            <p:cNvSpPr>
              <a:spLocks noChangeShapeType="1"/>
            </p:cNvSpPr>
            <p:nvPr/>
          </p:nvSpPr>
          <p:spPr bwMode="auto">
            <a:xfrm>
              <a:off x="3651" y="2034"/>
              <a:ext cx="0" cy="164"/>
            </a:xfrm>
            <a:prstGeom prst="line">
              <a:avLst/>
            </a:prstGeom>
            <a:noFill/>
            <a:ln w="12700">
              <a:solidFill>
                <a:sysClr val="windowText" lastClr="000000"/>
              </a:solidFill>
              <a:round/>
              <a:headEnd/>
              <a:tailEn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99" name="Text Box 41"/>
            <p:cNvSpPr txBox="1">
              <a:spLocks noChangeArrowheads="1"/>
            </p:cNvSpPr>
            <p:nvPr/>
          </p:nvSpPr>
          <p:spPr bwMode="auto">
            <a:xfrm>
              <a:off x="642" y="2799"/>
              <a:ext cx="672"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$11,000,000</a:t>
              </a:r>
            </a:p>
          </p:txBody>
        </p:sp>
        <p:sp>
          <p:nvSpPr>
            <p:cNvPr id="100" name="Text Box 42"/>
            <p:cNvSpPr txBox="1">
              <a:spLocks noChangeArrowheads="1"/>
            </p:cNvSpPr>
            <p:nvPr/>
          </p:nvSpPr>
          <p:spPr bwMode="auto">
            <a:xfrm>
              <a:off x="1637" y="2799"/>
              <a:ext cx="673"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$12,000,000</a:t>
              </a:r>
            </a:p>
          </p:txBody>
        </p:sp>
        <p:sp>
          <p:nvSpPr>
            <p:cNvPr id="101" name="Text Box 43"/>
            <p:cNvSpPr txBox="1">
              <a:spLocks noChangeArrowheads="1"/>
            </p:cNvSpPr>
            <p:nvPr/>
          </p:nvSpPr>
          <p:spPr bwMode="auto">
            <a:xfrm>
              <a:off x="2707" y="2799"/>
              <a:ext cx="672"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$13,500,000</a:t>
              </a:r>
            </a:p>
          </p:txBody>
        </p:sp>
        <p:sp>
          <p:nvSpPr>
            <p:cNvPr id="102" name="Text Box 44"/>
            <p:cNvSpPr txBox="1">
              <a:spLocks noChangeArrowheads="1"/>
            </p:cNvSpPr>
            <p:nvPr/>
          </p:nvSpPr>
          <p:spPr bwMode="auto">
            <a:xfrm>
              <a:off x="3703" y="2799"/>
              <a:ext cx="617"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$7,000,000</a:t>
              </a:r>
            </a:p>
          </p:txBody>
        </p:sp>
        <p:sp>
          <p:nvSpPr>
            <p:cNvPr id="103" name="Text Box 45"/>
            <p:cNvSpPr txBox="1">
              <a:spLocks noChangeArrowheads="1"/>
            </p:cNvSpPr>
            <p:nvPr/>
          </p:nvSpPr>
          <p:spPr bwMode="auto">
            <a:xfrm>
              <a:off x="4699" y="2799"/>
              <a:ext cx="672"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$12,500,000</a:t>
              </a:r>
            </a:p>
          </p:txBody>
        </p:sp>
        <p:sp>
          <p:nvSpPr>
            <p:cNvPr id="104" name="Text Box 46"/>
            <p:cNvSpPr txBox="1">
              <a:spLocks noChangeArrowheads="1"/>
            </p:cNvSpPr>
            <p:nvPr/>
          </p:nvSpPr>
          <p:spPr bwMode="auto">
            <a:xfrm>
              <a:off x="668" y="3675"/>
              <a:ext cx="617"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$1,100,000</a:t>
              </a:r>
            </a:p>
          </p:txBody>
        </p:sp>
        <p:sp>
          <p:nvSpPr>
            <p:cNvPr id="105" name="Text Box 47"/>
            <p:cNvSpPr txBox="1">
              <a:spLocks noChangeArrowheads="1"/>
            </p:cNvSpPr>
            <p:nvPr/>
          </p:nvSpPr>
          <p:spPr bwMode="auto">
            <a:xfrm>
              <a:off x="1450" y="3675"/>
              <a:ext cx="618"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$1,300,000</a:t>
              </a:r>
            </a:p>
          </p:txBody>
        </p:sp>
        <p:sp>
          <p:nvSpPr>
            <p:cNvPr id="106" name="Text Box 48"/>
            <p:cNvSpPr txBox="1">
              <a:spLocks noChangeArrowheads="1"/>
            </p:cNvSpPr>
            <p:nvPr/>
          </p:nvSpPr>
          <p:spPr bwMode="auto">
            <a:xfrm>
              <a:off x="2293" y="3675"/>
              <a:ext cx="617"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$1,250,000</a:t>
              </a:r>
            </a:p>
          </p:txBody>
        </p:sp>
        <p:sp>
          <p:nvSpPr>
            <p:cNvPr id="107" name="Text Box 49"/>
            <p:cNvSpPr txBox="1">
              <a:spLocks noChangeArrowheads="1"/>
            </p:cNvSpPr>
            <p:nvPr/>
          </p:nvSpPr>
          <p:spPr bwMode="auto">
            <a:xfrm>
              <a:off x="3074" y="3675"/>
              <a:ext cx="617"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$1,400,000</a:t>
              </a:r>
            </a:p>
          </p:txBody>
        </p:sp>
        <p:sp>
          <p:nvSpPr>
            <p:cNvPr id="108" name="Text Box 50"/>
            <p:cNvSpPr txBox="1">
              <a:spLocks noChangeArrowheads="1"/>
            </p:cNvSpPr>
            <p:nvPr/>
          </p:nvSpPr>
          <p:spPr bwMode="auto">
            <a:xfrm>
              <a:off x="3917" y="3675"/>
              <a:ext cx="534"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$750,000</a:t>
              </a:r>
            </a:p>
          </p:txBody>
        </p:sp>
        <p:sp>
          <p:nvSpPr>
            <p:cNvPr id="109" name="Text Box 51"/>
            <p:cNvSpPr txBox="1">
              <a:spLocks noChangeArrowheads="1"/>
            </p:cNvSpPr>
            <p:nvPr/>
          </p:nvSpPr>
          <p:spPr bwMode="auto">
            <a:xfrm>
              <a:off x="4698" y="3675"/>
              <a:ext cx="617" cy="194"/>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$1,200,000</a:t>
              </a:r>
            </a:p>
          </p:txBody>
        </p:sp>
        <p:sp>
          <p:nvSpPr>
            <p:cNvPr id="110" name="Line 52"/>
            <p:cNvSpPr>
              <a:spLocks noChangeShapeType="1"/>
            </p:cNvSpPr>
            <p:nvPr/>
          </p:nvSpPr>
          <p:spPr bwMode="auto">
            <a:xfrm>
              <a:off x="925" y="3074"/>
              <a:ext cx="0" cy="165"/>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111" name="Line 53"/>
            <p:cNvSpPr>
              <a:spLocks noChangeShapeType="1"/>
            </p:cNvSpPr>
            <p:nvPr/>
          </p:nvSpPr>
          <p:spPr bwMode="auto">
            <a:xfrm>
              <a:off x="1764" y="3074"/>
              <a:ext cx="0" cy="165"/>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112" name="Line 54"/>
            <p:cNvSpPr>
              <a:spLocks noChangeShapeType="1"/>
            </p:cNvSpPr>
            <p:nvPr/>
          </p:nvSpPr>
          <p:spPr bwMode="auto">
            <a:xfrm>
              <a:off x="2602" y="3074"/>
              <a:ext cx="0" cy="165"/>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113" name="Line 55"/>
            <p:cNvSpPr>
              <a:spLocks noChangeShapeType="1"/>
            </p:cNvSpPr>
            <p:nvPr/>
          </p:nvSpPr>
          <p:spPr bwMode="auto">
            <a:xfrm>
              <a:off x="3388" y="3074"/>
              <a:ext cx="0" cy="165"/>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114" name="Line 56"/>
            <p:cNvSpPr>
              <a:spLocks noChangeShapeType="1"/>
            </p:cNvSpPr>
            <p:nvPr/>
          </p:nvSpPr>
          <p:spPr bwMode="auto">
            <a:xfrm>
              <a:off x="4227" y="3074"/>
              <a:ext cx="0" cy="165"/>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115" name="Line 57"/>
            <p:cNvSpPr>
              <a:spLocks noChangeShapeType="1"/>
            </p:cNvSpPr>
            <p:nvPr/>
          </p:nvSpPr>
          <p:spPr bwMode="auto">
            <a:xfrm>
              <a:off x="5013" y="3074"/>
              <a:ext cx="0" cy="165"/>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116" name="Line 58"/>
            <p:cNvSpPr>
              <a:spLocks noChangeShapeType="1"/>
            </p:cNvSpPr>
            <p:nvPr/>
          </p:nvSpPr>
          <p:spPr bwMode="auto">
            <a:xfrm>
              <a:off x="4018" y="2965"/>
              <a:ext cx="0" cy="109"/>
            </a:xfrm>
            <a:prstGeom prst="line">
              <a:avLst/>
            </a:prstGeom>
            <a:noFill/>
            <a:ln w="12700">
              <a:solidFill>
                <a:sysClr val="windowText" lastClr="000000"/>
              </a:solidFill>
              <a:round/>
              <a:headEnd/>
              <a:tailEn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117" name="Text Box 59"/>
            <p:cNvSpPr txBox="1">
              <a:spLocks noChangeArrowheads="1"/>
            </p:cNvSpPr>
            <p:nvPr/>
          </p:nvSpPr>
          <p:spPr bwMode="auto">
            <a:xfrm>
              <a:off x="3877" y="4033"/>
              <a:ext cx="561" cy="326"/>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Additional</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rPr>
                <a:t>Analysis</a:t>
              </a:r>
            </a:p>
          </p:txBody>
        </p:sp>
        <p:sp>
          <p:nvSpPr>
            <p:cNvPr id="118" name="Line 60"/>
            <p:cNvSpPr>
              <a:spLocks noChangeShapeType="1"/>
            </p:cNvSpPr>
            <p:nvPr/>
          </p:nvSpPr>
          <p:spPr bwMode="auto">
            <a:xfrm>
              <a:off x="4176" y="3840"/>
              <a:ext cx="0" cy="192"/>
            </a:xfrm>
            <a:prstGeom prst="line">
              <a:avLst/>
            </a:prstGeom>
            <a:noFill/>
            <a:ln w="12700">
              <a:solidFill>
                <a:sysClr val="windowText" lastClr="000000"/>
              </a:solidFill>
              <a:round/>
              <a:headEnd/>
              <a:tailEnd type="triangl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grpSp>
      <p:sp>
        <p:nvSpPr>
          <p:cNvPr id="2" name="Arrow: Right 1">
            <a:extLst>
              <a:ext uri="{FF2B5EF4-FFF2-40B4-BE49-F238E27FC236}">
                <a16:creationId xmlns:a16="http://schemas.microsoft.com/office/drawing/2014/main" id="{2AB856BC-9A7A-4B1C-BE2A-C6560D93EE46}"/>
              </a:ext>
            </a:extLst>
          </p:cNvPr>
          <p:cNvSpPr/>
          <p:nvPr/>
        </p:nvSpPr>
        <p:spPr bwMode="auto">
          <a:xfrm rot="9853068">
            <a:off x="6125346" y="3113910"/>
            <a:ext cx="304799" cy="232492"/>
          </a:xfrm>
          <a:prstGeom prst="right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119" name="Arrow: Right 118">
            <a:extLst>
              <a:ext uri="{FF2B5EF4-FFF2-40B4-BE49-F238E27FC236}">
                <a16:creationId xmlns:a16="http://schemas.microsoft.com/office/drawing/2014/main" id="{4CB39B44-F2D0-418C-A3AE-32E89B4EE843}"/>
              </a:ext>
            </a:extLst>
          </p:cNvPr>
          <p:cNvSpPr/>
          <p:nvPr/>
        </p:nvSpPr>
        <p:spPr bwMode="auto">
          <a:xfrm rot="9853068">
            <a:off x="6619221" y="4435014"/>
            <a:ext cx="304799" cy="232492"/>
          </a:xfrm>
          <a:prstGeom prst="right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120" name="Arrow: Right 119">
            <a:extLst>
              <a:ext uri="{FF2B5EF4-FFF2-40B4-BE49-F238E27FC236}">
                <a16:creationId xmlns:a16="http://schemas.microsoft.com/office/drawing/2014/main" id="{04D1B4AC-A9B6-453E-B62C-AA8CCBC75829}"/>
              </a:ext>
            </a:extLst>
          </p:cNvPr>
          <p:cNvSpPr/>
          <p:nvPr/>
        </p:nvSpPr>
        <p:spPr bwMode="auto">
          <a:xfrm rot="9853068">
            <a:off x="6803995" y="5735871"/>
            <a:ext cx="304799" cy="232492"/>
          </a:xfrm>
          <a:prstGeom prst="right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Tree>
    <p:extLst>
      <p:ext uri="{BB962C8B-B14F-4D97-AF65-F5344CB8AC3E}">
        <p14:creationId xmlns:p14="http://schemas.microsoft.com/office/powerpoint/2010/main" val="144360102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914400" y="6248400"/>
            <a:ext cx="1905000" cy="457200"/>
          </a:xfrm>
          <a:prstGeom prst="rect">
            <a:avLst/>
          </a:prstGeom>
          <a:noFill/>
          <a:ln w="12700">
            <a:noFill/>
            <a:miter lim="800000"/>
            <a:headEnd/>
            <a:tailEnd/>
          </a:ln>
          <a:effectLst/>
        </p:spPr>
        <p:txBody>
          <a:bodyPr wrap="none" anchor="ctr"/>
          <a:lstStyle/>
          <a:p>
            <a:endParaRPr lang="en-US" dirty="0"/>
          </a:p>
        </p:txBody>
      </p:sp>
      <p:sp>
        <p:nvSpPr>
          <p:cNvPr id="41987" name="Rectangle 3"/>
          <p:cNvSpPr>
            <a:spLocks noChangeArrowheads="1"/>
          </p:cNvSpPr>
          <p:nvPr/>
        </p:nvSpPr>
        <p:spPr bwMode="auto">
          <a:xfrm>
            <a:off x="3352800" y="6248400"/>
            <a:ext cx="2895600" cy="457200"/>
          </a:xfrm>
          <a:prstGeom prst="rect">
            <a:avLst/>
          </a:prstGeom>
          <a:noFill/>
          <a:ln w="12700">
            <a:noFill/>
            <a:miter lim="800000"/>
            <a:headEnd/>
            <a:tailEnd/>
          </a:ln>
          <a:effectLst/>
        </p:spPr>
        <p:txBody>
          <a:bodyPr wrap="none" anchor="ctr"/>
          <a:lstStyle/>
          <a:p>
            <a:endParaRPr lang="en-US" dirty="0"/>
          </a:p>
        </p:txBody>
      </p:sp>
      <p:sp>
        <p:nvSpPr>
          <p:cNvPr id="41988" name="Rectangle 4"/>
          <p:cNvSpPr>
            <a:spLocks noGrp="1" noChangeArrowheads="1"/>
          </p:cNvSpPr>
          <p:nvPr>
            <p:ph type="title"/>
          </p:nvPr>
        </p:nvSpPr>
        <p:spPr>
          <a:solidFill>
            <a:schemeClr val="bg2">
              <a:lumMod val="60000"/>
              <a:lumOff val="40000"/>
            </a:schemeClr>
          </a:solidFill>
        </p:spPr>
        <p:txBody>
          <a:bodyPr/>
          <a:lstStyle/>
          <a:p>
            <a:r>
              <a:rPr lang="en-US" dirty="0"/>
              <a:t>Type of Sales</a:t>
            </a:r>
          </a:p>
        </p:txBody>
      </p:sp>
      <p:sp>
        <p:nvSpPr>
          <p:cNvPr id="41989" name="Rectangle 5"/>
          <p:cNvSpPr>
            <a:spLocks noChangeArrowheads="1"/>
          </p:cNvSpPr>
          <p:nvPr/>
        </p:nvSpPr>
        <p:spPr bwMode="auto">
          <a:xfrm>
            <a:off x="3124200" y="4505753"/>
            <a:ext cx="3048000" cy="1952625"/>
          </a:xfrm>
          <a:prstGeom prst="rect">
            <a:avLst/>
          </a:prstGeom>
          <a:solidFill>
            <a:schemeClr val="bg2">
              <a:lumMod val="20000"/>
              <a:lumOff val="80000"/>
            </a:schemeClr>
          </a:solidFill>
          <a:ln w="12700">
            <a:noFill/>
            <a:miter lim="800000"/>
            <a:headEnd/>
            <a:tailEnd/>
          </a:ln>
          <a:effectLst/>
          <a:scene3d>
            <a:camera prst="orthographicFront"/>
            <a:lightRig rig="threePt" dir="t"/>
          </a:scene3d>
          <a:sp3d>
            <a:bevelT/>
          </a:sp3d>
        </p:spPr>
        <p:txBody>
          <a:bodyPr lIns="90488" tIns="44450" rIns="90488" bIns="44450"/>
          <a:lstStyle/>
          <a:p>
            <a:pPr marL="344488" indent="-344488" eaLnBrk="0" hangingPunct="0">
              <a:lnSpc>
                <a:spcPct val="150000"/>
              </a:lnSpc>
              <a:buFontTx/>
              <a:buChar char="•"/>
            </a:pPr>
            <a:r>
              <a:rPr lang="en-US" sz="2000" dirty="0">
                <a:latin typeface="Arial" panose="020B0604020202020204" pitchFamily="34" charset="0"/>
                <a:cs typeface="Arial" panose="020B0604020202020204" pitchFamily="34" charset="0"/>
              </a:rPr>
              <a:t>Type of Product</a:t>
            </a:r>
          </a:p>
          <a:p>
            <a:pPr marL="344488" indent="-344488">
              <a:lnSpc>
                <a:spcPct val="150000"/>
              </a:lnSpc>
              <a:buFontTx/>
              <a:buChar char="•"/>
            </a:pPr>
            <a:r>
              <a:rPr lang="en-US" sz="2000" dirty="0">
                <a:latin typeface="Arial" panose="020B0604020202020204" pitchFamily="34" charset="0"/>
                <a:cs typeface="Arial" panose="020B0604020202020204" pitchFamily="34" charset="0"/>
              </a:rPr>
              <a:t>Type of Account</a:t>
            </a:r>
          </a:p>
          <a:p>
            <a:pPr marL="344488" indent="-344488">
              <a:lnSpc>
                <a:spcPct val="150000"/>
              </a:lnSpc>
              <a:buFontTx/>
              <a:buChar char="•"/>
            </a:pPr>
            <a:r>
              <a:rPr lang="en-US" sz="2000" dirty="0">
                <a:latin typeface="Arial" panose="020B0604020202020204" pitchFamily="34" charset="0"/>
                <a:cs typeface="Arial" panose="020B0604020202020204" pitchFamily="34" charset="0"/>
              </a:rPr>
              <a:t>Type of Distribution</a:t>
            </a:r>
          </a:p>
          <a:p>
            <a:pPr marL="344488" indent="-344488">
              <a:lnSpc>
                <a:spcPct val="150000"/>
              </a:lnSpc>
              <a:buFontTx/>
              <a:buChar char="•"/>
            </a:pPr>
            <a:r>
              <a:rPr lang="en-US" sz="2000" dirty="0">
                <a:latin typeface="Arial" panose="020B0604020202020204" pitchFamily="34" charset="0"/>
                <a:cs typeface="Arial" panose="020B0604020202020204" pitchFamily="34" charset="0"/>
              </a:rPr>
              <a:t>Order Size </a:t>
            </a:r>
          </a:p>
          <a:p>
            <a:pPr marL="344488" indent="-344488" eaLnBrk="0" hangingPunct="0">
              <a:lnSpc>
                <a:spcPct val="150000"/>
              </a:lnSpc>
              <a:buFontTx/>
              <a:buChar char="•"/>
            </a:pPr>
            <a:endParaRPr lang="en-US" sz="2000" dirty="0">
              <a:latin typeface="Arial" panose="020B0604020202020204" pitchFamily="34" charset="0"/>
              <a:cs typeface="Arial" panose="020B0604020202020204" pitchFamily="34" charset="0"/>
            </a:endParaRPr>
          </a:p>
        </p:txBody>
      </p:sp>
      <p:pic>
        <p:nvPicPr>
          <p:cNvPr id="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63" y="1828800"/>
            <a:ext cx="8193087"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Rounded Rectangle 22"/>
          <p:cNvSpPr/>
          <p:nvPr/>
        </p:nvSpPr>
        <p:spPr bwMode="auto">
          <a:xfrm>
            <a:off x="6172200" y="3283546"/>
            <a:ext cx="2471800" cy="930452"/>
          </a:xfrm>
          <a:prstGeom prst="roundRect">
            <a:avLst/>
          </a:prstGeom>
          <a:solidFill>
            <a:srgbClr val="FFFFFF">
              <a:alpha val="74902"/>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a:endParaRPr>
          </a:p>
        </p:txBody>
      </p:sp>
      <p:sp>
        <p:nvSpPr>
          <p:cNvPr id="24" name="Rounded Rectangle 23"/>
          <p:cNvSpPr/>
          <p:nvPr/>
        </p:nvSpPr>
        <p:spPr bwMode="auto">
          <a:xfrm>
            <a:off x="533400" y="3276600"/>
            <a:ext cx="2438400" cy="930452"/>
          </a:xfrm>
          <a:prstGeom prst="roundRect">
            <a:avLst/>
          </a:prstGeom>
          <a:solidFill>
            <a:srgbClr val="FFFFFF">
              <a:alpha val="74902"/>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a:endParaRPr>
          </a:p>
        </p:txBody>
      </p:sp>
      <p:sp>
        <p:nvSpPr>
          <p:cNvPr id="9" name="TextBox 8">
            <a:extLst>
              <a:ext uri="{FF2B5EF4-FFF2-40B4-BE49-F238E27FC236}">
                <a16:creationId xmlns:a16="http://schemas.microsoft.com/office/drawing/2014/main" id="{DE3ECB96-8D1E-439F-BC50-2647FA9F1F9E}"/>
              </a:ext>
            </a:extLst>
          </p:cNvPr>
          <p:cNvSpPr txBox="1"/>
          <p:nvPr/>
        </p:nvSpPr>
        <p:spPr>
          <a:xfrm>
            <a:off x="6172200" y="3541771"/>
            <a:ext cx="2343150" cy="400110"/>
          </a:xfrm>
          <a:prstGeom prst="rect">
            <a:avLst/>
          </a:prstGeom>
          <a:solidFill>
            <a:srgbClr val="F8C8C8"/>
          </a:solidFill>
          <a:effectLst>
            <a:softEdge rad="38100"/>
          </a:effectLst>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Method of Analysis</a:t>
            </a:r>
          </a:p>
        </p:txBody>
      </p:sp>
    </p:spTree>
    <p:extLst>
      <p:ext uri="{BB962C8B-B14F-4D97-AF65-F5344CB8AC3E}">
        <p14:creationId xmlns:p14="http://schemas.microsoft.com/office/powerpoint/2010/main" val="20118103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solidFill>
            <a:schemeClr val="bg2">
              <a:lumMod val="60000"/>
              <a:lumOff val="40000"/>
            </a:schemeClr>
          </a:solidFill>
        </p:spPr>
        <p:txBody>
          <a:bodyPr/>
          <a:lstStyle/>
          <a:p>
            <a:r>
              <a:rPr lang="en-US" dirty="0"/>
              <a:t>Example of </a:t>
            </a:r>
            <a:r>
              <a:rPr lang="en-US" b="1" dirty="0"/>
              <a:t>Type-of-Sales</a:t>
            </a:r>
            <a:r>
              <a:rPr lang="en-US" dirty="0"/>
              <a:t> Analysis</a:t>
            </a:r>
          </a:p>
        </p:txBody>
      </p:sp>
      <p:grpSp>
        <p:nvGrpSpPr>
          <p:cNvPr id="37" name="Group 3"/>
          <p:cNvGrpSpPr>
            <a:grpSpLocks/>
          </p:cNvGrpSpPr>
          <p:nvPr/>
        </p:nvGrpSpPr>
        <p:grpSpPr bwMode="auto">
          <a:xfrm>
            <a:off x="228600" y="1513709"/>
            <a:ext cx="8839200" cy="4484688"/>
            <a:chOff x="96" y="1008"/>
            <a:chExt cx="5472" cy="3137"/>
          </a:xfrm>
        </p:grpSpPr>
        <p:sp>
          <p:nvSpPr>
            <p:cNvPr id="38" name="Rectangle 4"/>
            <p:cNvSpPr>
              <a:spLocks noChangeArrowheads="1"/>
            </p:cNvSpPr>
            <p:nvPr/>
          </p:nvSpPr>
          <p:spPr bwMode="auto">
            <a:xfrm>
              <a:off x="513" y="2802"/>
              <a:ext cx="685" cy="509"/>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Product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Type A</a:t>
              </a:r>
            </a:p>
          </p:txBody>
        </p:sp>
        <p:sp>
          <p:nvSpPr>
            <p:cNvPr id="39" name="Rectangle 5"/>
            <p:cNvSpPr>
              <a:spLocks noChangeArrowheads="1"/>
            </p:cNvSpPr>
            <p:nvPr/>
          </p:nvSpPr>
          <p:spPr bwMode="auto">
            <a:xfrm>
              <a:off x="1305" y="2802"/>
              <a:ext cx="685" cy="509"/>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Product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Type B</a:t>
              </a:r>
            </a:p>
          </p:txBody>
        </p:sp>
        <p:sp>
          <p:nvSpPr>
            <p:cNvPr id="40" name="Rectangle 6"/>
            <p:cNvSpPr>
              <a:spLocks noChangeArrowheads="1"/>
            </p:cNvSpPr>
            <p:nvPr/>
          </p:nvSpPr>
          <p:spPr bwMode="auto">
            <a:xfrm>
              <a:off x="2148" y="2802"/>
              <a:ext cx="686" cy="509"/>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Product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Type C</a:t>
              </a:r>
            </a:p>
          </p:txBody>
        </p:sp>
        <p:sp>
          <p:nvSpPr>
            <p:cNvPr id="41" name="Rectangle 7"/>
            <p:cNvSpPr>
              <a:spLocks noChangeArrowheads="1"/>
            </p:cNvSpPr>
            <p:nvPr/>
          </p:nvSpPr>
          <p:spPr bwMode="auto">
            <a:xfrm>
              <a:off x="3247" y="2802"/>
              <a:ext cx="687" cy="509"/>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Account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Type A</a:t>
              </a:r>
            </a:p>
          </p:txBody>
        </p:sp>
        <p:sp>
          <p:nvSpPr>
            <p:cNvPr id="42" name="Rectangle 8"/>
            <p:cNvSpPr>
              <a:spLocks noChangeArrowheads="1"/>
            </p:cNvSpPr>
            <p:nvPr/>
          </p:nvSpPr>
          <p:spPr bwMode="auto">
            <a:xfrm>
              <a:off x="4092" y="2802"/>
              <a:ext cx="685" cy="509"/>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sp>
          <p:nvSpPr>
            <p:cNvPr id="43" name="Rectangle 9"/>
            <p:cNvSpPr>
              <a:spLocks noChangeArrowheads="1"/>
            </p:cNvSpPr>
            <p:nvPr/>
          </p:nvSpPr>
          <p:spPr bwMode="auto">
            <a:xfrm>
              <a:off x="4883" y="2802"/>
              <a:ext cx="685" cy="509"/>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Account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Type C</a:t>
              </a:r>
            </a:p>
          </p:txBody>
        </p:sp>
        <p:sp>
          <p:nvSpPr>
            <p:cNvPr id="44" name="Rectangle 10"/>
            <p:cNvSpPr>
              <a:spLocks noChangeArrowheads="1"/>
            </p:cNvSpPr>
            <p:nvPr/>
          </p:nvSpPr>
          <p:spPr bwMode="auto">
            <a:xfrm>
              <a:off x="4128" y="1877"/>
              <a:ext cx="685" cy="509"/>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prstClr val="black"/>
                  </a:solidFill>
                  <a:effectLst/>
                  <a:uLnTx/>
                  <a:uFillTx/>
                  <a:latin typeface="Calibri" panose="020F0502020204030204"/>
                </a:rPr>
                <a:t>Account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Type Sales</a:t>
              </a:r>
            </a:p>
          </p:txBody>
        </p:sp>
        <p:sp>
          <p:nvSpPr>
            <p:cNvPr id="45" name="Rectangle 11"/>
            <p:cNvSpPr>
              <a:spLocks noChangeArrowheads="1"/>
            </p:cNvSpPr>
            <p:nvPr/>
          </p:nvSpPr>
          <p:spPr bwMode="auto">
            <a:xfrm>
              <a:off x="1332" y="1877"/>
              <a:ext cx="685" cy="509"/>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prstClr val="black"/>
                  </a:solidFill>
                  <a:effectLst/>
                  <a:uLnTx/>
                  <a:uFillTx/>
                  <a:latin typeface="Calibri" panose="020F0502020204030204"/>
                </a:rPr>
                <a:t>Product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Type Sales</a:t>
              </a:r>
            </a:p>
          </p:txBody>
        </p:sp>
        <p:sp>
          <p:nvSpPr>
            <p:cNvPr id="46" name="Text Box 12"/>
            <p:cNvSpPr txBox="1">
              <a:spLocks noChangeArrowheads="1"/>
            </p:cNvSpPr>
            <p:nvPr/>
          </p:nvSpPr>
          <p:spPr bwMode="auto">
            <a:xfrm>
              <a:off x="96" y="3312"/>
              <a:ext cx="375" cy="237"/>
            </a:xfrm>
            <a:prstGeom prst="rect">
              <a:avLst/>
            </a:prstGeom>
            <a:noFill/>
            <a:ln w="12700">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Sales</a:t>
              </a:r>
            </a:p>
          </p:txBody>
        </p:sp>
        <p:sp>
          <p:nvSpPr>
            <p:cNvPr id="47" name="Line 13"/>
            <p:cNvSpPr>
              <a:spLocks noChangeShapeType="1"/>
            </p:cNvSpPr>
            <p:nvPr/>
          </p:nvSpPr>
          <p:spPr bwMode="auto">
            <a:xfrm>
              <a:off x="1651" y="1708"/>
              <a:ext cx="2854" cy="0"/>
            </a:xfrm>
            <a:prstGeom prst="line">
              <a:avLst/>
            </a:prstGeom>
            <a:noFill/>
            <a:ln w="127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48" name="Line 14"/>
            <p:cNvSpPr>
              <a:spLocks noChangeShapeType="1"/>
            </p:cNvSpPr>
            <p:nvPr/>
          </p:nvSpPr>
          <p:spPr bwMode="auto">
            <a:xfrm>
              <a:off x="3590" y="2611"/>
              <a:ext cx="1662" cy="0"/>
            </a:xfrm>
            <a:prstGeom prst="line">
              <a:avLst/>
            </a:prstGeom>
            <a:noFill/>
            <a:ln w="127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49" name="Line 15"/>
            <p:cNvSpPr>
              <a:spLocks noChangeShapeType="1"/>
            </p:cNvSpPr>
            <p:nvPr/>
          </p:nvSpPr>
          <p:spPr bwMode="auto">
            <a:xfrm>
              <a:off x="1651" y="1708"/>
              <a:ext cx="4" cy="169"/>
            </a:xfrm>
            <a:prstGeom prst="line">
              <a:avLst/>
            </a:prstGeom>
            <a:noFill/>
            <a:ln w="127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50" name="Line 16"/>
            <p:cNvSpPr>
              <a:spLocks noChangeShapeType="1"/>
            </p:cNvSpPr>
            <p:nvPr/>
          </p:nvSpPr>
          <p:spPr bwMode="auto">
            <a:xfrm>
              <a:off x="4505" y="1708"/>
              <a:ext cx="0" cy="169"/>
            </a:xfrm>
            <a:prstGeom prst="line">
              <a:avLst/>
            </a:prstGeom>
            <a:noFill/>
            <a:ln w="127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51" name="Line 17"/>
            <p:cNvSpPr>
              <a:spLocks noChangeShapeType="1"/>
            </p:cNvSpPr>
            <p:nvPr/>
          </p:nvSpPr>
          <p:spPr bwMode="auto">
            <a:xfrm>
              <a:off x="3066" y="1517"/>
              <a:ext cx="0" cy="191"/>
            </a:xfrm>
            <a:prstGeom prst="line">
              <a:avLst/>
            </a:prstGeom>
            <a:noFill/>
            <a:ln w="127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52" name="Text Box 18"/>
            <p:cNvSpPr txBox="1">
              <a:spLocks noChangeArrowheads="1"/>
            </p:cNvSpPr>
            <p:nvPr/>
          </p:nvSpPr>
          <p:spPr bwMode="auto">
            <a:xfrm>
              <a:off x="553" y="3312"/>
              <a:ext cx="598" cy="237"/>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$175,000</a:t>
              </a:r>
            </a:p>
          </p:txBody>
        </p:sp>
        <p:sp>
          <p:nvSpPr>
            <p:cNvPr id="53" name="Text Box 19"/>
            <p:cNvSpPr txBox="1">
              <a:spLocks noChangeArrowheads="1"/>
            </p:cNvSpPr>
            <p:nvPr/>
          </p:nvSpPr>
          <p:spPr bwMode="auto">
            <a:xfrm>
              <a:off x="1296" y="3312"/>
              <a:ext cx="672" cy="236"/>
            </a:xfrm>
            <a:prstGeom prst="rect">
              <a:avLst/>
            </a:prstGeom>
            <a:noFill/>
            <a:ln w="12700">
              <a:noFill/>
              <a:miter lim="800000"/>
              <a:headEnd/>
              <a:tailEnd/>
            </a:ln>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$275,000</a:t>
              </a:r>
            </a:p>
          </p:txBody>
        </p:sp>
        <p:sp>
          <p:nvSpPr>
            <p:cNvPr id="54" name="Text Box 20"/>
            <p:cNvSpPr txBox="1">
              <a:spLocks noChangeArrowheads="1"/>
            </p:cNvSpPr>
            <p:nvPr/>
          </p:nvSpPr>
          <p:spPr bwMode="auto">
            <a:xfrm>
              <a:off x="2160" y="3310"/>
              <a:ext cx="672" cy="235"/>
            </a:xfrm>
            <a:prstGeom prst="rect">
              <a:avLst/>
            </a:prstGeom>
            <a:noFill/>
            <a:ln w="12700">
              <a:noFill/>
              <a:miter lim="800000"/>
              <a:headEnd/>
              <a:tailEnd/>
            </a:ln>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$300,000</a:t>
              </a:r>
            </a:p>
          </p:txBody>
        </p:sp>
        <p:sp>
          <p:nvSpPr>
            <p:cNvPr id="55" name="Text Box 21"/>
            <p:cNvSpPr txBox="1">
              <a:spLocks noChangeArrowheads="1"/>
            </p:cNvSpPr>
            <p:nvPr/>
          </p:nvSpPr>
          <p:spPr bwMode="auto">
            <a:xfrm>
              <a:off x="3264" y="3310"/>
              <a:ext cx="672" cy="235"/>
            </a:xfrm>
            <a:prstGeom prst="rect">
              <a:avLst/>
            </a:prstGeom>
            <a:noFill/>
            <a:ln w="12700">
              <a:noFill/>
              <a:miter lim="800000"/>
              <a:headEnd/>
              <a:tailEnd/>
            </a:ln>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$290,000</a:t>
              </a:r>
            </a:p>
          </p:txBody>
        </p:sp>
        <p:sp>
          <p:nvSpPr>
            <p:cNvPr id="56" name="Text Box 22"/>
            <p:cNvSpPr txBox="1">
              <a:spLocks noChangeArrowheads="1"/>
            </p:cNvSpPr>
            <p:nvPr/>
          </p:nvSpPr>
          <p:spPr bwMode="auto">
            <a:xfrm>
              <a:off x="4081" y="3310"/>
              <a:ext cx="719" cy="235"/>
            </a:xfrm>
            <a:prstGeom prst="rect">
              <a:avLst/>
            </a:prstGeom>
            <a:noFill/>
            <a:ln w="12700">
              <a:noFill/>
              <a:miter lim="800000"/>
              <a:headEnd/>
              <a:tailEnd/>
            </a:ln>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$175,000</a:t>
              </a:r>
            </a:p>
          </p:txBody>
        </p:sp>
        <p:sp>
          <p:nvSpPr>
            <p:cNvPr id="57" name="Text Box 23"/>
            <p:cNvSpPr txBox="1">
              <a:spLocks noChangeArrowheads="1"/>
            </p:cNvSpPr>
            <p:nvPr/>
          </p:nvSpPr>
          <p:spPr bwMode="auto">
            <a:xfrm>
              <a:off x="4922" y="3312"/>
              <a:ext cx="598" cy="237"/>
            </a:xfrm>
            <a:prstGeom prst="rect">
              <a:avLst/>
            </a:prstGeom>
            <a:no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$285,000</a:t>
              </a:r>
            </a:p>
          </p:txBody>
        </p:sp>
        <p:sp>
          <p:nvSpPr>
            <p:cNvPr id="58" name="Line 24"/>
            <p:cNvSpPr>
              <a:spLocks noChangeShapeType="1"/>
            </p:cNvSpPr>
            <p:nvPr/>
          </p:nvSpPr>
          <p:spPr bwMode="auto">
            <a:xfrm>
              <a:off x="3590" y="2611"/>
              <a:ext cx="0" cy="191"/>
            </a:xfrm>
            <a:prstGeom prst="line">
              <a:avLst/>
            </a:prstGeom>
            <a:noFill/>
            <a:ln w="127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59" name="Line 25"/>
            <p:cNvSpPr>
              <a:spLocks noChangeShapeType="1"/>
            </p:cNvSpPr>
            <p:nvPr/>
          </p:nvSpPr>
          <p:spPr bwMode="auto">
            <a:xfrm>
              <a:off x="4461" y="2386"/>
              <a:ext cx="0" cy="416"/>
            </a:xfrm>
            <a:prstGeom prst="line">
              <a:avLst/>
            </a:prstGeom>
            <a:noFill/>
            <a:ln w="127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0" name="Line 26"/>
            <p:cNvSpPr>
              <a:spLocks noChangeShapeType="1"/>
            </p:cNvSpPr>
            <p:nvPr/>
          </p:nvSpPr>
          <p:spPr bwMode="auto">
            <a:xfrm>
              <a:off x="5252" y="2611"/>
              <a:ext cx="0" cy="191"/>
            </a:xfrm>
            <a:prstGeom prst="line">
              <a:avLst/>
            </a:prstGeom>
            <a:noFill/>
            <a:ln w="127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1" name="Text Box 27"/>
            <p:cNvSpPr txBox="1">
              <a:spLocks noChangeArrowheads="1"/>
            </p:cNvSpPr>
            <p:nvPr/>
          </p:nvSpPr>
          <p:spPr bwMode="auto">
            <a:xfrm>
              <a:off x="4148" y="2828"/>
              <a:ext cx="536" cy="409"/>
            </a:xfrm>
            <a:prstGeom prst="rect">
              <a:avLst/>
            </a:prstGeom>
            <a:solidFill>
              <a:srgbClr val="4F81BD"/>
            </a:solidFill>
            <a:ln w="12700">
              <a:noFill/>
              <a:miter lim="800000"/>
              <a:headEnd/>
              <a:tailEnd/>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Account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Type B</a:t>
              </a:r>
            </a:p>
          </p:txBody>
        </p:sp>
        <p:sp>
          <p:nvSpPr>
            <p:cNvPr id="62" name="Rectangle 28"/>
            <p:cNvSpPr>
              <a:spLocks noChangeArrowheads="1"/>
            </p:cNvSpPr>
            <p:nvPr/>
          </p:nvSpPr>
          <p:spPr bwMode="auto">
            <a:xfrm>
              <a:off x="2743" y="1008"/>
              <a:ext cx="685" cy="509"/>
            </a:xfrm>
            <a:prstGeom prst="roundRect">
              <a:avLst/>
            </a:prstGeom>
            <a:solidFill>
              <a:srgbClr val="4F81BD"/>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Territory 5</a:t>
              </a:r>
            </a:p>
          </p:txBody>
        </p:sp>
        <p:sp>
          <p:nvSpPr>
            <p:cNvPr id="63" name="Line 29"/>
            <p:cNvSpPr>
              <a:spLocks noChangeShapeType="1"/>
            </p:cNvSpPr>
            <p:nvPr/>
          </p:nvSpPr>
          <p:spPr bwMode="auto">
            <a:xfrm>
              <a:off x="844" y="2603"/>
              <a:ext cx="1669" cy="0"/>
            </a:xfrm>
            <a:prstGeom prst="line">
              <a:avLst/>
            </a:prstGeom>
            <a:noFill/>
            <a:ln w="127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4" name="Line 30"/>
            <p:cNvSpPr>
              <a:spLocks noChangeShapeType="1"/>
            </p:cNvSpPr>
            <p:nvPr/>
          </p:nvSpPr>
          <p:spPr bwMode="auto">
            <a:xfrm>
              <a:off x="844" y="2603"/>
              <a:ext cx="0" cy="191"/>
            </a:xfrm>
            <a:prstGeom prst="line">
              <a:avLst/>
            </a:prstGeom>
            <a:noFill/>
            <a:ln w="127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5" name="Line 31"/>
            <p:cNvSpPr>
              <a:spLocks noChangeShapeType="1"/>
            </p:cNvSpPr>
            <p:nvPr/>
          </p:nvSpPr>
          <p:spPr bwMode="auto">
            <a:xfrm>
              <a:off x="1651" y="2386"/>
              <a:ext cx="0" cy="408"/>
            </a:xfrm>
            <a:prstGeom prst="line">
              <a:avLst/>
            </a:prstGeom>
            <a:noFill/>
            <a:ln w="127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6" name="Line 32"/>
            <p:cNvSpPr>
              <a:spLocks noChangeShapeType="1"/>
            </p:cNvSpPr>
            <p:nvPr/>
          </p:nvSpPr>
          <p:spPr bwMode="auto">
            <a:xfrm>
              <a:off x="2513" y="2590"/>
              <a:ext cx="0" cy="204"/>
            </a:xfrm>
            <a:prstGeom prst="line">
              <a:avLst/>
            </a:prstGeom>
            <a:noFill/>
            <a:ln w="127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67" name="Text Box 33"/>
            <p:cNvSpPr txBox="1">
              <a:spLocks noChangeArrowheads="1"/>
            </p:cNvSpPr>
            <p:nvPr/>
          </p:nvSpPr>
          <p:spPr bwMode="auto">
            <a:xfrm>
              <a:off x="480" y="3696"/>
              <a:ext cx="874" cy="449"/>
            </a:xfrm>
            <a:prstGeom prst="rect">
              <a:avLst/>
            </a:prstGeom>
            <a:noFill/>
            <a:ln w="12700">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Additional Analysis</a:t>
              </a:r>
            </a:p>
          </p:txBody>
        </p:sp>
        <p:sp>
          <p:nvSpPr>
            <p:cNvPr id="68" name="Text Box 34"/>
            <p:cNvSpPr txBox="1">
              <a:spLocks noChangeArrowheads="1"/>
            </p:cNvSpPr>
            <p:nvPr/>
          </p:nvSpPr>
          <p:spPr bwMode="auto">
            <a:xfrm>
              <a:off x="4080" y="3696"/>
              <a:ext cx="874" cy="448"/>
            </a:xfrm>
            <a:prstGeom prst="rect">
              <a:avLst/>
            </a:prstGeom>
            <a:noFill/>
            <a:ln w="12700">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Additional Analysis</a:t>
              </a:r>
            </a:p>
          </p:txBody>
        </p:sp>
        <p:sp>
          <p:nvSpPr>
            <p:cNvPr id="69" name="Line 35"/>
            <p:cNvSpPr>
              <a:spLocks noChangeShapeType="1"/>
            </p:cNvSpPr>
            <p:nvPr/>
          </p:nvSpPr>
          <p:spPr bwMode="auto">
            <a:xfrm>
              <a:off x="816" y="3552"/>
              <a:ext cx="0" cy="144"/>
            </a:xfrm>
            <a:prstGeom prst="line">
              <a:avLst/>
            </a:prstGeom>
            <a:noFill/>
            <a:ln w="127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0" name="Line 36"/>
            <p:cNvSpPr>
              <a:spLocks noChangeShapeType="1"/>
            </p:cNvSpPr>
            <p:nvPr/>
          </p:nvSpPr>
          <p:spPr bwMode="auto">
            <a:xfrm>
              <a:off x="4416" y="3552"/>
              <a:ext cx="0" cy="144"/>
            </a:xfrm>
            <a:prstGeom prst="line">
              <a:avLst/>
            </a:prstGeom>
            <a:noFill/>
            <a:ln w="127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grpSp>
    </p:spTree>
    <p:extLst>
      <p:ext uri="{BB962C8B-B14F-4D97-AF65-F5344CB8AC3E}">
        <p14:creationId xmlns:p14="http://schemas.microsoft.com/office/powerpoint/2010/main" val="267684708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914400" y="6248400"/>
            <a:ext cx="1905000" cy="457200"/>
          </a:xfrm>
          <a:prstGeom prst="rect">
            <a:avLst/>
          </a:prstGeom>
          <a:noFill/>
          <a:ln w="12700">
            <a:noFill/>
            <a:miter lim="800000"/>
            <a:headEnd/>
            <a:tailEnd/>
          </a:ln>
          <a:effectLst/>
        </p:spPr>
        <p:txBody>
          <a:bodyPr wrap="none" anchor="ctr"/>
          <a:lstStyle/>
          <a:p>
            <a:endParaRPr lang="en-US" dirty="0"/>
          </a:p>
        </p:txBody>
      </p:sp>
      <p:sp>
        <p:nvSpPr>
          <p:cNvPr id="44035" name="Rectangle 3"/>
          <p:cNvSpPr>
            <a:spLocks noChangeArrowheads="1"/>
          </p:cNvSpPr>
          <p:nvPr/>
        </p:nvSpPr>
        <p:spPr bwMode="auto">
          <a:xfrm>
            <a:off x="3352800" y="6248400"/>
            <a:ext cx="2895600" cy="457200"/>
          </a:xfrm>
          <a:prstGeom prst="rect">
            <a:avLst/>
          </a:prstGeom>
          <a:noFill/>
          <a:ln w="12700">
            <a:noFill/>
            <a:miter lim="800000"/>
            <a:headEnd/>
            <a:tailEnd/>
          </a:ln>
          <a:effectLst/>
        </p:spPr>
        <p:txBody>
          <a:bodyPr wrap="none" anchor="ctr"/>
          <a:lstStyle/>
          <a:p>
            <a:endParaRPr lang="en-US" dirty="0"/>
          </a:p>
        </p:txBody>
      </p:sp>
      <p:sp>
        <p:nvSpPr>
          <p:cNvPr id="44036" name="Rectangle 4"/>
          <p:cNvSpPr>
            <a:spLocks noGrp="1" noChangeArrowheads="1"/>
          </p:cNvSpPr>
          <p:nvPr>
            <p:ph type="title"/>
          </p:nvPr>
        </p:nvSpPr>
        <p:spPr/>
        <p:txBody>
          <a:bodyPr/>
          <a:lstStyle/>
          <a:p>
            <a:r>
              <a:rPr lang="en-US" dirty="0"/>
              <a:t>Method of Analysis</a:t>
            </a:r>
          </a:p>
        </p:txBody>
      </p:sp>
      <p:pic>
        <p:nvPicPr>
          <p:cNvPr id="2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963" y="1828800"/>
            <a:ext cx="8193087"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953000" y="4359275"/>
            <a:ext cx="4114800" cy="2435988"/>
          </a:xfrm>
          <a:prstGeom prst="rect">
            <a:avLst/>
          </a:prstGeom>
          <a:solidFill>
            <a:schemeClr val="bg2">
              <a:lumMod val="20000"/>
              <a:lumOff val="80000"/>
            </a:schemeClr>
          </a:solidFill>
          <a:scene3d>
            <a:camera prst="orthographicFront"/>
            <a:lightRig rig="threePt" dir="t"/>
          </a:scene3d>
          <a:sp3d>
            <a:bevelT/>
          </a:sp3d>
        </p:spPr>
        <p:txBody>
          <a:bodyPr wrap="square" rtlCol="0">
            <a:spAutoFit/>
          </a:bodyPr>
          <a:lstStyle/>
          <a:p>
            <a:pPr marL="344488" indent="-344488">
              <a:lnSpc>
                <a:spcPct val="110000"/>
              </a:lnSpc>
              <a:buFontTx/>
              <a:buChar char="•"/>
            </a:pPr>
            <a:r>
              <a:rPr lang="en-US" sz="2000" dirty="0">
                <a:latin typeface="Arial" panose="020B0604020202020204" pitchFamily="34" charset="0"/>
                <a:cs typeface="Arial" panose="020B0604020202020204" pitchFamily="34" charset="0"/>
              </a:rPr>
              <a:t>Comparisons with sales quotas (i.e., effectiveness index)</a:t>
            </a:r>
          </a:p>
          <a:p>
            <a:pPr marL="344488" indent="-344488">
              <a:lnSpc>
                <a:spcPct val="110000"/>
              </a:lnSpc>
              <a:buFontTx/>
              <a:buChar char="•"/>
            </a:pPr>
            <a:r>
              <a:rPr lang="en-US" sz="2000" dirty="0">
                <a:latin typeface="Arial" panose="020B0604020202020204" pitchFamily="34" charset="0"/>
                <a:cs typeface="Arial" panose="020B0604020202020204" pitchFamily="34" charset="0"/>
              </a:rPr>
              <a:t>Comparisons with previous period (i.e., sales growth)</a:t>
            </a:r>
          </a:p>
          <a:p>
            <a:pPr marL="344488" indent="-344488">
              <a:lnSpc>
                <a:spcPct val="110000"/>
              </a:lnSpc>
              <a:buFontTx/>
              <a:buChar char="•"/>
            </a:pPr>
            <a:r>
              <a:rPr lang="en-US" sz="2000" dirty="0">
                <a:latin typeface="Arial" panose="020B0604020202020204" pitchFamily="34" charset="0"/>
                <a:cs typeface="Arial" panose="020B0604020202020204" pitchFamily="34" charset="0"/>
              </a:rPr>
              <a:t>Comparisons within industry/competitors (i.e., market share)</a:t>
            </a:r>
          </a:p>
        </p:txBody>
      </p:sp>
      <p:sp>
        <p:nvSpPr>
          <p:cNvPr id="23" name="Rounded Rectangle 22"/>
          <p:cNvSpPr/>
          <p:nvPr/>
        </p:nvSpPr>
        <p:spPr bwMode="auto">
          <a:xfrm>
            <a:off x="504950" y="3276600"/>
            <a:ext cx="5314950" cy="930452"/>
          </a:xfrm>
          <a:prstGeom prst="roundRect">
            <a:avLst/>
          </a:prstGeom>
          <a:solidFill>
            <a:srgbClr val="FFFFFF">
              <a:alpha val="74902"/>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a:endParaRPr>
          </a:p>
        </p:txBody>
      </p:sp>
      <p:sp>
        <p:nvSpPr>
          <p:cNvPr id="3" name="TextBox 2">
            <a:extLst>
              <a:ext uri="{FF2B5EF4-FFF2-40B4-BE49-F238E27FC236}">
                <a16:creationId xmlns:a16="http://schemas.microsoft.com/office/drawing/2014/main" id="{5DF58C6F-F406-4DE0-825C-25618F48A63F}"/>
              </a:ext>
            </a:extLst>
          </p:cNvPr>
          <p:cNvSpPr txBox="1"/>
          <p:nvPr/>
        </p:nvSpPr>
        <p:spPr>
          <a:xfrm>
            <a:off x="6172200" y="3541771"/>
            <a:ext cx="2343150" cy="400110"/>
          </a:xfrm>
          <a:prstGeom prst="rect">
            <a:avLst/>
          </a:prstGeom>
          <a:gradFill>
            <a:gsLst>
              <a:gs pos="100000">
                <a:srgbClr val="E64848"/>
              </a:gs>
              <a:gs pos="100000">
                <a:schemeClr val="accent1">
                  <a:lumMod val="45000"/>
                  <a:lumOff val="55000"/>
                </a:schemeClr>
              </a:gs>
              <a:gs pos="100000">
                <a:schemeClr val="accent1">
                  <a:lumMod val="45000"/>
                  <a:lumOff val="55000"/>
                </a:schemeClr>
              </a:gs>
              <a:gs pos="100000">
                <a:srgbClr val="F5FAFE"/>
              </a:gs>
            </a:gsLst>
            <a:lin ang="5400000" scaled="1"/>
          </a:gradFill>
          <a:effectLst>
            <a:softEdge rad="38100"/>
          </a:effectLst>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Method of Analysis</a:t>
            </a:r>
          </a:p>
        </p:txBody>
      </p:sp>
    </p:spTree>
    <p:extLst>
      <p:ext uri="{BB962C8B-B14F-4D97-AF65-F5344CB8AC3E}">
        <p14:creationId xmlns:p14="http://schemas.microsoft.com/office/powerpoint/2010/main" val="37349814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solidFill>
            <a:schemeClr val="bg2">
              <a:lumMod val="60000"/>
              <a:lumOff val="40000"/>
            </a:schemeClr>
          </a:solidFill>
        </p:spPr>
        <p:txBody>
          <a:bodyPr/>
          <a:lstStyle/>
          <a:p>
            <a:r>
              <a:rPr lang="en-US" dirty="0"/>
              <a:t>Method of Analysis Examples</a:t>
            </a:r>
          </a:p>
        </p:txBody>
      </p:sp>
      <p:sp>
        <p:nvSpPr>
          <p:cNvPr id="63" name="Rectangle 62"/>
          <p:cNvSpPr/>
          <p:nvPr/>
        </p:nvSpPr>
        <p:spPr bwMode="auto">
          <a:xfrm>
            <a:off x="250825" y="1865767"/>
            <a:ext cx="1905000" cy="3581400"/>
          </a:xfrm>
          <a:prstGeom prst="rect">
            <a:avLst/>
          </a:prstGeom>
          <a:solidFill>
            <a:schemeClr val="bg2">
              <a:lumMod val="75000"/>
            </a:schemeClr>
          </a:solidFill>
          <a:ln>
            <a:noFill/>
            <a:headEnd type="none" w="med" len="med"/>
            <a:tailEnd type="none" w="med" len="med"/>
          </a:ln>
          <a:effectLst>
            <a:outerShdw blurRad="57150" dist="19050" dir="5400000" algn="ctr" rotWithShape="0">
              <a:srgbClr val="000000">
                <a:alpha val="63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Times" pitchFamily="18" charset="0"/>
              <a:ea typeface="+mn-ea"/>
              <a:cs typeface="+mn-cs"/>
            </a:endParaRPr>
          </a:p>
        </p:txBody>
      </p:sp>
      <p:sp>
        <p:nvSpPr>
          <p:cNvPr id="64" name="Rectangle 63"/>
          <p:cNvSpPr/>
          <p:nvPr/>
        </p:nvSpPr>
        <p:spPr bwMode="auto">
          <a:xfrm>
            <a:off x="2155825" y="1865767"/>
            <a:ext cx="1371600" cy="3581400"/>
          </a:xfrm>
          <a:prstGeom prst="rect">
            <a:avLst/>
          </a:prstGeom>
          <a:solidFill>
            <a:schemeClr val="bg2">
              <a:lumMod val="60000"/>
              <a:lumOff val="40000"/>
            </a:schemeClr>
          </a:solidFill>
          <a:ln w="6350" cap="flat" cmpd="sng" algn="ctr">
            <a:solidFill>
              <a:srgbClr val="9BBB59"/>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Times" pitchFamily="18" charset="0"/>
              <a:ea typeface="+mn-ea"/>
              <a:cs typeface="+mn-cs"/>
            </a:endParaRPr>
          </a:p>
        </p:txBody>
      </p:sp>
      <p:sp>
        <p:nvSpPr>
          <p:cNvPr id="65" name="Rectangle 64"/>
          <p:cNvSpPr/>
          <p:nvPr/>
        </p:nvSpPr>
        <p:spPr bwMode="auto">
          <a:xfrm>
            <a:off x="3527425" y="1865767"/>
            <a:ext cx="1371600" cy="3581400"/>
          </a:xfrm>
          <a:prstGeom prst="rect">
            <a:avLst/>
          </a:prstGeom>
          <a:solidFill>
            <a:schemeClr val="accent5">
              <a:lumMod val="75000"/>
            </a:schemeClr>
          </a:solidFill>
          <a:ln>
            <a:noFill/>
            <a:headEnd type="none" w="med" len="med"/>
            <a:tailEnd type="none" w="med" len="med"/>
          </a:ln>
          <a:effectLst>
            <a:outerShdw blurRad="57150" dist="19050" dir="5400000" algn="ctr" rotWithShape="0">
              <a:srgbClr val="000000">
                <a:alpha val="63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Times" pitchFamily="18" charset="0"/>
              <a:ea typeface="+mn-ea"/>
              <a:cs typeface="+mn-cs"/>
            </a:endParaRPr>
          </a:p>
        </p:txBody>
      </p:sp>
      <p:sp>
        <p:nvSpPr>
          <p:cNvPr id="66" name="Rectangle 65"/>
          <p:cNvSpPr/>
          <p:nvPr/>
        </p:nvSpPr>
        <p:spPr bwMode="auto">
          <a:xfrm>
            <a:off x="4899025" y="1865767"/>
            <a:ext cx="1371600" cy="3581400"/>
          </a:xfrm>
          <a:prstGeom prst="rect">
            <a:avLst/>
          </a:prstGeom>
          <a:solidFill>
            <a:schemeClr val="bg2">
              <a:lumMod val="20000"/>
              <a:lumOff val="80000"/>
            </a:schemeClr>
          </a:solidFill>
          <a:ln w="6350" cap="flat" cmpd="sng" algn="ctr">
            <a:solidFill>
              <a:srgbClr val="9BBB59"/>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Times" pitchFamily="18" charset="0"/>
              <a:ea typeface="+mn-ea"/>
              <a:cs typeface="+mn-cs"/>
            </a:endParaRPr>
          </a:p>
        </p:txBody>
      </p:sp>
      <p:sp>
        <p:nvSpPr>
          <p:cNvPr id="67" name="Rectangle 66"/>
          <p:cNvSpPr/>
          <p:nvPr/>
        </p:nvSpPr>
        <p:spPr bwMode="auto">
          <a:xfrm>
            <a:off x="6270625" y="1865767"/>
            <a:ext cx="1371600" cy="3581400"/>
          </a:xfrm>
          <a:prstGeom prst="rect">
            <a:avLst/>
          </a:prstGeom>
          <a:solidFill>
            <a:schemeClr val="tx2">
              <a:lumMod val="20000"/>
              <a:lumOff val="80000"/>
            </a:schemeClr>
          </a:solidFill>
          <a:ln>
            <a:noFill/>
            <a:headEnd type="none" w="med" len="med"/>
            <a:tailEnd type="none" w="med" len="med"/>
          </a:ln>
          <a:effectLst>
            <a:outerShdw blurRad="57150" dist="19050" dir="5400000" algn="ctr" rotWithShape="0">
              <a:srgbClr val="000000">
                <a:alpha val="63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Times" pitchFamily="18" charset="0"/>
              <a:ea typeface="+mn-ea"/>
              <a:cs typeface="+mn-cs"/>
            </a:endParaRPr>
          </a:p>
        </p:txBody>
      </p:sp>
      <p:sp>
        <p:nvSpPr>
          <p:cNvPr id="68" name="Rectangle 67"/>
          <p:cNvSpPr/>
          <p:nvPr/>
        </p:nvSpPr>
        <p:spPr bwMode="auto">
          <a:xfrm>
            <a:off x="7642225" y="1865767"/>
            <a:ext cx="1371600" cy="3581400"/>
          </a:xfrm>
          <a:prstGeom prst="rect">
            <a:avLst/>
          </a:prstGeom>
          <a:solidFill>
            <a:schemeClr val="accent1">
              <a:lumMod val="90000"/>
            </a:schemeClr>
          </a:solidFill>
          <a:ln w="6350" cap="flat" cmpd="sng" algn="ctr">
            <a:solidFill>
              <a:srgbClr val="9BBB59"/>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Times" pitchFamily="18" charset="0"/>
              <a:ea typeface="+mn-ea"/>
              <a:cs typeface="+mn-cs"/>
            </a:endParaRPr>
          </a:p>
        </p:txBody>
      </p:sp>
      <p:grpSp>
        <p:nvGrpSpPr>
          <p:cNvPr id="69" name="Group 58"/>
          <p:cNvGrpSpPr>
            <a:grpSpLocks/>
          </p:cNvGrpSpPr>
          <p:nvPr/>
        </p:nvGrpSpPr>
        <p:grpSpPr bwMode="auto">
          <a:xfrm>
            <a:off x="327025" y="1865767"/>
            <a:ext cx="8626475" cy="3522663"/>
            <a:chOff x="144" y="1344"/>
            <a:chExt cx="5434" cy="2219"/>
          </a:xfrm>
        </p:grpSpPr>
        <p:sp>
          <p:nvSpPr>
            <p:cNvPr id="70" name="Rectangle 4"/>
            <p:cNvSpPr>
              <a:spLocks noChangeArrowheads="1"/>
            </p:cNvSpPr>
            <p:nvPr/>
          </p:nvSpPr>
          <p:spPr bwMode="auto">
            <a:xfrm>
              <a:off x="144" y="1614"/>
              <a:ext cx="266"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rPr>
                <a:t>Sales</a:t>
              </a:r>
              <a:endParaRPr kumimoji="0" lang="en-US" sz="1800" b="0" i="0" u="none" strike="noStrike" kern="0" cap="none" spc="0" normalizeH="0" baseline="0" noProof="0" dirty="0">
                <a:ln>
                  <a:noFill/>
                </a:ln>
                <a:solidFill>
                  <a:srgbClr val="000000"/>
                </a:solidFill>
                <a:effectLst/>
                <a:uLnTx/>
                <a:uFillTx/>
                <a:latin typeface="Calibri" panose="020F0502020204030204"/>
              </a:endParaRPr>
            </a:p>
          </p:txBody>
        </p:sp>
        <p:sp>
          <p:nvSpPr>
            <p:cNvPr id="71" name="Rectangle 5"/>
            <p:cNvSpPr>
              <a:spLocks noChangeArrowheads="1"/>
            </p:cNvSpPr>
            <p:nvPr/>
          </p:nvSpPr>
          <p:spPr bwMode="auto">
            <a:xfrm>
              <a:off x="1422" y="1344"/>
              <a:ext cx="469"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District 1</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2" name="Rectangle 6"/>
            <p:cNvSpPr>
              <a:spLocks noChangeArrowheads="1"/>
            </p:cNvSpPr>
            <p:nvPr/>
          </p:nvSpPr>
          <p:spPr bwMode="auto">
            <a:xfrm>
              <a:off x="2293" y="1344"/>
              <a:ext cx="469"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District 2</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3" name="Rectangle 7"/>
            <p:cNvSpPr>
              <a:spLocks noChangeArrowheads="1"/>
            </p:cNvSpPr>
            <p:nvPr/>
          </p:nvSpPr>
          <p:spPr bwMode="auto">
            <a:xfrm>
              <a:off x="3216" y="1344"/>
              <a:ext cx="469"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District 3</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4" name="Rectangle 8"/>
            <p:cNvSpPr>
              <a:spLocks noChangeArrowheads="1"/>
            </p:cNvSpPr>
            <p:nvPr/>
          </p:nvSpPr>
          <p:spPr bwMode="auto">
            <a:xfrm>
              <a:off x="4036" y="1344"/>
              <a:ext cx="469"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District 4</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5" name="Rectangle 9"/>
            <p:cNvSpPr>
              <a:spLocks noChangeArrowheads="1"/>
            </p:cNvSpPr>
            <p:nvPr/>
          </p:nvSpPr>
          <p:spPr bwMode="auto">
            <a:xfrm>
              <a:off x="4907" y="1344"/>
              <a:ext cx="469"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District 5</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6" name="Rectangle 10"/>
            <p:cNvSpPr>
              <a:spLocks noChangeArrowheads="1"/>
            </p:cNvSpPr>
            <p:nvPr/>
          </p:nvSpPr>
          <p:spPr bwMode="auto">
            <a:xfrm>
              <a:off x="144" y="1930"/>
              <a:ext cx="621"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rPr>
                <a:t>Sales Quota</a:t>
              </a:r>
              <a:endParaRPr kumimoji="0" lang="en-US" sz="1800" b="0" i="0" u="none" strike="noStrike" kern="0" cap="none" spc="0" normalizeH="0" baseline="0" noProof="0" dirty="0">
                <a:ln>
                  <a:noFill/>
                </a:ln>
                <a:solidFill>
                  <a:srgbClr val="000000"/>
                </a:solidFill>
                <a:effectLst/>
                <a:uLnTx/>
                <a:uFillTx/>
                <a:latin typeface="Calibri" panose="020F0502020204030204"/>
              </a:endParaRPr>
            </a:p>
          </p:txBody>
        </p:sp>
        <p:sp>
          <p:nvSpPr>
            <p:cNvPr id="77" name="Rectangle 11"/>
            <p:cNvSpPr>
              <a:spLocks noChangeArrowheads="1"/>
            </p:cNvSpPr>
            <p:nvPr/>
          </p:nvSpPr>
          <p:spPr bwMode="auto">
            <a:xfrm>
              <a:off x="1365" y="1920"/>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$11,250,000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8" name="Rectangle 12"/>
            <p:cNvSpPr>
              <a:spLocks noChangeArrowheads="1"/>
            </p:cNvSpPr>
            <p:nvPr/>
          </p:nvSpPr>
          <p:spPr bwMode="auto">
            <a:xfrm>
              <a:off x="144" y="2797"/>
              <a:ext cx="986"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rPr>
                <a:t>Sales Growth </a:t>
              </a:r>
              <a:r>
                <a:rPr kumimoji="0" lang="en-US" sz="1600" b="1" i="0" u="none" strike="noStrike" kern="0" cap="none" spc="0" normalizeH="0" baseline="0" noProof="0" dirty="0">
                  <a:ln>
                    <a:noFill/>
                  </a:ln>
                  <a:solidFill>
                    <a:srgbClr val="000000"/>
                  </a:solidFill>
                  <a:effectLst/>
                  <a:uLnTx/>
                  <a:uFillTx/>
                  <a:latin typeface="Calibri" panose="020F0502020204030204"/>
                </a:rPr>
                <a:t>(IYA)</a:t>
              </a:r>
              <a:endParaRPr kumimoji="0" lang="en-US" sz="1800" b="1" i="0" u="none" strike="noStrike" kern="0" cap="none" spc="0" normalizeH="0" baseline="0" noProof="0" dirty="0">
                <a:ln>
                  <a:noFill/>
                </a:ln>
                <a:solidFill>
                  <a:srgbClr val="000000"/>
                </a:solidFill>
                <a:effectLst/>
                <a:uLnTx/>
                <a:uFillTx/>
                <a:latin typeface="Calibri" panose="020F0502020204030204"/>
              </a:endParaRPr>
            </a:p>
          </p:txBody>
        </p:sp>
        <p:sp>
          <p:nvSpPr>
            <p:cNvPr id="79" name="Rectangle 13"/>
            <p:cNvSpPr>
              <a:spLocks noChangeArrowheads="1"/>
            </p:cNvSpPr>
            <p:nvPr/>
          </p:nvSpPr>
          <p:spPr bwMode="auto">
            <a:xfrm>
              <a:off x="1632" y="2832"/>
              <a:ext cx="159"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3%</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0" name="Rectangle 14"/>
            <p:cNvSpPr>
              <a:spLocks noChangeArrowheads="1"/>
            </p:cNvSpPr>
            <p:nvPr/>
          </p:nvSpPr>
          <p:spPr bwMode="auto">
            <a:xfrm>
              <a:off x="2544" y="2832"/>
              <a:ext cx="159"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9%</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1" name="Rectangle 15"/>
            <p:cNvSpPr>
              <a:spLocks noChangeArrowheads="1"/>
            </p:cNvSpPr>
            <p:nvPr/>
          </p:nvSpPr>
          <p:spPr bwMode="auto">
            <a:xfrm>
              <a:off x="3408" y="2832"/>
              <a:ext cx="159"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6%</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2" name="Rectangle 16"/>
            <p:cNvSpPr>
              <a:spLocks noChangeArrowheads="1"/>
            </p:cNvSpPr>
            <p:nvPr/>
          </p:nvSpPr>
          <p:spPr bwMode="auto">
            <a:xfrm>
              <a:off x="4272" y="2832"/>
              <a:ext cx="159"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3%</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3" name="Rectangle 17"/>
            <p:cNvSpPr>
              <a:spLocks noChangeArrowheads="1"/>
            </p:cNvSpPr>
            <p:nvPr/>
          </p:nvSpPr>
          <p:spPr bwMode="auto">
            <a:xfrm>
              <a:off x="5184" y="2832"/>
              <a:ext cx="224"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16%</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4" name="Rectangle 18"/>
            <p:cNvSpPr>
              <a:spLocks noChangeArrowheads="1"/>
            </p:cNvSpPr>
            <p:nvPr/>
          </p:nvSpPr>
          <p:spPr bwMode="auto">
            <a:xfrm>
              <a:off x="144" y="3397"/>
              <a:ext cx="1008" cy="155"/>
            </a:xfrm>
            <a:prstGeom prst="rect">
              <a:avLst/>
            </a:prstGeom>
            <a:noFill/>
            <a:ln w="9525">
              <a:noFill/>
              <a:miter lim="800000"/>
              <a:headEnd/>
              <a:tailEnd/>
            </a:ln>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rPr>
                <a:t>Market Share</a:t>
              </a:r>
              <a:endParaRPr kumimoji="0" lang="en-US" sz="1800" b="0" i="0" u="none" strike="noStrike" kern="0" cap="none" spc="0" normalizeH="0" baseline="0" noProof="0" dirty="0">
                <a:ln>
                  <a:noFill/>
                </a:ln>
                <a:solidFill>
                  <a:srgbClr val="000000"/>
                </a:solidFill>
                <a:effectLst/>
                <a:uLnTx/>
                <a:uFillTx/>
                <a:latin typeface="Calibri" panose="020F0502020204030204"/>
              </a:endParaRPr>
            </a:p>
          </p:txBody>
        </p:sp>
        <p:sp>
          <p:nvSpPr>
            <p:cNvPr id="85" name="Rectangle 19"/>
            <p:cNvSpPr>
              <a:spLocks noChangeArrowheads="1"/>
            </p:cNvSpPr>
            <p:nvPr/>
          </p:nvSpPr>
          <p:spPr bwMode="auto">
            <a:xfrm>
              <a:off x="1584" y="3408"/>
              <a:ext cx="224"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26%</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6" name="Rectangle 20"/>
            <p:cNvSpPr>
              <a:spLocks noChangeArrowheads="1"/>
            </p:cNvSpPr>
            <p:nvPr/>
          </p:nvSpPr>
          <p:spPr bwMode="auto">
            <a:xfrm>
              <a:off x="2496" y="3408"/>
              <a:ext cx="224"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29%</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7" name="Rectangle 21"/>
            <p:cNvSpPr>
              <a:spLocks noChangeArrowheads="1"/>
            </p:cNvSpPr>
            <p:nvPr/>
          </p:nvSpPr>
          <p:spPr bwMode="auto">
            <a:xfrm>
              <a:off x="3360" y="3408"/>
              <a:ext cx="224"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29%</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8" name="Rectangle 22"/>
            <p:cNvSpPr>
              <a:spLocks noChangeArrowheads="1"/>
            </p:cNvSpPr>
            <p:nvPr/>
          </p:nvSpPr>
          <p:spPr bwMode="auto">
            <a:xfrm>
              <a:off x="4224" y="3408"/>
              <a:ext cx="224"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18%</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9" name="Rectangle 23"/>
            <p:cNvSpPr>
              <a:spLocks noChangeArrowheads="1"/>
            </p:cNvSpPr>
            <p:nvPr/>
          </p:nvSpPr>
          <p:spPr bwMode="auto">
            <a:xfrm>
              <a:off x="5136" y="3408"/>
              <a:ext cx="224"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27%</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0" name="Rectangle 24"/>
            <p:cNvSpPr>
              <a:spLocks noChangeArrowheads="1"/>
            </p:cNvSpPr>
            <p:nvPr/>
          </p:nvSpPr>
          <p:spPr bwMode="auto">
            <a:xfrm>
              <a:off x="144" y="2186"/>
              <a:ext cx="733" cy="3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rPr>
                <a:t>Effectiveness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rPr>
                <a:t>Index</a:t>
              </a:r>
              <a:endParaRPr kumimoji="0" lang="en-US" sz="1800" b="1" i="0" u="none" strike="noStrike" kern="0" cap="none" spc="0" normalizeH="0" baseline="0" noProof="0" dirty="0">
                <a:ln>
                  <a:noFill/>
                </a:ln>
                <a:solidFill>
                  <a:srgbClr val="000000"/>
                </a:solidFill>
                <a:effectLst/>
                <a:uLnTx/>
                <a:uFillTx/>
                <a:latin typeface="Calibri" panose="020F0502020204030204"/>
              </a:endParaRPr>
            </a:p>
          </p:txBody>
        </p:sp>
        <p:sp>
          <p:nvSpPr>
            <p:cNvPr id="91" name="Rectangle 25"/>
            <p:cNvSpPr>
              <a:spLocks noChangeArrowheads="1"/>
            </p:cNvSpPr>
            <p:nvPr/>
          </p:nvSpPr>
          <p:spPr bwMode="auto">
            <a:xfrm>
              <a:off x="1680" y="2256"/>
              <a:ext cx="240" cy="154"/>
            </a:xfrm>
            <a:prstGeom prst="rect">
              <a:avLst/>
            </a:prstGeom>
            <a:noFill/>
            <a:ln w="9525">
              <a:noFill/>
              <a:miter lim="800000"/>
              <a:headEnd/>
              <a:tailEnd/>
            </a:ln>
          </p:spPr>
          <p:txBody>
            <a:bodyPr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98</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2" name="Rectangle 26"/>
            <p:cNvSpPr>
              <a:spLocks noChangeArrowheads="1"/>
            </p:cNvSpPr>
            <p:nvPr/>
          </p:nvSpPr>
          <p:spPr bwMode="auto">
            <a:xfrm>
              <a:off x="2544" y="2256"/>
              <a:ext cx="197"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104</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3" name="Rectangle 27"/>
            <p:cNvSpPr>
              <a:spLocks noChangeArrowheads="1"/>
            </p:cNvSpPr>
            <p:nvPr/>
          </p:nvSpPr>
          <p:spPr bwMode="auto">
            <a:xfrm>
              <a:off x="3408" y="2256"/>
              <a:ext cx="197"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102</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4" name="Rectangle 28"/>
            <p:cNvSpPr>
              <a:spLocks noChangeArrowheads="1"/>
            </p:cNvSpPr>
            <p:nvPr/>
          </p:nvSpPr>
          <p:spPr bwMode="auto">
            <a:xfrm>
              <a:off x="4320" y="2256"/>
              <a:ext cx="131"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70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5" name="Rectangle 29"/>
            <p:cNvSpPr>
              <a:spLocks noChangeArrowheads="1"/>
            </p:cNvSpPr>
            <p:nvPr/>
          </p:nvSpPr>
          <p:spPr bwMode="auto">
            <a:xfrm>
              <a:off x="5184" y="2256"/>
              <a:ext cx="197"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109</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6" name="Text Box 30"/>
            <p:cNvSpPr txBox="1">
              <a:spLocks noChangeArrowheads="1"/>
            </p:cNvSpPr>
            <p:nvPr/>
          </p:nvSpPr>
          <p:spPr bwMode="auto">
            <a:xfrm>
              <a:off x="1296" y="1632"/>
              <a:ext cx="865" cy="212"/>
            </a:xfrm>
            <a:prstGeom prst="rect">
              <a:avLst/>
            </a:prstGeom>
            <a:noFill/>
            <a:ln w="12700">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$11,000,000</a:t>
              </a:r>
            </a:p>
          </p:txBody>
        </p:sp>
        <p:sp>
          <p:nvSpPr>
            <p:cNvPr id="97" name="Rectangle 31"/>
            <p:cNvSpPr>
              <a:spLocks noChangeArrowheads="1"/>
            </p:cNvSpPr>
            <p:nvPr/>
          </p:nvSpPr>
          <p:spPr bwMode="auto">
            <a:xfrm>
              <a:off x="4848" y="1920"/>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$11,000,000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98" name="Text Box 32"/>
            <p:cNvSpPr txBox="1">
              <a:spLocks noChangeArrowheads="1"/>
            </p:cNvSpPr>
            <p:nvPr/>
          </p:nvSpPr>
          <p:spPr bwMode="auto">
            <a:xfrm>
              <a:off x="4800" y="1632"/>
              <a:ext cx="772" cy="213"/>
            </a:xfrm>
            <a:prstGeom prst="rect">
              <a:avLst/>
            </a:prstGeom>
            <a:noFill/>
            <a:ln w="12700">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$12,000,000</a:t>
              </a:r>
            </a:p>
          </p:txBody>
        </p:sp>
        <p:sp>
          <p:nvSpPr>
            <p:cNvPr id="99" name="Rectangle 33"/>
            <p:cNvSpPr>
              <a:spLocks noChangeArrowheads="1"/>
            </p:cNvSpPr>
            <p:nvPr/>
          </p:nvSpPr>
          <p:spPr bwMode="auto">
            <a:xfrm>
              <a:off x="3984" y="1920"/>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$10,000,000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0" name="Text Box 34"/>
            <p:cNvSpPr txBox="1">
              <a:spLocks noChangeArrowheads="1"/>
            </p:cNvSpPr>
            <p:nvPr/>
          </p:nvSpPr>
          <p:spPr bwMode="auto">
            <a:xfrm>
              <a:off x="3984" y="1632"/>
              <a:ext cx="706" cy="213"/>
            </a:xfrm>
            <a:prstGeom prst="rect">
              <a:avLst/>
            </a:prstGeom>
            <a:noFill/>
            <a:ln w="12700">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$7,000,000</a:t>
              </a:r>
            </a:p>
          </p:txBody>
        </p:sp>
        <p:sp>
          <p:nvSpPr>
            <p:cNvPr id="101" name="Rectangle 35"/>
            <p:cNvSpPr>
              <a:spLocks noChangeArrowheads="1"/>
            </p:cNvSpPr>
            <p:nvPr/>
          </p:nvSpPr>
          <p:spPr bwMode="auto">
            <a:xfrm>
              <a:off x="3120" y="1920"/>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$12,750,000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2" name="Text Box 36"/>
            <p:cNvSpPr txBox="1">
              <a:spLocks noChangeArrowheads="1"/>
            </p:cNvSpPr>
            <p:nvPr/>
          </p:nvSpPr>
          <p:spPr bwMode="auto">
            <a:xfrm>
              <a:off x="3072" y="1632"/>
              <a:ext cx="772" cy="213"/>
            </a:xfrm>
            <a:prstGeom prst="rect">
              <a:avLst/>
            </a:prstGeom>
            <a:noFill/>
            <a:ln w="12700">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$13,000,000</a:t>
              </a:r>
            </a:p>
          </p:txBody>
        </p:sp>
        <p:sp>
          <p:nvSpPr>
            <p:cNvPr id="103" name="Rectangle 37"/>
            <p:cNvSpPr>
              <a:spLocks noChangeArrowheads="1"/>
            </p:cNvSpPr>
            <p:nvPr/>
          </p:nvSpPr>
          <p:spPr bwMode="auto">
            <a:xfrm>
              <a:off x="2256" y="1920"/>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$11,500,000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4" name="Text Box 38"/>
            <p:cNvSpPr txBox="1">
              <a:spLocks noChangeArrowheads="1"/>
            </p:cNvSpPr>
            <p:nvPr/>
          </p:nvSpPr>
          <p:spPr bwMode="auto">
            <a:xfrm>
              <a:off x="2208" y="1632"/>
              <a:ext cx="772" cy="213"/>
            </a:xfrm>
            <a:prstGeom prst="rect">
              <a:avLst/>
            </a:prstGeom>
            <a:noFill/>
            <a:ln w="12700">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$12,000,000</a:t>
              </a:r>
            </a:p>
          </p:txBody>
        </p:sp>
        <p:sp>
          <p:nvSpPr>
            <p:cNvPr id="105" name="Rectangle 39"/>
            <p:cNvSpPr>
              <a:spLocks noChangeArrowheads="1"/>
            </p:cNvSpPr>
            <p:nvPr/>
          </p:nvSpPr>
          <p:spPr bwMode="auto">
            <a:xfrm>
              <a:off x="153" y="2528"/>
              <a:ext cx="758"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rPr>
                <a:t>Sales Last Year</a:t>
              </a:r>
              <a:endParaRPr kumimoji="0" lang="en-US" sz="1800" b="0" i="0" u="none" strike="noStrike" kern="0" cap="none" spc="0" normalizeH="0" baseline="0" noProof="0" dirty="0">
                <a:ln>
                  <a:noFill/>
                </a:ln>
                <a:solidFill>
                  <a:srgbClr val="000000"/>
                </a:solidFill>
                <a:effectLst/>
                <a:uLnTx/>
                <a:uFillTx/>
                <a:latin typeface="Calibri" panose="020F0502020204030204"/>
              </a:endParaRPr>
            </a:p>
          </p:txBody>
        </p:sp>
        <p:sp>
          <p:nvSpPr>
            <p:cNvPr id="106" name="Rectangle 40"/>
            <p:cNvSpPr>
              <a:spLocks noChangeArrowheads="1"/>
            </p:cNvSpPr>
            <p:nvPr/>
          </p:nvSpPr>
          <p:spPr bwMode="auto">
            <a:xfrm>
              <a:off x="1344" y="2544"/>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$10,700,000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7" name="Rectangle 41"/>
            <p:cNvSpPr>
              <a:spLocks noChangeArrowheads="1"/>
            </p:cNvSpPr>
            <p:nvPr/>
          </p:nvSpPr>
          <p:spPr bwMode="auto">
            <a:xfrm>
              <a:off x="4848" y="2544"/>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$10,350,000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8" name="Rectangle 42"/>
            <p:cNvSpPr>
              <a:spLocks noChangeArrowheads="1"/>
            </p:cNvSpPr>
            <p:nvPr/>
          </p:nvSpPr>
          <p:spPr bwMode="auto">
            <a:xfrm>
              <a:off x="4062" y="2545"/>
              <a:ext cx="590"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$6,800,000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9" name="Rectangle 43"/>
            <p:cNvSpPr>
              <a:spLocks noChangeArrowheads="1"/>
            </p:cNvSpPr>
            <p:nvPr/>
          </p:nvSpPr>
          <p:spPr bwMode="auto">
            <a:xfrm>
              <a:off x="3120" y="2544"/>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$12,250,000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0" name="Rectangle 44"/>
            <p:cNvSpPr>
              <a:spLocks noChangeArrowheads="1"/>
            </p:cNvSpPr>
            <p:nvPr/>
          </p:nvSpPr>
          <p:spPr bwMode="auto">
            <a:xfrm>
              <a:off x="2256" y="2544"/>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$11,000,000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1" name="Rectangle 45"/>
            <p:cNvSpPr>
              <a:spLocks noChangeArrowheads="1"/>
            </p:cNvSpPr>
            <p:nvPr/>
          </p:nvSpPr>
          <p:spPr bwMode="auto">
            <a:xfrm>
              <a:off x="153" y="3066"/>
              <a:ext cx="727"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rPr>
                <a:t>Industry Sales</a:t>
              </a:r>
              <a:endParaRPr kumimoji="0" lang="en-US" sz="1800" b="0" i="0" u="none" strike="noStrike" kern="0" cap="none" spc="0" normalizeH="0" baseline="0" noProof="0" dirty="0">
                <a:ln>
                  <a:noFill/>
                </a:ln>
                <a:solidFill>
                  <a:srgbClr val="000000"/>
                </a:solidFill>
                <a:effectLst/>
                <a:uLnTx/>
                <a:uFillTx/>
                <a:latin typeface="Calibri" panose="020F0502020204030204"/>
              </a:endParaRPr>
            </a:p>
          </p:txBody>
        </p:sp>
        <p:sp>
          <p:nvSpPr>
            <p:cNvPr id="112" name="Rectangle 46"/>
            <p:cNvSpPr>
              <a:spLocks noChangeArrowheads="1"/>
            </p:cNvSpPr>
            <p:nvPr/>
          </p:nvSpPr>
          <p:spPr bwMode="auto">
            <a:xfrm>
              <a:off x="1343" y="3066"/>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$42,000,000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3" name="Rectangle 47"/>
            <p:cNvSpPr>
              <a:spLocks noChangeArrowheads="1"/>
            </p:cNvSpPr>
            <p:nvPr/>
          </p:nvSpPr>
          <p:spPr bwMode="auto">
            <a:xfrm>
              <a:off x="4866" y="3082"/>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$45,000,000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4" name="Rectangle 48"/>
            <p:cNvSpPr>
              <a:spLocks noChangeArrowheads="1"/>
            </p:cNvSpPr>
            <p:nvPr/>
          </p:nvSpPr>
          <p:spPr bwMode="auto">
            <a:xfrm>
              <a:off x="4001" y="3082"/>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$40,000,000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5" name="Rectangle 49"/>
            <p:cNvSpPr>
              <a:spLocks noChangeArrowheads="1"/>
            </p:cNvSpPr>
            <p:nvPr/>
          </p:nvSpPr>
          <p:spPr bwMode="auto">
            <a:xfrm>
              <a:off x="3093" y="3082"/>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$45,000,000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6" name="Rectangle 50"/>
            <p:cNvSpPr>
              <a:spLocks noChangeArrowheads="1"/>
            </p:cNvSpPr>
            <p:nvPr/>
          </p:nvSpPr>
          <p:spPr bwMode="auto">
            <a:xfrm>
              <a:off x="2259" y="3082"/>
              <a:ext cx="655" cy="155"/>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$42,000,000</a:t>
              </a: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7" name="Line 51"/>
            <p:cNvSpPr>
              <a:spLocks noChangeShapeType="1"/>
            </p:cNvSpPr>
            <p:nvPr/>
          </p:nvSpPr>
          <p:spPr bwMode="auto">
            <a:xfrm>
              <a:off x="1344" y="1584"/>
              <a:ext cx="729" cy="0"/>
            </a:xfrm>
            <a:prstGeom prst="line">
              <a:avLst/>
            </a:prstGeom>
            <a:noFill/>
            <a:ln w="1905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8" name="Line 52"/>
            <p:cNvSpPr>
              <a:spLocks noChangeShapeType="1"/>
            </p:cNvSpPr>
            <p:nvPr/>
          </p:nvSpPr>
          <p:spPr bwMode="auto">
            <a:xfrm>
              <a:off x="4848" y="1584"/>
              <a:ext cx="730" cy="0"/>
            </a:xfrm>
            <a:prstGeom prst="line">
              <a:avLst/>
            </a:prstGeom>
            <a:noFill/>
            <a:ln w="1905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19" name="Line 53"/>
            <p:cNvSpPr>
              <a:spLocks noChangeShapeType="1"/>
            </p:cNvSpPr>
            <p:nvPr/>
          </p:nvSpPr>
          <p:spPr bwMode="auto">
            <a:xfrm>
              <a:off x="3936" y="1584"/>
              <a:ext cx="729" cy="0"/>
            </a:xfrm>
            <a:prstGeom prst="line">
              <a:avLst/>
            </a:prstGeom>
            <a:noFill/>
            <a:ln w="1905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0" name="Line 54"/>
            <p:cNvSpPr>
              <a:spLocks noChangeShapeType="1"/>
            </p:cNvSpPr>
            <p:nvPr/>
          </p:nvSpPr>
          <p:spPr bwMode="auto">
            <a:xfrm>
              <a:off x="3072" y="1584"/>
              <a:ext cx="729" cy="0"/>
            </a:xfrm>
            <a:prstGeom prst="line">
              <a:avLst/>
            </a:prstGeom>
            <a:noFill/>
            <a:ln w="1905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21" name="Line 55"/>
            <p:cNvSpPr>
              <a:spLocks noChangeShapeType="1"/>
            </p:cNvSpPr>
            <p:nvPr/>
          </p:nvSpPr>
          <p:spPr bwMode="auto">
            <a:xfrm>
              <a:off x="2208" y="1584"/>
              <a:ext cx="730" cy="0"/>
            </a:xfrm>
            <a:prstGeom prst="line">
              <a:avLst/>
            </a:prstGeom>
            <a:noFill/>
            <a:ln w="1905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grpSp>
      <p:sp>
        <p:nvSpPr>
          <p:cNvPr id="2" name="TextBox 1">
            <a:extLst>
              <a:ext uri="{FF2B5EF4-FFF2-40B4-BE49-F238E27FC236}">
                <a16:creationId xmlns:a16="http://schemas.microsoft.com/office/drawing/2014/main" id="{CAB7676B-3506-4B26-9F08-40388F0C2D5E}"/>
              </a:ext>
            </a:extLst>
          </p:cNvPr>
          <p:cNvSpPr txBox="1"/>
          <p:nvPr/>
        </p:nvSpPr>
        <p:spPr>
          <a:xfrm>
            <a:off x="93170" y="5562600"/>
            <a:ext cx="9070112" cy="830997"/>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Effectiveness Index</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Divide actual sales results by the sales quota and multiply by 100</a:t>
            </a:r>
          </a:p>
        </p:txBody>
      </p:sp>
    </p:spTree>
    <p:extLst>
      <p:ext uri="{BB962C8B-B14F-4D97-AF65-F5344CB8AC3E}">
        <p14:creationId xmlns:p14="http://schemas.microsoft.com/office/powerpoint/2010/main" val="316501933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4"/>
          <p:cNvSpPr>
            <a:spLocks noGrp="1" noChangeArrowheads="1"/>
          </p:cNvSpPr>
          <p:nvPr>
            <p:ph type="title"/>
          </p:nvPr>
        </p:nvSpPr>
        <p:spPr>
          <a:solidFill>
            <a:schemeClr val="bg2">
              <a:lumMod val="60000"/>
              <a:lumOff val="40000"/>
            </a:schemeClr>
          </a:solidFill>
        </p:spPr>
        <p:txBody>
          <a:bodyPr/>
          <a:lstStyle/>
          <a:p>
            <a:r>
              <a:rPr lang="en-US" dirty="0"/>
              <a:t>Cost Analysis</a:t>
            </a:r>
          </a:p>
        </p:txBody>
      </p:sp>
      <p:sp>
        <p:nvSpPr>
          <p:cNvPr id="52229" name="Rectangle 5"/>
          <p:cNvSpPr>
            <a:spLocks noGrp="1" noChangeArrowheads="1"/>
          </p:cNvSpPr>
          <p:nvPr>
            <p:ph idx="1"/>
          </p:nvPr>
        </p:nvSpPr>
        <p:spPr/>
        <p:txBody>
          <a:bodyPr/>
          <a:lstStyle/>
          <a:p>
            <a:r>
              <a:rPr lang="en-US" dirty="0"/>
              <a:t>Assess the costs incurred by the sales organization to generate the achieved levels of sales.</a:t>
            </a:r>
          </a:p>
          <a:p>
            <a:endParaRPr lang="en-US" sz="1200" dirty="0"/>
          </a:p>
          <a:p>
            <a:r>
              <a:rPr lang="en-US" dirty="0"/>
              <a:t>Compare the costs incurred with planned budget.</a:t>
            </a:r>
          </a:p>
          <a:p>
            <a:endParaRPr lang="en-US" sz="1200" dirty="0"/>
          </a:p>
          <a:p>
            <a:r>
              <a:rPr lang="en-US" dirty="0"/>
              <a:t>Corporate resources earmarked for</a:t>
            </a:r>
            <a:br>
              <a:rPr lang="en-US" dirty="0"/>
            </a:br>
            <a:r>
              <a:rPr lang="en-US" dirty="0"/>
              <a:t>personal selling expenses for a </a:t>
            </a:r>
            <a:br>
              <a:rPr lang="en-US" dirty="0"/>
            </a:br>
            <a:r>
              <a:rPr lang="en-US" dirty="0"/>
              <a:t>designated period represent </a:t>
            </a:r>
            <a:br>
              <a:rPr lang="en-US" dirty="0"/>
            </a:br>
            <a:r>
              <a:rPr lang="en-US" dirty="0"/>
              <a:t>the total selling budget.</a:t>
            </a:r>
          </a:p>
        </p:txBody>
      </p:sp>
      <p:pic>
        <p:nvPicPr>
          <p:cNvPr id="1026" name="Picture 2" descr="Free vector financial accounting. female accountant cartoon character making financial report. summary, analysis, reporting. financial statement, income and balance.">
            <a:extLst>
              <a:ext uri="{FF2B5EF4-FFF2-40B4-BE49-F238E27FC236}">
                <a16:creationId xmlns:a16="http://schemas.microsoft.com/office/drawing/2014/main" id="{A7D61AB8-DA6B-0027-82A4-138F9687A3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0038" y="3070490"/>
            <a:ext cx="3541289" cy="3541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50556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p:cNvSpPr>
            <a:spLocks noGrp="1" noChangeArrowheads="1"/>
          </p:cNvSpPr>
          <p:nvPr>
            <p:ph type="title"/>
          </p:nvPr>
        </p:nvSpPr>
        <p:spPr>
          <a:solidFill>
            <a:schemeClr val="bg2">
              <a:lumMod val="60000"/>
              <a:lumOff val="40000"/>
            </a:schemeClr>
          </a:solidFill>
        </p:spPr>
        <p:txBody>
          <a:bodyPr/>
          <a:lstStyle/>
          <a:p>
            <a:r>
              <a:rPr lang="en-US" dirty="0"/>
              <a:t>Selling Budgets</a:t>
            </a:r>
          </a:p>
        </p:txBody>
      </p:sp>
      <p:sp>
        <p:nvSpPr>
          <p:cNvPr id="54277" name="Rectangle 5"/>
          <p:cNvSpPr>
            <a:spLocks noGrp="1" noChangeArrowheads="1"/>
          </p:cNvSpPr>
          <p:nvPr>
            <p:ph idx="1"/>
          </p:nvPr>
        </p:nvSpPr>
        <p:spPr/>
        <p:txBody>
          <a:bodyPr/>
          <a:lstStyle/>
          <a:p>
            <a:r>
              <a:rPr lang="en-US" sz="2200" dirty="0"/>
              <a:t>Developed at all levels of the sales organization and for all key expenditure categories.</a:t>
            </a:r>
          </a:p>
          <a:p>
            <a:endParaRPr lang="en-US" sz="1100" dirty="0"/>
          </a:p>
          <a:p>
            <a:r>
              <a:rPr lang="en-US" sz="2200" dirty="0"/>
              <a:t>Objective is to determine the lowest expenditure level necessary to achieve sales quotas.</a:t>
            </a:r>
          </a:p>
          <a:p>
            <a:endParaRPr lang="en-US" sz="1100" dirty="0"/>
          </a:p>
          <a:p>
            <a:r>
              <a:rPr lang="en-US" sz="2200" dirty="0"/>
              <a:t>Two approaches to setting the selling budget:</a:t>
            </a:r>
          </a:p>
          <a:p>
            <a:pPr lvl="1"/>
            <a:r>
              <a:rPr lang="en-US" sz="2200" b="1" dirty="0"/>
              <a:t>Percentage of sales method</a:t>
            </a:r>
          </a:p>
          <a:p>
            <a:pPr lvl="1"/>
            <a:r>
              <a:rPr lang="en-US" sz="2200" b="1" dirty="0"/>
              <a:t>Objective and task method                                                (or </a:t>
            </a:r>
            <a:r>
              <a:rPr lang="en-US" sz="2200" b="1" i="1" dirty="0"/>
              <a:t>zero-based budgeting</a:t>
            </a:r>
            <a:r>
              <a:rPr lang="en-US" sz="2200" b="1" dirty="0"/>
              <a:t>)</a:t>
            </a:r>
          </a:p>
        </p:txBody>
      </p:sp>
      <p:pic>
        <p:nvPicPr>
          <p:cNvPr id="3074" name="Picture 2" descr="Image result for budget">
            <a:extLst>
              <a:ext uri="{FF2B5EF4-FFF2-40B4-BE49-F238E27FC236}">
                <a16:creationId xmlns:a16="http://schemas.microsoft.com/office/drawing/2014/main" id="{E19FD6E8-3A5A-47BC-A1A5-70695FBF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854937"/>
            <a:ext cx="4361992" cy="258603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383827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5503" y="214313"/>
            <a:ext cx="8229600" cy="1143000"/>
          </a:xfrm>
          <a:solidFill>
            <a:schemeClr val="bg2">
              <a:lumMod val="60000"/>
              <a:lumOff val="40000"/>
            </a:schemeClr>
          </a:solidFill>
          <a:scene3d>
            <a:camera prst="orthographicFront"/>
            <a:lightRig rig="threePt" dir="t"/>
          </a:scene3d>
          <a:sp3d>
            <a:bevelT w="69850"/>
          </a:sp3d>
        </p:spPr>
        <p:txBody>
          <a:bodyPr/>
          <a:lstStyle/>
          <a:p>
            <a:r>
              <a:rPr lang="en-US" dirty="0"/>
              <a:t>Determining Budget Expenditure Level</a:t>
            </a:r>
          </a:p>
        </p:txBody>
      </p:sp>
      <p:sp>
        <p:nvSpPr>
          <p:cNvPr id="5" name="Text Placeholder 4"/>
          <p:cNvSpPr>
            <a:spLocks noGrp="1"/>
          </p:cNvSpPr>
          <p:nvPr>
            <p:ph type="body" idx="1"/>
          </p:nvPr>
        </p:nvSpPr>
        <p:spPr>
          <a:xfrm>
            <a:off x="280255" y="1535113"/>
            <a:ext cx="4040188" cy="639762"/>
          </a:xfrm>
          <a:solidFill>
            <a:schemeClr val="bg2">
              <a:lumMod val="20000"/>
              <a:lumOff val="80000"/>
            </a:schemeClr>
          </a:solidFill>
          <a:scene3d>
            <a:camera prst="orthographicFront"/>
            <a:lightRig rig="threePt" dir="t"/>
          </a:scene3d>
          <a:sp3d>
            <a:bevelT/>
          </a:sp3d>
        </p:spPr>
        <p:txBody>
          <a:bodyPr/>
          <a:lstStyle/>
          <a:p>
            <a:r>
              <a:rPr lang="en-US" sz="2200" dirty="0"/>
              <a:t>Percentage of Sales Method</a:t>
            </a:r>
          </a:p>
        </p:txBody>
      </p:sp>
      <p:sp>
        <p:nvSpPr>
          <p:cNvPr id="6" name="Content Placeholder 5"/>
          <p:cNvSpPr>
            <a:spLocks noGrp="1"/>
          </p:cNvSpPr>
          <p:nvPr>
            <p:ph sz="half" idx="2"/>
          </p:nvPr>
        </p:nvSpPr>
        <p:spPr/>
        <p:txBody>
          <a:bodyPr/>
          <a:lstStyle/>
          <a:p>
            <a:r>
              <a:rPr lang="en-US" sz="2200" dirty="0"/>
              <a:t>Expenditure percent </a:t>
            </a:r>
            <a:r>
              <a:rPr lang="en-US" sz="2200" b="1" dirty="0"/>
              <a:t>x</a:t>
            </a:r>
            <a:r>
              <a:rPr lang="en-US" sz="2200" dirty="0"/>
              <a:t> forecasted sales</a:t>
            </a:r>
          </a:p>
          <a:p>
            <a:endParaRPr lang="en-US" sz="2200" dirty="0"/>
          </a:p>
          <a:p>
            <a:r>
              <a:rPr lang="en-US" sz="2200" dirty="0"/>
              <a:t>Need reliable forecast</a:t>
            </a:r>
          </a:p>
          <a:p>
            <a:endParaRPr lang="en-US" sz="2200" dirty="0"/>
          </a:p>
          <a:p>
            <a:r>
              <a:rPr lang="en-US" sz="2200" dirty="0"/>
              <a:t>Need accurate expenditure percent</a:t>
            </a:r>
          </a:p>
        </p:txBody>
      </p:sp>
      <p:sp>
        <p:nvSpPr>
          <p:cNvPr id="7" name="Text Placeholder 6"/>
          <p:cNvSpPr>
            <a:spLocks noGrp="1"/>
          </p:cNvSpPr>
          <p:nvPr>
            <p:ph type="body" sz="quarter" idx="3"/>
          </p:nvPr>
        </p:nvSpPr>
        <p:spPr>
          <a:xfrm>
            <a:off x="4742363" y="1535113"/>
            <a:ext cx="4041775" cy="639762"/>
          </a:xfrm>
          <a:solidFill>
            <a:schemeClr val="bg2">
              <a:lumMod val="20000"/>
              <a:lumOff val="80000"/>
            </a:schemeClr>
          </a:solidFill>
          <a:scene3d>
            <a:camera prst="orthographicFront"/>
            <a:lightRig rig="threePt" dir="t"/>
          </a:scene3d>
          <a:sp3d>
            <a:bevelT/>
          </a:sp3d>
        </p:spPr>
        <p:txBody>
          <a:bodyPr/>
          <a:lstStyle/>
          <a:p>
            <a:r>
              <a:rPr lang="en-US" sz="2200" dirty="0"/>
              <a:t>Objective and Task Method</a:t>
            </a:r>
          </a:p>
        </p:txBody>
      </p:sp>
      <p:sp>
        <p:nvSpPr>
          <p:cNvPr id="8" name="Content Placeholder 7"/>
          <p:cNvSpPr>
            <a:spLocks noGrp="1"/>
          </p:cNvSpPr>
          <p:nvPr>
            <p:ph sz="quarter" idx="4"/>
          </p:nvPr>
        </p:nvSpPr>
        <p:spPr>
          <a:xfrm>
            <a:off x="4645025" y="2174875"/>
            <a:ext cx="4041775" cy="3951288"/>
          </a:xfrm>
        </p:spPr>
        <p:txBody>
          <a:bodyPr/>
          <a:lstStyle/>
          <a:p>
            <a:r>
              <a:rPr lang="en-US" sz="2200" dirty="0"/>
              <a:t>State objectives</a:t>
            </a:r>
          </a:p>
          <a:p>
            <a:endParaRPr lang="en-US" sz="2200" dirty="0"/>
          </a:p>
          <a:p>
            <a:r>
              <a:rPr lang="en-US" sz="2200" dirty="0"/>
              <a:t>Identify tasks necessary to achieve objectives</a:t>
            </a:r>
          </a:p>
          <a:p>
            <a:endParaRPr lang="en-US" sz="2200" dirty="0"/>
          </a:p>
          <a:p>
            <a:r>
              <a:rPr lang="en-US" sz="2200" dirty="0"/>
              <a:t>Estimate cost of tasks</a:t>
            </a:r>
          </a:p>
        </p:txBody>
      </p:sp>
      <p:pic>
        <p:nvPicPr>
          <p:cNvPr id="2050" name="Picture 2" descr="Free vector saving money concept background">
            <a:extLst>
              <a:ext uri="{FF2B5EF4-FFF2-40B4-BE49-F238E27FC236}">
                <a16:creationId xmlns:a16="http://schemas.microsoft.com/office/drawing/2014/main" id="{F21FE39F-D81E-6CAA-2D2A-46A6212695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193" y="4590736"/>
            <a:ext cx="3403614" cy="226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914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66700" y="80957"/>
            <a:ext cx="8610600" cy="1066800"/>
          </a:xfrm>
          <a:solidFill>
            <a:schemeClr val="bg2">
              <a:lumMod val="60000"/>
              <a:lumOff val="40000"/>
            </a:schemeClr>
          </a:solidFill>
        </p:spPr>
        <p:txBody>
          <a:bodyPr/>
          <a:lstStyle/>
          <a:p>
            <a:r>
              <a:rPr lang="en-US" sz="3200" dirty="0"/>
              <a:t>Selling Expense Categories</a:t>
            </a:r>
          </a:p>
        </p:txBody>
      </p:sp>
      <p:grpSp>
        <p:nvGrpSpPr>
          <p:cNvPr id="56323" name="Group 3"/>
          <p:cNvGrpSpPr>
            <a:grpSpLocks/>
          </p:cNvGrpSpPr>
          <p:nvPr/>
        </p:nvGrpSpPr>
        <p:grpSpPr bwMode="auto">
          <a:xfrm>
            <a:off x="457200" y="1112923"/>
            <a:ext cx="8001000" cy="5316271"/>
            <a:chOff x="480" y="720"/>
            <a:chExt cx="4800" cy="3546"/>
          </a:xfrm>
        </p:grpSpPr>
        <p:sp>
          <p:nvSpPr>
            <p:cNvPr id="56324" name="Text Box 4"/>
            <p:cNvSpPr txBox="1">
              <a:spLocks noChangeArrowheads="1"/>
            </p:cNvSpPr>
            <p:nvPr/>
          </p:nvSpPr>
          <p:spPr bwMode="auto">
            <a:xfrm>
              <a:off x="528" y="1248"/>
              <a:ext cx="1464" cy="3018"/>
            </a:xfrm>
            <a:prstGeom prst="rect">
              <a:avLst/>
            </a:prstGeom>
            <a:noFill/>
            <a:ln w="12700">
              <a:noFill/>
              <a:miter lim="800000"/>
              <a:headEnd/>
              <a:tailEnd/>
            </a:ln>
            <a:effectLst/>
          </p:spPr>
          <p:txBody>
            <a:bodyPr wrap="none">
              <a:spAutoFit/>
            </a:bodyPr>
            <a:lstStyle/>
            <a:p>
              <a:r>
                <a:rPr lang="en-US" sz="1600" dirty="0"/>
                <a:t>Compensation expenses</a:t>
              </a:r>
            </a:p>
            <a:p>
              <a:r>
                <a:rPr lang="en-US" sz="1600" dirty="0"/>
                <a:t>   Salaries</a:t>
              </a:r>
            </a:p>
            <a:p>
              <a:r>
                <a:rPr lang="en-US" sz="1600" dirty="0"/>
                <a:t>   Commissions</a:t>
              </a:r>
            </a:p>
            <a:p>
              <a:r>
                <a:rPr lang="en-US" sz="1600" dirty="0"/>
                <a:t>   Bonuses</a:t>
              </a:r>
            </a:p>
            <a:p>
              <a:r>
                <a:rPr lang="en-US" sz="1600" dirty="0"/>
                <a:t>      Total</a:t>
              </a:r>
            </a:p>
            <a:p>
              <a:endParaRPr lang="en-US" sz="800" dirty="0"/>
            </a:p>
            <a:p>
              <a:r>
                <a:rPr lang="en-US" sz="1600" dirty="0"/>
                <a:t>Travel expenses</a:t>
              </a:r>
            </a:p>
            <a:p>
              <a:r>
                <a:rPr lang="en-US" sz="1600" dirty="0"/>
                <a:t>   Lodging</a:t>
              </a:r>
            </a:p>
            <a:p>
              <a:r>
                <a:rPr lang="en-US" sz="1600" dirty="0"/>
                <a:t>   Food</a:t>
              </a:r>
            </a:p>
            <a:p>
              <a:r>
                <a:rPr lang="en-US" sz="1600" dirty="0"/>
                <a:t>   Transportation</a:t>
              </a:r>
            </a:p>
            <a:p>
              <a:r>
                <a:rPr lang="en-US" sz="1600" dirty="0"/>
                <a:t>   Miscellaneous</a:t>
              </a:r>
            </a:p>
            <a:p>
              <a:r>
                <a:rPr lang="en-US" sz="1600" dirty="0"/>
                <a:t>      Total</a:t>
              </a:r>
            </a:p>
            <a:p>
              <a:endParaRPr lang="en-US" sz="800" dirty="0"/>
            </a:p>
            <a:p>
              <a:r>
                <a:rPr lang="en-US" sz="1600" dirty="0"/>
                <a:t>Administrative expenses</a:t>
              </a:r>
            </a:p>
            <a:p>
              <a:r>
                <a:rPr lang="en-US" sz="1600" dirty="0"/>
                <a:t>   Recruiting</a:t>
              </a:r>
            </a:p>
            <a:p>
              <a:r>
                <a:rPr lang="en-US" sz="1600" dirty="0"/>
                <a:t>   Training</a:t>
              </a:r>
            </a:p>
            <a:p>
              <a:r>
                <a:rPr lang="en-US" sz="1600" dirty="0"/>
                <a:t>   Meetings</a:t>
              </a:r>
            </a:p>
            <a:p>
              <a:r>
                <a:rPr lang="en-US" sz="1600" dirty="0"/>
                <a:t>   Sales offices</a:t>
              </a:r>
            </a:p>
            <a:p>
              <a:r>
                <a:rPr lang="en-US" sz="1600" dirty="0"/>
                <a:t>      Total</a:t>
              </a:r>
            </a:p>
          </p:txBody>
        </p:sp>
        <p:sp>
          <p:nvSpPr>
            <p:cNvPr id="56325" name="Line 5"/>
            <p:cNvSpPr>
              <a:spLocks noChangeShapeType="1"/>
            </p:cNvSpPr>
            <p:nvPr/>
          </p:nvSpPr>
          <p:spPr bwMode="auto">
            <a:xfrm>
              <a:off x="480" y="1248"/>
              <a:ext cx="4608" cy="0"/>
            </a:xfrm>
            <a:prstGeom prst="line">
              <a:avLst/>
            </a:prstGeom>
            <a:noFill/>
            <a:ln w="12700">
              <a:solidFill>
                <a:schemeClr val="tx1"/>
              </a:solidFill>
              <a:round/>
              <a:headEnd/>
              <a:tailEnd/>
            </a:ln>
            <a:effectLst/>
          </p:spPr>
          <p:txBody>
            <a:bodyPr/>
            <a:lstStyle/>
            <a:p>
              <a:endParaRPr lang="en-US" dirty="0"/>
            </a:p>
          </p:txBody>
        </p:sp>
        <p:sp>
          <p:nvSpPr>
            <p:cNvPr id="56326" name="Line 6"/>
            <p:cNvSpPr>
              <a:spLocks noChangeShapeType="1"/>
            </p:cNvSpPr>
            <p:nvPr/>
          </p:nvSpPr>
          <p:spPr bwMode="auto">
            <a:xfrm>
              <a:off x="2160" y="912"/>
              <a:ext cx="0" cy="3216"/>
            </a:xfrm>
            <a:prstGeom prst="line">
              <a:avLst/>
            </a:prstGeom>
            <a:noFill/>
            <a:ln w="12700">
              <a:solidFill>
                <a:schemeClr val="tx1"/>
              </a:solidFill>
              <a:round/>
              <a:headEnd/>
              <a:tailEnd/>
            </a:ln>
            <a:effectLst/>
          </p:spPr>
          <p:txBody>
            <a:bodyPr/>
            <a:lstStyle/>
            <a:p>
              <a:endParaRPr lang="en-US" dirty="0"/>
            </a:p>
          </p:txBody>
        </p:sp>
        <p:sp>
          <p:nvSpPr>
            <p:cNvPr id="56327" name="Line 7"/>
            <p:cNvSpPr>
              <a:spLocks noChangeShapeType="1"/>
            </p:cNvSpPr>
            <p:nvPr/>
          </p:nvSpPr>
          <p:spPr bwMode="auto">
            <a:xfrm>
              <a:off x="2784" y="912"/>
              <a:ext cx="0" cy="3216"/>
            </a:xfrm>
            <a:prstGeom prst="line">
              <a:avLst/>
            </a:prstGeom>
            <a:noFill/>
            <a:ln w="12700">
              <a:solidFill>
                <a:schemeClr val="tx1"/>
              </a:solidFill>
              <a:round/>
              <a:headEnd/>
              <a:tailEnd/>
            </a:ln>
            <a:effectLst/>
          </p:spPr>
          <p:txBody>
            <a:bodyPr/>
            <a:lstStyle/>
            <a:p>
              <a:endParaRPr lang="en-US" dirty="0"/>
            </a:p>
          </p:txBody>
        </p:sp>
        <p:sp>
          <p:nvSpPr>
            <p:cNvPr id="56328" name="Line 8"/>
            <p:cNvSpPr>
              <a:spLocks noChangeShapeType="1"/>
            </p:cNvSpPr>
            <p:nvPr/>
          </p:nvSpPr>
          <p:spPr bwMode="auto">
            <a:xfrm>
              <a:off x="3408" y="960"/>
              <a:ext cx="0" cy="3216"/>
            </a:xfrm>
            <a:prstGeom prst="line">
              <a:avLst/>
            </a:prstGeom>
            <a:noFill/>
            <a:ln w="12700">
              <a:solidFill>
                <a:schemeClr val="tx1"/>
              </a:solidFill>
              <a:round/>
              <a:headEnd/>
              <a:tailEnd/>
            </a:ln>
            <a:effectLst/>
          </p:spPr>
          <p:txBody>
            <a:bodyPr/>
            <a:lstStyle/>
            <a:p>
              <a:endParaRPr lang="en-US" dirty="0"/>
            </a:p>
          </p:txBody>
        </p:sp>
        <p:sp>
          <p:nvSpPr>
            <p:cNvPr id="56329" name="Line 9"/>
            <p:cNvSpPr>
              <a:spLocks noChangeShapeType="1"/>
            </p:cNvSpPr>
            <p:nvPr/>
          </p:nvSpPr>
          <p:spPr bwMode="auto">
            <a:xfrm>
              <a:off x="4032" y="960"/>
              <a:ext cx="0" cy="3216"/>
            </a:xfrm>
            <a:prstGeom prst="line">
              <a:avLst/>
            </a:prstGeom>
            <a:noFill/>
            <a:ln w="12700">
              <a:solidFill>
                <a:schemeClr val="tx1"/>
              </a:solidFill>
              <a:round/>
              <a:headEnd/>
              <a:tailEnd/>
            </a:ln>
            <a:effectLst/>
          </p:spPr>
          <p:txBody>
            <a:bodyPr/>
            <a:lstStyle/>
            <a:p>
              <a:endParaRPr lang="en-US" dirty="0"/>
            </a:p>
          </p:txBody>
        </p:sp>
        <p:sp>
          <p:nvSpPr>
            <p:cNvPr id="56330" name="Text Box 10"/>
            <p:cNvSpPr txBox="1">
              <a:spLocks noChangeArrowheads="1"/>
            </p:cNvSpPr>
            <p:nvPr/>
          </p:nvSpPr>
          <p:spPr bwMode="auto">
            <a:xfrm>
              <a:off x="480" y="1008"/>
              <a:ext cx="1632" cy="224"/>
            </a:xfrm>
            <a:prstGeom prst="rect">
              <a:avLst/>
            </a:prstGeom>
            <a:noFill/>
            <a:ln w="12700">
              <a:noFill/>
              <a:miter lim="800000"/>
              <a:headEnd/>
              <a:tailEnd/>
            </a:ln>
            <a:effectLst/>
          </p:spPr>
          <p:txBody>
            <a:bodyPr>
              <a:spAutoFit/>
            </a:bodyPr>
            <a:lstStyle/>
            <a:p>
              <a:pPr algn="ctr"/>
              <a:r>
                <a:rPr lang="en-US" sz="1600" i="1" dirty="0"/>
                <a:t>Classification</a:t>
              </a:r>
            </a:p>
          </p:txBody>
        </p:sp>
        <p:sp>
          <p:nvSpPr>
            <p:cNvPr id="56331" name="Text Box 11"/>
            <p:cNvSpPr txBox="1">
              <a:spLocks noChangeArrowheads="1"/>
            </p:cNvSpPr>
            <p:nvPr/>
          </p:nvSpPr>
          <p:spPr bwMode="auto">
            <a:xfrm>
              <a:off x="2160" y="864"/>
              <a:ext cx="576" cy="390"/>
            </a:xfrm>
            <a:prstGeom prst="rect">
              <a:avLst/>
            </a:prstGeom>
            <a:noFill/>
            <a:ln w="12700">
              <a:noFill/>
              <a:miter lim="800000"/>
              <a:headEnd/>
              <a:tailEnd/>
            </a:ln>
            <a:effectLst/>
          </p:spPr>
          <p:txBody>
            <a:bodyPr>
              <a:spAutoFit/>
            </a:bodyPr>
            <a:lstStyle/>
            <a:p>
              <a:pPr algn="ctr"/>
              <a:r>
                <a:rPr lang="en-US" sz="1600" i="1" dirty="0"/>
                <a:t>Actual 2023</a:t>
              </a:r>
            </a:p>
          </p:txBody>
        </p:sp>
        <p:sp>
          <p:nvSpPr>
            <p:cNvPr id="56332" name="Text Box 12"/>
            <p:cNvSpPr txBox="1">
              <a:spLocks noChangeArrowheads="1"/>
            </p:cNvSpPr>
            <p:nvPr/>
          </p:nvSpPr>
          <p:spPr bwMode="auto">
            <a:xfrm>
              <a:off x="2784" y="720"/>
              <a:ext cx="624" cy="554"/>
            </a:xfrm>
            <a:prstGeom prst="rect">
              <a:avLst/>
            </a:prstGeom>
            <a:noFill/>
            <a:ln w="12700">
              <a:noFill/>
              <a:miter lim="800000"/>
              <a:headEnd/>
              <a:tailEnd/>
            </a:ln>
            <a:effectLst/>
          </p:spPr>
          <p:txBody>
            <a:bodyPr>
              <a:spAutoFit/>
            </a:bodyPr>
            <a:lstStyle/>
            <a:p>
              <a:pPr algn="ctr"/>
              <a:r>
                <a:rPr lang="en-US" sz="1600" i="1" dirty="0"/>
                <a:t>Original Budget 2024</a:t>
              </a:r>
            </a:p>
          </p:txBody>
        </p:sp>
        <p:sp>
          <p:nvSpPr>
            <p:cNvPr id="56333" name="Text Box 13"/>
            <p:cNvSpPr txBox="1">
              <a:spLocks noChangeArrowheads="1"/>
            </p:cNvSpPr>
            <p:nvPr/>
          </p:nvSpPr>
          <p:spPr bwMode="auto">
            <a:xfrm>
              <a:off x="3408" y="864"/>
              <a:ext cx="624" cy="390"/>
            </a:xfrm>
            <a:prstGeom prst="rect">
              <a:avLst/>
            </a:prstGeom>
            <a:noFill/>
            <a:ln w="12700">
              <a:noFill/>
              <a:miter lim="800000"/>
              <a:headEnd/>
              <a:tailEnd/>
            </a:ln>
            <a:effectLst/>
          </p:spPr>
          <p:txBody>
            <a:bodyPr>
              <a:spAutoFit/>
            </a:bodyPr>
            <a:lstStyle/>
            <a:p>
              <a:pPr algn="ctr"/>
              <a:r>
                <a:rPr lang="en-US" sz="1600" i="1" dirty="0"/>
                <a:t>Q2 Revision</a:t>
              </a:r>
            </a:p>
          </p:txBody>
        </p:sp>
        <p:sp>
          <p:nvSpPr>
            <p:cNvPr id="56334" name="Text Box 14"/>
            <p:cNvSpPr txBox="1">
              <a:spLocks noChangeArrowheads="1"/>
            </p:cNvSpPr>
            <p:nvPr/>
          </p:nvSpPr>
          <p:spPr bwMode="auto">
            <a:xfrm>
              <a:off x="4032" y="864"/>
              <a:ext cx="624" cy="388"/>
            </a:xfrm>
            <a:prstGeom prst="rect">
              <a:avLst/>
            </a:prstGeom>
            <a:noFill/>
            <a:ln w="12700">
              <a:noFill/>
              <a:miter lim="800000"/>
              <a:headEnd/>
              <a:tailEnd/>
            </a:ln>
            <a:effectLst/>
          </p:spPr>
          <p:txBody>
            <a:bodyPr>
              <a:spAutoFit/>
            </a:bodyPr>
            <a:lstStyle/>
            <a:p>
              <a:pPr algn="ctr"/>
              <a:r>
                <a:rPr lang="en-US" sz="1600" i="1" dirty="0"/>
                <a:t>Q3 Revision</a:t>
              </a:r>
            </a:p>
          </p:txBody>
        </p:sp>
        <p:sp>
          <p:nvSpPr>
            <p:cNvPr id="56335" name="Line 15"/>
            <p:cNvSpPr>
              <a:spLocks noChangeShapeType="1"/>
            </p:cNvSpPr>
            <p:nvPr/>
          </p:nvSpPr>
          <p:spPr bwMode="auto">
            <a:xfrm>
              <a:off x="4656" y="960"/>
              <a:ext cx="0" cy="3216"/>
            </a:xfrm>
            <a:prstGeom prst="line">
              <a:avLst/>
            </a:prstGeom>
            <a:noFill/>
            <a:ln w="12700">
              <a:solidFill>
                <a:schemeClr val="tx1"/>
              </a:solidFill>
              <a:round/>
              <a:headEnd/>
              <a:tailEnd/>
            </a:ln>
            <a:effectLst/>
          </p:spPr>
          <p:txBody>
            <a:bodyPr/>
            <a:lstStyle/>
            <a:p>
              <a:endParaRPr lang="en-US" dirty="0"/>
            </a:p>
          </p:txBody>
        </p:sp>
        <p:sp>
          <p:nvSpPr>
            <p:cNvPr id="56336" name="Text Box 16"/>
            <p:cNvSpPr txBox="1">
              <a:spLocks noChangeArrowheads="1"/>
            </p:cNvSpPr>
            <p:nvPr/>
          </p:nvSpPr>
          <p:spPr bwMode="auto">
            <a:xfrm>
              <a:off x="4656" y="864"/>
              <a:ext cx="624" cy="388"/>
            </a:xfrm>
            <a:prstGeom prst="rect">
              <a:avLst/>
            </a:prstGeom>
            <a:noFill/>
            <a:ln w="12700">
              <a:noFill/>
              <a:miter lim="800000"/>
              <a:headEnd/>
              <a:tailEnd/>
            </a:ln>
            <a:effectLst/>
          </p:spPr>
          <p:txBody>
            <a:bodyPr>
              <a:spAutoFit/>
            </a:bodyPr>
            <a:lstStyle/>
            <a:p>
              <a:pPr algn="ctr"/>
              <a:r>
                <a:rPr lang="en-US" sz="1600" i="1" dirty="0"/>
                <a:t>Q4</a:t>
              </a:r>
            </a:p>
            <a:p>
              <a:pPr algn="ctr"/>
              <a:r>
                <a:rPr lang="en-US" sz="1600" i="1" dirty="0"/>
                <a:t>Revision</a:t>
              </a:r>
            </a:p>
          </p:txBody>
        </p:sp>
      </p:grpSp>
    </p:spTree>
    <p:extLst>
      <p:ext uri="{BB962C8B-B14F-4D97-AF65-F5344CB8AC3E}">
        <p14:creationId xmlns:p14="http://schemas.microsoft.com/office/powerpoint/2010/main" val="175925304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08046" y="260351"/>
            <a:ext cx="8610600" cy="1066800"/>
          </a:xfrm>
          <a:solidFill>
            <a:schemeClr val="bg2">
              <a:lumMod val="60000"/>
              <a:lumOff val="40000"/>
            </a:schemeClr>
          </a:solidFill>
          <a:ln/>
        </p:spPr>
        <p:txBody>
          <a:bodyPr lIns="90488" tIns="44450" rIns="90488" bIns="44450"/>
          <a:lstStyle/>
          <a:p>
            <a:r>
              <a:rPr lang="en-US" dirty="0"/>
              <a:t>Cost Analysis Example</a:t>
            </a:r>
          </a:p>
        </p:txBody>
      </p:sp>
      <p:grpSp>
        <p:nvGrpSpPr>
          <p:cNvPr id="35" name="Group 34"/>
          <p:cNvGrpSpPr/>
          <p:nvPr/>
        </p:nvGrpSpPr>
        <p:grpSpPr>
          <a:xfrm>
            <a:off x="228600" y="1524000"/>
            <a:ext cx="8559566" cy="4570750"/>
            <a:chOff x="228600" y="1524000"/>
            <a:chExt cx="8559566" cy="4570750"/>
          </a:xfrm>
        </p:grpSpPr>
        <p:sp>
          <p:nvSpPr>
            <p:cNvPr id="58375" name="Text Box 7"/>
            <p:cNvSpPr txBox="1">
              <a:spLocks noChangeArrowheads="1"/>
            </p:cNvSpPr>
            <p:nvPr/>
          </p:nvSpPr>
          <p:spPr bwMode="auto">
            <a:xfrm>
              <a:off x="228600" y="2362200"/>
              <a:ext cx="931665" cy="1446550"/>
            </a:xfrm>
            <a:prstGeom prst="rect">
              <a:avLst/>
            </a:prstGeom>
            <a:noFill/>
            <a:ln w="12700">
              <a:noFill/>
              <a:miter lim="800000"/>
              <a:headEnd/>
              <a:tailEnd/>
            </a:ln>
            <a:effectLst/>
          </p:spPr>
          <p:txBody>
            <a:bodyPr wrap="none">
              <a:spAutoFit/>
            </a:bodyPr>
            <a:lstStyle/>
            <a:p>
              <a:r>
                <a:rPr lang="en-US" sz="1600" dirty="0"/>
                <a:t>Region 1</a:t>
              </a:r>
            </a:p>
            <a:p>
              <a:endParaRPr lang="en-US" sz="800" dirty="0"/>
            </a:p>
            <a:p>
              <a:r>
                <a:rPr lang="en-US" sz="1600" dirty="0"/>
                <a:t>Region 2</a:t>
              </a:r>
            </a:p>
            <a:p>
              <a:endParaRPr lang="en-US" sz="800" dirty="0"/>
            </a:p>
            <a:p>
              <a:r>
                <a:rPr lang="en-US" sz="1600" dirty="0"/>
                <a:t>Region 3</a:t>
              </a:r>
            </a:p>
            <a:p>
              <a:endParaRPr lang="en-US" sz="800" dirty="0"/>
            </a:p>
            <a:p>
              <a:r>
                <a:rPr lang="en-US" sz="1600" dirty="0"/>
                <a:t>Region 4</a:t>
              </a:r>
            </a:p>
          </p:txBody>
        </p:sp>
        <p:sp>
          <p:nvSpPr>
            <p:cNvPr id="58376" name="Text Box 8"/>
            <p:cNvSpPr txBox="1">
              <a:spLocks noChangeArrowheads="1"/>
            </p:cNvSpPr>
            <p:nvPr/>
          </p:nvSpPr>
          <p:spPr bwMode="auto">
            <a:xfrm>
              <a:off x="1295400" y="2362200"/>
              <a:ext cx="1107996" cy="1446550"/>
            </a:xfrm>
            <a:prstGeom prst="rect">
              <a:avLst/>
            </a:prstGeom>
            <a:noFill/>
            <a:ln w="12700">
              <a:noFill/>
              <a:miter lim="800000"/>
              <a:headEnd/>
              <a:tailEnd/>
            </a:ln>
            <a:effectLst/>
          </p:spPr>
          <p:txBody>
            <a:bodyPr wrap="none">
              <a:spAutoFit/>
            </a:bodyPr>
            <a:lstStyle/>
            <a:p>
              <a:r>
                <a:rPr lang="en-US" sz="1600" dirty="0"/>
                <a:t>$3,660,000</a:t>
              </a:r>
            </a:p>
            <a:p>
              <a:endParaRPr lang="en-US" sz="800" dirty="0"/>
            </a:p>
            <a:p>
              <a:r>
                <a:rPr lang="en-US" sz="1600" dirty="0"/>
                <a:t>$3,500,000</a:t>
              </a:r>
            </a:p>
            <a:p>
              <a:endParaRPr lang="en-US" sz="800" dirty="0"/>
            </a:p>
            <a:p>
              <a:r>
                <a:rPr lang="en-US" sz="1600" dirty="0"/>
                <a:t>$3,150,000</a:t>
              </a:r>
            </a:p>
            <a:p>
              <a:endParaRPr lang="en-US" sz="800" dirty="0"/>
            </a:p>
            <a:p>
              <a:r>
                <a:rPr lang="en-US" sz="1600" dirty="0"/>
                <a:t>$4,200,000</a:t>
              </a:r>
            </a:p>
          </p:txBody>
        </p:sp>
        <p:sp>
          <p:nvSpPr>
            <p:cNvPr id="58377" name="Text Box 9"/>
            <p:cNvSpPr txBox="1">
              <a:spLocks noChangeArrowheads="1"/>
            </p:cNvSpPr>
            <p:nvPr/>
          </p:nvSpPr>
          <p:spPr bwMode="auto">
            <a:xfrm>
              <a:off x="2590800" y="2362200"/>
              <a:ext cx="1107996" cy="1446550"/>
            </a:xfrm>
            <a:prstGeom prst="rect">
              <a:avLst/>
            </a:prstGeom>
            <a:noFill/>
            <a:ln w="12700">
              <a:noFill/>
              <a:miter lim="800000"/>
              <a:headEnd/>
              <a:tailEnd/>
            </a:ln>
            <a:effectLst/>
          </p:spPr>
          <p:txBody>
            <a:bodyPr wrap="none">
              <a:spAutoFit/>
            </a:bodyPr>
            <a:lstStyle/>
            <a:p>
              <a:r>
                <a:rPr lang="en-US" sz="1600" dirty="0"/>
                <a:t>$3,600,000</a:t>
              </a:r>
            </a:p>
            <a:p>
              <a:endParaRPr lang="en-US" sz="800" dirty="0"/>
            </a:p>
            <a:p>
              <a:r>
                <a:rPr lang="en-US" sz="1600" dirty="0"/>
                <a:t>$3,700,000</a:t>
              </a:r>
            </a:p>
            <a:p>
              <a:endParaRPr lang="en-US" sz="800" dirty="0"/>
            </a:p>
            <a:p>
              <a:r>
                <a:rPr lang="en-US" sz="1600" dirty="0"/>
                <a:t>$3,400,000</a:t>
              </a:r>
            </a:p>
            <a:p>
              <a:endParaRPr lang="en-US" sz="800" dirty="0"/>
            </a:p>
            <a:p>
              <a:r>
                <a:rPr lang="en-US" sz="1600" dirty="0"/>
                <a:t>$3,900,000</a:t>
              </a:r>
            </a:p>
          </p:txBody>
        </p:sp>
        <p:sp>
          <p:nvSpPr>
            <p:cNvPr id="58378" name="Text Box 10"/>
            <p:cNvSpPr txBox="1">
              <a:spLocks noChangeArrowheads="1"/>
            </p:cNvSpPr>
            <p:nvPr/>
          </p:nvSpPr>
          <p:spPr bwMode="auto">
            <a:xfrm>
              <a:off x="3810000" y="2362200"/>
              <a:ext cx="1091966" cy="1446550"/>
            </a:xfrm>
            <a:prstGeom prst="rect">
              <a:avLst/>
            </a:prstGeom>
            <a:noFill/>
            <a:ln w="12700">
              <a:noFill/>
              <a:miter lim="800000"/>
              <a:headEnd/>
              <a:tailEnd/>
            </a:ln>
            <a:effectLst/>
          </p:spPr>
          <p:txBody>
            <a:bodyPr wrap="none">
              <a:spAutoFit/>
            </a:bodyPr>
            <a:lstStyle/>
            <a:p>
              <a:r>
                <a:rPr lang="en-US" sz="1600" dirty="0"/>
                <a:t>   $60,000</a:t>
              </a:r>
            </a:p>
            <a:p>
              <a:endParaRPr lang="en-US" sz="800" dirty="0"/>
            </a:p>
            <a:p>
              <a:r>
                <a:rPr lang="en-US" sz="1600" dirty="0"/>
                <a:t>($200,000)</a:t>
              </a:r>
            </a:p>
            <a:p>
              <a:endParaRPr lang="en-US" sz="800" dirty="0"/>
            </a:p>
            <a:p>
              <a:r>
                <a:rPr lang="en-US" sz="1600" dirty="0"/>
                <a:t>($250,000)</a:t>
              </a:r>
            </a:p>
            <a:p>
              <a:endParaRPr lang="en-US" sz="800" dirty="0"/>
            </a:p>
            <a:p>
              <a:r>
                <a:rPr lang="en-US" sz="1600" dirty="0"/>
                <a:t> $300,000</a:t>
              </a:r>
            </a:p>
          </p:txBody>
        </p:sp>
        <p:sp>
          <p:nvSpPr>
            <p:cNvPr id="58379" name="Text Box 11"/>
            <p:cNvSpPr txBox="1">
              <a:spLocks noChangeArrowheads="1"/>
            </p:cNvSpPr>
            <p:nvPr/>
          </p:nvSpPr>
          <p:spPr bwMode="auto">
            <a:xfrm>
              <a:off x="1371600" y="1981200"/>
              <a:ext cx="990600" cy="336550"/>
            </a:xfrm>
            <a:prstGeom prst="rect">
              <a:avLst/>
            </a:prstGeom>
            <a:noFill/>
            <a:ln w="12700">
              <a:noFill/>
              <a:miter lim="800000"/>
              <a:headEnd/>
              <a:tailEnd/>
            </a:ln>
            <a:effectLst/>
          </p:spPr>
          <p:txBody>
            <a:bodyPr>
              <a:spAutoFit/>
            </a:bodyPr>
            <a:lstStyle/>
            <a:p>
              <a:pPr algn="ctr"/>
              <a:r>
                <a:rPr lang="en-US" sz="1600" i="1" dirty="0"/>
                <a:t>Actual</a:t>
              </a:r>
            </a:p>
          </p:txBody>
        </p:sp>
        <p:sp>
          <p:nvSpPr>
            <p:cNvPr id="58380" name="Text Box 12"/>
            <p:cNvSpPr txBox="1">
              <a:spLocks noChangeArrowheads="1"/>
            </p:cNvSpPr>
            <p:nvPr/>
          </p:nvSpPr>
          <p:spPr bwMode="auto">
            <a:xfrm>
              <a:off x="2667000" y="1981200"/>
              <a:ext cx="990600" cy="336550"/>
            </a:xfrm>
            <a:prstGeom prst="rect">
              <a:avLst/>
            </a:prstGeom>
            <a:noFill/>
            <a:ln w="12700">
              <a:noFill/>
              <a:miter lim="800000"/>
              <a:headEnd/>
              <a:tailEnd/>
            </a:ln>
            <a:effectLst/>
          </p:spPr>
          <p:txBody>
            <a:bodyPr>
              <a:spAutoFit/>
            </a:bodyPr>
            <a:lstStyle/>
            <a:p>
              <a:pPr algn="ctr"/>
              <a:r>
                <a:rPr lang="en-US" sz="1600" i="1" dirty="0"/>
                <a:t>Budget</a:t>
              </a:r>
            </a:p>
          </p:txBody>
        </p:sp>
        <p:sp>
          <p:nvSpPr>
            <p:cNvPr id="58381" name="Text Box 13"/>
            <p:cNvSpPr txBox="1">
              <a:spLocks noChangeArrowheads="1"/>
            </p:cNvSpPr>
            <p:nvPr/>
          </p:nvSpPr>
          <p:spPr bwMode="auto">
            <a:xfrm>
              <a:off x="3962400" y="1981200"/>
              <a:ext cx="990600" cy="338554"/>
            </a:xfrm>
            <a:prstGeom prst="rect">
              <a:avLst/>
            </a:prstGeom>
            <a:noFill/>
            <a:ln w="12700">
              <a:noFill/>
              <a:miter lim="800000"/>
              <a:headEnd/>
              <a:tailEnd/>
            </a:ln>
            <a:effectLst/>
          </p:spPr>
          <p:txBody>
            <a:bodyPr>
              <a:spAutoFit/>
            </a:bodyPr>
            <a:lstStyle/>
            <a:p>
              <a:pPr algn="ctr"/>
              <a:r>
                <a:rPr lang="en-US" sz="1600" i="1" dirty="0"/>
                <a:t>Variance</a:t>
              </a:r>
            </a:p>
          </p:txBody>
        </p:sp>
        <p:sp>
          <p:nvSpPr>
            <p:cNvPr id="58382" name="Line 14"/>
            <p:cNvSpPr>
              <a:spLocks noChangeShapeType="1"/>
            </p:cNvSpPr>
            <p:nvPr/>
          </p:nvSpPr>
          <p:spPr bwMode="auto">
            <a:xfrm>
              <a:off x="1371600" y="2362200"/>
              <a:ext cx="3505200" cy="0"/>
            </a:xfrm>
            <a:prstGeom prst="line">
              <a:avLst/>
            </a:prstGeom>
            <a:noFill/>
            <a:ln w="12700">
              <a:solidFill>
                <a:schemeClr val="tx1"/>
              </a:solidFill>
              <a:round/>
              <a:headEnd/>
              <a:tailEnd/>
            </a:ln>
            <a:effectLst/>
          </p:spPr>
          <p:txBody>
            <a:bodyPr/>
            <a:lstStyle/>
            <a:p>
              <a:endParaRPr lang="en-US" dirty="0"/>
            </a:p>
          </p:txBody>
        </p:sp>
        <p:sp>
          <p:nvSpPr>
            <p:cNvPr id="58384" name="Text Box 16"/>
            <p:cNvSpPr txBox="1">
              <a:spLocks noChangeArrowheads="1"/>
            </p:cNvSpPr>
            <p:nvPr/>
          </p:nvSpPr>
          <p:spPr bwMode="auto">
            <a:xfrm>
              <a:off x="5105400" y="2362200"/>
              <a:ext cx="1107996" cy="1446550"/>
            </a:xfrm>
            <a:prstGeom prst="rect">
              <a:avLst/>
            </a:prstGeom>
            <a:noFill/>
            <a:ln w="12700">
              <a:noFill/>
              <a:miter lim="800000"/>
              <a:headEnd/>
              <a:tailEnd/>
            </a:ln>
            <a:effectLst/>
          </p:spPr>
          <p:txBody>
            <a:bodyPr wrap="none">
              <a:spAutoFit/>
            </a:bodyPr>
            <a:lstStyle/>
            <a:p>
              <a:r>
                <a:rPr lang="en-US" sz="1600" dirty="0"/>
                <a:t>   $985,000</a:t>
              </a:r>
            </a:p>
            <a:p>
              <a:endParaRPr lang="en-US" sz="800" dirty="0"/>
            </a:p>
            <a:p>
              <a:r>
                <a:rPr lang="en-US" sz="1600" dirty="0"/>
                <a:t>$2,110,000</a:t>
              </a:r>
            </a:p>
            <a:p>
              <a:endParaRPr lang="en-US" sz="800" dirty="0"/>
            </a:p>
            <a:p>
              <a:r>
                <a:rPr lang="en-US" sz="1600" dirty="0"/>
                <a:t>   $830,000</a:t>
              </a:r>
            </a:p>
            <a:p>
              <a:endParaRPr lang="en-US" sz="800" dirty="0"/>
            </a:p>
            <a:p>
              <a:r>
                <a:rPr lang="en-US" sz="1600" dirty="0"/>
                <a:t>$2,340,000</a:t>
              </a:r>
            </a:p>
          </p:txBody>
        </p:sp>
        <p:sp>
          <p:nvSpPr>
            <p:cNvPr id="58385" name="Text Box 17"/>
            <p:cNvSpPr txBox="1">
              <a:spLocks noChangeArrowheads="1"/>
            </p:cNvSpPr>
            <p:nvPr/>
          </p:nvSpPr>
          <p:spPr bwMode="auto">
            <a:xfrm>
              <a:off x="6400800" y="2362200"/>
              <a:ext cx="1107996" cy="1446550"/>
            </a:xfrm>
            <a:prstGeom prst="rect">
              <a:avLst/>
            </a:prstGeom>
            <a:noFill/>
            <a:ln w="12700">
              <a:noFill/>
              <a:miter lim="800000"/>
              <a:headEnd/>
              <a:tailEnd/>
            </a:ln>
            <a:effectLst/>
          </p:spPr>
          <p:txBody>
            <a:bodyPr wrap="none">
              <a:spAutoFit/>
            </a:bodyPr>
            <a:lstStyle/>
            <a:p>
              <a:r>
                <a:rPr lang="en-US" sz="1600" dirty="0"/>
                <a:t>$1,030,000</a:t>
              </a:r>
            </a:p>
            <a:p>
              <a:endParaRPr lang="en-US" sz="800" dirty="0"/>
            </a:p>
            <a:p>
              <a:r>
                <a:rPr lang="en-US" sz="1600" dirty="0"/>
                <a:t>$2,040,000</a:t>
              </a:r>
            </a:p>
            <a:p>
              <a:endParaRPr lang="en-US" sz="800" dirty="0"/>
            </a:p>
            <a:p>
              <a:r>
                <a:rPr lang="en-US" sz="1600" dirty="0"/>
                <a:t>$1,060,000</a:t>
              </a:r>
            </a:p>
            <a:p>
              <a:endParaRPr lang="en-US" sz="800" dirty="0"/>
            </a:p>
            <a:p>
              <a:r>
                <a:rPr lang="en-US" sz="1600" dirty="0"/>
                <a:t>$2,160,000</a:t>
              </a:r>
            </a:p>
          </p:txBody>
        </p:sp>
        <p:sp>
          <p:nvSpPr>
            <p:cNvPr id="58386" name="Text Box 18"/>
            <p:cNvSpPr txBox="1">
              <a:spLocks noChangeArrowheads="1"/>
            </p:cNvSpPr>
            <p:nvPr/>
          </p:nvSpPr>
          <p:spPr bwMode="auto">
            <a:xfrm>
              <a:off x="7696200" y="2362200"/>
              <a:ext cx="1091966" cy="1446550"/>
            </a:xfrm>
            <a:prstGeom prst="rect">
              <a:avLst/>
            </a:prstGeom>
            <a:noFill/>
            <a:ln w="12700">
              <a:noFill/>
              <a:miter lim="800000"/>
              <a:headEnd/>
              <a:tailEnd/>
            </a:ln>
            <a:effectLst/>
          </p:spPr>
          <p:txBody>
            <a:bodyPr wrap="none">
              <a:spAutoFit/>
            </a:bodyPr>
            <a:lstStyle/>
            <a:p>
              <a:r>
                <a:rPr lang="en-US" sz="1600" dirty="0"/>
                <a:t>  ($45,000)</a:t>
              </a:r>
            </a:p>
            <a:p>
              <a:endParaRPr lang="en-US" sz="800" dirty="0"/>
            </a:p>
            <a:p>
              <a:r>
                <a:rPr lang="en-US" sz="1600" dirty="0"/>
                <a:t>   $70,000</a:t>
              </a:r>
            </a:p>
            <a:p>
              <a:endParaRPr lang="en-US" sz="800" dirty="0"/>
            </a:p>
            <a:p>
              <a:r>
                <a:rPr lang="en-US" sz="1600" dirty="0"/>
                <a:t>($230,000)</a:t>
              </a:r>
            </a:p>
            <a:p>
              <a:endParaRPr lang="en-US" sz="800" dirty="0"/>
            </a:p>
            <a:p>
              <a:r>
                <a:rPr lang="en-US" sz="1600" dirty="0"/>
                <a:t> $180,000</a:t>
              </a:r>
            </a:p>
          </p:txBody>
        </p:sp>
        <p:sp>
          <p:nvSpPr>
            <p:cNvPr id="58387" name="Line 19"/>
            <p:cNvSpPr>
              <a:spLocks noChangeShapeType="1"/>
            </p:cNvSpPr>
            <p:nvPr/>
          </p:nvSpPr>
          <p:spPr bwMode="auto">
            <a:xfrm>
              <a:off x="5257800" y="2362200"/>
              <a:ext cx="3505200" cy="0"/>
            </a:xfrm>
            <a:prstGeom prst="line">
              <a:avLst/>
            </a:prstGeom>
            <a:noFill/>
            <a:ln w="12700">
              <a:solidFill>
                <a:schemeClr val="tx1"/>
              </a:solidFill>
              <a:round/>
              <a:headEnd/>
              <a:tailEnd/>
            </a:ln>
            <a:effectLst/>
          </p:spPr>
          <p:txBody>
            <a:bodyPr/>
            <a:lstStyle/>
            <a:p>
              <a:endParaRPr lang="en-US" dirty="0"/>
            </a:p>
          </p:txBody>
        </p:sp>
        <p:sp>
          <p:nvSpPr>
            <p:cNvPr id="58388" name="Text Box 20"/>
            <p:cNvSpPr txBox="1">
              <a:spLocks noChangeArrowheads="1"/>
            </p:cNvSpPr>
            <p:nvPr/>
          </p:nvSpPr>
          <p:spPr bwMode="auto">
            <a:xfrm>
              <a:off x="5334000" y="1981200"/>
              <a:ext cx="990600" cy="336550"/>
            </a:xfrm>
            <a:prstGeom prst="rect">
              <a:avLst/>
            </a:prstGeom>
            <a:noFill/>
            <a:ln w="12700">
              <a:noFill/>
              <a:miter lim="800000"/>
              <a:headEnd/>
              <a:tailEnd/>
            </a:ln>
            <a:effectLst/>
          </p:spPr>
          <p:txBody>
            <a:bodyPr>
              <a:spAutoFit/>
            </a:bodyPr>
            <a:lstStyle/>
            <a:p>
              <a:pPr algn="ctr"/>
              <a:r>
                <a:rPr lang="en-US" sz="1600" i="1" dirty="0"/>
                <a:t>Actual</a:t>
              </a:r>
            </a:p>
          </p:txBody>
        </p:sp>
        <p:sp>
          <p:nvSpPr>
            <p:cNvPr id="58389" name="Text Box 21"/>
            <p:cNvSpPr txBox="1">
              <a:spLocks noChangeArrowheads="1"/>
            </p:cNvSpPr>
            <p:nvPr/>
          </p:nvSpPr>
          <p:spPr bwMode="auto">
            <a:xfrm>
              <a:off x="6553200" y="1981200"/>
              <a:ext cx="990600" cy="336550"/>
            </a:xfrm>
            <a:prstGeom prst="rect">
              <a:avLst/>
            </a:prstGeom>
            <a:noFill/>
            <a:ln w="12700">
              <a:noFill/>
              <a:miter lim="800000"/>
              <a:headEnd/>
              <a:tailEnd/>
            </a:ln>
            <a:effectLst/>
          </p:spPr>
          <p:txBody>
            <a:bodyPr>
              <a:spAutoFit/>
            </a:bodyPr>
            <a:lstStyle/>
            <a:p>
              <a:pPr algn="ctr"/>
              <a:r>
                <a:rPr lang="en-US" sz="1600" i="1" dirty="0"/>
                <a:t>Budget</a:t>
              </a:r>
            </a:p>
          </p:txBody>
        </p:sp>
        <p:sp>
          <p:nvSpPr>
            <p:cNvPr id="58390" name="Text Box 22"/>
            <p:cNvSpPr txBox="1">
              <a:spLocks noChangeArrowheads="1"/>
            </p:cNvSpPr>
            <p:nvPr/>
          </p:nvSpPr>
          <p:spPr bwMode="auto">
            <a:xfrm>
              <a:off x="7772400" y="1981200"/>
              <a:ext cx="990600" cy="338554"/>
            </a:xfrm>
            <a:prstGeom prst="rect">
              <a:avLst/>
            </a:prstGeom>
            <a:noFill/>
            <a:ln w="12700">
              <a:noFill/>
              <a:miter lim="800000"/>
              <a:headEnd/>
              <a:tailEnd/>
            </a:ln>
            <a:effectLst/>
          </p:spPr>
          <p:txBody>
            <a:bodyPr>
              <a:spAutoFit/>
            </a:bodyPr>
            <a:lstStyle/>
            <a:p>
              <a:pPr algn="ctr"/>
              <a:r>
                <a:rPr lang="en-US" sz="1600" i="1" dirty="0"/>
                <a:t>Variance</a:t>
              </a:r>
            </a:p>
          </p:txBody>
        </p:sp>
        <p:sp>
          <p:nvSpPr>
            <p:cNvPr id="58391" name="Text Box 23"/>
            <p:cNvSpPr txBox="1">
              <a:spLocks noChangeArrowheads="1"/>
            </p:cNvSpPr>
            <p:nvPr/>
          </p:nvSpPr>
          <p:spPr bwMode="auto">
            <a:xfrm>
              <a:off x="1371600" y="1524000"/>
              <a:ext cx="3505200" cy="336550"/>
            </a:xfrm>
            <a:prstGeom prst="rect">
              <a:avLst/>
            </a:prstGeom>
            <a:noFill/>
            <a:ln w="12700">
              <a:noFill/>
              <a:miter lim="800000"/>
              <a:headEnd/>
              <a:tailEnd/>
            </a:ln>
            <a:effectLst/>
          </p:spPr>
          <p:txBody>
            <a:bodyPr>
              <a:spAutoFit/>
            </a:bodyPr>
            <a:lstStyle/>
            <a:p>
              <a:pPr algn="ctr"/>
              <a:r>
                <a:rPr lang="en-US" sz="1600" i="1" dirty="0">
                  <a:solidFill>
                    <a:srgbClr val="000000"/>
                  </a:solidFill>
                </a:rPr>
                <a:t>Compensation Costs</a:t>
              </a:r>
            </a:p>
          </p:txBody>
        </p:sp>
        <p:sp>
          <p:nvSpPr>
            <p:cNvPr id="58392" name="Text Box 24"/>
            <p:cNvSpPr txBox="1">
              <a:spLocks noChangeArrowheads="1"/>
            </p:cNvSpPr>
            <p:nvPr/>
          </p:nvSpPr>
          <p:spPr bwMode="auto">
            <a:xfrm>
              <a:off x="5257800" y="1524000"/>
              <a:ext cx="3505200" cy="336550"/>
            </a:xfrm>
            <a:prstGeom prst="rect">
              <a:avLst/>
            </a:prstGeom>
            <a:noFill/>
            <a:ln w="12700">
              <a:noFill/>
              <a:miter lim="800000"/>
              <a:headEnd/>
              <a:tailEnd/>
            </a:ln>
            <a:effectLst/>
          </p:spPr>
          <p:txBody>
            <a:bodyPr>
              <a:spAutoFit/>
            </a:bodyPr>
            <a:lstStyle/>
            <a:p>
              <a:pPr algn="ctr"/>
              <a:r>
                <a:rPr lang="en-US" sz="1600" i="1" dirty="0">
                  <a:solidFill>
                    <a:srgbClr val="000000"/>
                  </a:solidFill>
                </a:rPr>
                <a:t>Training Costs</a:t>
              </a:r>
            </a:p>
          </p:txBody>
        </p:sp>
        <p:sp>
          <p:nvSpPr>
            <p:cNvPr id="58393" name="Text Box 25"/>
            <p:cNvSpPr txBox="1">
              <a:spLocks noChangeArrowheads="1"/>
            </p:cNvSpPr>
            <p:nvPr/>
          </p:nvSpPr>
          <p:spPr bwMode="auto">
            <a:xfrm>
              <a:off x="228600" y="4648200"/>
              <a:ext cx="931665" cy="1446550"/>
            </a:xfrm>
            <a:prstGeom prst="rect">
              <a:avLst/>
            </a:prstGeom>
            <a:noFill/>
            <a:ln w="12700">
              <a:noFill/>
              <a:miter lim="800000"/>
              <a:headEnd/>
              <a:tailEnd/>
            </a:ln>
            <a:effectLst/>
          </p:spPr>
          <p:txBody>
            <a:bodyPr wrap="none">
              <a:spAutoFit/>
            </a:bodyPr>
            <a:lstStyle/>
            <a:p>
              <a:r>
                <a:rPr lang="en-US" sz="1600" dirty="0"/>
                <a:t>Region 1</a:t>
              </a:r>
            </a:p>
            <a:p>
              <a:endParaRPr lang="en-US" sz="800" dirty="0"/>
            </a:p>
            <a:p>
              <a:r>
                <a:rPr lang="en-US" sz="1600" dirty="0"/>
                <a:t>Region 2</a:t>
              </a:r>
            </a:p>
            <a:p>
              <a:endParaRPr lang="en-US" sz="800" dirty="0"/>
            </a:p>
            <a:p>
              <a:r>
                <a:rPr lang="en-US" sz="1600" dirty="0"/>
                <a:t>Region 3</a:t>
              </a:r>
            </a:p>
            <a:p>
              <a:endParaRPr lang="en-US" sz="800" dirty="0"/>
            </a:p>
            <a:p>
              <a:r>
                <a:rPr lang="en-US" sz="1600" dirty="0"/>
                <a:t>Region 4</a:t>
              </a:r>
            </a:p>
          </p:txBody>
        </p:sp>
        <p:sp>
          <p:nvSpPr>
            <p:cNvPr id="58395" name="Text Box 27"/>
            <p:cNvSpPr txBox="1">
              <a:spLocks noChangeArrowheads="1"/>
            </p:cNvSpPr>
            <p:nvPr/>
          </p:nvSpPr>
          <p:spPr bwMode="auto">
            <a:xfrm>
              <a:off x="1371600" y="4191000"/>
              <a:ext cx="1430200" cy="338554"/>
            </a:xfrm>
            <a:prstGeom prst="rect">
              <a:avLst/>
            </a:prstGeom>
            <a:noFill/>
            <a:ln w="12700">
              <a:noFill/>
              <a:miter lim="800000"/>
              <a:headEnd/>
              <a:tailEnd/>
            </a:ln>
            <a:effectLst/>
          </p:spPr>
          <p:txBody>
            <a:bodyPr wrap="none">
              <a:spAutoFit/>
            </a:bodyPr>
            <a:lstStyle/>
            <a:p>
              <a:r>
                <a:rPr lang="en-US" sz="1600" i="1" dirty="0"/>
                <a:t>Actual % Sales</a:t>
              </a:r>
            </a:p>
          </p:txBody>
        </p:sp>
        <p:sp>
          <p:nvSpPr>
            <p:cNvPr id="58396" name="Text Box 28"/>
            <p:cNvSpPr txBox="1">
              <a:spLocks noChangeArrowheads="1"/>
            </p:cNvSpPr>
            <p:nvPr/>
          </p:nvSpPr>
          <p:spPr bwMode="auto">
            <a:xfrm>
              <a:off x="2971800" y="4191000"/>
              <a:ext cx="1669047" cy="338554"/>
            </a:xfrm>
            <a:prstGeom prst="rect">
              <a:avLst/>
            </a:prstGeom>
            <a:noFill/>
            <a:ln w="12700">
              <a:noFill/>
              <a:miter lim="800000"/>
              <a:headEnd/>
              <a:tailEnd/>
            </a:ln>
            <a:effectLst/>
          </p:spPr>
          <p:txBody>
            <a:bodyPr wrap="none">
              <a:spAutoFit/>
            </a:bodyPr>
            <a:lstStyle/>
            <a:p>
              <a:r>
                <a:rPr lang="en-US" sz="1600" i="1" dirty="0"/>
                <a:t>Budgeted % Sales</a:t>
              </a:r>
            </a:p>
          </p:txBody>
        </p:sp>
        <p:sp>
          <p:nvSpPr>
            <p:cNvPr id="58397" name="Line 29"/>
            <p:cNvSpPr>
              <a:spLocks noChangeShapeType="1"/>
            </p:cNvSpPr>
            <p:nvPr/>
          </p:nvSpPr>
          <p:spPr bwMode="auto">
            <a:xfrm>
              <a:off x="1447800" y="4572000"/>
              <a:ext cx="1447800" cy="0"/>
            </a:xfrm>
            <a:prstGeom prst="line">
              <a:avLst/>
            </a:prstGeom>
            <a:noFill/>
            <a:ln w="12700">
              <a:solidFill>
                <a:schemeClr val="tx1"/>
              </a:solidFill>
              <a:round/>
              <a:headEnd/>
              <a:tailEnd/>
            </a:ln>
            <a:effectLst/>
          </p:spPr>
          <p:txBody>
            <a:bodyPr/>
            <a:lstStyle/>
            <a:p>
              <a:endParaRPr lang="en-US" dirty="0"/>
            </a:p>
          </p:txBody>
        </p:sp>
        <p:sp>
          <p:nvSpPr>
            <p:cNvPr id="58398" name="Line 30"/>
            <p:cNvSpPr>
              <a:spLocks noChangeShapeType="1"/>
            </p:cNvSpPr>
            <p:nvPr/>
          </p:nvSpPr>
          <p:spPr bwMode="auto">
            <a:xfrm>
              <a:off x="3048000" y="4572000"/>
              <a:ext cx="1752600" cy="0"/>
            </a:xfrm>
            <a:prstGeom prst="line">
              <a:avLst/>
            </a:prstGeom>
            <a:noFill/>
            <a:ln w="12700">
              <a:solidFill>
                <a:schemeClr val="tx1"/>
              </a:solidFill>
              <a:round/>
              <a:headEnd/>
              <a:tailEnd/>
            </a:ln>
            <a:effectLst/>
          </p:spPr>
          <p:txBody>
            <a:bodyPr/>
            <a:lstStyle/>
            <a:p>
              <a:endParaRPr lang="en-US" dirty="0"/>
            </a:p>
          </p:txBody>
        </p:sp>
        <p:sp>
          <p:nvSpPr>
            <p:cNvPr id="58399" name="Text Box 31"/>
            <p:cNvSpPr txBox="1">
              <a:spLocks noChangeArrowheads="1"/>
            </p:cNvSpPr>
            <p:nvPr/>
          </p:nvSpPr>
          <p:spPr bwMode="auto">
            <a:xfrm>
              <a:off x="1905000" y="4648200"/>
              <a:ext cx="441146" cy="1446550"/>
            </a:xfrm>
            <a:prstGeom prst="rect">
              <a:avLst/>
            </a:prstGeom>
            <a:noFill/>
            <a:ln w="12700">
              <a:noFill/>
              <a:miter lim="800000"/>
              <a:headEnd/>
              <a:tailEnd/>
            </a:ln>
            <a:effectLst/>
          </p:spPr>
          <p:txBody>
            <a:bodyPr wrap="none">
              <a:spAutoFit/>
            </a:bodyPr>
            <a:lstStyle/>
            <a:p>
              <a:r>
                <a:rPr lang="en-US" sz="1600" dirty="0"/>
                <a:t>6.1</a:t>
              </a:r>
            </a:p>
            <a:p>
              <a:endParaRPr lang="en-US" sz="800" dirty="0"/>
            </a:p>
            <a:p>
              <a:r>
                <a:rPr lang="en-US" sz="1600" dirty="0"/>
                <a:t>5.8</a:t>
              </a:r>
            </a:p>
            <a:p>
              <a:endParaRPr lang="en-US" sz="800" dirty="0"/>
            </a:p>
            <a:p>
              <a:r>
                <a:rPr lang="en-US" sz="1600" dirty="0"/>
                <a:t>5.4</a:t>
              </a:r>
            </a:p>
            <a:p>
              <a:endParaRPr lang="en-US" sz="800" dirty="0"/>
            </a:p>
            <a:p>
              <a:r>
                <a:rPr lang="en-US" sz="1600" dirty="0"/>
                <a:t>6.0</a:t>
              </a:r>
            </a:p>
          </p:txBody>
        </p:sp>
        <p:sp>
          <p:nvSpPr>
            <p:cNvPr id="58400" name="Text Box 32"/>
            <p:cNvSpPr txBox="1">
              <a:spLocks noChangeArrowheads="1"/>
            </p:cNvSpPr>
            <p:nvPr/>
          </p:nvSpPr>
          <p:spPr bwMode="auto">
            <a:xfrm>
              <a:off x="3581400" y="4648200"/>
              <a:ext cx="441146" cy="1446550"/>
            </a:xfrm>
            <a:prstGeom prst="rect">
              <a:avLst/>
            </a:prstGeom>
            <a:noFill/>
            <a:ln w="12700">
              <a:noFill/>
              <a:miter lim="800000"/>
              <a:headEnd/>
              <a:tailEnd/>
            </a:ln>
            <a:effectLst/>
          </p:spPr>
          <p:txBody>
            <a:bodyPr wrap="none">
              <a:spAutoFit/>
            </a:bodyPr>
            <a:lstStyle/>
            <a:p>
              <a:r>
                <a:rPr lang="en-US" sz="1600" dirty="0"/>
                <a:t>6.0</a:t>
              </a:r>
            </a:p>
            <a:p>
              <a:endParaRPr lang="en-US" sz="800" dirty="0"/>
            </a:p>
            <a:p>
              <a:r>
                <a:rPr lang="en-US" sz="1600" dirty="0"/>
                <a:t>6.0</a:t>
              </a:r>
            </a:p>
            <a:p>
              <a:endParaRPr lang="en-US" sz="800" dirty="0"/>
            </a:p>
            <a:p>
              <a:r>
                <a:rPr lang="en-US" sz="1600" dirty="0"/>
                <a:t>6.0</a:t>
              </a:r>
            </a:p>
            <a:p>
              <a:endParaRPr lang="en-US" sz="800" dirty="0"/>
            </a:p>
            <a:p>
              <a:r>
                <a:rPr lang="en-US" sz="1600" dirty="0"/>
                <a:t>6.0</a:t>
              </a:r>
            </a:p>
          </p:txBody>
        </p:sp>
        <p:sp>
          <p:nvSpPr>
            <p:cNvPr id="58402" name="Text Box 34"/>
            <p:cNvSpPr txBox="1">
              <a:spLocks noChangeArrowheads="1"/>
            </p:cNvSpPr>
            <p:nvPr/>
          </p:nvSpPr>
          <p:spPr bwMode="auto">
            <a:xfrm>
              <a:off x="5334000" y="4191000"/>
              <a:ext cx="1430200" cy="338554"/>
            </a:xfrm>
            <a:prstGeom prst="rect">
              <a:avLst/>
            </a:prstGeom>
            <a:noFill/>
            <a:ln w="12700">
              <a:noFill/>
              <a:miter lim="800000"/>
              <a:headEnd/>
              <a:tailEnd/>
            </a:ln>
            <a:effectLst/>
          </p:spPr>
          <p:txBody>
            <a:bodyPr wrap="none">
              <a:spAutoFit/>
            </a:bodyPr>
            <a:lstStyle/>
            <a:p>
              <a:r>
                <a:rPr lang="en-US" sz="1600" i="1" dirty="0"/>
                <a:t>Actual % Sales</a:t>
              </a:r>
            </a:p>
          </p:txBody>
        </p:sp>
        <p:sp>
          <p:nvSpPr>
            <p:cNvPr id="58403" name="Text Box 35"/>
            <p:cNvSpPr txBox="1">
              <a:spLocks noChangeArrowheads="1"/>
            </p:cNvSpPr>
            <p:nvPr/>
          </p:nvSpPr>
          <p:spPr bwMode="auto">
            <a:xfrm>
              <a:off x="6934200" y="4191000"/>
              <a:ext cx="1669047" cy="338554"/>
            </a:xfrm>
            <a:prstGeom prst="rect">
              <a:avLst/>
            </a:prstGeom>
            <a:noFill/>
            <a:ln w="12700">
              <a:noFill/>
              <a:miter lim="800000"/>
              <a:headEnd/>
              <a:tailEnd/>
            </a:ln>
            <a:effectLst/>
          </p:spPr>
          <p:txBody>
            <a:bodyPr wrap="none">
              <a:spAutoFit/>
            </a:bodyPr>
            <a:lstStyle/>
            <a:p>
              <a:r>
                <a:rPr lang="en-US" sz="1600" i="1" dirty="0"/>
                <a:t>Budgeted % Sales</a:t>
              </a:r>
            </a:p>
          </p:txBody>
        </p:sp>
        <p:sp>
          <p:nvSpPr>
            <p:cNvPr id="58404" name="Line 36"/>
            <p:cNvSpPr>
              <a:spLocks noChangeShapeType="1"/>
            </p:cNvSpPr>
            <p:nvPr/>
          </p:nvSpPr>
          <p:spPr bwMode="auto">
            <a:xfrm>
              <a:off x="5410200" y="4572000"/>
              <a:ext cx="1447800" cy="0"/>
            </a:xfrm>
            <a:prstGeom prst="line">
              <a:avLst/>
            </a:prstGeom>
            <a:noFill/>
            <a:ln w="12700">
              <a:solidFill>
                <a:schemeClr val="tx1"/>
              </a:solidFill>
              <a:round/>
              <a:headEnd/>
              <a:tailEnd/>
            </a:ln>
            <a:effectLst/>
          </p:spPr>
          <p:txBody>
            <a:bodyPr/>
            <a:lstStyle/>
            <a:p>
              <a:endParaRPr lang="en-US" dirty="0"/>
            </a:p>
          </p:txBody>
        </p:sp>
        <p:sp>
          <p:nvSpPr>
            <p:cNvPr id="58405" name="Line 37"/>
            <p:cNvSpPr>
              <a:spLocks noChangeShapeType="1"/>
            </p:cNvSpPr>
            <p:nvPr/>
          </p:nvSpPr>
          <p:spPr bwMode="auto">
            <a:xfrm>
              <a:off x="7010400" y="4572000"/>
              <a:ext cx="1752600" cy="0"/>
            </a:xfrm>
            <a:prstGeom prst="line">
              <a:avLst/>
            </a:prstGeom>
            <a:noFill/>
            <a:ln w="12700">
              <a:solidFill>
                <a:schemeClr val="tx1"/>
              </a:solidFill>
              <a:round/>
              <a:headEnd/>
              <a:tailEnd/>
            </a:ln>
            <a:effectLst/>
          </p:spPr>
          <p:txBody>
            <a:bodyPr/>
            <a:lstStyle/>
            <a:p>
              <a:endParaRPr lang="en-US" dirty="0"/>
            </a:p>
          </p:txBody>
        </p:sp>
        <p:sp>
          <p:nvSpPr>
            <p:cNvPr id="58406" name="Text Box 38"/>
            <p:cNvSpPr txBox="1">
              <a:spLocks noChangeArrowheads="1"/>
            </p:cNvSpPr>
            <p:nvPr/>
          </p:nvSpPr>
          <p:spPr bwMode="auto">
            <a:xfrm>
              <a:off x="5867400" y="4648200"/>
              <a:ext cx="441146" cy="1446550"/>
            </a:xfrm>
            <a:prstGeom prst="rect">
              <a:avLst/>
            </a:prstGeom>
            <a:noFill/>
            <a:ln w="12700">
              <a:noFill/>
              <a:miter lim="800000"/>
              <a:headEnd/>
              <a:tailEnd/>
            </a:ln>
            <a:effectLst/>
          </p:spPr>
          <p:txBody>
            <a:bodyPr wrap="none">
              <a:spAutoFit/>
            </a:bodyPr>
            <a:lstStyle/>
            <a:p>
              <a:r>
                <a:rPr lang="en-US" sz="1600" dirty="0"/>
                <a:t>2.9</a:t>
              </a:r>
            </a:p>
            <a:p>
              <a:endParaRPr lang="en-US" sz="800" dirty="0"/>
            </a:p>
            <a:p>
              <a:r>
                <a:rPr lang="en-US" sz="1600" dirty="0"/>
                <a:t>3.1</a:t>
              </a:r>
            </a:p>
            <a:p>
              <a:endParaRPr lang="en-US" sz="800" dirty="0"/>
            </a:p>
            <a:p>
              <a:r>
                <a:rPr lang="en-US" sz="1600" dirty="0"/>
                <a:t>2.6</a:t>
              </a:r>
            </a:p>
            <a:p>
              <a:endParaRPr lang="en-US" sz="800" dirty="0"/>
            </a:p>
            <a:p>
              <a:r>
                <a:rPr lang="en-US" sz="1600" dirty="0"/>
                <a:t>3.1</a:t>
              </a:r>
            </a:p>
          </p:txBody>
        </p:sp>
        <p:sp>
          <p:nvSpPr>
            <p:cNvPr id="58407" name="Text Box 39"/>
            <p:cNvSpPr txBox="1">
              <a:spLocks noChangeArrowheads="1"/>
            </p:cNvSpPr>
            <p:nvPr/>
          </p:nvSpPr>
          <p:spPr bwMode="auto">
            <a:xfrm>
              <a:off x="7543800" y="4648200"/>
              <a:ext cx="441146" cy="1446550"/>
            </a:xfrm>
            <a:prstGeom prst="rect">
              <a:avLst/>
            </a:prstGeom>
            <a:noFill/>
            <a:ln w="12700">
              <a:noFill/>
              <a:miter lim="800000"/>
              <a:headEnd/>
              <a:tailEnd/>
            </a:ln>
            <a:effectLst/>
          </p:spPr>
          <p:txBody>
            <a:bodyPr wrap="none">
              <a:spAutoFit/>
            </a:bodyPr>
            <a:lstStyle/>
            <a:p>
              <a:r>
                <a:rPr lang="en-US" sz="1600" dirty="0"/>
                <a:t>3.0</a:t>
              </a:r>
            </a:p>
            <a:p>
              <a:endParaRPr lang="en-US" sz="800" dirty="0"/>
            </a:p>
            <a:p>
              <a:r>
                <a:rPr lang="en-US" sz="1600" dirty="0"/>
                <a:t>3.0</a:t>
              </a:r>
            </a:p>
            <a:p>
              <a:endParaRPr lang="en-US" sz="800" dirty="0"/>
            </a:p>
            <a:p>
              <a:r>
                <a:rPr lang="en-US" sz="1600" dirty="0"/>
                <a:t>3.0</a:t>
              </a:r>
            </a:p>
            <a:p>
              <a:endParaRPr lang="en-US" sz="800" dirty="0"/>
            </a:p>
            <a:p>
              <a:r>
                <a:rPr lang="en-US" sz="1600" dirty="0"/>
                <a:t>3.0</a:t>
              </a:r>
            </a:p>
          </p:txBody>
        </p:sp>
      </p:grpSp>
      <p:sp>
        <p:nvSpPr>
          <p:cNvPr id="2" name="Arrow: Right 1">
            <a:extLst>
              <a:ext uri="{FF2B5EF4-FFF2-40B4-BE49-F238E27FC236}">
                <a16:creationId xmlns:a16="http://schemas.microsoft.com/office/drawing/2014/main" id="{93133596-A877-45EC-B5E7-BBE9CD499F18}"/>
              </a:ext>
            </a:extLst>
          </p:cNvPr>
          <p:cNvSpPr/>
          <p:nvPr/>
        </p:nvSpPr>
        <p:spPr bwMode="auto">
          <a:xfrm>
            <a:off x="678447" y="4305300"/>
            <a:ext cx="481818" cy="266693"/>
          </a:xfrm>
          <a:prstGeom prst="right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Tree>
    <p:extLst>
      <p:ext uri="{BB962C8B-B14F-4D97-AF65-F5344CB8AC3E}">
        <p14:creationId xmlns:p14="http://schemas.microsoft.com/office/powerpoint/2010/main" val="303306238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15A61FA-0021-4CAA-9A7F-70AE07D44449}"/>
              </a:ext>
            </a:extLst>
          </p:cNvPr>
          <p:cNvSpPr/>
          <p:nvPr/>
        </p:nvSpPr>
        <p:spPr bwMode="auto">
          <a:xfrm>
            <a:off x="0" y="6400800"/>
            <a:ext cx="20574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 name="Title 1">
            <a:extLst>
              <a:ext uri="{FF2B5EF4-FFF2-40B4-BE49-F238E27FC236}">
                <a16:creationId xmlns:a16="http://schemas.microsoft.com/office/drawing/2014/main" id="{E511AC50-7648-4AD2-8127-B3DABE429248}"/>
              </a:ext>
            </a:extLst>
          </p:cNvPr>
          <p:cNvSpPr>
            <a:spLocks noGrp="1"/>
          </p:cNvSpPr>
          <p:nvPr>
            <p:ph type="title"/>
          </p:nvPr>
        </p:nvSpPr>
        <p:spPr>
          <a:xfrm>
            <a:off x="266699" y="76200"/>
            <a:ext cx="8610600" cy="1066800"/>
          </a:xfrm>
          <a:solidFill>
            <a:schemeClr val="bg2">
              <a:lumMod val="60000"/>
              <a:lumOff val="40000"/>
            </a:schemeClr>
          </a:solidFill>
        </p:spPr>
        <p:txBody>
          <a:bodyPr/>
          <a:lstStyle/>
          <a:p>
            <a:r>
              <a:rPr lang="en-US" dirty="0"/>
              <a:t>An Ethical Dilemma</a:t>
            </a:r>
          </a:p>
        </p:txBody>
      </p:sp>
      <p:sp>
        <p:nvSpPr>
          <p:cNvPr id="3" name="Content Placeholder 2">
            <a:extLst>
              <a:ext uri="{FF2B5EF4-FFF2-40B4-BE49-F238E27FC236}">
                <a16:creationId xmlns:a16="http://schemas.microsoft.com/office/drawing/2014/main" id="{D41BA51B-2A62-4E36-9A9C-4A4BD3322962}"/>
              </a:ext>
            </a:extLst>
          </p:cNvPr>
          <p:cNvSpPr>
            <a:spLocks noGrp="1"/>
          </p:cNvSpPr>
          <p:nvPr>
            <p:ph idx="1"/>
          </p:nvPr>
        </p:nvSpPr>
        <p:spPr>
          <a:xfrm>
            <a:off x="85668" y="914400"/>
            <a:ext cx="8972663" cy="4233862"/>
          </a:xfrm>
        </p:spPr>
        <p:txBody>
          <a:bodyPr/>
          <a:lstStyle/>
          <a:p>
            <a:pPr marL="0" marR="0" indent="0">
              <a:spcBef>
                <a:spcPts val="0"/>
              </a:spcBef>
              <a:spcAft>
                <a:spcPts val="0"/>
              </a:spcAft>
              <a:buNone/>
            </a:pPr>
            <a:endParaRPr lang="en-US" sz="17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AKKO Industrial Tools has just announced the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company’s new sales performance incentive program for the coming year</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As designed, this program will offer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opportunities for significant monetary bonuses to each of the company’s 12 regional sales organizations </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based on the percentage by which each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individual region’s actual sales revenues exceed their budgeted revenues for the year</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700" dirty="0" err="1">
                <a:effectLst/>
                <a:latin typeface="Times New Roman" panose="02020603050405020304" pitchFamily="18" charset="0"/>
                <a:ea typeface="Calibri" panose="020F0502020204030204" pitchFamily="34" charset="0"/>
                <a:cs typeface="Times New Roman" panose="02020603050405020304" pitchFamily="18" charset="0"/>
              </a:rPr>
              <a:t>Cailen</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Wade, sales manager for the Southwest Region, is highly competitive and determined that her region will win the contest.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Due to substantial increases in the number of large commercial construction projects planned and announced for several metropolitan areas in the Southwest Region, </a:t>
            </a:r>
            <a:r>
              <a:rPr lang="en-US" sz="1700" b="1" dirty="0" err="1">
                <a:effectLst/>
                <a:latin typeface="Times New Roman" panose="02020603050405020304" pitchFamily="18" charset="0"/>
                <a:ea typeface="Calibri" panose="020F0502020204030204" pitchFamily="34" charset="0"/>
                <a:cs typeface="Times New Roman" panose="02020603050405020304" pitchFamily="18" charset="0"/>
              </a:rPr>
              <a:t>Cailen’s</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 sales team has potential for exceptional growth in the coming year</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However, </a:t>
            </a:r>
            <a:r>
              <a:rPr lang="en-US" sz="1700" dirty="0" err="1">
                <a:effectLst/>
                <a:latin typeface="Times New Roman" panose="02020603050405020304" pitchFamily="18" charset="0"/>
                <a:ea typeface="Calibri" panose="020F0502020204030204" pitchFamily="34" charset="0"/>
                <a:cs typeface="Times New Roman" panose="02020603050405020304" pitchFamily="18" charset="0"/>
              </a:rPr>
              <a:t>Cailen</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and her team are considering a plan to better assure their region wins the incentive bonus.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Their plan is to establish a sales budget for the next year that understates the forecasted sales in a way that will make the region’s year-end sales performance look substantially better than budgeted</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and thus provide the Southwest Region team with a stronger chance of winning the incentive contest. What should </a:t>
            </a:r>
            <a:r>
              <a:rPr lang="en-US" sz="1700" dirty="0" err="1">
                <a:effectLst/>
                <a:latin typeface="Times New Roman" panose="02020603050405020304" pitchFamily="18" charset="0"/>
                <a:ea typeface="Calibri" panose="020F0502020204030204" pitchFamily="34" charset="0"/>
                <a:cs typeface="Times New Roman" panose="02020603050405020304" pitchFamily="18" charset="0"/>
              </a:rPr>
              <a:t>Cailen</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do?</a:t>
            </a:r>
          </a:p>
          <a:p>
            <a:pPr marL="0" marR="0" indent="0">
              <a:spcBef>
                <a:spcPts val="0"/>
              </a:spcBef>
              <a:spcAft>
                <a:spcPts val="0"/>
              </a:spcAft>
              <a:buNone/>
            </a:pP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mj-lt"/>
              <a:buAutoNum type="alphaLcPeriod"/>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Continue with the plan to establish a sales budget for the next year that understates forecasted sales in a way that will make her region’s performance look substantially better.</a:t>
            </a:r>
          </a:p>
          <a:p>
            <a:pPr marL="342900" marR="0" lvl="0" indent="-342900">
              <a:spcBef>
                <a:spcPts val="0"/>
              </a:spcBef>
              <a:spcAft>
                <a:spcPts val="0"/>
              </a:spcAft>
              <a:buFont typeface="+mj-lt"/>
              <a:buAutoNum type="alphaLcPeriod"/>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Establish a sales budget based on an acceptable increase over the preceding year, but one that does not unrealistically count the planned increases in construction announced for the region.</a:t>
            </a:r>
          </a:p>
          <a:p>
            <a:pPr marL="342900" marR="0" lvl="0" indent="-342900">
              <a:spcBef>
                <a:spcPts val="0"/>
              </a:spcBef>
              <a:spcAft>
                <a:spcPts val="0"/>
              </a:spcAft>
              <a:buFont typeface="+mj-lt"/>
              <a:buAutoNum type="alphaLcPeriod"/>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Establish a sales budget based on the total expected sales that each of her salespeople forecasts for their individual territories.</a:t>
            </a:r>
          </a:p>
          <a:p>
            <a:pPr marL="342900" marR="0" lvl="0" indent="-342900">
              <a:spcBef>
                <a:spcPts val="0"/>
              </a:spcBef>
              <a:spcAft>
                <a:spcPts val="0"/>
              </a:spcAft>
              <a:buFont typeface="+mj-lt"/>
              <a:buAutoNum type="alphaLcPeriod"/>
            </a:pPr>
            <a:r>
              <a:rPr lang="en-US" sz="1700" dirty="0">
                <a:latin typeface="Times New Roman" panose="02020603050405020304" pitchFamily="18" charset="0"/>
                <a:ea typeface="Calibri" panose="020F0502020204030204" pitchFamily="34" charset="0"/>
                <a:cs typeface="Times New Roman" panose="02020603050405020304" pitchFamily="18" charset="0"/>
              </a:rPr>
              <a:t>Another option not mentioned here.</a:t>
            </a: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p>
          <a:p>
            <a:endParaRPr lang="en-US" sz="1800" dirty="0">
              <a:solidFill>
                <a:srgbClr val="0070C0"/>
              </a:solidFill>
            </a:endParaRPr>
          </a:p>
        </p:txBody>
      </p:sp>
    </p:spTree>
    <p:extLst>
      <p:ext uri="{BB962C8B-B14F-4D97-AF65-F5344CB8AC3E}">
        <p14:creationId xmlns:p14="http://schemas.microsoft.com/office/powerpoint/2010/main" val="1769708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6041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dirty="0"/>
          </a:p>
        </p:txBody>
      </p:sp>
      <p:sp>
        <p:nvSpPr>
          <p:cNvPr id="60420" name="Rectangle 4"/>
          <p:cNvSpPr>
            <a:spLocks noGrp="1" noChangeArrowheads="1"/>
          </p:cNvSpPr>
          <p:nvPr>
            <p:ph type="title"/>
          </p:nvPr>
        </p:nvSpPr>
        <p:spPr>
          <a:solidFill>
            <a:schemeClr val="bg2">
              <a:lumMod val="60000"/>
              <a:lumOff val="40000"/>
            </a:schemeClr>
          </a:solidFill>
          <a:ln/>
        </p:spPr>
        <p:txBody>
          <a:bodyPr/>
          <a:lstStyle/>
          <a:p>
            <a:r>
              <a:rPr lang="en-US" dirty="0"/>
              <a:t>Profitability Analysis</a:t>
            </a:r>
          </a:p>
        </p:txBody>
      </p:sp>
      <p:sp>
        <p:nvSpPr>
          <p:cNvPr id="60421" name="Rectangle 5"/>
          <p:cNvSpPr>
            <a:spLocks noGrp="1" noChangeArrowheads="1"/>
          </p:cNvSpPr>
          <p:nvPr>
            <p:ph idx="1"/>
          </p:nvPr>
        </p:nvSpPr>
        <p:spPr>
          <a:xfrm>
            <a:off x="304800" y="1676400"/>
            <a:ext cx="8358188" cy="2481262"/>
          </a:xfrm>
        </p:spPr>
        <p:txBody>
          <a:bodyPr/>
          <a:lstStyle/>
          <a:p>
            <a:pPr marL="0" indent="0">
              <a:buFontTx/>
              <a:buNone/>
            </a:pPr>
            <a:r>
              <a:rPr lang="en-US" sz="2400" dirty="0"/>
              <a:t>Analyzing the profitability of </a:t>
            </a:r>
            <a:r>
              <a:rPr lang="en-US" sz="2400" b="1" i="1" dirty="0"/>
              <a:t>different organizational levels </a:t>
            </a:r>
            <a:r>
              <a:rPr lang="en-US" sz="2400" dirty="0"/>
              <a:t>of </a:t>
            </a:r>
            <a:r>
              <a:rPr lang="en-US" sz="2400" b="1" i="1" dirty="0"/>
              <a:t>different types of sales</a:t>
            </a:r>
            <a:r>
              <a:rPr lang="en-US" sz="2400" dirty="0"/>
              <a:t>.</a:t>
            </a:r>
          </a:p>
          <a:p>
            <a:pPr marL="1036638" lvl="1" indent="-457200">
              <a:buFontTx/>
              <a:buChar char="•"/>
            </a:pPr>
            <a:r>
              <a:rPr lang="en-US" sz="2200" dirty="0"/>
              <a:t>Income Statement Analysis</a:t>
            </a:r>
          </a:p>
          <a:p>
            <a:pPr marL="1036638" lvl="1" indent="-457200">
              <a:buFontTx/>
              <a:buChar char="•"/>
            </a:pPr>
            <a:r>
              <a:rPr lang="en-US" sz="2200" dirty="0"/>
              <a:t>Activity-Based Costing</a:t>
            </a:r>
          </a:p>
          <a:p>
            <a:pPr marL="1036638" lvl="1" indent="-457200">
              <a:buFontTx/>
              <a:buChar char="•"/>
            </a:pPr>
            <a:r>
              <a:rPr lang="en-US" sz="2200" dirty="0"/>
              <a:t>Return on Assets </a:t>
            </a:r>
            <a:br>
              <a:rPr lang="en-US" sz="2200" dirty="0"/>
            </a:br>
            <a:r>
              <a:rPr lang="en-US" sz="2200" dirty="0"/>
              <a:t>Managed</a:t>
            </a:r>
          </a:p>
        </p:txBody>
      </p:sp>
      <p:pic>
        <p:nvPicPr>
          <p:cNvPr id="4098" name="Picture 2" descr="Free photo discussing statistics">
            <a:extLst>
              <a:ext uri="{FF2B5EF4-FFF2-40B4-BE49-F238E27FC236}">
                <a16:creationId xmlns:a16="http://schemas.microsoft.com/office/drawing/2014/main" id="{36AFAC2F-1974-D368-2B6C-61D35D700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4355" y="3425577"/>
            <a:ext cx="4609337" cy="3077800"/>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154946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86021" name="Rectangle 5"/>
          <p:cNvSpPr>
            <a:spLocks noGrp="1" noChangeArrowheads="1"/>
          </p:cNvSpPr>
          <p:nvPr>
            <p:ph type="title"/>
          </p:nvPr>
        </p:nvSpPr>
        <p:spPr>
          <a:solidFill>
            <a:schemeClr val="bg2">
              <a:lumMod val="60000"/>
              <a:lumOff val="40000"/>
            </a:schemeClr>
          </a:solidFill>
          <a:ln/>
        </p:spPr>
        <p:txBody>
          <a:bodyPr/>
          <a:lstStyle/>
          <a:p>
            <a:r>
              <a:rPr lang="en-US" sz="3200" dirty="0"/>
              <a:t>Profitability Analysis: </a:t>
            </a:r>
            <a:br>
              <a:rPr lang="en-US" sz="3200" dirty="0"/>
            </a:br>
            <a:r>
              <a:rPr lang="en-US" sz="3200" b="1" dirty="0"/>
              <a:t>Income Statement Analysis</a:t>
            </a:r>
          </a:p>
        </p:txBody>
      </p:sp>
      <p:sp>
        <p:nvSpPr>
          <p:cNvPr id="86022" name="Rectangle 6"/>
          <p:cNvSpPr>
            <a:spLocks noGrp="1" noChangeArrowheads="1"/>
          </p:cNvSpPr>
          <p:nvPr>
            <p:ph idx="1"/>
          </p:nvPr>
        </p:nvSpPr>
        <p:spPr>
          <a:xfrm>
            <a:off x="457200" y="1752600"/>
            <a:ext cx="8205788" cy="4233862"/>
          </a:xfrm>
        </p:spPr>
        <p:txBody>
          <a:bodyPr/>
          <a:lstStyle/>
          <a:p>
            <a:r>
              <a:rPr lang="en-US" b="1" dirty="0">
                <a:solidFill>
                  <a:srgbClr val="FF0000"/>
                </a:solidFill>
              </a:rPr>
              <a:t>Full Cost Approach</a:t>
            </a:r>
            <a:r>
              <a:rPr lang="en-US" dirty="0">
                <a:solidFill>
                  <a:srgbClr val="FF0000"/>
                </a:solidFill>
              </a:rPr>
              <a:t>:</a:t>
            </a:r>
            <a:r>
              <a:rPr lang="en-US" dirty="0">
                <a:solidFill>
                  <a:schemeClr val="accent3"/>
                </a:solidFill>
              </a:rPr>
              <a:t>  </a:t>
            </a:r>
            <a:r>
              <a:rPr lang="en-US" dirty="0"/>
              <a:t>Allocate shared costs to individual units based on some type of cost allocation procedure.</a:t>
            </a:r>
          </a:p>
          <a:p>
            <a:endParaRPr lang="en-US" sz="800" dirty="0"/>
          </a:p>
          <a:p>
            <a:endParaRPr lang="en-US" sz="800" dirty="0"/>
          </a:p>
          <a:p>
            <a:endParaRPr lang="en-US" sz="800" dirty="0"/>
          </a:p>
          <a:p>
            <a:r>
              <a:rPr lang="en-US" b="1" dirty="0">
                <a:solidFill>
                  <a:srgbClr val="FF0000"/>
                </a:solidFill>
              </a:rPr>
              <a:t>Contribution Approach</a:t>
            </a:r>
            <a:r>
              <a:rPr lang="en-US" dirty="0">
                <a:solidFill>
                  <a:srgbClr val="FF0000"/>
                </a:solidFill>
              </a:rPr>
              <a:t>:  </a:t>
            </a:r>
            <a:r>
              <a:rPr lang="en-US" dirty="0"/>
              <a:t>Include </a:t>
            </a:r>
            <a:r>
              <a:rPr lang="en-US" u="sng" dirty="0"/>
              <a:t>only</a:t>
            </a:r>
            <a:r>
              <a:rPr lang="en-US" dirty="0"/>
              <a:t> direct costs in the profitability analysis; indirect or shared costs are </a:t>
            </a:r>
            <a:r>
              <a:rPr lang="en-US" u="sng" dirty="0"/>
              <a:t>not</a:t>
            </a:r>
            <a:r>
              <a:rPr lang="en-US" dirty="0"/>
              <a:t> included.</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44847" y="4027395"/>
            <a:ext cx="3146164" cy="2090036"/>
          </a:xfrm>
          <a:prstGeom prst="roundRect">
            <a:avLst>
              <a:gd name="adj" fmla="val 8434"/>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2366622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0AD54A-9A51-42E5-9024-8912C4656316}"/>
              </a:ext>
            </a:extLst>
          </p:cNvPr>
          <p:cNvSpPr/>
          <p:nvPr/>
        </p:nvSpPr>
        <p:spPr bwMode="auto">
          <a:xfrm>
            <a:off x="0" y="6400800"/>
            <a:ext cx="2162816"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62466" name="Rectangle 2"/>
          <p:cNvSpPr>
            <a:spLocks noGrp="1" noChangeArrowheads="1"/>
          </p:cNvSpPr>
          <p:nvPr>
            <p:ph type="title"/>
          </p:nvPr>
        </p:nvSpPr>
        <p:spPr>
          <a:xfrm>
            <a:off x="685800" y="190501"/>
            <a:ext cx="7772400" cy="1143000"/>
          </a:xfrm>
          <a:solidFill>
            <a:schemeClr val="bg2">
              <a:lumMod val="60000"/>
              <a:lumOff val="40000"/>
            </a:schemeClr>
          </a:solidFill>
        </p:spPr>
        <p:txBody>
          <a:bodyPr/>
          <a:lstStyle/>
          <a:p>
            <a:r>
              <a:rPr lang="en-US" dirty="0"/>
              <a:t>Profitability Analysis Example</a:t>
            </a:r>
          </a:p>
        </p:txBody>
      </p:sp>
      <p:grpSp>
        <p:nvGrpSpPr>
          <p:cNvPr id="62467" name="Group 3"/>
          <p:cNvGrpSpPr>
            <a:grpSpLocks/>
          </p:cNvGrpSpPr>
          <p:nvPr/>
        </p:nvGrpSpPr>
        <p:grpSpPr bwMode="auto">
          <a:xfrm>
            <a:off x="76200" y="1676400"/>
            <a:ext cx="9067800" cy="3962400"/>
            <a:chOff x="233" y="1056"/>
            <a:chExt cx="5383" cy="2246"/>
          </a:xfrm>
        </p:grpSpPr>
        <p:grpSp>
          <p:nvGrpSpPr>
            <p:cNvPr id="62468" name="Group 4"/>
            <p:cNvGrpSpPr>
              <a:grpSpLocks/>
            </p:cNvGrpSpPr>
            <p:nvPr/>
          </p:nvGrpSpPr>
          <p:grpSpPr bwMode="auto">
            <a:xfrm>
              <a:off x="233" y="1695"/>
              <a:ext cx="1970" cy="1592"/>
              <a:chOff x="432" y="1777"/>
              <a:chExt cx="1918" cy="1200"/>
            </a:xfrm>
          </p:grpSpPr>
          <p:sp>
            <p:nvSpPr>
              <p:cNvPr id="62469" name="Rectangle 5"/>
              <p:cNvSpPr>
                <a:spLocks noChangeArrowheads="1"/>
              </p:cNvSpPr>
              <p:nvPr/>
            </p:nvSpPr>
            <p:spPr bwMode="auto">
              <a:xfrm>
                <a:off x="432" y="1777"/>
                <a:ext cx="273" cy="101"/>
              </a:xfrm>
              <a:prstGeom prst="rect">
                <a:avLst/>
              </a:prstGeom>
              <a:noFill/>
              <a:ln w="9525">
                <a:noFill/>
                <a:miter lim="800000"/>
                <a:headEnd/>
                <a:tailEnd/>
              </a:ln>
              <a:effectLst/>
            </p:spPr>
            <p:txBody>
              <a:bodyPr wrap="none" lIns="0" tIns="0" rIns="0" bIns="0">
                <a:spAutoFit/>
              </a:bodyPr>
              <a:lstStyle/>
              <a:p>
                <a:r>
                  <a:rPr lang="en-US" sz="1400" dirty="0"/>
                  <a:t>Sales</a:t>
                </a:r>
              </a:p>
            </p:txBody>
          </p:sp>
          <p:sp>
            <p:nvSpPr>
              <p:cNvPr id="62470" name="Rectangle 6"/>
              <p:cNvSpPr>
                <a:spLocks noChangeArrowheads="1"/>
              </p:cNvSpPr>
              <p:nvPr/>
            </p:nvSpPr>
            <p:spPr bwMode="auto">
              <a:xfrm>
                <a:off x="432" y="1946"/>
                <a:ext cx="943" cy="101"/>
              </a:xfrm>
              <a:prstGeom prst="rect">
                <a:avLst/>
              </a:prstGeom>
              <a:noFill/>
              <a:ln w="9525">
                <a:noFill/>
                <a:miter lim="800000"/>
                <a:headEnd/>
                <a:tailEnd/>
              </a:ln>
              <a:effectLst/>
            </p:spPr>
            <p:txBody>
              <a:bodyPr wrap="none" lIns="0" tIns="0" rIns="0" bIns="0">
                <a:spAutoFit/>
              </a:bodyPr>
              <a:lstStyle/>
              <a:p>
                <a:r>
                  <a:rPr lang="en-US" sz="1400" dirty="0"/>
                  <a:t>Cost of Goods Sold</a:t>
                </a:r>
              </a:p>
            </p:txBody>
          </p:sp>
          <p:sp>
            <p:nvSpPr>
              <p:cNvPr id="62471" name="Rectangle 7"/>
              <p:cNvSpPr>
                <a:spLocks noChangeArrowheads="1"/>
              </p:cNvSpPr>
              <p:nvPr/>
            </p:nvSpPr>
            <p:spPr bwMode="auto">
              <a:xfrm>
                <a:off x="432" y="2588"/>
                <a:ext cx="870" cy="101"/>
              </a:xfrm>
              <a:prstGeom prst="rect">
                <a:avLst/>
              </a:prstGeom>
              <a:noFill/>
              <a:ln w="9525">
                <a:noFill/>
                <a:miter lim="800000"/>
                <a:headEnd/>
                <a:tailEnd/>
              </a:ln>
              <a:effectLst/>
            </p:spPr>
            <p:txBody>
              <a:bodyPr wrap="none" lIns="0" tIns="0" rIns="0" bIns="0">
                <a:spAutoFit/>
              </a:bodyPr>
              <a:lstStyle/>
              <a:p>
                <a:r>
                  <a:rPr lang="en-US" sz="1400" dirty="0"/>
                  <a:t>Profit Contribution</a:t>
                </a:r>
              </a:p>
            </p:txBody>
          </p:sp>
          <p:sp>
            <p:nvSpPr>
              <p:cNvPr id="62472" name="Rectangle 8"/>
              <p:cNvSpPr>
                <a:spLocks noChangeArrowheads="1"/>
              </p:cNvSpPr>
              <p:nvPr/>
            </p:nvSpPr>
            <p:spPr bwMode="auto">
              <a:xfrm>
                <a:off x="432" y="2876"/>
                <a:ext cx="454" cy="101"/>
              </a:xfrm>
              <a:prstGeom prst="rect">
                <a:avLst/>
              </a:prstGeom>
              <a:noFill/>
              <a:ln w="9525">
                <a:noFill/>
                <a:miter lim="800000"/>
                <a:headEnd/>
                <a:tailEnd/>
              </a:ln>
              <a:effectLst/>
            </p:spPr>
            <p:txBody>
              <a:bodyPr wrap="none" lIns="0" tIns="0" rIns="0" bIns="0">
                <a:spAutoFit/>
              </a:bodyPr>
              <a:lstStyle/>
              <a:p>
                <a:r>
                  <a:rPr lang="en-US" sz="1400" dirty="0"/>
                  <a:t>Net Profit</a:t>
                </a:r>
              </a:p>
            </p:txBody>
          </p:sp>
          <p:sp>
            <p:nvSpPr>
              <p:cNvPr id="62473" name="Rectangle 9"/>
              <p:cNvSpPr>
                <a:spLocks noChangeArrowheads="1"/>
              </p:cNvSpPr>
              <p:nvPr/>
            </p:nvSpPr>
            <p:spPr bwMode="auto">
              <a:xfrm>
                <a:off x="432" y="2113"/>
                <a:ext cx="652" cy="101"/>
              </a:xfrm>
              <a:prstGeom prst="rect">
                <a:avLst/>
              </a:prstGeom>
              <a:noFill/>
              <a:ln w="9525">
                <a:noFill/>
                <a:miter lim="800000"/>
                <a:headEnd/>
                <a:tailEnd/>
              </a:ln>
              <a:effectLst/>
            </p:spPr>
            <p:txBody>
              <a:bodyPr wrap="none" lIns="0" tIns="0" rIns="0" bIns="0">
                <a:spAutoFit/>
              </a:bodyPr>
              <a:lstStyle/>
              <a:p>
                <a:r>
                  <a:rPr lang="en-US" sz="1400" dirty="0"/>
                  <a:t>Gross Margin</a:t>
                </a:r>
              </a:p>
            </p:txBody>
          </p:sp>
          <p:sp>
            <p:nvSpPr>
              <p:cNvPr id="62474" name="Rectangle 10"/>
              <p:cNvSpPr>
                <a:spLocks noChangeArrowheads="1"/>
              </p:cNvSpPr>
              <p:nvPr/>
            </p:nvSpPr>
            <p:spPr bwMode="auto">
              <a:xfrm>
                <a:off x="440" y="2267"/>
                <a:ext cx="1198" cy="101"/>
              </a:xfrm>
              <a:prstGeom prst="rect">
                <a:avLst/>
              </a:prstGeom>
              <a:noFill/>
              <a:ln w="9525">
                <a:noFill/>
                <a:miter lim="800000"/>
                <a:headEnd/>
                <a:tailEnd/>
              </a:ln>
              <a:effectLst/>
            </p:spPr>
            <p:txBody>
              <a:bodyPr wrap="none" lIns="0" tIns="0" rIns="0" bIns="0">
                <a:spAutoFit/>
              </a:bodyPr>
              <a:lstStyle/>
              <a:p>
                <a:r>
                  <a:rPr lang="en-US" sz="1400" dirty="0"/>
                  <a:t>District Selling Expenses</a:t>
                </a:r>
              </a:p>
            </p:txBody>
          </p:sp>
          <p:sp>
            <p:nvSpPr>
              <p:cNvPr id="62475" name="Rectangle 11"/>
              <p:cNvSpPr>
                <a:spLocks noChangeArrowheads="1"/>
              </p:cNvSpPr>
              <p:nvPr/>
            </p:nvSpPr>
            <p:spPr bwMode="auto">
              <a:xfrm>
                <a:off x="440" y="2731"/>
                <a:ext cx="1910" cy="101"/>
              </a:xfrm>
              <a:prstGeom prst="rect">
                <a:avLst/>
              </a:prstGeom>
              <a:noFill/>
              <a:ln w="9525">
                <a:noFill/>
                <a:miter lim="800000"/>
                <a:headEnd/>
                <a:tailEnd/>
              </a:ln>
              <a:effectLst/>
            </p:spPr>
            <p:txBody>
              <a:bodyPr wrap="none" lIns="0" tIns="0" rIns="0" bIns="0">
                <a:spAutoFit/>
              </a:bodyPr>
              <a:lstStyle/>
              <a:p>
                <a:r>
                  <a:rPr lang="en-US" sz="1400" dirty="0"/>
                  <a:t>Allocated Portion of Shared Zone Costs</a:t>
                </a:r>
              </a:p>
            </p:txBody>
          </p:sp>
          <p:sp>
            <p:nvSpPr>
              <p:cNvPr id="62476" name="Rectangle 12"/>
              <p:cNvSpPr>
                <a:spLocks noChangeArrowheads="1"/>
              </p:cNvSpPr>
              <p:nvPr/>
            </p:nvSpPr>
            <p:spPr bwMode="auto">
              <a:xfrm>
                <a:off x="432" y="2444"/>
                <a:ext cx="1609" cy="101"/>
              </a:xfrm>
              <a:prstGeom prst="rect">
                <a:avLst/>
              </a:prstGeom>
              <a:noFill/>
              <a:ln w="9525">
                <a:noFill/>
                <a:miter lim="800000"/>
                <a:headEnd/>
                <a:tailEnd/>
              </a:ln>
              <a:effectLst/>
            </p:spPr>
            <p:txBody>
              <a:bodyPr wrap="none" lIns="0" tIns="0" rIns="0" bIns="0">
                <a:spAutoFit/>
              </a:bodyPr>
              <a:lstStyle/>
              <a:p>
                <a:r>
                  <a:rPr lang="en-US" sz="1400" dirty="0"/>
                  <a:t>Regional Direct Selling Expenses</a:t>
                </a:r>
              </a:p>
            </p:txBody>
          </p:sp>
        </p:grpSp>
        <p:sp>
          <p:nvSpPr>
            <p:cNvPr id="62477" name="Rectangle 13"/>
            <p:cNvSpPr>
              <a:spLocks noChangeArrowheads="1"/>
            </p:cNvSpPr>
            <p:nvPr/>
          </p:nvSpPr>
          <p:spPr bwMode="auto">
            <a:xfrm>
              <a:off x="2600" y="1502"/>
              <a:ext cx="378" cy="134"/>
            </a:xfrm>
            <a:prstGeom prst="rect">
              <a:avLst/>
            </a:prstGeom>
            <a:noFill/>
            <a:ln w="9525">
              <a:noFill/>
              <a:miter lim="800000"/>
              <a:headEnd/>
              <a:tailEnd/>
            </a:ln>
            <a:effectLst/>
          </p:spPr>
          <p:txBody>
            <a:bodyPr wrap="none" lIns="0" tIns="0" rIns="0" bIns="0">
              <a:spAutoFit/>
            </a:bodyPr>
            <a:lstStyle/>
            <a:p>
              <a:r>
                <a:rPr lang="en-US" sz="1400" b="1" dirty="0"/>
                <a:t>Region</a:t>
              </a:r>
            </a:p>
          </p:txBody>
        </p:sp>
        <p:sp>
          <p:nvSpPr>
            <p:cNvPr id="62478" name="Rectangle 14"/>
            <p:cNvSpPr>
              <a:spLocks noChangeArrowheads="1"/>
            </p:cNvSpPr>
            <p:nvPr/>
          </p:nvSpPr>
          <p:spPr bwMode="auto">
            <a:xfrm>
              <a:off x="2402" y="2784"/>
              <a:ext cx="682" cy="134"/>
            </a:xfrm>
            <a:prstGeom prst="rect">
              <a:avLst/>
            </a:prstGeom>
            <a:noFill/>
            <a:ln w="9525">
              <a:noFill/>
              <a:miter lim="800000"/>
              <a:headEnd/>
              <a:tailEnd/>
            </a:ln>
            <a:effectLst/>
          </p:spPr>
          <p:txBody>
            <a:bodyPr wrap="none" lIns="0" tIns="0" rIns="0" bIns="0">
              <a:spAutoFit/>
            </a:bodyPr>
            <a:lstStyle/>
            <a:p>
              <a:r>
                <a:rPr lang="en-US" sz="1400" dirty="0"/>
                <a:t>$  24,000,000</a:t>
              </a:r>
            </a:p>
          </p:txBody>
        </p:sp>
        <p:sp>
          <p:nvSpPr>
            <p:cNvPr id="62479" name="Rectangle 15"/>
            <p:cNvSpPr>
              <a:spLocks noChangeArrowheads="1"/>
            </p:cNvSpPr>
            <p:nvPr/>
          </p:nvSpPr>
          <p:spPr bwMode="auto">
            <a:xfrm>
              <a:off x="2400" y="3168"/>
              <a:ext cx="682" cy="134"/>
            </a:xfrm>
            <a:prstGeom prst="rect">
              <a:avLst/>
            </a:prstGeom>
            <a:noFill/>
            <a:ln w="9525">
              <a:noFill/>
              <a:miter lim="800000"/>
              <a:headEnd/>
              <a:tailEnd/>
            </a:ln>
            <a:effectLst/>
          </p:spPr>
          <p:txBody>
            <a:bodyPr wrap="none" lIns="0" tIns="0" rIns="0" bIns="0">
              <a:spAutoFit/>
            </a:bodyPr>
            <a:lstStyle/>
            <a:p>
              <a:r>
                <a:rPr lang="en-US" sz="1400" dirty="0"/>
                <a:t>$    8,000,000</a:t>
              </a:r>
            </a:p>
          </p:txBody>
        </p:sp>
        <p:sp>
          <p:nvSpPr>
            <p:cNvPr id="62480" name="Rectangle 16"/>
            <p:cNvSpPr>
              <a:spLocks noChangeArrowheads="1"/>
            </p:cNvSpPr>
            <p:nvPr/>
          </p:nvSpPr>
          <p:spPr bwMode="auto">
            <a:xfrm>
              <a:off x="2402" y="2141"/>
              <a:ext cx="682" cy="134"/>
            </a:xfrm>
            <a:prstGeom prst="rect">
              <a:avLst/>
            </a:prstGeom>
            <a:noFill/>
            <a:ln w="9525">
              <a:noFill/>
              <a:miter lim="800000"/>
              <a:headEnd/>
              <a:tailEnd/>
            </a:ln>
            <a:effectLst/>
          </p:spPr>
          <p:txBody>
            <a:bodyPr wrap="none" lIns="0" tIns="0" rIns="0" bIns="0">
              <a:spAutoFit/>
            </a:bodyPr>
            <a:lstStyle/>
            <a:p>
              <a:r>
                <a:rPr lang="en-US" sz="1400" dirty="0"/>
                <a:t>$  45,000,000</a:t>
              </a:r>
            </a:p>
          </p:txBody>
        </p:sp>
        <p:sp>
          <p:nvSpPr>
            <p:cNvPr id="62481" name="Rectangle 17"/>
            <p:cNvSpPr>
              <a:spLocks noChangeArrowheads="1"/>
            </p:cNvSpPr>
            <p:nvPr/>
          </p:nvSpPr>
          <p:spPr bwMode="auto">
            <a:xfrm>
              <a:off x="2402" y="1931"/>
              <a:ext cx="682" cy="134"/>
            </a:xfrm>
            <a:prstGeom prst="rect">
              <a:avLst/>
            </a:prstGeom>
            <a:noFill/>
            <a:ln w="9525">
              <a:noFill/>
              <a:miter lim="800000"/>
              <a:headEnd/>
              <a:tailEnd/>
            </a:ln>
            <a:effectLst/>
          </p:spPr>
          <p:txBody>
            <a:bodyPr wrap="none" lIns="0" tIns="0" rIns="0" bIns="0">
              <a:spAutoFit/>
            </a:bodyPr>
            <a:lstStyle/>
            <a:p>
              <a:r>
                <a:rPr lang="en-US" sz="1400" dirty="0"/>
                <a:t>$255,000,000</a:t>
              </a:r>
            </a:p>
          </p:txBody>
        </p:sp>
        <p:sp>
          <p:nvSpPr>
            <p:cNvPr id="62482" name="Text Box 18"/>
            <p:cNvSpPr txBox="1">
              <a:spLocks noChangeArrowheads="1"/>
            </p:cNvSpPr>
            <p:nvPr/>
          </p:nvSpPr>
          <p:spPr bwMode="auto">
            <a:xfrm>
              <a:off x="2353" y="1724"/>
              <a:ext cx="799" cy="192"/>
            </a:xfrm>
            <a:prstGeom prst="rect">
              <a:avLst/>
            </a:prstGeom>
            <a:noFill/>
            <a:ln w="12700">
              <a:noFill/>
              <a:miter lim="800000"/>
              <a:headEnd/>
              <a:tailEnd/>
            </a:ln>
            <a:effectLst/>
          </p:spPr>
          <p:txBody>
            <a:bodyPr wrap="none">
              <a:spAutoFit/>
            </a:bodyPr>
            <a:lstStyle/>
            <a:p>
              <a:r>
                <a:rPr lang="en-US" sz="1400" dirty="0"/>
                <a:t>$300,000,000</a:t>
              </a:r>
            </a:p>
          </p:txBody>
        </p:sp>
        <p:sp>
          <p:nvSpPr>
            <p:cNvPr id="62483" name="Rectangle 19"/>
            <p:cNvSpPr>
              <a:spLocks noChangeArrowheads="1"/>
            </p:cNvSpPr>
            <p:nvPr/>
          </p:nvSpPr>
          <p:spPr bwMode="auto">
            <a:xfrm>
              <a:off x="2402" y="2357"/>
              <a:ext cx="683" cy="134"/>
            </a:xfrm>
            <a:prstGeom prst="rect">
              <a:avLst/>
            </a:prstGeom>
            <a:noFill/>
            <a:ln w="9525">
              <a:noFill/>
              <a:miter lim="800000"/>
              <a:headEnd/>
              <a:tailEnd/>
            </a:ln>
            <a:effectLst/>
          </p:spPr>
          <p:txBody>
            <a:bodyPr wrap="none" lIns="0" tIns="0" rIns="0" bIns="0">
              <a:spAutoFit/>
            </a:bodyPr>
            <a:lstStyle/>
            <a:p>
              <a:r>
                <a:rPr lang="en-US" sz="1400" dirty="0"/>
                <a:t>$  11,000,000</a:t>
              </a:r>
            </a:p>
          </p:txBody>
        </p:sp>
        <p:sp>
          <p:nvSpPr>
            <p:cNvPr id="62484" name="Rectangle 20"/>
            <p:cNvSpPr>
              <a:spLocks noChangeArrowheads="1"/>
            </p:cNvSpPr>
            <p:nvPr/>
          </p:nvSpPr>
          <p:spPr bwMode="auto">
            <a:xfrm>
              <a:off x="2402" y="2974"/>
              <a:ext cx="683" cy="134"/>
            </a:xfrm>
            <a:prstGeom prst="rect">
              <a:avLst/>
            </a:prstGeom>
            <a:noFill/>
            <a:ln w="9525">
              <a:noFill/>
              <a:miter lim="800000"/>
              <a:headEnd/>
              <a:tailEnd/>
            </a:ln>
            <a:effectLst/>
          </p:spPr>
          <p:txBody>
            <a:bodyPr wrap="none" lIns="0" tIns="0" rIns="0" bIns="0">
              <a:spAutoFit/>
            </a:bodyPr>
            <a:lstStyle/>
            <a:p>
              <a:r>
                <a:rPr lang="en-US" sz="1400" u="sng" dirty="0"/>
                <a:t>$  16,000,000</a:t>
              </a:r>
            </a:p>
          </p:txBody>
        </p:sp>
        <p:sp>
          <p:nvSpPr>
            <p:cNvPr id="62485" name="Line 21"/>
            <p:cNvSpPr>
              <a:spLocks noChangeShapeType="1"/>
            </p:cNvSpPr>
            <p:nvPr/>
          </p:nvSpPr>
          <p:spPr bwMode="auto">
            <a:xfrm>
              <a:off x="2452" y="1688"/>
              <a:ext cx="691" cy="0"/>
            </a:xfrm>
            <a:prstGeom prst="line">
              <a:avLst/>
            </a:prstGeom>
            <a:noFill/>
            <a:ln w="19050">
              <a:solidFill>
                <a:schemeClr val="tx1"/>
              </a:solidFill>
              <a:round/>
              <a:headEnd/>
              <a:tailEnd/>
            </a:ln>
            <a:effectLst/>
          </p:spPr>
          <p:txBody>
            <a:bodyPr/>
            <a:lstStyle/>
            <a:p>
              <a:endParaRPr lang="en-US" dirty="0"/>
            </a:p>
          </p:txBody>
        </p:sp>
        <p:sp>
          <p:nvSpPr>
            <p:cNvPr id="62486" name="Rectangle 22"/>
            <p:cNvSpPr>
              <a:spLocks noChangeArrowheads="1"/>
            </p:cNvSpPr>
            <p:nvPr/>
          </p:nvSpPr>
          <p:spPr bwMode="auto">
            <a:xfrm>
              <a:off x="2394" y="2592"/>
              <a:ext cx="682" cy="134"/>
            </a:xfrm>
            <a:prstGeom prst="rect">
              <a:avLst/>
            </a:prstGeom>
            <a:noFill/>
            <a:ln w="9525">
              <a:noFill/>
              <a:miter lim="800000"/>
              <a:headEnd/>
              <a:tailEnd/>
            </a:ln>
            <a:effectLst/>
          </p:spPr>
          <p:txBody>
            <a:bodyPr wrap="none" lIns="0" tIns="0" rIns="0" bIns="0">
              <a:spAutoFit/>
            </a:bodyPr>
            <a:lstStyle/>
            <a:p>
              <a:r>
                <a:rPr lang="en-US" sz="1400" dirty="0"/>
                <a:t>$  10,000,000</a:t>
              </a:r>
            </a:p>
          </p:txBody>
        </p:sp>
        <p:sp>
          <p:nvSpPr>
            <p:cNvPr id="62487" name="Rectangle 23"/>
            <p:cNvSpPr>
              <a:spLocks noChangeArrowheads="1"/>
            </p:cNvSpPr>
            <p:nvPr/>
          </p:nvSpPr>
          <p:spPr bwMode="auto">
            <a:xfrm>
              <a:off x="2501" y="1056"/>
              <a:ext cx="482" cy="217"/>
            </a:xfrm>
            <a:prstGeom prst="rect">
              <a:avLst/>
            </a:prstGeom>
            <a:noFill/>
            <a:ln w="9525">
              <a:noFill/>
              <a:miter lim="800000"/>
              <a:headEnd/>
              <a:tailEnd/>
            </a:ln>
            <a:effectLst/>
          </p:spPr>
          <p:txBody>
            <a:bodyPr wrap="none" lIns="0" tIns="0" rIns="0" bIns="0">
              <a:spAutoFit/>
            </a:bodyPr>
            <a:lstStyle/>
            <a:p>
              <a:pPr>
                <a:lnSpc>
                  <a:spcPct val="80000"/>
                </a:lnSpc>
              </a:pPr>
              <a:r>
                <a:rPr lang="en-US" sz="1400" b="1" dirty="0">
                  <a:solidFill>
                    <a:srgbClr val="000000"/>
                  </a:solidFill>
                </a:rPr>
                <a:t>Full Cost</a:t>
              </a:r>
            </a:p>
            <a:p>
              <a:pPr>
                <a:lnSpc>
                  <a:spcPct val="80000"/>
                </a:lnSpc>
              </a:pPr>
              <a:r>
                <a:rPr lang="en-US" sz="1400" b="1" dirty="0">
                  <a:solidFill>
                    <a:srgbClr val="000000"/>
                  </a:solidFill>
                </a:rPr>
                <a:t>Approach</a:t>
              </a:r>
            </a:p>
          </p:txBody>
        </p:sp>
        <p:sp>
          <p:nvSpPr>
            <p:cNvPr id="62488" name="Line 24"/>
            <p:cNvSpPr>
              <a:spLocks noChangeShapeType="1"/>
            </p:cNvSpPr>
            <p:nvPr/>
          </p:nvSpPr>
          <p:spPr bwMode="auto">
            <a:xfrm>
              <a:off x="2452" y="1420"/>
              <a:ext cx="691" cy="0"/>
            </a:xfrm>
            <a:prstGeom prst="line">
              <a:avLst/>
            </a:prstGeom>
            <a:noFill/>
            <a:ln w="19050">
              <a:solidFill>
                <a:schemeClr val="tx1"/>
              </a:solidFill>
              <a:round/>
              <a:headEnd/>
              <a:tailEnd/>
            </a:ln>
            <a:effectLst/>
          </p:spPr>
          <p:txBody>
            <a:bodyPr/>
            <a:lstStyle/>
            <a:p>
              <a:endParaRPr lang="en-US" dirty="0"/>
            </a:p>
          </p:txBody>
        </p:sp>
        <p:grpSp>
          <p:nvGrpSpPr>
            <p:cNvPr id="62489" name="Group 25"/>
            <p:cNvGrpSpPr>
              <a:grpSpLocks/>
            </p:cNvGrpSpPr>
            <p:nvPr/>
          </p:nvGrpSpPr>
          <p:grpSpPr bwMode="auto">
            <a:xfrm>
              <a:off x="3142" y="1183"/>
              <a:ext cx="2474" cy="1735"/>
              <a:chOff x="3264" y="1728"/>
              <a:chExt cx="2408" cy="1307"/>
            </a:xfrm>
          </p:grpSpPr>
          <p:grpSp>
            <p:nvGrpSpPr>
              <p:cNvPr id="62490" name="Group 26"/>
              <p:cNvGrpSpPr>
                <a:grpSpLocks/>
              </p:cNvGrpSpPr>
              <p:nvPr/>
            </p:nvGrpSpPr>
            <p:grpSpPr bwMode="auto">
              <a:xfrm>
                <a:off x="3264" y="1968"/>
                <a:ext cx="2408" cy="1067"/>
                <a:chOff x="3264" y="1632"/>
                <a:chExt cx="2408" cy="1067"/>
              </a:xfrm>
            </p:grpSpPr>
            <p:sp>
              <p:nvSpPr>
                <p:cNvPr id="62491" name="Text Box 27"/>
                <p:cNvSpPr txBox="1">
                  <a:spLocks noChangeArrowheads="1"/>
                </p:cNvSpPr>
                <p:nvPr/>
              </p:nvSpPr>
              <p:spPr bwMode="auto">
                <a:xfrm>
                  <a:off x="3264" y="1799"/>
                  <a:ext cx="777" cy="145"/>
                </a:xfrm>
                <a:prstGeom prst="rect">
                  <a:avLst/>
                </a:prstGeom>
                <a:noFill/>
                <a:ln w="12700">
                  <a:noFill/>
                  <a:miter lim="800000"/>
                  <a:headEnd/>
                  <a:tailEnd/>
                </a:ln>
                <a:effectLst/>
              </p:spPr>
              <p:txBody>
                <a:bodyPr wrap="none">
                  <a:spAutoFit/>
                </a:bodyPr>
                <a:lstStyle/>
                <a:p>
                  <a:r>
                    <a:rPr lang="en-US" sz="1400" dirty="0"/>
                    <a:t>$180,000,000</a:t>
                  </a:r>
                </a:p>
              </p:txBody>
            </p:sp>
            <p:grpSp>
              <p:nvGrpSpPr>
                <p:cNvPr id="62492" name="Group 28"/>
                <p:cNvGrpSpPr>
                  <a:grpSpLocks/>
                </p:cNvGrpSpPr>
                <p:nvPr/>
              </p:nvGrpSpPr>
              <p:grpSpPr bwMode="auto">
                <a:xfrm>
                  <a:off x="3312" y="1632"/>
                  <a:ext cx="2360" cy="1067"/>
                  <a:chOff x="3312" y="1632"/>
                  <a:chExt cx="2360" cy="1067"/>
                </a:xfrm>
              </p:grpSpPr>
              <p:sp>
                <p:nvSpPr>
                  <p:cNvPr id="62493" name="Rectangle 29"/>
                  <p:cNvSpPr>
                    <a:spLocks noChangeArrowheads="1"/>
                  </p:cNvSpPr>
                  <p:nvPr/>
                </p:nvSpPr>
                <p:spPr bwMode="auto">
                  <a:xfrm>
                    <a:off x="3454" y="1632"/>
                    <a:ext cx="465" cy="101"/>
                  </a:xfrm>
                  <a:prstGeom prst="rect">
                    <a:avLst/>
                  </a:prstGeom>
                  <a:noFill/>
                  <a:ln w="9525">
                    <a:noFill/>
                    <a:miter lim="800000"/>
                    <a:headEnd/>
                    <a:tailEnd/>
                  </a:ln>
                  <a:effectLst/>
                </p:spPr>
                <p:txBody>
                  <a:bodyPr wrap="none" lIns="0" tIns="0" rIns="0" bIns="0">
                    <a:spAutoFit/>
                  </a:bodyPr>
                  <a:lstStyle/>
                  <a:p>
                    <a:r>
                      <a:rPr lang="en-US" sz="1400" b="1" dirty="0"/>
                      <a:t>District 1</a:t>
                    </a:r>
                  </a:p>
                </p:txBody>
              </p:sp>
              <p:sp>
                <p:nvSpPr>
                  <p:cNvPr id="62494" name="Rectangle 30"/>
                  <p:cNvSpPr>
                    <a:spLocks noChangeArrowheads="1"/>
                  </p:cNvSpPr>
                  <p:nvPr/>
                </p:nvSpPr>
                <p:spPr bwMode="auto">
                  <a:xfrm>
                    <a:off x="4256" y="1632"/>
                    <a:ext cx="465" cy="101"/>
                  </a:xfrm>
                  <a:prstGeom prst="rect">
                    <a:avLst/>
                  </a:prstGeom>
                  <a:noFill/>
                  <a:ln w="9525">
                    <a:noFill/>
                    <a:miter lim="800000"/>
                    <a:headEnd/>
                    <a:tailEnd/>
                  </a:ln>
                  <a:effectLst/>
                </p:spPr>
                <p:txBody>
                  <a:bodyPr wrap="none" lIns="0" tIns="0" rIns="0" bIns="0">
                    <a:spAutoFit/>
                  </a:bodyPr>
                  <a:lstStyle/>
                  <a:p>
                    <a:r>
                      <a:rPr lang="en-US" sz="1400" b="1" dirty="0"/>
                      <a:t>District 2</a:t>
                    </a:r>
                  </a:p>
                </p:txBody>
              </p:sp>
              <p:sp>
                <p:nvSpPr>
                  <p:cNvPr id="62495" name="Rectangle 31"/>
                  <p:cNvSpPr>
                    <a:spLocks noChangeArrowheads="1"/>
                  </p:cNvSpPr>
                  <p:nvPr/>
                </p:nvSpPr>
                <p:spPr bwMode="auto">
                  <a:xfrm>
                    <a:off x="5058" y="1632"/>
                    <a:ext cx="465" cy="101"/>
                  </a:xfrm>
                  <a:prstGeom prst="rect">
                    <a:avLst/>
                  </a:prstGeom>
                  <a:noFill/>
                  <a:ln w="9525">
                    <a:noFill/>
                    <a:miter lim="800000"/>
                    <a:headEnd/>
                    <a:tailEnd/>
                  </a:ln>
                  <a:effectLst/>
                </p:spPr>
                <p:txBody>
                  <a:bodyPr wrap="none" lIns="0" tIns="0" rIns="0" bIns="0">
                    <a:spAutoFit/>
                  </a:bodyPr>
                  <a:lstStyle/>
                  <a:p>
                    <a:r>
                      <a:rPr lang="en-US" sz="1400" b="1" dirty="0"/>
                      <a:t>District 3</a:t>
                    </a:r>
                  </a:p>
                </p:txBody>
              </p:sp>
              <p:sp>
                <p:nvSpPr>
                  <p:cNvPr id="62496" name="Rectangle 32"/>
                  <p:cNvSpPr>
                    <a:spLocks noChangeArrowheads="1"/>
                  </p:cNvSpPr>
                  <p:nvPr/>
                </p:nvSpPr>
                <p:spPr bwMode="auto">
                  <a:xfrm>
                    <a:off x="3360" y="2598"/>
                    <a:ext cx="633" cy="101"/>
                  </a:xfrm>
                  <a:prstGeom prst="rect">
                    <a:avLst/>
                  </a:prstGeom>
                  <a:noFill/>
                  <a:ln w="9525">
                    <a:noFill/>
                    <a:miter lim="800000"/>
                    <a:headEnd/>
                    <a:tailEnd/>
                  </a:ln>
                  <a:effectLst/>
                </p:spPr>
                <p:txBody>
                  <a:bodyPr wrap="none" lIns="0" tIns="0" rIns="0" bIns="0">
                    <a:spAutoFit/>
                  </a:bodyPr>
                  <a:lstStyle/>
                  <a:p>
                    <a:r>
                      <a:rPr lang="en-US" sz="1400" dirty="0"/>
                      <a:t>$   6,500,000</a:t>
                    </a:r>
                  </a:p>
                </p:txBody>
              </p:sp>
              <p:sp>
                <p:nvSpPr>
                  <p:cNvPr id="62497" name="Rectangle 33"/>
                  <p:cNvSpPr>
                    <a:spLocks noChangeArrowheads="1"/>
                  </p:cNvSpPr>
                  <p:nvPr/>
                </p:nvSpPr>
                <p:spPr bwMode="auto">
                  <a:xfrm>
                    <a:off x="4208" y="2598"/>
                    <a:ext cx="603" cy="101"/>
                  </a:xfrm>
                  <a:prstGeom prst="rect">
                    <a:avLst/>
                  </a:prstGeom>
                  <a:noFill/>
                  <a:ln w="9525">
                    <a:noFill/>
                    <a:miter lim="800000"/>
                    <a:headEnd/>
                    <a:tailEnd/>
                  </a:ln>
                  <a:effectLst/>
                </p:spPr>
                <p:txBody>
                  <a:bodyPr wrap="none" lIns="0" tIns="0" rIns="0" bIns="0">
                    <a:spAutoFit/>
                  </a:bodyPr>
                  <a:lstStyle/>
                  <a:p>
                    <a:r>
                      <a:rPr lang="en-US" sz="1400" dirty="0"/>
                      <a:t>$  8,000,000</a:t>
                    </a:r>
                  </a:p>
                </p:txBody>
              </p:sp>
              <p:sp>
                <p:nvSpPr>
                  <p:cNvPr id="62498" name="Rectangle 34"/>
                  <p:cNvSpPr>
                    <a:spLocks noChangeArrowheads="1"/>
                  </p:cNvSpPr>
                  <p:nvPr/>
                </p:nvSpPr>
                <p:spPr bwMode="auto">
                  <a:xfrm>
                    <a:off x="5040" y="2598"/>
                    <a:ext cx="603" cy="101"/>
                  </a:xfrm>
                  <a:prstGeom prst="rect">
                    <a:avLst/>
                  </a:prstGeom>
                  <a:noFill/>
                  <a:ln w="9525">
                    <a:noFill/>
                    <a:miter lim="800000"/>
                    <a:headEnd/>
                    <a:tailEnd/>
                  </a:ln>
                  <a:effectLst/>
                </p:spPr>
                <p:txBody>
                  <a:bodyPr wrap="none" lIns="0" tIns="0" rIns="0" bIns="0">
                    <a:spAutoFit/>
                  </a:bodyPr>
                  <a:lstStyle/>
                  <a:p>
                    <a:r>
                      <a:rPr lang="en-US" sz="1400" dirty="0"/>
                      <a:t>$19,500,000</a:t>
                    </a:r>
                  </a:p>
                </p:txBody>
              </p:sp>
              <p:sp>
                <p:nvSpPr>
                  <p:cNvPr id="62499" name="Rectangle 35"/>
                  <p:cNvSpPr>
                    <a:spLocks noChangeArrowheads="1"/>
                  </p:cNvSpPr>
                  <p:nvPr/>
                </p:nvSpPr>
                <p:spPr bwMode="auto">
                  <a:xfrm>
                    <a:off x="3328" y="2113"/>
                    <a:ext cx="663" cy="101"/>
                  </a:xfrm>
                  <a:prstGeom prst="rect">
                    <a:avLst/>
                  </a:prstGeom>
                  <a:noFill/>
                  <a:ln w="9525">
                    <a:noFill/>
                    <a:miter lim="800000"/>
                    <a:headEnd/>
                    <a:tailEnd/>
                  </a:ln>
                  <a:effectLst/>
                </p:spPr>
                <p:txBody>
                  <a:bodyPr wrap="none" lIns="0" tIns="0" rIns="0" bIns="0">
                    <a:spAutoFit/>
                  </a:bodyPr>
                  <a:lstStyle/>
                  <a:p>
                    <a:r>
                      <a:rPr lang="en-US" sz="1400" dirty="0"/>
                      <a:t>$  11,500,000</a:t>
                    </a:r>
                  </a:p>
                </p:txBody>
              </p:sp>
              <p:sp>
                <p:nvSpPr>
                  <p:cNvPr id="62500" name="Rectangle 36"/>
                  <p:cNvSpPr>
                    <a:spLocks noChangeArrowheads="1"/>
                  </p:cNvSpPr>
                  <p:nvPr/>
                </p:nvSpPr>
                <p:spPr bwMode="auto">
                  <a:xfrm>
                    <a:off x="4176" y="2113"/>
                    <a:ext cx="604" cy="101"/>
                  </a:xfrm>
                  <a:prstGeom prst="rect">
                    <a:avLst/>
                  </a:prstGeom>
                  <a:noFill/>
                  <a:ln w="9525">
                    <a:noFill/>
                    <a:miter lim="800000"/>
                    <a:headEnd/>
                    <a:tailEnd/>
                  </a:ln>
                  <a:effectLst/>
                </p:spPr>
                <p:txBody>
                  <a:bodyPr wrap="none" lIns="0" tIns="0" rIns="0" bIns="0">
                    <a:spAutoFit/>
                  </a:bodyPr>
                  <a:lstStyle/>
                  <a:p>
                    <a:r>
                      <a:rPr lang="en-US" sz="1400" dirty="0"/>
                      <a:t>$11,500,000</a:t>
                    </a:r>
                  </a:p>
                </p:txBody>
              </p:sp>
              <p:sp>
                <p:nvSpPr>
                  <p:cNvPr id="62501" name="Rectangle 37"/>
                  <p:cNvSpPr>
                    <a:spLocks noChangeArrowheads="1"/>
                  </p:cNvSpPr>
                  <p:nvPr/>
                </p:nvSpPr>
                <p:spPr bwMode="auto">
                  <a:xfrm>
                    <a:off x="5024" y="2113"/>
                    <a:ext cx="604" cy="101"/>
                  </a:xfrm>
                  <a:prstGeom prst="rect">
                    <a:avLst/>
                  </a:prstGeom>
                  <a:noFill/>
                  <a:ln w="9525">
                    <a:noFill/>
                    <a:miter lim="800000"/>
                    <a:headEnd/>
                    <a:tailEnd/>
                  </a:ln>
                  <a:effectLst/>
                </p:spPr>
                <p:txBody>
                  <a:bodyPr wrap="none" lIns="0" tIns="0" rIns="0" bIns="0">
                    <a:spAutoFit/>
                  </a:bodyPr>
                  <a:lstStyle/>
                  <a:p>
                    <a:r>
                      <a:rPr lang="en-US" sz="1400" dirty="0"/>
                      <a:t>$22,000,000</a:t>
                    </a:r>
                  </a:p>
                </p:txBody>
              </p:sp>
              <p:sp>
                <p:nvSpPr>
                  <p:cNvPr id="62502" name="Rectangle 38"/>
                  <p:cNvSpPr>
                    <a:spLocks noChangeArrowheads="1"/>
                  </p:cNvSpPr>
                  <p:nvPr/>
                </p:nvSpPr>
                <p:spPr bwMode="auto">
                  <a:xfrm>
                    <a:off x="5024" y="1955"/>
                    <a:ext cx="604" cy="101"/>
                  </a:xfrm>
                  <a:prstGeom prst="rect">
                    <a:avLst/>
                  </a:prstGeom>
                  <a:noFill/>
                  <a:ln w="9525">
                    <a:noFill/>
                    <a:miter lim="800000"/>
                    <a:headEnd/>
                    <a:tailEnd/>
                  </a:ln>
                  <a:effectLst/>
                </p:spPr>
                <p:txBody>
                  <a:bodyPr wrap="none" lIns="0" tIns="0" rIns="0" bIns="0">
                    <a:spAutoFit/>
                  </a:bodyPr>
                  <a:lstStyle/>
                  <a:p>
                    <a:r>
                      <a:rPr lang="en-US" sz="1400" dirty="0"/>
                      <a:t>$28,000,000</a:t>
                    </a:r>
                  </a:p>
                </p:txBody>
              </p:sp>
              <p:sp>
                <p:nvSpPr>
                  <p:cNvPr id="62503" name="Text Box 39"/>
                  <p:cNvSpPr txBox="1">
                    <a:spLocks noChangeArrowheads="1"/>
                  </p:cNvSpPr>
                  <p:nvPr/>
                </p:nvSpPr>
                <p:spPr bwMode="auto">
                  <a:xfrm>
                    <a:off x="4956" y="1799"/>
                    <a:ext cx="716" cy="145"/>
                  </a:xfrm>
                  <a:prstGeom prst="rect">
                    <a:avLst/>
                  </a:prstGeom>
                  <a:noFill/>
                  <a:ln w="12700">
                    <a:noFill/>
                    <a:miter lim="800000"/>
                    <a:headEnd/>
                    <a:tailEnd/>
                  </a:ln>
                  <a:effectLst/>
                </p:spPr>
                <p:txBody>
                  <a:bodyPr wrap="none">
                    <a:spAutoFit/>
                  </a:bodyPr>
                  <a:lstStyle/>
                  <a:p>
                    <a:r>
                      <a:rPr lang="en-US" sz="1400" dirty="0"/>
                      <a:t>$50,000,000</a:t>
                    </a:r>
                  </a:p>
                </p:txBody>
              </p:sp>
              <p:sp>
                <p:nvSpPr>
                  <p:cNvPr id="62504" name="Rectangle 40"/>
                  <p:cNvSpPr>
                    <a:spLocks noChangeArrowheads="1"/>
                  </p:cNvSpPr>
                  <p:nvPr/>
                </p:nvSpPr>
                <p:spPr bwMode="auto">
                  <a:xfrm>
                    <a:off x="4175" y="1955"/>
                    <a:ext cx="604" cy="101"/>
                  </a:xfrm>
                  <a:prstGeom prst="rect">
                    <a:avLst/>
                  </a:prstGeom>
                  <a:noFill/>
                  <a:ln w="9525">
                    <a:noFill/>
                    <a:miter lim="800000"/>
                    <a:headEnd/>
                    <a:tailEnd/>
                  </a:ln>
                  <a:effectLst/>
                </p:spPr>
                <p:txBody>
                  <a:bodyPr wrap="none" lIns="0" tIns="0" rIns="0" bIns="0">
                    <a:spAutoFit/>
                  </a:bodyPr>
                  <a:lstStyle/>
                  <a:p>
                    <a:r>
                      <a:rPr lang="en-US" sz="1400" dirty="0"/>
                      <a:t>$58,500,000</a:t>
                    </a:r>
                  </a:p>
                </p:txBody>
              </p:sp>
              <p:sp>
                <p:nvSpPr>
                  <p:cNvPr id="62505" name="Text Box 41"/>
                  <p:cNvSpPr txBox="1">
                    <a:spLocks noChangeArrowheads="1"/>
                  </p:cNvSpPr>
                  <p:nvPr/>
                </p:nvSpPr>
                <p:spPr bwMode="auto">
                  <a:xfrm>
                    <a:off x="4128" y="1799"/>
                    <a:ext cx="716" cy="145"/>
                  </a:xfrm>
                  <a:prstGeom prst="rect">
                    <a:avLst/>
                  </a:prstGeom>
                  <a:noFill/>
                  <a:ln w="12700">
                    <a:noFill/>
                    <a:miter lim="800000"/>
                    <a:headEnd/>
                    <a:tailEnd/>
                  </a:ln>
                  <a:effectLst/>
                </p:spPr>
                <p:txBody>
                  <a:bodyPr wrap="none">
                    <a:spAutoFit/>
                  </a:bodyPr>
                  <a:lstStyle/>
                  <a:p>
                    <a:r>
                      <a:rPr lang="en-US" sz="1400" dirty="0"/>
                      <a:t>$70,000,000</a:t>
                    </a:r>
                  </a:p>
                </p:txBody>
              </p:sp>
              <p:sp>
                <p:nvSpPr>
                  <p:cNvPr id="62506" name="Rectangle 42"/>
                  <p:cNvSpPr>
                    <a:spLocks noChangeArrowheads="1"/>
                  </p:cNvSpPr>
                  <p:nvPr/>
                </p:nvSpPr>
                <p:spPr bwMode="auto">
                  <a:xfrm>
                    <a:off x="3312" y="1955"/>
                    <a:ext cx="664" cy="101"/>
                  </a:xfrm>
                  <a:prstGeom prst="rect">
                    <a:avLst/>
                  </a:prstGeom>
                  <a:noFill/>
                  <a:ln w="9525">
                    <a:noFill/>
                    <a:miter lim="800000"/>
                    <a:headEnd/>
                    <a:tailEnd/>
                  </a:ln>
                  <a:effectLst/>
                </p:spPr>
                <p:txBody>
                  <a:bodyPr wrap="none" lIns="0" tIns="0" rIns="0" bIns="0">
                    <a:spAutoFit/>
                  </a:bodyPr>
                  <a:lstStyle/>
                  <a:p>
                    <a:r>
                      <a:rPr lang="en-US" sz="1400" dirty="0"/>
                      <a:t>$168,500,000</a:t>
                    </a:r>
                  </a:p>
                </p:txBody>
              </p:sp>
              <p:sp>
                <p:nvSpPr>
                  <p:cNvPr id="62507" name="Rectangle 43"/>
                  <p:cNvSpPr>
                    <a:spLocks noChangeArrowheads="1"/>
                  </p:cNvSpPr>
                  <p:nvPr/>
                </p:nvSpPr>
                <p:spPr bwMode="auto">
                  <a:xfrm>
                    <a:off x="5023" y="2276"/>
                    <a:ext cx="603" cy="101"/>
                  </a:xfrm>
                  <a:prstGeom prst="rect">
                    <a:avLst/>
                  </a:prstGeom>
                  <a:noFill/>
                  <a:ln w="9525">
                    <a:noFill/>
                    <a:miter lim="800000"/>
                    <a:headEnd/>
                    <a:tailEnd/>
                  </a:ln>
                  <a:effectLst/>
                </p:spPr>
                <p:txBody>
                  <a:bodyPr wrap="none" lIns="0" tIns="0" rIns="0" bIns="0">
                    <a:spAutoFit/>
                  </a:bodyPr>
                  <a:lstStyle/>
                  <a:p>
                    <a:r>
                      <a:rPr lang="en-US" sz="1400" u="sng" dirty="0"/>
                      <a:t>$  8,250,000</a:t>
                    </a:r>
                  </a:p>
                </p:txBody>
              </p:sp>
              <p:sp>
                <p:nvSpPr>
                  <p:cNvPr id="62508" name="Rectangle 44"/>
                  <p:cNvSpPr>
                    <a:spLocks noChangeArrowheads="1"/>
                  </p:cNvSpPr>
                  <p:nvPr/>
                </p:nvSpPr>
                <p:spPr bwMode="auto">
                  <a:xfrm>
                    <a:off x="4175" y="2276"/>
                    <a:ext cx="604" cy="101"/>
                  </a:xfrm>
                  <a:prstGeom prst="rect">
                    <a:avLst/>
                  </a:prstGeom>
                  <a:noFill/>
                  <a:ln w="9525">
                    <a:noFill/>
                    <a:miter lim="800000"/>
                    <a:headEnd/>
                    <a:tailEnd/>
                  </a:ln>
                  <a:effectLst/>
                </p:spPr>
                <p:txBody>
                  <a:bodyPr wrap="none" lIns="0" tIns="0" rIns="0" bIns="0">
                    <a:spAutoFit/>
                  </a:bodyPr>
                  <a:lstStyle/>
                  <a:p>
                    <a:r>
                      <a:rPr lang="en-US" sz="1400" dirty="0"/>
                      <a:t>$  3,500,000</a:t>
                    </a:r>
                  </a:p>
                </p:txBody>
              </p:sp>
              <p:sp>
                <p:nvSpPr>
                  <p:cNvPr id="62509" name="Rectangle 45"/>
                  <p:cNvSpPr>
                    <a:spLocks noChangeArrowheads="1"/>
                  </p:cNvSpPr>
                  <p:nvPr/>
                </p:nvSpPr>
                <p:spPr bwMode="auto">
                  <a:xfrm>
                    <a:off x="3360" y="2276"/>
                    <a:ext cx="633" cy="101"/>
                  </a:xfrm>
                  <a:prstGeom prst="rect">
                    <a:avLst/>
                  </a:prstGeom>
                  <a:noFill/>
                  <a:ln w="9525">
                    <a:noFill/>
                    <a:miter lim="800000"/>
                    <a:headEnd/>
                    <a:tailEnd/>
                  </a:ln>
                  <a:effectLst/>
                </p:spPr>
                <p:txBody>
                  <a:bodyPr wrap="none" lIns="0" tIns="0" rIns="0" bIns="0">
                    <a:spAutoFit/>
                  </a:bodyPr>
                  <a:lstStyle/>
                  <a:p>
                    <a:r>
                      <a:rPr lang="en-US" sz="1400" dirty="0"/>
                      <a:t>$   5,000,000</a:t>
                    </a:r>
                  </a:p>
                </p:txBody>
              </p:sp>
              <p:sp>
                <p:nvSpPr>
                  <p:cNvPr id="62510" name="Line 46"/>
                  <p:cNvSpPr>
                    <a:spLocks noChangeShapeType="1"/>
                  </p:cNvSpPr>
                  <p:nvPr/>
                </p:nvSpPr>
                <p:spPr bwMode="auto">
                  <a:xfrm>
                    <a:off x="4992" y="1772"/>
                    <a:ext cx="672" cy="0"/>
                  </a:xfrm>
                  <a:prstGeom prst="line">
                    <a:avLst/>
                  </a:prstGeom>
                  <a:noFill/>
                  <a:ln w="19050">
                    <a:solidFill>
                      <a:schemeClr val="tx1"/>
                    </a:solidFill>
                    <a:round/>
                    <a:headEnd/>
                    <a:tailEnd/>
                  </a:ln>
                  <a:effectLst/>
                </p:spPr>
                <p:txBody>
                  <a:bodyPr/>
                  <a:lstStyle/>
                  <a:p>
                    <a:endParaRPr lang="en-US" dirty="0"/>
                  </a:p>
                </p:txBody>
              </p:sp>
              <p:sp>
                <p:nvSpPr>
                  <p:cNvPr id="62511" name="Line 47"/>
                  <p:cNvSpPr>
                    <a:spLocks noChangeShapeType="1"/>
                  </p:cNvSpPr>
                  <p:nvPr/>
                </p:nvSpPr>
                <p:spPr bwMode="auto">
                  <a:xfrm>
                    <a:off x="4176" y="1772"/>
                    <a:ext cx="672" cy="0"/>
                  </a:xfrm>
                  <a:prstGeom prst="line">
                    <a:avLst/>
                  </a:prstGeom>
                  <a:noFill/>
                  <a:ln w="19050">
                    <a:solidFill>
                      <a:schemeClr val="tx1"/>
                    </a:solidFill>
                    <a:round/>
                    <a:headEnd/>
                    <a:tailEnd/>
                  </a:ln>
                  <a:effectLst/>
                </p:spPr>
                <p:txBody>
                  <a:bodyPr/>
                  <a:lstStyle/>
                  <a:p>
                    <a:endParaRPr lang="en-US" dirty="0"/>
                  </a:p>
                </p:txBody>
              </p:sp>
              <p:sp>
                <p:nvSpPr>
                  <p:cNvPr id="62512" name="Line 48"/>
                  <p:cNvSpPr>
                    <a:spLocks noChangeShapeType="1"/>
                  </p:cNvSpPr>
                  <p:nvPr/>
                </p:nvSpPr>
                <p:spPr bwMode="auto">
                  <a:xfrm>
                    <a:off x="3360" y="1772"/>
                    <a:ext cx="672" cy="0"/>
                  </a:xfrm>
                  <a:prstGeom prst="line">
                    <a:avLst/>
                  </a:prstGeom>
                  <a:noFill/>
                  <a:ln w="19050">
                    <a:solidFill>
                      <a:schemeClr val="tx1"/>
                    </a:solidFill>
                    <a:round/>
                    <a:headEnd/>
                    <a:tailEnd/>
                  </a:ln>
                  <a:effectLst/>
                </p:spPr>
                <p:txBody>
                  <a:bodyPr/>
                  <a:lstStyle/>
                  <a:p>
                    <a:endParaRPr lang="en-US" dirty="0"/>
                  </a:p>
                </p:txBody>
              </p:sp>
              <p:sp>
                <p:nvSpPr>
                  <p:cNvPr id="62513" name="Rectangle 49"/>
                  <p:cNvSpPr>
                    <a:spLocks noChangeArrowheads="1"/>
                  </p:cNvSpPr>
                  <p:nvPr/>
                </p:nvSpPr>
                <p:spPr bwMode="auto">
                  <a:xfrm>
                    <a:off x="5246" y="2453"/>
                    <a:ext cx="108" cy="101"/>
                  </a:xfrm>
                  <a:prstGeom prst="rect">
                    <a:avLst/>
                  </a:prstGeom>
                  <a:noFill/>
                  <a:ln w="9525">
                    <a:noFill/>
                    <a:miter lim="800000"/>
                    <a:headEnd/>
                    <a:tailEnd/>
                  </a:ln>
                  <a:effectLst/>
                </p:spPr>
                <p:txBody>
                  <a:bodyPr wrap="none" lIns="0" tIns="0" rIns="0" bIns="0">
                    <a:spAutoFit/>
                  </a:bodyPr>
                  <a:lstStyle/>
                  <a:p>
                    <a:r>
                      <a:rPr lang="en-US" sz="1400" dirty="0"/>
                      <a:t>---</a:t>
                    </a:r>
                  </a:p>
                </p:txBody>
              </p:sp>
              <p:sp>
                <p:nvSpPr>
                  <p:cNvPr id="62514" name="Rectangle 50"/>
                  <p:cNvSpPr>
                    <a:spLocks noChangeArrowheads="1"/>
                  </p:cNvSpPr>
                  <p:nvPr/>
                </p:nvSpPr>
                <p:spPr bwMode="auto">
                  <a:xfrm>
                    <a:off x="4430" y="2444"/>
                    <a:ext cx="108" cy="101"/>
                  </a:xfrm>
                  <a:prstGeom prst="rect">
                    <a:avLst/>
                  </a:prstGeom>
                  <a:noFill/>
                  <a:ln w="9525">
                    <a:noFill/>
                    <a:miter lim="800000"/>
                    <a:headEnd/>
                    <a:tailEnd/>
                  </a:ln>
                  <a:effectLst/>
                </p:spPr>
                <p:txBody>
                  <a:bodyPr wrap="none" lIns="0" tIns="0" rIns="0" bIns="0">
                    <a:spAutoFit/>
                  </a:bodyPr>
                  <a:lstStyle/>
                  <a:p>
                    <a:r>
                      <a:rPr lang="en-US" sz="1400" dirty="0"/>
                      <a:t>---</a:t>
                    </a:r>
                  </a:p>
                </p:txBody>
              </p:sp>
              <p:sp>
                <p:nvSpPr>
                  <p:cNvPr id="62515" name="Rectangle 51"/>
                  <p:cNvSpPr>
                    <a:spLocks noChangeArrowheads="1"/>
                  </p:cNvSpPr>
                  <p:nvPr/>
                </p:nvSpPr>
                <p:spPr bwMode="auto">
                  <a:xfrm>
                    <a:off x="3648" y="2453"/>
                    <a:ext cx="108" cy="101"/>
                  </a:xfrm>
                  <a:prstGeom prst="rect">
                    <a:avLst/>
                  </a:prstGeom>
                  <a:noFill/>
                  <a:ln w="9525">
                    <a:noFill/>
                    <a:miter lim="800000"/>
                    <a:headEnd/>
                    <a:tailEnd/>
                  </a:ln>
                  <a:effectLst/>
                </p:spPr>
                <p:txBody>
                  <a:bodyPr wrap="none" lIns="0" tIns="0" rIns="0" bIns="0">
                    <a:spAutoFit/>
                  </a:bodyPr>
                  <a:lstStyle/>
                  <a:p>
                    <a:r>
                      <a:rPr lang="en-US" sz="1400" dirty="0"/>
                      <a:t>---</a:t>
                    </a:r>
                  </a:p>
                </p:txBody>
              </p:sp>
            </p:grpSp>
          </p:grpSp>
          <p:sp>
            <p:nvSpPr>
              <p:cNvPr id="62516" name="Rectangle 52"/>
              <p:cNvSpPr>
                <a:spLocks noChangeArrowheads="1"/>
              </p:cNvSpPr>
              <p:nvPr/>
            </p:nvSpPr>
            <p:spPr bwMode="auto">
              <a:xfrm>
                <a:off x="3840" y="1728"/>
                <a:ext cx="1106" cy="102"/>
              </a:xfrm>
              <a:prstGeom prst="rect">
                <a:avLst/>
              </a:prstGeom>
              <a:noFill/>
              <a:ln w="9525">
                <a:noFill/>
                <a:miter lim="800000"/>
                <a:headEnd/>
                <a:tailEnd/>
              </a:ln>
              <a:effectLst/>
            </p:spPr>
            <p:txBody>
              <a:bodyPr wrap="none" lIns="0" tIns="0" rIns="0" bIns="0">
                <a:spAutoFit/>
              </a:bodyPr>
              <a:lstStyle/>
              <a:p>
                <a:r>
                  <a:rPr lang="en-US" sz="1400" b="1" dirty="0">
                    <a:solidFill>
                      <a:srgbClr val="000000"/>
                    </a:solidFill>
                  </a:rPr>
                  <a:t>Contribution Approach</a:t>
                </a:r>
              </a:p>
            </p:txBody>
          </p:sp>
          <p:sp>
            <p:nvSpPr>
              <p:cNvPr id="62517" name="Line 53"/>
              <p:cNvSpPr>
                <a:spLocks noChangeShapeType="1"/>
              </p:cNvSpPr>
              <p:nvPr/>
            </p:nvSpPr>
            <p:spPr bwMode="auto">
              <a:xfrm>
                <a:off x="3360" y="1920"/>
                <a:ext cx="2304" cy="0"/>
              </a:xfrm>
              <a:prstGeom prst="line">
                <a:avLst/>
              </a:prstGeom>
              <a:noFill/>
              <a:ln w="19050">
                <a:solidFill>
                  <a:schemeClr val="tx1"/>
                </a:solidFill>
                <a:round/>
                <a:headEnd/>
                <a:tailEnd/>
              </a:ln>
              <a:effectLst/>
            </p:spPr>
            <p:txBody>
              <a:bodyPr/>
              <a:lstStyle/>
              <a:p>
                <a:endParaRPr lang="en-US" dirty="0"/>
              </a:p>
            </p:txBody>
          </p:sp>
        </p:grpSp>
        <p:sp>
          <p:nvSpPr>
            <p:cNvPr id="62518" name="Line 54"/>
            <p:cNvSpPr>
              <a:spLocks noChangeShapeType="1"/>
            </p:cNvSpPr>
            <p:nvPr/>
          </p:nvSpPr>
          <p:spPr bwMode="auto">
            <a:xfrm>
              <a:off x="3216" y="2736"/>
              <a:ext cx="672" cy="0"/>
            </a:xfrm>
            <a:prstGeom prst="line">
              <a:avLst/>
            </a:prstGeom>
            <a:noFill/>
            <a:ln w="12700">
              <a:solidFill>
                <a:schemeClr val="tx1"/>
              </a:solidFill>
              <a:round/>
              <a:headEnd/>
              <a:tailEnd/>
            </a:ln>
            <a:effectLst/>
          </p:spPr>
          <p:txBody>
            <a:bodyPr/>
            <a:lstStyle/>
            <a:p>
              <a:endParaRPr lang="en-US" dirty="0"/>
            </a:p>
          </p:txBody>
        </p:sp>
        <p:sp>
          <p:nvSpPr>
            <p:cNvPr id="62519" name="Line 55"/>
            <p:cNvSpPr>
              <a:spLocks noChangeShapeType="1"/>
            </p:cNvSpPr>
            <p:nvPr/>
          </p:nvSpPr>
          <p:spPr bwMode="auto">
            <a:xfrm>
              <a:off x="2400" y="2736"/>
              <a:ext cx="672" cy="0"/>
            </a:xfrm>
            <a:prstGeom prst="line">
              <a:avLst/>
            </a:prstGeom>
            <a:noFill/>
            <a:ln w="12700">
              <a:solidFill>
                <a:schemeClr val="tx1"/>
              </a:solidFill>
              <a:round/>
              <a:headEnd/>
              <a:tailEnd/>
            </a:ln>
            <a:effectLst/>
          </p:spPr>
          <p:txBody>
            <a:bodyPr/>
            <a:lstStyle/>
            <a:p>
              <a:endParaRPr lang="en-US" dirty="0"/>
            </a:p>
          </p:txBody>
        </p:sp>
        <p:sp>
          <p:nvSpPr>
            <p:cNvPr id="62520" name="Line 56"/>
            <p:cNvSpPr>
              <a:spLocks noChangeShapeType="1"/>
            </p:cNvSpPr>
            <p:nvPr/>
          </p:nvSpPr>
          <p:spPr bwMode="auto">
            <a:xfrm>
              <a:off x="4032" y="2736"/>
              <a:ext cx="672" cy="0"/>
            </a:xfrm>
            <a:prstGeom prst="line">
              <a:avLst/>
            </a:prstGeom>
            <a:noFill/>
            <a:ln w="12700">
              <a:solidFill>
                <a:schemeClr val="tx1"/>
              </a:solidFill>
              <a:round/>
              <a:headEnd/>
              <a:tailEnd/>
            </a:ln>
            <a:effectLst/>
          </p:spPr>
          <p:txBody>
            <a:bodyPr/>
            <a:lstStyle/>
            <a:p>
              <a:endParaRPr lang="en-US" dirty="0"/>
            </a:p>
          </p:txBody>
        </p:sp>
        <p:sp>
          <p:nvSpPr>
            <p:cNvPr id="62521" name="Line 57"/>
            <p:cNvSpPr>
              <a:spLocks noChangeShapeType="1"/>
            </p:cNvSpPr>
            <p:nvPr/>
          </p:nvSpPr>
          <p:spPr bwMode="auto">
            <a:xfrm>
              <a:off x="4896" y="2736"/>
              <a:ext cx="672" cy="0"/>
            </a:xfrm>
            <a:prstGeom prst="line">
              <a:avLst/>
            </a:prstGeom>
            <a:noFill/>
            <a:ln w="12700">
              <a:solidFill>
                <a:schemeClr val="tx1"/>
              </a:solidFill>
              <a:round/>
              <a:headEnd/>
              <a:tailEnd/>
            </a:ln>
            <a:effectLst/>
          </p:spPr>
          <p:txBody>
            <a:bodyPr/>
            <a:lstStyle/>
            <a:p>
              <a:endParaRPr lang="en-US" dirty="0"/>
            </a:p>
          </p:txBody>
        </p:sp>
        <p:sp>
          <p:nvSpPr>
            <p:cNvPr id="62522" name="Line 58"/>
            <p:cNvSpPr>
              <a:spLocks noChangeShapeType="1"/>
            </p:cNvSpPr>
            <p:nvPr/>
          </p:nvSpPr>
          <p:spPr bwMode="auto">
            <a:xfrm>
              <a:off x="2400" y="2064"/>
              <a:ext cx="672" cy="0"/>
            </a:xfrm>
            <a:prstGeom prst="line">
              <a:avLst/>
            </a:prstGeom>
            <a:noFill/>
            <a:ln w="12700">
              <a:solidFill>
                <a:schemeClr val="tx1"/>
              </a:solidFill>
              <a:round/>
              <a:headEnd/>
              <a:tailEnd/>
            </a:ln>
            <a:effectLst/>
          </p:spPr>
          <p:txBody>
            <a:bodyPr/>
            <a:lstStyle/>
            <a:p>
              <a:endParaRPr lang="en-US" dirty="0"/>
            </a:p>
          </p:txBody>
        </p:sp>
        <p:sp>
          <p:nvSpPr>
            <p:cNvPr id="62523" name="Line 59"/>
            <p:cNvSpPr>
              <a:spLocks noChangeShapeType="1"/>
            </p:cNvSpPr>
            <p:nvPr/>
          </p:nvSpPr>
          <p:spPr bwMode="auto">
            <a:xfrm>
              <a:off x="3216" y="2064"/>
              <a:ext cx="672" cy="0"/>
            </a:xfrm>
            <a:prstGeom prst="line">
              <a:avLst/>
            </a:prstGeom>
            <a:noFill/>
            <a:ln w="12700">
              <a:solidFill>
                <a:schemeClr val="tx1"/>
              </a:solidFill>
              <a:round/>
              <a:headEnd/>
              <a:tailEnd/>
            </a:ln>
            <a:effectLst/>
          </p:spPr>
          <p:txBody>
            <a:bodyPr/>
            <a:lstStyle/>
            <a:p>
              <a:endParaRPr lang="en-US" dirty="0"/>
            </a:p>
          </p:txBody>
        </p:sp>
        <p:sp>
          <p:nvSpPr>
            <p:cNvPr id="62524" name="Line 60"/>
            <p:cNvSpPr>
              <a:spLocks noChangeShapeType="1"/>
            </p:cNvSpPr>
            <p:nvPr/>
          </p:nvSpPr>
          <p:spPr bwMode="auto">
            <a:xfrm>
              <a:off x="4896" y="2064"/>
              <a:ext cx="672" cy="0"/>
            </a:xfrm>
            <a:prstGeom prst="line">
              <a:avLst/>
            </a:prstGeom>
            <a:noFill/>
            <a:ln w="12700">
              <a:solidFill>
                <a:schemeClr val="tx1"/>
              </a:solidFill>
              <a:round/>
              <a:headEnd/>
              <a:tailEnd/>
            </a:ln>
            <a:effectLst/>
          </p:spPr>
          <p:txBody>
            <a:bodyPr/>
            <a:lstStyle/>
            <a:p>
              <a:endParaRPr lang="en-US" dirty="0"/>
            </a:p>
          </p:txBody>
        </p:sp>
        <p:sp>
          <p:nvSpPr>
            <p:cNvPr id="62525" name="Line 61"/>
            <p:cNvSpPr>
              <a:spLocks noChangeShapeType="1"/>
            </p:cNvSpPr>
            <p:nvPr/>
          </p:nvSpPr>
          <p:spPr bwMode="auto">
            <a:xfrm>
              <a:off x="4032" y="2064"/>
              <a:ext cx="672" cy="0"/>
            </a:xfrm>
            <a:prstGeom prst="line">
              <a:avLst/>
            </a:prstGeom>
            <a:noFill/>
            <a:ln w="12700">
              <a:solidFill>
                <a:schemeClr val="tx1"/>
              </a:solidFill>
              <a:round/>
              <a:headEnd/>
              <a:tailEnd/>
            </a:ln>
            <a:effectLst/>
          </p:spPr>
          <p:txBody>
            <a:bodyPr/>
            <a:lstStyle/>
            <a:p>
              <a:endParaRPr lang="en-US" dirty="0"/>
            </a:p>
          </p:txBody>
        </p:sp>
      </p:grpSp>
      <p:sp>
        <p:nvSpPr>
          <p:cNvPr id="3" name="TextBox 2">
            <a:extLst>
              <a:ext uri="{FF2B5EF4-FFF2-40B4-BE49-F238E27FC236}">
                <a16:creationId xmlns:a16="http://schemas.microsoft.com/office/drawing/2014/main" id="{0F25DA27-3688-4B74-A198-41B43B316528}"/>
              </a:ext>
            </a:extLst>
          </p:cNvPr>
          <p:cNvSpPr txBox="1"/>
          <p:nvPr/>
        </p:nvSpPr>
        <p:spPr>
          <a:xfrm>
            <a:off x="-21583" y="6046874"/>
            <a:ext cx="9161547" cy="646331"/>
          </a:xfrm>
          <a:prstGeom prst="rect">
            <a:avLst/>
          </a:prstGeom>
          <a:noFill/>
        </p:spPr>
        <p:txBody>
          <a:bodyPr wrap="none" rtlCol="0">
            <a:spAutoFit/>
          </a:bodyPr>
          <a:lstStyle/>
          <a:p>
            <a:r>
              <a:rPr lang="en-US" sz="1800" b="1" dirty="0">
                <a:latin typeface="Arial" panose="020B0604020202020204" pitchFamily="34" charset="0"/>
                <a:cs typeface="Arial" panose="020B0604020202020204" pitchFamily="34" charset="0"/>
              </a:rPr>
              <a:t>***Trend is toward the </a:t>
            </a:r>
            <a:r>
              <a:rPr lang="en-US" sz="1800" b="1" u="sng" dirty="0">
                <a:latin typeface="Arial" panose="020B0604020202020204" pitchFamily="34" charset="0"/>
                <a:cs typeface="Arial" panose="020B0604020202020204" pitchFamily="34" charset="0"/>
              </a:rPr>
              <a:t>contribution approach</a:t>
            </a:r>
            <a:r>
              <a:rPr lang="en-US" sz="1800"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(only direct costs) probably because </a:t>
            </a:r>
          </a:p>
          <a:p>
            <a:r>
              <a:rPr lang="en-US" sz="1800" b="1" dirty="0">
                <a:latin typeface="Arial" panose="020B0604020202020204" pitchFamily="34" charset="0"/>
                <a:cs typeface="Arial" panose="020B0604020202020204" pitchFamily="34" charset="0"/>
              </a:rPr>
              <a:t>of the difficulty in arriving at a good procedure for allocating the shared costs</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636614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64515"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dirty="0"/>
          </a:p>
        </p:txBody>
      </p:sp>
      <p:sp>
        <p:nvSpPr>
          <p:cNvPr id="64516" name="Rectangle 4"/>
          <p:cNvSpPr>
            <a:spLocks noGrp="1" noChangeArrowheads="1"/>
          </p:cNvSpPr>
          <p:nvPr>
            <p:ph type="title"/>
          </p:nvPr>
        </p:nvSpPr>
        <p:spPr>
          <a:xfrm>
            <a:off x="152400" y="304800"/>
            <a:ext cx="8610600" cy="1066800"/>
          </a:xfrm>
          <a:solidFill>
            <a:schemeClr val="bg2">
              <a:lumMod val="60000"/>
              <a:lumOff val="40000"/>
            </a:schemeClr>
          </a:solidFill>
        </p:spPr>
        <p:txBody>
          <a:bodyPr/>
          <a:lstStyle/>
          <a:p>
            <a:r>
              <a:rPr lang="en-US" sz="3400" dirty="0"/>
              <a:t>Profitability Analysis:  </a:t>
            </a:r>
            <a:br>
              <a:rPr lang="en-US" sz="3400" dirty="0"/>
            </a:br>
            <a:r>
              <a:rPr lang="en-US" sz="3400" b="1" dirty="0"/>
              <a:t>Activity-Based Costing (ABC)</a:t>
            </a:r>
          </a:p>
        </p:txBody>
      </p:sp>
      <p:sp>
        <p:nvSpPr>
          <p:cNvPr id="64517" name="Rectangle 5"/>
          <p:cNvSpPr>
            <a:spLocks noGrp="1" noChangeArrowheads="1"/>
          </p:cNvSpPr>
          <p:nvPr>
            <p:ph idx="1"/>
          </p:nvPr>
        </p:nvSpPr>
        <p:spPr>
          <a:xfrm>
            <a:off x="406400" y="1633538"/>
            <a:ext cx="8205788" cy="4233862"/>
          </a:xfrm>
        </p:spPr>
        <p:txBody>
          <a:bodyPr/>
          <a:lstStyle/>
          <a:p>
            <a:r>
              <a:rPr lang="en-US" dirty="0"/>
              <a:t>Allocates costs to individual units on the basis of how the units actually expend or cause these costs.</a:t>
            </a:r>
          </a:p>
          <a:p>
            <a:endParaRPr lang="en-US" dirty="0"/>
          </a:p>
          <a:p>
            <a:r>
              <a:rPr lang="en-US" dirty="0"/>
              <a:t>Places greater emphasis on </a:t>
            </a:r>
            <a:br>
              <a:rPr lang="en-US" dirty="0"/>
            </a:br>
            <a:r>
              <a:rPr lang="en-US" dirty="0"/>
              <a:t>more accurately defining </a:t>
            </a:r>
            <a:br>
              <a:rPr lang="en-US" dirty="0"/>
            </a:br>
            <a:r>
              <a:rPr lang="en-US" dirty="0"/>
              <a:t>unit profitability by tracing</a:t>
            </a:r>
            <a:br>
              <a:rPr lang="en-US" dirty="0"/>
            </a:br>
            <a:r>
              <a:rPr lang="en-US" dirty="0"/>
              <a:t>activities and their </a:t>
            </a:r>
            <a:br>
              <a:rPr lang="en-US" dirty="0"/>
            </a:br>
            <a:r>
              <a:rPr lang="en-US" dirty="0"/>
              <a:t>associated costs directly</a:t>
            </a:r>
            <a:br>
              <a:rPr lang="en-US" dirty="0"/>
            </a:br>
            <a:r>
              <a:rPr lang="en-US" dirty="0"/>
              <a:t>to a specific unit.</a:t>
            </a:r>
          </a:p>
        </p:txBody>
      </p:sp>
      <p:pic>
        <p:nvPicPr>
          <p:cNvPr id="5122" name="Picture 2" descr="Alphabet letters with stationery on blackboard Free Photo">
            <a:extLst>
              <a:ext uri="{FF2B5EF4-FFF2-40B4-BE49-F238E27FC236}">
                <a16:creationId xmlns:a16="http://schemas.microsoft.com/office/drawing/2014/main" id="{8816218D-3581-490F-B649-4B13FB14F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2817629"/>
            <a:ext cx="3990805" cy="2658411"/>
          </a:xfrm>
          <a:prstGeom prst="rect">
            <a:avLst/>
          </a:prstGeom>
          <a:noFill/>
          <a:scene3d>
            <a:camera prst="orthographicFront"/>
            <a:lightRig rig="threePt" dir="t"/>
          </a:scene3d>
          <a:sp3d>
            <a:bevelT w="6985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839098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Warm-Up</a:t>
            </a:r>
            <a:r>
              <a:rPr lang="en-US" dirty="0"/>
              <a:t> to ABC</a:t>
            </a:r>
            <a:endParaRPr dirty="0"/>
          </a:p>
        </p:txBody>
      </p:sp>
      <p:sp>
        <p:nvSpPr>
          <p:cNvPr id="3" name="Content Placeholder 2"/>
          <p:cNvSpPr>
            <a:spLocks noGrp="1"/>
          </p:cNvSpPr>
          <p:nvPr>
            <p:ph idx="1"/>
          </p:nvPr>
        </p:nvSpPr>
        <p:spPr/>
        <p:txBody>
          <a:bodyPr/>
          <a:lstStyle/>
          <a:p>
            <a:pPr marL="292100" lvl="1" indent="-292100"/>
            <a:r>
              <a:rPr sz="2400" dirty="0">
                <a:solidFill>
                  <a:schemeClr val="tx2"/>
                </a:solidFill>
                <a:ea typeface="+mn-ea"/>
              </a:rPr>
              <a:t>Have you ever thought about how much it really costs to serve a customer?</a:t>
            </a:r>
          </a:p>
          <a:p>
            <a:r>
              <a:rPr dirty="0"/>
              <a:t>Do all customers cost the same to support?</a:t>
            </a:r>
            <a:endParaRPr lang="en-US" dirty="0"/>
          </a:p>
          <a:p>
            <a:pPr marL="0" indent="0">
              <a:buNone/>
            </a:pPr>
            <a:endParaRPr dirty="0"/>
          </a:p>
          <a:p>
            <a:pPr marL="0" indent="0">
              <a:buNone/>
            </a:pPr>
            <a:r>
              <a:rPr dirty="0"/>
              <a:t>Scenario:</a:t>
            </a:r>
          </a:p>
          <a:p>
            <a:r>
              <a:rPr dirty="0"/>
              <a:t>Customer A places one large order/month online.</a:t>
            </a:r>
          </a:p>
          <a:p>
            <a:r>
              <a:rPr dirty="0"/>
              <a:t>Customer B calls five times/week with small, customized orders.</a:t>
            </a:r>
          </a:p>
          <a:p>
            <a:r>
              <a:rPr dirty="0"/>
              <a:t>Who is more profitable?</a:t>
            </a:r>
          </a:p>
        </p:txBody>
      </p:sp>
    </p:spTree>
    <p:extLst>
      <p:ext uri="{BB962C8B-B14F-4D97-AF65-F5344CB8AC3E}">
        <p14:creationId xmlns:p14="http://schemas.microsoft.com/office/powerpoint/2010/main" val="713877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Activity-Based Costing (ABC)?</a:t>
            </a:r>
          </a:p>
        </p:txBody>
      </p:sp>
      <p:sp>
        <p:nvSpPr>
          <p:cNvPr id="3" name="Content Placeholder 2"/>
          <p:cNvSpPr>
            <a:spLocks noGrp="1"/>
          </p:cNvSpPr>
          <p:nvPr>
            <p:ph idx="1"/>
          </p:nvPr>
        </p:nvSpPr>
        <p:spPr/>
        <p:txBody>
          <a:bodyPr/>
          <a:lstStyle/>
          <a:p>
            <a:r>
              <a:rPr dirty="0"/>
              <a:t>ABC assigns costs to activities based on actual resource usage.</a:t>
            </a:r>
          </a:p>
          <a:p>
            <a:r>
              <a:rPr dirty="0"/>
              <a:t>Activities consume resources; products/customers consume activities.</a:t>
            </a:r>
          </a:p>
          <a:p>
            <a:r>
              <a:rPr dirty="0"/>
              <a:t>Provides more accurate cost info than traditional costing methods.</a:t>
            </a:r>
          </a:p>
        </p:txBody>
      </p:sp>
    </p:spTree>
    <p:extLst>
      <p:ext uri="{BB962C8B-B14F-4D97-AF65-F5344CB8AC3E}">
        <p14:creationId xmlns:p14="http://schemas.microsoft.com/office/powerpoint/2010/main" val="40705614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Traditional Costing vs. ABC</a:t>
            </a:r>
          </a:p>
        </p:txBody>
      </p:sp>
      <p:sp>
        <p:nvSpPr>
          <p:cNvPr id="3" name="Content Placeholder 2"/>
          <p:cNvSpPr>
            <a:spLocks noGrp="1"/>
          </p:cNvSpPr>
          <p:nvPr>
            <p:ph idx="1"/>
          </p:nvPr>
        </p:nvSpPr>
        <p:spPr/>
        <p:txBody>
          <a:bodyPr/>
          <a:lstStyle/>
          <a:p>
            <a:pPr marL="0" indent="0">
              <a:buNone/>
            </a:pPr>
            <a:r>
              <a:rPr dirty="0"/>
              <a:t>Traditional Costing:</a:t>
            </a:r>
          </a:p>
          <a:p>
            <a:r>
              <a:rPr dirty="0"/>
              <a:t>Spreads overhead using broad averages (e.g., % of sales)</a:t>
            </a:r>
          </a:p>
          <a:p>
            <a:endParaRPr dirty="0"/>
          </a:p>
          <a:p>
            <a:pPr marL="0" indent="0">
              <a:buNone/>
            </a:pPr>
            <a:r>
              <a:rPr dirty="0"/>
              <a:t>Activity-Based Costing:</a:t>
            </a:r>
          </a:p>
          <a:p>
            <a:r>
              <a:rPr dirty="0"/>
              <a:t>Assigns overhead based on actual activities (e.g., orders, calls)</a:t>
            </a:r>
          </a:p>
        </p:txBody>
      </p:sp>
    </p:spTree>
    <p:extLst>
      <p:ext uri="{BB962C8B-B14F-4D97-AF65-F5344CB8AC3E}">
        <p14:creationId xmlns:p14="http://schemas.microsoft.com/office/powerpoint/2010/main" val="34860477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ABC Example in Sales</a:t>
            </a:r>
          </a:p>
        </p:txBody>
      </p:sp>
      <p:sp>
        <p:nvSpPr>
          <p:cNvPr id="3" name="Content Placeholder 2"/>
          <p:cNvSpPr>
            <a:spLocks noGrp="1"/>
          </p:cNvSpPr>
          <p:nvPr>
            <p:ph idx="1"/>
          </p:nvPr>
        </p:nvSpPr>
        <p:spPr/>
        <p:txBody>
          <a:bodyPr/>
          <a:lstStyle/>
          <a:p>
            <a:pPr marL="0" indent="0">
              <a:buNone/>
            </a:pPr>
            <a:r>
              <a:rPr dirty="0"/>
              <a:t>Activity Costs:</a:t>
            </a:r>
          </a:p>
          <a:p>
            <a:r>
              <a:rPr dirty="0"/>
              <a:t>Order Processing: $10/order</a:t>
            </a:r>
          </a:p>
          <a:p>
            <a:r>
              <a:rPr dirty="0"/>
              <a:t>Delivery: $100/delivery</a:t>
            </a:r>
          </a:p>
          <a:p>
            <a:r>
              <a:rPr dirty="0"/>
              <a:t>Support: $10/call</a:t>
            </a:r>
          </a:p>
          <a:p>
            <a:endParaRPr dirty="0"/>
          </a:p>
          <a:p>
            <a:pPr marL="0" indent="0">
              <a:buNone/>
            </a:pPr>
            <a:r>
              <a:rPr lang="en-US" dirty="0"/>
              <a:t>Who is more profitable?</a:t>
            </a:r>
          </a:p>
          <a:p>
            <a:r>
              <a:rPr dirty="0"/>
              <a:t>Customer A: $350</a:t>
            </a:r>
          </a:p>
          <a:p>
            <a:r>
              <a:rPr dirty="0"/>
              <a:t>Customer B: $1,100</a:t>
            </a:r>
          </a:p>
        </p:txBody>
      </p:sp>
    </p:spTree>
    <p:extLst>
      <p:ext uri="{BB962C8B-B14F-4D97-AF65-F5344CB8AC3E}">
        <p14:creationId xmlns:p14="http://schemas.microsoft.com/office/powerpoint/2010/main" val="28934087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r>
              <a:rPr dirty="0"/>
              <a:t>ABC shows true cost to serve customers/products</a:t>
            </a:r>
          </a:p>
          <a:p>
            <a:r>
              <a:rPr dirty="0"/>
              <a:t>Helps with pricing, segmentation, process improvements</a:t>
            </a:r>
          </a:p>
          <a:p>
            <a:r>
              <a:rPr dirty="0"/>
              <a:t>Sales managers use ABC to identify profit opportunities</a:t>
            </a:r>
          </a:p>
        </p:txBody>
      </p:sp>
    </p:spTree>
    <p:extLst>
      <p:ext uri="{BB962C8B-B14F-4D97-AF65-F5344CB8AC3E}">
        <p14:creationId xmlns:p14="http://schemas.microsoft.com/office/powerpoint/2010/main" val="1349925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07AF9-267E-416C-985F-4CF0755F2B7F}"/>
              </a:ext>
            </a:extLst>
          </p:cNvPr>
          <p:cNvSpPr>
            <a:spLocks noGrp="1"/>
          </p:cNvSpPr>
          <p:nvPr>
            <p:ph type="title"/>
          </p:nvPr>
        </p:nvSpPr>
        <p:spPr>
          <a:xfrm>
            <a:off x="152400" y="17417"/>
            <a:ext cx="8610600" cy="592183"/>
          </a:xfrm>
          <a:solidFill>
            <a:schemeClr val="bg2">
              <a:lumMod val="60000"/>
              <a:lumOff val="40000"/>
            </a:schemeClr>
          </a:solidFill>
        </p:spPr>
        <p:txBody>
          <a:bodyPr/>
          <a:lstStyle/>
          <a:p>
            <a:r>
              <a:rPr lang="en-US" b="1" dirty="0"/>
              <a:t>Activity-Based Costing </a:t>
            </a:r>
            <a:r>
              <a:rPr lang="en-US" dirty="0"/>
              <a:t>Example</a:t>
            </a:r>
          </a:p>
        </p:txBody>
      </p:sp>
      <p:pic>
        <p:nvPicPr>
          <p:cNvPr id="5" name="Content Placeholder 4" descr="A screenshot of text&#10;&#10;Description generated with very high confidence">
            <a:extLst>
              <a:ext uri="{FF2B5EF4-FFF2-40B4-BE49-F238E27FC236}">
                <a16:creationId xmlns:a16="http://schemas.microsoft.com/office/drawing/2014/main" id="{37E97682-A7EA-4F98-82DC-F923927290C9}"/>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tretch>
            <a:fillRect/>
          </a:stretch>
        </p:blipFill>
        <p:spPr>
          <a:xfrm>
            <a:off x="2163388" y="609600"/>
            <a:ext cx="4847012" cy="6164317"/>
          </a:xfrm>
        </p:spPr>
      </p:pic>
    </p:spTree>
    <p:extLst>
      <p:ext uri="{BB962C8B-B14F-4D97-AF65-F5344CB8AC3E}">
        <p14:creationId xmlns:p14="http://schemas.microsoft.com/office/powerpoint/2010/main" val="2865500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2" name="Group 2"/>
          <p:cNvGrpSpPr>
            <a:grpSpLocks/>
          </p:cNvGrpSpPr>
          <p:nvPr/>
        </p:nvGrpSpPr>
        <p:grpSpPr bwMode="auto">
          <a:xfrm>
            <a:off x="88900" y="4351848"/>
            <a:ext cx="8361363" cy="704851"/>
            <a:chOff x="432" y="3360"/>
            <a:chExt cx="5267" cy="444"/>
          </a:xfrm>
        </p:grpSpPr>
        <p:sp>
          <p:nvSpPr>
            <p:cNvPr id="66563" name="Text Box 3"/>
            <p:cNvSpPr txBox="1">
              <a:spLocks noChangeArrowheads="1"/>
            </p:cNvSpPr>
            <p:nvPr/>
          </p:nvSpPr>
          <p:spPr bwMode="auto">
            <a:xfrm>
              <a:off x="432" y="3360"/>
              <a:ext cx="5267" cy="252"/>
            </a:xfrm>
            <a:prstGeom prst="rect">
              <a:avLst/>
            </a:prstGeom>
            <a:noFill/>
            <a:ln w="12700">
              <a:noFill/>
              <a:miter lim="800000"/>
              <a:headEnd/>
              <a:tailEnd/>
            </a:ln>
            <a:effectLst/>
          </p:spPr>
          <p:txBody>
            <a:bodyPr wrap="none">
              <a:spAutoFit/>
            </a:bodyPr>
            <a:lstStyle/>
            <a:p>
              <a:r>
                <a:rPr lang="en-US" sz="2000" b="1" dirty="0">
                  <a:solidFill>
                    <a:schemeClr val="tx2"/>
                  </a:solidFill>
                  <a:latin typeface="Arial" panose="020B0604020202020204" pitchFamily="34" charset="0"/>
                  <a:cs typeface="Arial" panose="020B0604020202020204" pitchFamily="34" charset="0"/>
                </a:rPr>
                <a:t>ROAM </a:t>
              </a:r>
              <a:r>
                <a:rPr lang="en-US" sz="2000" dirty="0">
                  <a:solidFill>
                    <a:schemeClr val="tx2"/>
                  </a:solidFill>
                  <a:latin typeface="Arial" panose="020B0604020202020204" pitchFamily="34" charset="0"/>
                  <a:cs typeface="Arial" panose="020B0604020202020204" pitchFamily="34" charset="0"/>
                </a:rPr>
                <a:t>= Profit contribution as percentage of sales X Asset turnover rate</a:t>
              </a:r>
            </a:p>
          </p:txBody>
        </p:sp>
        <p:sp>
          <p:nvSpPr>
            <p:cNvPr id="66564" name="Text Box 4"/>
            <p:cNvSpPr txBox="1">
              <a:spLocks noChangeArrowheads="1"/>
            </p:cNvSpPr>
            <p:nvPr/>
          </p:nvSpPr>
          <p:spPr bwMode="auto">
            <a:xfrm>
              <a:off x="912" y="3552"/>
              <a:ext cx="4236" cy="252"/>
            </a:xfrm>
            <a:prstGeom prst="rect">
              <a:avLst/>
            </a:prstGeom>
            <a:noFill/>
            <a:ln w="12700">
              <a:noFill/>
              <a:miter lim="800000"/>
              <a:headEnd/>
              <a:tailEnd/>
            </a:ln>
            <a:effectLst/>
          </p:spPr>
          <p:txBody>
            <a:bodyPr wrap="none">
              <a:spAutoFit/>
            </a:bodyPr>
            <a:lstStyle/>
            <a:p>
              <a:r>
                <a:rPr lang="en-US" sz="2000" b="1" dirty="0">
                  <a:latin typeface="Arial" panose="020B0604020202020204" pitchFamily="34" charset="0"/>
                  <a:cs typeface="Arial" panose="020B0604020202020204" pitchFamily="34" charset="0"/>
                </a:rPr>
                <a:t> </a:t>
              </a:r>
              <a:r>
                <a:rPr lang="en-US" sz="2000" dirty="0">
                  <a:solidFill>
                    <a:schemeClr val="tx2"/>
                  </a:solidFill>
                  <a:latin typeface="Arial" panose="020B0604020202020204" pitchFamily="34" charset="0"/>
                  <a:cs typeface="Arial" panose="020B0604020202020204" pitchFamily="34" charset="0"/>
                </a:rPr>
                <a:t>= (Profit contribution / Sales) X (Sales / Assets managed)</a:t>
              </a:r>
            </a:p>
          </p:txBody>
        </p:sp>
      </p:grpSp>
      <p:sp>
        <p:nvSpPr>
          <p:cNvPr id="66565" name="Rectangle 5"/>
          <p:cNvSpPr>
            <a:spLocks noGrp="1" noChangeArrowheads="1"/>
          </p:cNvSpPr>
          <p:nvPr>
            <p:ph type="title"/>
          </p:nvPr>
        </p:nvSpPr>
        <p:spPr>
          <a:solidFill>
            <a:schemeClr val="bg2">
              <a:lumMod val="60000"/>
              <a:lumOff val="40000"/>
            </a:schemeClr>
          </a:solidFill>
        </p:spPr>
        <p:txBody>
          <a:bodyPr/>
          <a:lstStyle/>
          <a:p>
            <a:r>
              <a:rPr lang="en-US" sz="3400" dirty="0"/>
              <a:t>Profitability Analysis:  </a:t>
            </a:r>
            <a:r>
              <a:rPr lang="en-US" sz="3400" b="1" dirty="0"/>
              <a:t>Return on</a:t>
            </a:r>
            <a:br>
              <a:rPr lang="en-US" sz="3400" b="1" dirty="0"/>
            </a:br>
            <a:r>
              <a:rPr lang="en-US" sz="3400" b="1" u="sng" dirty="0"/>
              <a:t>Assets</a:t>
            </a:r>
            <a:r>
              <a:rPr lang="en-US" sz="3400" b="1" dirty="0"/>
              <a:t> Managed Analysis </a:t>
            </a:r>
            <a:r>
              <a:rPr lang="en-US" sz="3400" dirty="0"/>
              <a:t>(ROAM) </a:t>
            </a:r>
          </a:p>
        </p:txBody>
      </p:sp>
      <p:sp>
        <p:nvSpPr>
          <p:cNvPr id="66566" name="Rectangle 6"/>
          <p:cNvSpPr>
            <a:spLocks noGrp="1" noChangeArrowheads="1"/>
          </p:cNvSpPr>
          <p:nvPr>
            <p:ph idx="1"/>
          </p:nvPr>
        </p:nvSpPr>
        <p:spPr>
          <a:xfrm>
            <a:off x="609600" y="1676400"/>
            <a:ext cx="8205788" cy="2481262"/>
          </a:xfrm>
        </p:spPr>
        <p:txBody>
          <a:bodyPr/>
          <a:lstStyle/>
          <a:p>
            <a:r>
              <a:rPr lang="en-US" dirty="0"/>
              <a:t>Calculations provide an assessment of profitability</a:t>
            </a:r>
            <a:br>
              <a:rPr lang="en-US" dirty="0"/>
            </a:br>
            <a:r>
              <a:rPr lang="en-US" dirty="0"/>
              <a:t>and useful diagnostic information.</a:t>
            </a:r>
          </a:p>
          <a:p>
            <a:endParaRPr lang="en-US" dirty="0"/>
          </a:p>
          <a:p>
            <a:r>
              <a:rPr lang="en-US" b="1" dirty="0"/>
              <a:t>ROAM</a:t>
            </a:r>
            <a:r>
              <a:rPr lang="en-US" dirty="0"/>
              <a:t> is determined by </a:t>
            </a:r>
            <a:r>
              <a:rPr lang="en-US" i="1" dirty="0"/>
              <a:t>both</a:t>
            </a:r>
            <a:r>
              <a:rPr lang="en-US" dirty="0"/>
              <a:t> </a:t>
            </a:r>
            <a:r>
              <a:rPr lang="en-US" u="sng" dirty="0"/>
              <a:t>profit contribution </a:t>
            </a:r>
            <a:br>
              <a:rPr lang="en-US" u="sng" dirty="0"/>
            </a:br>
            <a:r>
              <a:rPr lang="en-US" u="sng" dirty="0"/>
              <a:t>percentage</a:t>
            </a:r>
            <a:r>
              <a:rPr lang="en-US" dirty="0"/>
              <a:t> and </a:t>
            </a:r>
            <a:r>
              <a:rPr lang="en-US" u="sng" dirty="0"/>
              <a:t>asset turnover</a:t>
            </a:r>
            <a:r>
              <a:rPr lang="en-US" dirty="0"/>
              <a:t>.</a:t>
            </a:r>
          </a:p>
        </p:txBody>
      </p:sp>
      <p:sp>
        <p:nvSpPr>
          <p:cNvPr id="2" name="TextBox 1">
            <a:extLst>
              <a:ext uri="{FF2B5EF4-FFF2-40B4-BE49-F238E27FC236}">
                <a16:creationId xmlns:a16="http://schemas.microsoft.com/office/drawing/2014/main" id="{8343B74B-F8E3-4C18-A13E-FABA474CA40B}"/>
              </a:ext>
            </a:extLst>
          </p:cNvPr>
          <p:cNvSpPr txBox="1"/>
          <p:nvPr/>
        </p:nvSpPr>
        <p:spPr>
          <a:xfrm>
            <a:off x="134957" y="5369762"/>
            <a:ext cx="8502649" cy="1015663"/>
          </a:xfrm>
          <a:prstGeom prst="rect">
            <a:avLst/>
          </a:prstGeom>
          <a:noFill/>
        </p:spPr>
        <p:txBody>
          <a:bodyPr wrap="none" rtlCol="0">
            <a:spAutoFit/>
          </a:bodyPr>
          <a:lstStyle/>
          <a:p>
            <a:r>
              <a:rPr lang="en-US" sz="2000" b="1" i="1" u="sng" dirty="0">
                <a:latin typeface="Arial" panose="020B0604020202020204" pitchFamily="34" charset="0"/>
                <a:cs typeface="Arial" panose="020B0604020202020204" pitchFamily="34" charset="0"/>
              </a:rPr>
              <a:t>NOTE</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income statement approach is incomplete because it doesn’t </a:t>
            </a:r>
          </a:p>
          <a:p>
            <a:r>
              <a:rPr lang="en-US" sz="2000" dirty="0">
                <a:latin typeface="Arial" panose="020B0604020202020204" pitchFamily="34" charset="0"/>
                <a:cs typeface="Arial" panose="020B0604020202020204" pitchFamily="34" charset="0"/>
              </a:rPr>
              <a:t>incorporate any evaluation of the </a:t>
            </a:r>
            <a:r>
              <a:rPr lang="en-US" sz="2000" b="1" u="sng" dirty="0">
                <a:latin typeface="Arial" panose="020B0604020202020204" pitchFamily="34" charset="0"/>
                <a:cs typeface="Arial" panose="020B0604020202020204" pitchFamily="34" charset="0"/>
              </a:rPr>
              <a:t>investment in assets</a:t>
            </a:r>
            <a:r>
              <a:rPr lang="en-US" sz="2000" dirty="0">
                <a:latin typeface="Arial" panose="020B0604020202020204" pitchFamily="34" charset="0"/>
                <a:cs typeface="Arial" panose="020B0604020202020204" pitchFamily="34" charset="0"/>
              </a:rPr>
              <a:t> required to </a:t>
            </a:r>
          </a:p>
          <a:p>
            <a:r>
              <a:rPr lang="en-US" sz="2000" dirty="0">
                <a:latin typeface="Arial" panose="020B0604020202020204" pitchFamily="34" charset="0"/>
                <a:cs typeface="Arial" panose="020B0604020202020204" pitchFamily="34" charset="0"/>
              </a:rPr>
              <a:t>generate the net profit or profit contribution.</a:t>
            </a:r>
          </a:p>
        </p:txBody>
      </p:sp>
    </p:spTree>
    <p:extLst>
      <p:ext uri="{BB962C8B-B14F-4D97-AF65-F5344CB8AC3E}">
        <p14:creationId xmlns:p14="http://schemas.microsoft.com/office/powerpoint/2010/main" val="275839140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3124200" y="5715000"/>
            <a:ext cx="2895600" cy="457200"/>
          </a:xfrm>
          <a:prstGeom prst="rect">
            <a:avLst/>
          </a:prstGeom>
          <a:noFill/>
          <a:ln w="12700">
            <a:noFill/>
            <a:miter lim="800000"/>
            <a:headEnd/>
            <a:tailEnd/>
          </a:ln>
          <a:effectLst/>
        </p:spPr>
        <p:txBody>
          <a:bodyPr wrap="none" anchor="ctr"/>
          <a:lstStyle/>
          <a:p>
            <a:endParaRPr lang="en-US" dirty="0"/>
          </a:p>
        </p:txBody>
      </p:sp>
      <p:sp>
        <p:nvSpPr>
          <p:cNvPr id="68611" name="Rectangle 3"/>
          <p:cNvSpPr>
            <a:spLocks noGrp="1" noChangeArrowheads="1"/>
          </p:cNvSpPr>
          <p:nvPr>
            <p:ph type="title"/>
          </p:nvPr>
        </p:nvSpPr>
        <p:spPr>
          <a:xfrm>
            <a:off x="203200" y="227013"/>
            <a:ext cx="8610600" cy="1066800"/>
          </a:xfrm>
          <a:solidFill>
            <a:schemeClr val="bg2">
              <a:lumMod val="60000"/>
              <a:lumOff val="40000"/>
            </a:schemeClr>
          </a:solidFill>
        </p:spPr>
        <p:txBody>
          <a:bodyPr/>
          <a:lstStyle/>
          <a:p>
            <a:r>
              <a:rPr lang="en-US" b="1" dirty="0"/>
              <a:t>Return on </a:t>
            </a:r>
            <a:r>
              <a:rPr lang="en-US" b="1" u="sng" dirty="0"/>
              <a:t>Assets</a:t>
            </a:r>
            <a:r>
              <a:rPr lang="en-US" b="1" dirty="0"/>
              <a:t> Managed </a:t>
            </a:r>
            <a:r>
              <a:rPr lang="en-US" dirty="0"/>
              <a:t>(ROAM) </a:t>
            </a:r>
          </a:p>
        </p:txBody>
      </p:sp>
      <p:sp>
        <p:nvSpPr>
          <p:cNvPr id="68612" name="Rectangle 4"/>
          <p:cNvSpPr>
            <a:spLocks noChangeArrowheads="1"/>
          </p:cNvSpPr>
          <p:nvPr/>
        </p:nvSpPr>
        <p:spPr bwMode="auto">
          <a:xfrm>
            <a:off x="3522663" y="1447800"/>
            <a:ext cx="871537" cy="244475"/>
          </a:xfrm>
          <a:prstGeom prst="rect">
            <a:avLst/>
          </a:prstGeom>
          <a:noFill/>
          <a:ln w="9525">
            <a:noFill/>
            <a:miter lim="800000"/>
            <a:headEnd/>
            <a:tailEnd/>
          </a:ln>
        </p:spPr>
        <p:txBody>
          <a:bodyPr wrap="none" lIns="0" tIns="0" rIns="0" bIns="0">
            <a:spAutoFit/>
          </a:bodyPr>
          <a:lstStyle/>
          <a:p>
            <a:r>
              <a:rPr lang="en-US" sz="1600" b="1" dirty="0"/>
              <a:t>District 1</a:t>
            </a:r>
          </a:p>
        </p:txBody>
      </p:sp>
      <p:sp>
        <p:nvSpPr>
          <p:cNvPr id="68613" name="Rectangle 5"/>
          <p:cNvSpPr>
            <a:spLocks noChangeArrowheads="1"/>
          </p:cNvSpPr>
          <p:nvPr/>
        </p:nvSpPr>
        <p:spPr bwMode="auto">
          <a:xfrm>
            <a:off x="3321050" y="3827463"/>
            <a:ext cx="1189038" cy="242887"/>
          </a:xfrm>
          <a:prstGeom prst="rect">
            <a:avLst/>
          </a:prstGeom>
          <a:noFill/>
          <a:ln w="9525">
            <a:noFill/>
            <a:miter lim="800000"/>
            <a:headEnd/>
            <a:tailEnd/>
          </a:ln>
        </p:spPr>
        <p:txBody>
          <a:bodyPr wrap="none" lIns="0" tIns="0" rIns="0" bIns="0">
            <a:spAutoFit/>
          </a:bodyPr>
          <a:lstStyle/>
          <a:p>
            <a:r>
              <a:rPr lang="en-US" sz="1600" dirty="0"/>
              <a:t>     8,000,000</a:t>
            </a:r>
          </a:p>
        </p:txBody>
      </p:sp>
      <p:sp>
        <p:nvSpPr>
          <p:cNvPr id="68614" name="Rectangle 6"/>
          <p:cNvSpPr>
            <a:spLocks noChangeArrowheads="1"/>
          </p:cNvSpPr>
          <p:nvPr/>
        </p:nvSpPr>
        <p:spPr bwMode="auto">
          <a:xfrm>
            <a:off x="3321050" y="2632075"/>
            <a:ext cx="1130300" cy="244475"/>
          </a:xfrm>
          <a:prstGeom prst="rect">
            <a:avLst/>
          </a:prstGeom>
          <a:noFill/>
          <a:ln w="9525">
            <a:noFill/>
            <a:miter lim="800000"/>
            <a:headEnd/>
            <a:tailEnd/>
          </a:ln>
        </p:spPr>
        <p:txBody>
          <a:bodyPr wrap="none" lIns="0" tIns="0" rIns="0" bIns="0">
            <a:spAutoFit/>
          </a:bodyPr>
          <a:lstStyle/>
          <a:p>
            <a:r>
              <a:rPr lang="en-US" sz="1600" dirty="0"/>
              <a:t>  12,000,000</a:t>
            </a:r>
          </a:p>
        </p:txBody>
      </p:sp>
      <p:sp>
        <p:nvSpPr>
          <p:cNvPr id="68615" name="Rectangle 7"/>
          <p:cNvSpPr>
            <a:spLocks noChangeArrowheads="1"/>
          </p:cNvSpPr>
          <p:nvPr/>
        </p:nvSpPr>
        <p:spPr bwMode="auto">
          <a:xfrm>
            <a:off x="3321050" y="2243138"/>
            <a:ext cx="1130300" cy="244475"/>
          </a:xfrm>
          <a:prstGeom prst="rect">
            <a:avLst/>
          </a:prstGeom>
          <a:noFill/>
          <a:ln w="9525">
            <a:noFill/>
            <a:miter lim="800000"/>
            <a:headEnd/>
            <a:tailEnd/>
          </a:ln>
        </p:spPr>
        <p:txBody>
          <a:bodyPr wrap="none" lIns="0" tIns="0" rIns="0" bIns="0">
            <a:spAutoFit/>
          </a:bodyPr>
          <a:lstStyle/>
          <a:p>
            <a:r>
              <a:rPr lang="en-US" sz="1600" u="sng" dirty="0"/>
              <a:t>  12,000,000</a:t>
            </a:r>
          </a:p>
        </p:txBody>
      </p:sp>
      <p:sp>
        <p:nvSpPr>
          <p:cNvPr id="68616" name="Text Box 8"/>
          <p:cNvSpPr txBox="1">
            <a:spLocks noChangeArrowheads="1"/>
          </p:cNvSpPr>
          <p:nvPr/>
        </p:nvSpPr>
        <p:spPr bwMode="auto">
          <a:xfrm>
            <a:off x="3235325" y="1827213"/>
            <a:ext cx="1312863" cy="338137"/>
          </a:xfrm>
          <a:prstGeom prst="rect">
            <a:avLst/>
          </a:prstGeom>
          <a:noFill/>
          <a:ln w="12700">
            <a:noFill/>
            <a:miter lim="800000"/>
            <a:headEnd/>
            <a:tailEnd/>
          </a:ln>
          <a:effectLst/>
        </p:spPr>
        <p:txBody>
          <a:bodyPr wrap="none">
            <a:spAutoFit/>
          </a:bodyPr>
          <a:lstStyle/>
          <a:p>
            <a:r>
              <a:rPr lang="en-US" sz="1600" dirty="0"/>
              <a:t>$24,000,000</a:t>
            </a:r>
          </a:p>
        </p:txBody>
      </p:sp>
      <p:sp>
        <p:nvSpPr>
          <p:cNvPr id="68617" name="Rectangle 9"/>
          <p:cNvSpPr>
            <a:spLocks noChangeArrowheads="1"/>
          </p:cNvSpPr>
          <p:nvPr/>
        </p:nvSpPr>
        <p:spPr bwMode="auto">
          <a:xfrm>
            <a:off x="3321050" y="3033713"/>
            <a:ext cx="1131888" cy="244475"/>
          </a:xfrm>
          <a:prstGeom prst="rect">
            <a:avLst/>
          </a:prstGeom>
          <a:noFill/>
          <a:ln w="9525">
            <a:noFill/>
            <a:miter lim="800000"/>
            <a:headEnd/>
            <a:tailEnd/>
          </a:ln>
        </p:spPr>
        <p:txBody>
          <a:bodyPr wrap="none" lIns="0" tIns="0" rIns="0" bIns="0">
            <a:spAutoFit/>
          </a:bodyPr>
          <a:lstStyle/>
          <a:p>
            <a:r>
              <a:rPr lang="en-US" sz="1600" u="sng" dirty="0"/>
              <a:t>    7,200,000</a:t>
            </a:r>
          </a:p>
        </p:txBody>
      </p:sp>
      <p:sp>
        <p:nvSpPr>
          <p:cNvPr id="68618" name="Line 10"/>
          <p:cNvSpPr>
            <a:spLocks noChangeShapeType="1"/>
          </p:cNvSpPr>
          <p:nvPr/>
        </p:nvSpPr>
        <p:spPr bwMode="auto">
          <a:xfrm>
            <a:off x="3405188" y="1792288"/>
            <a:ext cx="1189037" cy="0"/>
          </a:xfrm>
          <a:prstGeom prst="line">
            <a:avLst/>
          </a:prstGeom>
          <a:noFill/>
          <a:ln w="19050">
            <a:solidFill>
              <a:schemeClr val="tx1"/>
            </a:solidFill>
            <a:round/>
            <a:headEnd/>
            <a:tailEnd/>
          </a:ln>
          <a:effectLst/>
        </p:spPr>
        <p:txBody>
          <a:bodyPr/>
          <a:lstStyle/>
          <a:p>
            <a:endParaRPr lang="en-US" dirty="0"/>
          </a:p>
        </p:txBody>
      </p:sp>
      <p:sp>
        <p:nvSpPr>
          <p:cNvPr id="68619" name="Text Box 11"/>
          <p:cNvSpPr txBox="1">
            <a:spLocks noChangeArrowheads="1"/>
          </p:cNvSpPr>
          <p:nvPr/>
        </p:nvSpPr>
        <p:spPr bwMode="auto">
          <a:xfrm>
            <a:off x="4594225" y="1827213"/>
            <a:ext cx="1312863" cy="338137"/>
          </a:xfrm>
          <a:prstGeom prst="rect">
            <a:avLst/>
          </a:prstGeom>
          <a:noFill/>
          <a:ln w="12700">
            <a:noFill/>
            <a:miter lim="800000"/>
            <a:headEnd/>
            <a:tailEnd/>
          </a:ln>
          <a:effectLst/>
        </p:spPr>
        <p:txBody>
          <a:bodyPr wrap="none">
            <a:spAutoFit/>
          </a:bodyPr>
          <a:lstStyle/>
          <a:p>
            <a:r>
              <a:rPr lang="en-US" sz="1600" dirty="0"/>
              <a:t>$24,000,000</a:t>
            </a:r>
          </a:p>
        </p:txBody>
      </p:sp>
      <p:sp>
        <p:nvSpPr>
          <p:cNvPr id="68620" name="Rectangle 12"/>
          <p:cNvSpPr>
            <a:spLocks noChangeArrowheads="1"/>
          </p:cNvSpPr>
          <p:nvPr/>
        </p:nvSpPr>
        <p:spPr bwMode="auto">
          <a:xfrm>
            <a:off x="4930775" y="1447800"/>
            <a:ext cx="871538" cy="244475"/>
          </a:xfrm>
          <a:prstGeom prst="rect">
            <a:avLst/>
          </a:prstGeom>
          <a:noFill/>
          <a:ln w="9525">
            <a:noFill/>
            <a:miter lim="800000"/>
            <a:headEnd/>
            <a:tailEnd/>
          </a:ln>
        </p:spPr>
        <p:txBody>
          <a:bodyPr wrap="none" lIns="0" tIns="0" rIns="0" bIns="0">
            <a:spAutoFit/>
          </a:bodyPr>
          <a:lstStyle/>
          <a:p>
            <a:r>
              <a:rPr lang="en-US" sz="1600" b="1" dirty="0"/>
              <a:t>District 2</a:t>
            </a:r>
          </a:p>
        </p:txBody>
      </p:sp>
      <p:sp>
        <p:nvSpPr>
          <p:cNvPr id="68621" name="Rectangle 13"/>
          <p:cNvSpPr>
            <a:spLocks noChangeArrowheads="1"/>
          </p:cNvSpPr>
          <p:nvPr/>
        </p:nvSpPr>
        <p:spPr bwMode="auto">
          <a:xfrm>
            <a:off x="6348413" y="1447800"/>
            <a:ext cx="871537" cy="244475"/>
          </a:xfrm>
          <a:prstGeom prst="rect">
            <a:avLst/>
          </a:prstGeom>
          <a:noFill/>
          <a:ln w="9525">
            <a:noFill/>
            <a:miter lim="800000"/>
            <a:headEnd/>
            <a:tailEnd/>
          </a:ln>
        </p:spPr>
        <p:txBody>
          <a:bodyPr wrap="none" lIns="0" tIns="0" rIns="0" bIns="0">
            <a:spAutoFit/>
          </a:bodyPr>
          <a:lstStyle/>
          <a:p>
            <a:r>
              <a:rPr lang="en-US" sz="1600" b="1" dirty="0"/>
              <a:t>District 3</a:t>
            </a:r>
          </a:p>
        </p:txBody>
      </p:sp>
      <p:sp>
        <p:nvSpPr>
          <p:cNvPr id="68622" name="Rectangle 14"/>
          <p:cNvSpPr>
            <a:spLocks noChangeArrowheads="1"/>
          </p:cNvSpPr>
          <p:nvPr/>
        </p:nvSpPr>
        <p:spPr bwMode="auto">
          <a:xfrm>
            <a:off x="7767638" y="1447800"/>
            <a:ext cx="871537" cy="244475"/>
          </a:xfrm>
          <a:prstGeom prst="rect">
            <a:avLst/>
          </a:prstGeom>
          <a:noFill/>
          <a:ln w="9525">
            <a:noFill/>
            <a:miter lim="800000"/>
            <a:headEnd/>
            <a:tailEnd/>
          </a:ln>
        </p:spPr>
        <p:txBody>
          <a:bodyPr wrap="none" lIns="0" tIns="0" rIns="0" bIns="0">
            <a:spAutoFit/>
          </a:bodyPr>
          <a:lstStyle/>
          <a:p>
            <a:r>
              <a:rPr lang="en-US" sz="1600" b="1" dirty="0"/>
              <a:t>District 4</a:t>
            </a:r>
          </a:p>
        </p:txBody>
      </p:sp>
      <p:sp>
        <p:nvSpPr>
          <p:cNvPr id="68623" name="Rectangle 15"/>
          <p:cNvSpPr>
            <a:spLocks noChangeArrowheads="1"/>
          </p:cNvSpPr>
          <p:nvPr/>
        </p:nvSpPr>
        <p:spPr bwMode="auto">
          <a:xfrm>
            <a:off x="4764088" y="3827463"/>
            <a:ext cx="1131887" cy="242887"/>
          </a:xfrm>
          <a:prstGeom prst="rect">
            <a:avLst/>
          </a:prstGeom>
          <a:noFill/>
          <a:ln w="9525">
            <a:noFill/>
            <a:miter lim="800000"/>
            <a:headEnd/>
            <a:tailEnd/>
          </a:ln>
        </p:spPr>
        <p:txBody>
          <a:bodyPr wrap="none" lIns="0" tIns="0" rIns="0" bIns="0">
            <a:spAutoFit/>
          </a:bodyPr>
          <a:lstStyle/>
          <a:p>
            <a:r>
              <a:rPr lang="en-US" sz="1600" dirty="0"/>
              <a:t>    4,000,000</a:t>
            </a:r>
          </a:p>
        </p:txBody>
      </p:sp>
      <p:sp>
        <p:nvSpPr>
          <p:cNvPr id="68624" name="Rectangle 16"/>
          <p:cNvSpPr>
            <a:spLocks noChangeArrowheads="1"/>
          </p:cNvSpPr>
          <p:nvPr/>
        </p:nvSpPr>
        <p:spPr bwMode="auto">
          <a:xfrm>
            <a:off x="6264275" y="3827463"/>
            <a:ext cx="1073150" cy="242887"/>
          </a:xfrm>
          <a:prstGeom prst="rect">
            <a:avLst/>
          </a:prstGeom>
          <a:noFill/>
          <a:ln w="9525">
            <a:noFill/>
            <a:miter lim="800000"/>
            <a:headEnd/>
            <a:tailEnd/>
          </a:ln>
        </p:spPr>
        <p:txBody>
          <a:bodyPr wrap="none" lIns="0" tIns="0" rIns="0" bIns="0">
            <a:spAutoFit/>
          </a:bodyPr>
          <a:lstStyle/>
          <a:p>
            <a:r>
              <a:rPr lang="en-US" sz="1600" dirty="0"/>
              <a:t> 16,000,000</a:t>
            </a:r>
          </a:p>
        </p:txBody>
      </p:sp>
      <p:sp>
        <p:nvSpPr>
          <p:cNvPr id="68625" name="Rectangle 17"/>
          <p:cNvSpPr>
            <a:spLocks noChangeArrowheads="1"/>
          </p:cNvSpPr>
          <p:nvPr/>
        </p:nvSpPr>
        <p:spPr bwMode="auto">
          <a:xfrm>
            <a:off x="4706938" y="2632075"/>
            <a:ext cx="1130300" cy="244475"/>
          </a:xfrm>
          <a:prstGeom prst="rect">
            <a:avLst/>
          </a:prstGeom>
          <a:noFill/>
          <a:ln w="9525">
            <a:noFill/>
            <a:miter lim="800000"/>
            <a:headEnd/>
            <a:tailEnd/>
          </a:ln>
        </p:spPr>
        <p:txBody>
          <a:bodyPr wrap="none" lIns="0" tIns="0" rIns="0" bIns="0">
            <a:spAutoFit/>
          </a:bodyPr>
          <a:lstStyle/>
          <a:p>
            <a:r>
              <a:rPr lang="en-US" sz="1600" dirty="0"/>
              <a:t>  12,000,000</a:t>
            </a:r>
          </a:p>
        </p:txBody>
      </p:sp>
      <p:sp>
        <p:nvSpPr>
          <p:cNvPr id="68626" name="Rectangle 18"/>
          <p:cNvSpPr>
            <a:spLocks noChangeArrowheads="1"/>
          </p:cNvSpPr>
          <p:nvPr/>
        </p:nvSpPr>
        <p:spPr bwMode="auto">
          <a:xfrm>
            <a:off x="6207125" y="2632075"/>
            <a:ext cx="1130300" cy="244475"/>
          </a:xfrm>
          <a:prstGeom prst="rect">
            <a:avLst/>
          </a:prstGeom>
          <a:noFill/>
          <a:ln w="9525">
            <a:noFill/>
            <a:miter lim="800000"/>
            <a:headEnd/>
            <a:tailEnd/>
          </a:ln>
        </p:spPr>
        <p:txBody>
          <a:bodyPr wrap="none" lIns="0" tIns="0" rIns="0" bIns="0">
            <a:spAutoFit/>
          </a:bodyPr>
          <a:lstStyle/>
          <a:p>
            <a:r>
              <a:rPr lang="en-US" sz="1600" dirty="0"/>
              <a:t>  10,000,000</a:t>
            </a:r>
          </a:p>
        </p:txBody>
      </p:sp>
      <p:sp>
        <p:nvSpPr>
          <p:cNvPr id="68627" name="Rectangle 19"/>
          <p:cNvSpPr>
            <a:spLocks noChangeArrowheads="1"/>
          </p:cNvSpPr>
          <p:nvPr/>
        </p:nvSpPr>
        <p:spPr bwMode="auto">
          <a:xfrm>
            <a:off x="7707313" y="2632075"/>
            <a:ext cx="1073150" cy="244475"/>
          </a:xfrm>
          <a:prstGeom prst="rect">
            <a:avLst/>
          </a:prstGeom>
          <a:noFill/>
          <a:ln w="9525">
            <a:noFill/>
            <a:miter lim="800000"/>
            <a:headEnd/>
            <a:tailEnd/>
          </a:ln>
        </p:spPr>
        <p:txBody>
          <a:bodyPr wrap="none" lIns="0" tIns="0" rIns="0" bIns="0">
            <a:spAutoFit/>
          </a:bodyPr>
          <a:lstStyle/>
          <a:p>
            <a:r>
              <a:rPr lang="en-US" sz="1600" dirty="0"/>
              <a:t> 10,000,000</a:t>
            </a:r>
          </a:p>
        </p:txBody>
      </p:sp>
      <p:sp>
        <p:nvSpPr>
          <p:cNvPr id="68628" name="Rectangle 20"/>
          <p:cNvSpPr>
            <a:spLocks noChangeArrowheads="1"/>
          </p:cNvSpPr>
          <p:nvPr/>
        </p:nvSpPr>
        <p:spPr bwMode="auto">
          <a:xfrm>
            <a:off x="7707313" y="2243138"/>
            <a:ext cx="1073150" cy="244475"/>
          </a:xfrm>
          <a:prstGeom prst="rect">
            <a:avLst/>
          </a:prstGeom>
          <a:noFill/>
          <a:ln w="9525">
            <a:noFill/>
            <a:miter lim="800000"/>
            <a:headEnd/>
            <a:tailEnd/>
          </a:ln>
        </p:spPr>
        <p:txBody>
          <a:bodyPr wrap="none" lIns="0" tIns="0" rIns="0" bIns="0">
            <a:spAutoFit/>
          </a:bodyPr>
          <a:lstStyle/>
          <a:p>
            <a:r>
              <a:rPr lang="en-US" sz="1600" u="sng" dirty="0"/>
              <a:t> 14,000,000</a:t>
            </a:r>
          </a:p>
        </p:txBody>
      </p:sp>
      <p:sp>
        <p:nvSpPr>
          <p:cNvPr id="68629" name="Text Box 21"/>
          <p:cNvSpPr txBox="1">
            <a:spLocks noChangeArrowheads="1"/>
          </p:cNvSpPr>
          <p:nvPr/>
        </p:nvSpPr>
        <p:spPr bwMode="auto">
          <a:xfrm>
            <a:off x="7586663" y="1827213"/>
            <a:ext cx="1312862" cy="338137"/>
          </a:xfrm>
          <a:prstGeom prst="rect">
            <a:avLst/>
          </a:prstGeom>
          <a:noFill/>
          <a:ln w="12700">
            <a:noFill/>
            <a:miter lim="800000"/>
            <a:headEnd/>
            <a:tailEnd/>
          </a:ln>
          <a:effectLst/>
        </p:spPr>
        <p:txBody>
          <a:bodyPr wrap="none">
            <a:spAutoFit/>
          </a:bodyPr>
          <a:lstStyle/>
          <a:p>
            <a:r>
              <a:rPr lang="en-US" sz="1600" dirty="0"/>
              <a:t>$24,000,000</a:t>
            </a:r>
          </a:p>
        </p:txBody>
      </p:sp>
      <p:sp>
        <p:nvSpPr>
          <p:cNvPr id="68630" name="Rectangle 22"/>
          <p:cNvSpPr>
            <a:spLocks noChangeArrowheads="1"/>
          </p:cNvSpPr>
          <p:nvPr/>
        </p:nvSpPr>
        <p:spPr bwMode="auto">
          <a:xfrm>
            <a:off x="6207125" y="2243138"/>
            <a:ext cx="1130300" cy="244475"/>
          </a:xfrm>
          <a:prstGeom prst="rect">
            <a:avLst/>
          </a:prstGeom>
          <a:noFill/>
          <a:ln w="9525">
            <a:noFill/>
            <a:miter lim="800000"/>
            <a:headEnd/>
            <a:tailEnd/>
          </a:ln>
        </p:spPr>
        <p:txBody>
          <a:bodyPr wrap="none" lIns="0" tIns="0" rIns="0" bIns="0">
            <a:spAutoFit/>
          </a:bodyPr>
          <a:lstStyle/>
          <a:p>
            <a:r>
              <a:rPr lang="en-US" sz="1600" u="sng" dirty="0"/>
              <a:t>  14,000,000</a:t>
            </a:r>
          </a:p>
        </p:txBody>
      </p:sp>
      <p:sp>
        <p:nvSpPr>
          <p:cNvPr id="68631" name="Text Box 23"/>
          <p:cNvSpPr txBox="1">
            <a:spLocks noChangeArrowheads="1"/>
          </p:cNvSpPr>
          <p:nvPr/>
        </p:nvSpPr>
        <p:spPr bwMode="auto">
          <a:xfrm>
            <a:off x="6122988" y="1827213"/>
            <a:ext cx="1311275" cy="338137"/>
          </a:xfrm>
          <a:prstGeom prst="rect">
            <a:avLst/>
          </a:prstGeom>
          <a:noFill/>
          <a:ln w="12700">
            <a:noFill/>
            <a:miter lim="800000"/>
            <a:headEnd/>
            <a:tailEnd/>
          </a:ln>
          <a:effectLst/>
        </p:spPr>
        <p:txBody>
          <a:bodyPr wrap="none">
            <a:spAutoFit/>
          </a:bodyPr>
          <a:lstStyle/>
          <a:p>
            <a:r>
              <a:rPr lang="en-US" sz="1600" dirty="0"/>
              <a:t>$24,000,000</a:t>
            </a:r>
          </a:p>
        </p:txBody>
      </p:sp>
      <p:sp>
        <p:nvSpPr>
          <p:cNvPr id="68632" name="Rectangle 24"/>
          <p:cNvSpPr>
            <a:spLocks noChangeArrowheads="1"/>
          </p:cNvSpPr>
          <p:nvPr/>
        </p:nvSpPr>
        <p:spPr bwMode="auto">
          <a:xfrm>
            <a:off x="4679950" y="2243138"/>
            <a:ext cx="1130300" cy="244475"/>
          </a:xfrm>
          <a:prstGeom prst="rect">
            <a:avLst/>
          </a:prstGeom>
          <a:noFill/>
          <a:ln w="9525">
            <a:noFill/>
            <a:miter lim="800000"/>
            <a:headEnd/>
            <a:tailEnd/>
          </a:ln>
        </p:spPr>
        <p:txBody>
          <a:bodyPr wrap="none" lIns="0" tIns="0" rIns="0" bIns="0">
            <a:spAutoFit/>
          </a:bodyPr>
          <a:lstStyle/>
          <a:p>
            <a:r>
              <a:rPr lang="en-US" sz="1600" u="sng" dirty="0"/>
              <a:t>  12,000,000</a:t>
            </a:r>
          </a:p>
        </p:txBody>
      </p:sp>
      <p:sp>
        <p:nvSpPr>
          <p:cNvPr id="68633" name="Rectangle 25"/>
          <p:cNvSpPr>
            <a:spLocks noChangeArrowheads="1"/>
          </p:cNvSpPr>
          <p:nvPr/>
        </p:nvSpPr>
        <p:spPr bwMode="auto">
          <a:xfrm>
            <a:off x="7707313" y="3033713"/>
            <a:ext cx="1074737" cy="244475"/>
          </a:xfrm>
          <a:prstGeom prst="rect">
            <a:avLst/>
          </a:prstGeom>
          <a:noFill/>
          <a:ln w="9525">
            <a:noFill/>
            <a:miter lim="800000"/>
            <a:headEnd/>
            <a:tailEnd/>
          </a:ln>
        </p:spPr>
        <p:txBody>
          <a:bodyPr wrap="none" lIns="0" tIns="0" rIns="0" bIns="0">
            <a:spAutoFit/>
          </a:bodyPr>
          <a:lstStyle/>
          <a:p>
            <a:r>
              <a:rPr lang="en-US" sz="1600" u="sng" dirty="0"/>
              <a:t>   8,800,000</a:t>
            </a:r>
          </a:p>
        </p:txBody>
      </p:sp>
      <p:sp>
        <p:nvSpPr>
          <p:cNvPr id="68634" name="Rectangle 26"/>
          <p:cNvSpPr>
            <a:spLocks noChangeArrowheads="1"/>
          </p:cNvSpPr>
          <p:nvPr/>
        </p:nvSpPr>
        <p:spPr bwMode="auto">
          <a:xfrm>
            <a:off x="6207125" y="3033713"/>
            <a:ext cx="1131888" cy="244475"/>
          </a:xfrm>
          <a:prstGeom prst="rect">
            <a:avLst/>
          </a:prstGeom>
          <a:noFill/>
          <a:ln w="9525">
            <a:noFill/>
            <a:miter lim="800000"/>
            <a:headEnd/>
            <a:tailEnd/>
          </a:ln>
        </p:spPr>
        <p:txBody>
          <a:bodyPr wrap="none" lIns="0" tIns="0" rIns="0" bIns="0">
            <a:spAutoFit/>
          </a:bodyPr>
          <a:lstStyle/>
          <a:p>
            <a:r>
              <a:rPr lang="en-US" sz="1600" u="sng" dirty="0"/>
              <a:t>    5,200,000</a:t>
            </a:r>
          </a:p>
        </p:txBody>
      </p:sp>
      <p:sp>
        <p:nvSpPr>
          <p:cNvPr id="68635" name="Rectangle 27"/>
          <p:cNvSpPr>
            <a:spLocks noChangeArrowheads="1"/>
          </p:cNvSpPr>
          <p:nvPr/>
        </p:nvSpPr>
        <p:spPr bwMode="auto">
          <a:xfrm>
            <a:off x="4764088" y="3033713"/>
            <a:ext cx="1074737" cy="244475"/>
          </a:xfrm>
          <a:prstGeom prst="rect">
            <a:avLst/>
          </a:prstGeom>
          <a:noFill/>
          <a:ln w="9525">
            <a:noFill/>
            <a:miter lim="800000"/>
            <a:headEnd/>
            <a:tailEnd/>
          </a:ln>
        </p:spPr>
        <p:txBody>
          <a:bodyPr wrap="none" lIns="0" tIns="0" rIns="0" bIns="0">
            <a:spAutoFit/>
          </a:bodyPr>
          <a:lstStyle/>
          <a:p>
            <a:r>
              <a:rPr lang="en-US" sz="1600" u="sng" dirty="0"/>
              <a:t>   9,600,000</a:t>
            </a:r>
          </a:p>
        </p:txBody>
      </p:sp>
      <p:sp>
        <p:nvSpPr>
          <p:cNvPr id="68636" name="Line 28"/>
          <p:cNvSpPr>
            <a:spLocks noChangeShapeType="1"/>
          </p:cNvSpPr>
          <p:nvPr/>
        </p:nvSpPr>
        <p:spPr bwMode="auto">
          <a:xfrm>
            <a:off x="7650163" y="1792288"/>
            <a:ext cx="1189037" cy="0"/>
          </a:xfrm>
          <a:prstGeom prst="line">
            <a:avLst/>
          </a:prstGeom>
          <a:noFill/>
          <a:ln w="19050">
            <a:solidFill>
              <a:schemeClr val="tx1"/>
            </a:solidFill>
            <a:round/>
            <a:headEnd/>
            <a:tailEnd/>
          </a:ln>
          <a:effectLst/>
        </p:spPr>
        <p:txBody>
          <a:bodyPr/>
          <a:lstStyle/>
          <a:p>
            <a:endParaRPr lang="en-US" dirty="0"/>
          </a:p>
        </p:txBody>
      </p:sp>
      <p:sp>
        <p:nvSpPr>
          <p:cNvPr id="68637" name="Line 29"/>
          <p:cNvSpPr>
            <a:spLocks noChangeShapeType="1"/>
          </p:cNvSpPr>
          <p:nvPr/>
        </p:nvSpPr>
        <p:spPr bwMode="auto">
          <a:xfrm>
            <a:off x="6207125" y="1792288"/>
            <a:ext cx="1189038" cy="0"/>
          </a:xfrm>
          <a:prstGeom prst="line">
            <a:avLst/>
          </a:prstGeom>
          <a:noFill/>
          <a:ln w="19050">
            <a:solidFill>
              <a:schemeClr val="tx1"/>
            </a:solidFill>
            <a:round/>
            <a:headEnd/>
            <a:tailEnd/>
          </a:ln>
          <a:effectLst/>
        </p:spPr>
        <p:txBody>
          <a:bodyPr/>
          <a:lstStyle/>
          <a:p>
            <a:endParaRPr lang="en-US" dirty="0"/>
          </a:p>
        </p:txBody>
      </p:sp>
      <p:sp>
        <p:nvSpPr>
          <p:cNvPr id="68638" name="Line 30"/>
          <p:cNvSpPr>
            <a:spLocks noChangeShapeType="1"/>
          </p:cNvSpPr>
          <p:nvPr/>
        </p:nvSpPr>
        <p:spPr bwMode="auto">
          <a:xfrm>
            <a:off x="4764088" y="1792288"/>
            <a:ext cx="1189037" cy="0"/>
          </a:xfrm>
          <a:prstGeom prst="line">
            <a:avLst/>
          </a:prstGeom>
          <a:noFill/>
          <a:ln w="19050">
            <a:solidFill>
              <a:schemeClr val="tx1"/>
            </a:solidFill>
            <a:round/>
            <a:headEnd/>
            <a:tailEnd/>
          </a:ln>
          <a:effectLst/>
        </p:spPr>
        <p:txBody>
          <a:bodyPr/>
          <a:lstStyle/>
          <a:p>
            <a:endParaRPr lang="en-US" dirty="0"/>
          </a:p>
        </p:txBody>
      </p:sp>
      <p:sp>
        <p:nvSpPr>
          <p:cNvPr id="68639" name="Rectangle 31"/>
          <p:cNvSpPr>
            <a:spLocks noChangeArrowheads="1"/>
          </p:cNvSpPr>
          <p:nvPr/>
        </p:nvSpPr>
        <p:spPr bwMode="auto">
          <a:xfrm>
            <a:off x="566738" y="3411538"/>
            <a:ext cx="1808162" cy="246062"/>
          </a:xfrm>
          <a:prstGeom prst="rect">
            <a:avLst/>
          </a:prstGeom>
          <a:noFill/>
          <a:ln w="9525">
            <a:noFill/>
            <a:miter lim="800000"/>
            <a:headEnd/>
            <a:tailEnd/>
          </a:ln>
        </p:spPr>
        <p:txBody>
          <a:bodyPr wrap="none" lIns="0" tIns="0" rIns="0" bIns="0">
            <a:spAutoFit/>
          </a:bodyPr>
          <a:lstStyle/>
          <a:p>
            <a:r>
              <a:rPr lang="en-US" sz="1600" b="1" dirty="0"/>
              <a:t>Profit Contribution</a:t>
            </a:r>
          </a:p>
        </p:txBody>
      </p:sp>
      <p:sp>
        <p:nvSpPr>
          <p:cNvPr id="68640" name="Rectangle 32"/>
          <p:cNvSpPr>
            <a:spLocks noChangeArrowheads="1"/>
          </p:cNvSpPr>
          <p:nvPr/>
        </p:nvSpPr>
        <p:spPr bwMode="auto">
          <a:xfrm>
            <a:off x="3235325" y="3435350"/>
            <a:ext cx="1246188" cy="244475"/>
          </a:xfrm>
          <a:prstGeom prst="rect">
            <a:avLst/>
          </a:prstGeom>
          <a:noFill/>
          <a:ln w="9525">
            <a:noFill/>
            <a:miter lim="800000"/>
            <a:headEnd/>
            <a:tailEnd/>
          </a:ln>
        </p:spPr>
        <p:txBody>
          <a:bodyPr wrap="none" lIns="0" tIns="0" rIns="0" bIns="0">
            <a:spAutoFit/>
          </a:bodyPr>
          <a:lstStyle/>
          <a:p>
            <a:r>
              <a:rPr lang="en-US" sz="1600" dirty="0"/>
              <a:t>      4,800,000</a:t>
            </a:r>
          </a:p>
        </p:txBody>
      </p:sp>
      <p:sp>
        <p:nvSpPr>
          <p:cNvPr id="68641" name="Rectangle 33"/>
          <p:cNvSpPr>
            <a:spLocks noChangeArrowheads="1"/>
          </p:cNvSpPr>
          <p:nvPr/>
        </p:nvSpPr>
        <p:spPr bwMode="auto">
          <a:xfrm>
            <a:off x="4679950" y="3435350"/>
            <a:ext cx="1189038" cy="244475"/>
          </a:xfrm>
          <a:prstGeom prst="rect">
            <a:avLst/>
          </a:prstGeom>
          <a:noFill/>
          <a:ln w="9525">
            <a:noFill/>
            <a:miter lim="800000"/>
            <a:headEnd/>
            <a:tailEnd/>
          </a:ln>
        </p:spPr>
        <p:txBody>
          <a:bodyPr wrap="none" lIns="0" tIns="0" rIns="0" bIns="0">
            <a:spAutoFit/>
          </a:bodyPr>
          <a:lstStyle/>
          <a:p>
            <a:r>
              <a:rPr lang="en-US" sz="1600" dirty="0"/>
              <a:t>     2,400,000</a:t>
            </a:r>
          </a:p>
        </p:txBody>
      </p:sp>
      <p:sp>
        <p:nvSpPr>
          <p:cNvPr id="68642" name="Rectangle 34"/>
          <p:cNvSpPr>
            <a:spLocks noChangeArrowheads="1"/>
          </p:cNvSpPr>
          <p:nvPr/>
        </p:nvSpPr>
        <p:spPr bwMode="auto">
          <a:xfrm>
            <a:off x="6178550" y="3435350"/>
            <a:ext cx="1131888" cy="244475"/>
          </a:xfrm>
          <a:prstGeom prst="rect">
            <a:avLst/>
          </a:prstGeom>
          <a:noFill/>
          <a:ln w="9525">
            <a:noFill/>
            <a:miter lim="800000"/>
            <a:headEnd/>
            <a:tailEnd/>
          </a:ln>
        </p:spPr>
        <p:txBody>
          <a:bodyPr wrap="none" lIns="0" tIns="0" rIns="0" bIns="0">
            <a:spAutoFit/>
          </a:bodyPr>
          <a:lstStyle/>
          <a:p>
            <a:r>
              <a:rPr lang="en-US" sz="1600" dirty="0"/>
              <a:t>    4,800,000</a:t>
            </a:r>
          </a:p>
        </p:txBody>
      </p:sp>
      <p:sp>
        <p:nvSpPr>
          <p:cNvPr id="68643" name="Rectangle 35"/>
          <p:cNvSpPr>
            <a:spLocks noChangeArrowheads="1"/>
          </p:cNvSpPr>
          <p:nvPr/>
        </p:nvSpPr>
        <p:spPr bwMode="auto">
          <a:xfrm>
            <a:off x="7650163" y="3435350"/>
            <a:ext cx="1131887" cy="244475"/>
          </a:xfrm>
          <a:prstGeom prst="rect">
            <a:avLst/>
          </a:prstGeom>
          <a:noFill/>
          <a:ln w="9525">
            <a:noFill/>
            <a:miter lim="800000"/>
            <a:headEnd/>
            <a:tailEnd/>
          </a:ln>
        </p:spPr>
        <p:txBody>
          <a:bodyPr wrap="none" lIns="0" tIns="0" rIns="0" bIns="0">
            <a:spAutoFit/>
          </a:bodyPr>
          <a:lstStyle/>
          <a:p>
            <a:r>
              <a:rPr lang="en-US" sz="1600" dirty="0"/>
              <a:t>    1,200,000</a:t>
            </a:r>
          </a:p>
        </p:txBody>
      </p:sp>
      <p:sp>
        <p:nvSpPr>
          <p:cNvPr id="68644" name="Rectangle 36"/>
          <p:cNvSpPr>
            <a:spLocks noChangeArrowheads="1"/>
          </p:cNvSpPr>
          <p:nvPr/>
        </p:nvSpPr>
        <p:spPr bwMode="auto">
          <a:xfrm>
            <a:off x="3321050" y="4213225"/>
            <a:ext cx="1189038" cy="244475"/>
          </a:xfrm>
          <a:prstGeom prst="rect">
            <a:avLst/>
          </a:prstGeom>
          <a:noFill/>
          <a:ln w="9525">
            <a:noFill/>
            <a:miter lim="800000"/>
            <a:headEnd/>
            <a:tailEnd/>
          </a:ln>
        </p:spPr>
        <p:txBody>
          <a:bodyPr wrap="none" lIns="0" tIns="0" rIns="0" bIns="0">
            <a:spAutoFit/>
          </a:bodyPr>
          <a:lstStyle/>
          <a:p>
            <a:r>
              <a:rPr lang="en-US" sz="1600" dirty="0"/>
              <a:t>     8,000,000</a:t>
            </a:r>
          </a:p>
        </p:txBody>
      </p:sp>
      <p:sp>
        <p:nvSpPr>
          <p:cNvPr id="68645" name="Rectangle 37"/>
          <p:cNvSpPr>
            <a:spLocks noChangeArrowheads="1"/>
          </p:cNvSpPr>
          <p:nvPr/>
        </p:nvSpPr>
        <p:spPr bwMode="auto">
          <a:xfrm>
            <a:off x="4764088" y="4213225"/>
            <a:ext cx="1131887" cy="244475"/>
          </a:xfrm>
          <a:prstGeom prst="rect">
            <a:avLst/>
          </a:prstGeom>
          <a:noFill/>
          <a:ln w="9525">
            <a:noFill/>
            <a:miter lim="800000"/>
            <a:headEnd/>
            <a:tailEnd/>
          </a:ln>
        </p:spPr>
        <p:txBody>
          <a:bodyPr wrap="none" lIns="0" tIns="0" rIns="0" bIns="0">
            <a:spAutoFit/>
          </a:bodyPr>
          <a:lstStyle/>
          <a:p>
            <a:r>
              <a:rPr lang="en-US" sz="1600" dirty="0"/>
              <a:t>    4,000,000</a:t>
            </a:r>
          </a:p>
        </p:txBody>
      </p:sp>
      <p:sp>
        <p:nvSpPr>
          <p:cNvPr id="68646" name="Rectangle 38"/>
          <p:cNvSpPr>
            <a:spLocks noChangeArrowheads="1"/>
          </p:cNvSpPr>
          <p:nvPr/>
        </p:nvSpPr>
        <p:spPr bwMode="auto">
          <a:xfrm>
            <a:off x="6264275" y="4213225"/>
            <a:ext cx="1073150" cy="244475"/>
          </a:xfrm>
          <a:prstGeom prst="rect">
            <a:avLst/>
          </a:prstGeom>
          <a:noFill/>
          <a:ln w="9525">
            <a:noFill/>
            <a:miter lim="800000"/>
            <a:headEnd/>
            <a:tailEnd/>
          </a:ln>
        </p:spPr>
        <p:txBody>
          <a:bodyPr wrap="none" lIns="0" tIns="0" rIns="0" bIns="0">
            <a:spAutoFit/>
          </a:bodyPr>
          <a:lstStyle/>
          <a:p>
            <a:r>
              <a:rPr lang="en-US" sz="1600" dirty="0"/>
              <a:t> 16,000,000</a:t>
            </a:r>
          </a:p>
        </p:txBody>
      </p:sp>
      <p:sp>
        <p:nvSpPr>
          <p:cNvPr id="68647" name="Rectangle 39"/>
          <p:cNvSpPr>
            <a:spLocks noChangeArrowheads="1"/>
          </p:cNvSpPr>
          <p:nvPr/>
        </p:nvSpPr>
        <p:spPr bwMode="auto">
          <a:xfrm>
            <a:off x="3321050" y="4618038"/>
            <a:ext cx="1187450" cy="242887"/>
          </a:xfrm>
          <a:prstGeom prst="rect">
            <a:avLst/>
          </a:prstGeom>
          <a:noFill/>
          <a:ln w="9525">
            <a:noFill/>
            <a:miter lim="800000"/>
            <a:headEnd/>
            <a:tailEnd/>
          </a:ln>
        </p:spPr>
        <p:txBody>
          <a:bodyPr wrap="none" lIns="0" tIns="0" rIns="0" bIns="0">
            <a:spAutoFit/>
          </a:bodyPr>
          <a:lstStyle/>
          <a:p>
            <a:r>
              <a:rPr lang="en-US" sz="1600" dirty="0"/>
              <a:t>   16,000,000</a:t>
            </a:r>
          </a:p>
        </p:txBody>
      </p:sp>
      <p:sp>
        <p:nvSpPr>
          <p:cNvPr id="68648" name="Rectangle 40"/>
          <p:cNvSpPr>
            <a:spLocks noChangeArrowheads="1"/>
          </p:cNvSpPr>
          <p:nvPr/>
        </p:nvSpPr>
        <p:spPr bwMode="auto">
          <a:xfrm>
            <a:off x="4764088" y="4618038"/>
            <a:ext cx="1131887" cy="242887"/>
          </a:xfrm>
          <a:prstGeom prst="rect">
            <a:avLst/>
          </a:prstGeom>
          <a:noFill/>
          <a:ln w="9525">
            <a:noFill/>
            <a:miter lim="800000"/>
            <a:headEnd/>
            <a:tailEnd/>
          </a:ln>
        </p:spPr>
        <p:txBody>
          <a:bodyPr wrap="none" lIns="0" tIns="0" rIns="0" bIns="0">
            <a:spAutoFit/>
          </a:bodyPr>
          <a:lstStyle/>
          <a:p>
            <a:r>
              <a:rPr lang="en-US" sz="1600" dirty="0"/>
              <a:t>    8,000,000</a:t>
            </a:r>
          </a:p>
        </p:txBody>
      </p:sp>
      <p:sp>
        <p:nvSpPr>
          <p:cNvPr id="68649" name="Rectangle 41"/>
          <p:cNvSpPr>
            <a:spLocks noChangeArrowheads="1"/>
          </p:cNvSpPr>
          <p:nvPr/>
        </p:nvSpPr>
        <p:spPr bwMode="auto">
          <a:xfrm>
            <a:off x="6264275" y="4618038"/>
            <a:ext cx="1073150" cy="242887"/>
          </a:xfrm>
          <a:prstGeom prst="rect">
            <a:avLst/>
          </a:prstGeom>
          <a:noFill/>
          <a:ln w="9525">
            <a:noFill/>
            <a:miter lim="800000"/>
            <a:headEnd/>
            <a:tailEnd/>
          </a:ln>
        </p:spPr>
        <p:txBody>
          <a:bodyPr wrap="none" lIns="0" tIns="0" rIns="0" bIns="0">
            <a:spAutoFit/>
          </a:bodyPr>
          <a:lstStyle/>
          <a:p>
            <a:r>
              <a:rPr lang="en-US" sz="1600" dirty="0"/>
              <a:t> 32,000,000</a:t>
            </a:r>
          </a:p>
        </p:txBody>
      </p:sp>
      <p:sp>
        <p:nvSpPr>
          <p:cNvPr id="68650" name="Rectangle 42"/>
          <p:cNvSpPr>
            <a:spLocks noChangeArrowheads="1"/>
          </p:cNvSpPr>
          <p:nvPr/>
        </p:nvSpPr>
        <p:spPr bwMode="auto">
          <a:xfrm>
            <a:off x="7650163" y="3778250"/>
            <a:ext cx="1131887" cy="242888"/>
          </a:xfrm>
          <a:prstGeom prst="rect">
            <a:avLst/>
          </a:prstGeom>
          <a:noFill/>
          <a:ln w="9525">
            <a:noFill/>
            <a:miter lim="800000"/>
            <a:headEnd/>
            <a:tailEnd/>
          </a:ln>
        </p:spPr>
        <p:txBody>
          <a:bodyPr wrap="none" lIns="0" tIns="0" rIns="0" bIns="0">
            <a:spAutoFit/>
          </a:bodyPr>
          <a:lstStyle/>
          <a:p>
            <a:r>
              <a:rPr lang="en-US" sz="1600" dirty="0"/>
              <a:t>    4,000,000</a:t>
            </a:r>
          </a:p>
        </p:txBody>
      </p:sp>
      <p:sp>
        <p:nvSpPr>
          <p:cNvPr id="68651" name="Rectangle 43"/>
          <p:cNvSpPr>
            <a:spLocks noChangeArrowheads="1"/>
          </p:cNvSpPr>
          <p:nvPr/>
        </p:nvSpPr>
        <p:spPr bwMode="auto">
          <a:xfrm>
            <a:off x="7650163" y="4164013"/>
            <a:ext cx="1131887" cy="244475"/>
          </a:xfrm>
          <a:prstGeom prst="rect">
            <a:avLst/>
          </a:prstGeom>
          <a:noFill/>
          <a:ln w="9525">
            <a:noFill/>
            <a:miter lim="800000"/>
            <a:headEnd/>
            <a:tailEnd/>
          </a:ln>
        </p:spPr>
        <p:txBody>
          <a:bodyPr wrap="none" lIns="0" tIns="0" rIns="0" bIns="0">
            <a:spAutoFit/>
          </a:bodyPr>
          <a:lstStyle/>
          <a:p>
            <a:r>
              <a:rPr lang="en-US" sz="1600" dirty="0"/>
              <a:t>    4,000,000</a:t>
            </a:r>
          </a:p>
        </p:txBody>
      </p:sp>
      <p:sp>
        <p:nvSpPr>
          <p:cNvPr id="68652" name="Rectangle 44"/>
          <p:cNvSpPr>
            <a:spLocks noChangeArrowheads="1"/>
          </p:cNvSpPr>
          <p:nvPr/>
        </p:nvSpPr>
        <p:spPr bwMode="auto">
          <a:xfrm>
            <a:off x="7650163" y="4568825"/>
            <a:ext cx="1131887" cy="242888"/>
          </a:xfrm>
          <a:prstGeom prst="rect">
            <a:avLst/>
          </a:prstGeom>
          <a:noFill/>
          <a:ln w="9525">
            <a:noFill/>
            <a:miter lim="800000"/>
            <a:headEnd/>
            <a:tailEnd/>
          </a:ln>
        </p:spPr>
        <p:txBody>
          <a:bodyPr wrap="none" lIns="0" tIns="0" rIns="0" bIns="0">
            <a:spAutoFit/>
          </a:bodyPr>
          <a:lstStyle/>
          <a:p>
            <a:r>
              <a:rPr lang="en-US" sz="1600" dirty="0"/>
              <a:t>    8,000,000</a:t>
            </a:r>
          </a:p>
        </p:txBody>
      </p:sp>
      <p:sp>
        <p:nvSpPr>
          <p:cNvPr id="68653" name="Rectangle 45"/>
          <p:cNvSpPr>
            <a:spLocks noChangeArrowheads="1"/>
          </p:cNvSpPr>
          <p:nvPr/>
        </p:nvSpPr>
        <p:spPr bwMode="auto">
          <a:xfrm>
            <a:off x="3471863" y="4960938"/>
            <a:ext cx="692150" cy="246062"/>
          </a:xfrm>
          <a:prstGeom prst="rect">
            <a:avLst/>
          </a:prstGeom>
          <a:noFill/>
          <a:ln w="9525">
            <a:noFill/>
            <a:miter lim="800000"/>
            <a:headEnd/>
            <a:tailEnd/>
          </a:ln>
        </p:spPr>
        <p:txBody>
          <a:bodyPr wrap="none" lIns="0" tIns="0" rIns="0" bIns="0">
            <a:spAutoFit/>
          </a:bodyPr>
          <a:lstStyle/>
          <a:p>
            <a:r>
              <a:rPr lang="en-US" sz="1600" dirty="0"/>
              <a:t>     20%</a:t>
            </a:r>
          </a:p>
        </p:txBody>
      </p:sp>
      <p:sp>
        <p:nvSpPr>
          <p:cNvPr id="68654" name="Rectangle 46"/>
          <p:cNvSpPr>
            <a:spLocks noChangeArrowheads="1"/>
          </p:cNvSpPr>
          <p:nvPr/>
        </p:nvSpPr>
        <p:spPr bwMode="auto">
          <a:xfrm>
            <a:off x="4886325" y="4960938"/>
            <a:ext cx="635000" cy="246062"/>
          </a:xfrm>
          <a:prstGeom prst="rect">
            <a:avLst/>
          </a:prstGeom>
          <a:noFill/>
          <a:ln w="9525">
            <a:noFill/>
            <a:miter lim="800000"/>
            <a:headEnd/>
            <a:tailEnd/>
          </a:ln>
        </p:spPr>
        <p:txBody>
          <a:bodyPr wrap="none" lIns="0" tIns="0" rIns="0" bIns="0">
            <a:spAutoFit/>
          </a:bodyPr>
          <a:lstStyle/>
          <a:p>
            <a:r>
              <a:rPr lang="en-US" sz="1600" dirty="0"/>
              <a:t>    10%</a:t>
            </a:r>
          </a:p>
        </p:txBody>
      </p:sp>
      <p:sp>
        <p:nvSpPr>
          <p:cNvPr id="68655" name="Rectangle 47"/>
          <p:cNvSpPr>
            <a:spLocks noChangeArrowheads="1"/>
          </p:cNvSpPr>
          <p:nvPr/>
        </p:nvSpPr>
        <p:spPr bwMode="auto">
          <a:xfrm>
            <a:off x="6499225" y="4960938"/>
            <a:ext cx="463550" cy="246062"/>
          </a:xfrm>
          <a:prstGeom prst="rect">
            <a:avLst/>
          </a:prstGeom>
          <a:noFill/>
          <a:ln w="9525">
            <a:noFill/>
            <a:miter lim="800000"/>
            <a:headEnd/>
            <a:tailEnd/>
          </a:ln>
        </p:spPr>
        <p:txBody>
          <a:bodyPr wrap="none" lIns="0" tIns="0" rIns="0" bIns="0">
            <a:spAutoFit/>
          </a:bodyPr>
          <a:lstStyle/>
          <a:p>
            <a:r>
              <a:rPr lang="en-US" sz="1600" dirty="0"/>
              <a:t> 20%</a:t>
            </a:r>
          </a:p>
        </p:txBody>
      </p:sp>
      <p:sp>
        <p:nvSpPr>
          <p:cNvPr id="68656" name="Rectangle 48"/>
          <p:cNvSpPr>
            <a:spLocks noChangeArrowheads="1"/>
          </p:cNvSpPr>
          <p:nvPr/>
        </p:nvSpPr>
        <p:spPr bwMode="auto">
          <a:xfrm>
            <a:off x="3744913" y="5346700"/>
            <a:ext cx="280987" cy="244475"/>
          </a:xfrm>
          <a:prstGeom prst="rect">
            <a:avLst/>
          </a:prstGeom>
          <a:noFill/>
          <a:ln w="9525">
            <a:noFill/>
            <a:miter lim="800000"/>
            <a:headEnd/>
            <a:tailEnd/>
          </a:ln>
        </p:spPr>
        <p:txBody>
          <a:bodyPr wrap="none" lIns="0" tIns="0" rIns="0" bIns="0">
            <a:spAutoFit/>
          </a:bodyPr>
          <a:lstStyle/>
          <a:p>
            <a:r>
              <a:rPr lang="en-US" sz="1600" dirty="0"/>
              <a:t>1.5</a:t>
            </a:r>
          </a:p>
        </p:txBody>
      </p:sp>
      <p:sp>
        <p:nvSpPr>
          <p:cNvPr id="68657" name="Rectangle 49"/>
          <p:cNvSpPr>
            <a:spLocks noChangeArrowheads="1"/>
          </p:cNvSpPr>
          <p:nvPr/>
        </p:nvSpPr>
        <p:spPr bwMode="auto">
          <a:xfrm>
            <a:off x="5160963" y="5346700"/>
            <a:ext cx="282575" cy="244475"/>
          </a:xfrm>
          <a:prstGeom prst="rect">
            <a:avLst/>
          </a:prstGeom>
          <a:noFill/>
          <a:ln w="9525">
            <a:noFill/>
            <a:miter lim="800000"/>
            <a:headEnd/>
            <a:tailEnd/>
          </a:ln>
        </p:spPr>
        <p:txBody>
          <a:bodyPr wrap="none" lIns="0" tIns="0" rIns="0" bIns="0">
            <a:spAutoFit/>
          </a:bodyPr>
          <a:lstStyle/>
          <a:p>
            <a:r>
              <a:rPr lang="en-US" sz="1600" dirty="0"/>
              <a:t>3.0</a:t>
            </a:r>
          </a:p>
        </p:txBody>
      </p:sp>
      <p:sp>
        <p:nvSpPr>
          <p:cNvPr id="68658" name="Rectangle 50"/>
          <p:cNvSpPr>
            <a:spLocks noChangeArrowheads="1"/>
          </p:cNvSpPr>
          <p:nvPr/>
        </p:nvSpPr>
        <p:spPr bwMode="auto">
          <a:xfrm>
            <a:off x="6546850" y="5346700"/>
            <a:ext cx="282575" cy="244475"/>
          </a:xfrm>
          <a:prstGeom prst="rect">
            <a:avLst/>
          </a:prstGeom>
          <a:noFill/>
          <a:ln w="9525">
            <a:noFill/>
            <a:miter lim="800000"/>
            <a:headEnd/>
            <a:tailEnd/>
          </a:ln>
        </p:spPr>
        <p:txBody>
          <a:bodyPr wrap="none" lIns="0" tIns="0" rIns="0" bIns="0">
            <a:spAutoFit/>
          </a:bodyPr>
          <a:lstStyle/>
          <a:p>
            <a:r>
              <a:rPr lang="en-US" sz="1600" dirty="0"/>
              <a:t>.75</a:t>
            </a:r>
          </a:p>
        </p:txBody>
      </p:sp>
      <p:grpSp>
        <p:nvGrpSpPr>
          <p:cNvPr id="68659" name="Group 51"/>
          <p:cNvGrpSpPr>
            <a:grpSpLocks/>
          </p:cNvGrpSpPr>
          <p:nvPr/>
        </p:nvGrpSpPr>
        <p:grpSpPr bwMode="auto">
          <a:xfrm>
            <a:off x="381000" y="1828800"/>
            <a:ext cx="2959100" cy="4443413"/>
            <a:chOff x="432" y="2084"/>
            <a:chExt cx="1673" cy="1804"/>
          </a:xfrm>
        </p:grpSpPr>
        <p:sp>
          <p:nvSpPr>
            <p:cNvPr id="68660" name="Rectangle 52"/>
            <p:cNvSpPr>
              <a:spLocks noChangeArrowheads="1"/>
            </p:cNvSpPr>
            <p:nvPr/>
          </p:nvSpPr>
          <p:spPr bwMode="auto">
            <a:xfrm>
              <a:off x="432" y="3600"/>
              <a:ext cx="1200" cy="288"/>
            </a:xfrm>
            <a:prstGeom prst="rect">
              <a:avLst/>
            </a:prstGeom>
            <a:noFill/>
            <a:ln w="12700">
              <a:noFill/>
              <a:miter lim="800000"/>
              <a:headEnd/>
              <a:tailEnd/>
            </a:ln>
            <a:effectLst/>
          </p:spPr>
          <p:txBody>
            <a:bodyPr wrap="none" anchor="ctr"/>
            <a:lstStyle/>
            <a:p>
              <a:pPr algn="ctr"/>
              <a:endParaRPr lang="en-US" dirty="0"/>
            </a:p>
          </p:txBody>
        </p:sp>
        <p:sp>
          <p:nvSpPr>
            <p:cNvPr id="68661" name="Rectangle 53"/>
            <p:cNvSpPr>
              <a:spLocks noChangeArrowheads="1"/>
            </p:cNvSpPr>
            <p:nvPr/>
          </p:nvSpPr>
          <p:spPr bwMode="auto">
            <a:xfrm>
              <a:off x="432" y="2084"/>
              <a:ext cx="300" cy="99"/>
            </a:xfrm>
            <a:prstGeom prst="rect">
              <a:avLst/>
            </a:prstGeom>
            <a:noFill/>
            <a:ln w="9525">
              <a:noFill/>
              <a:miter lim="800000"/>
              <a:headEnd/>
              <a:tailEnd/>
            </a:ln>
          </p:spPr>
          <p:txBody>
            <a:bodyPr wrap="none" lIns="0" tIns="0" rIns="0" bIns="0">
              <a:spAutoFit/>
            </a:bodyPr>
            <a:lstStyle/>
            <a:p>
              <a:r>
                <a:rPr lang="en-US" sz="1600" b="1" dirty="0"/>
                <a:t>Sales</a:t>
              </a:r>
            </a:p>
          </p:txBody>
        </p:sp>
        <p:sp>
          <p:nvSpPr>
            <p:cNvPr id="68662" name="Rectangle 54"/>
            <p:cNvSpPr>
              <a:spLocks noChangeArrowheads="1"/>
            </p:cNvSpPr>
            <p:nvPr/>
          </p:nvSpPr>
          <p:spPr bwMode="auto">
            <a:xfrm>
              <a:off x="432" y="2253"/>
              <a:ext cx="1072" cy="99"/>
            </a:xfrm>
            <a:prstGeom prst="rect">
              <a:avLst/>
            </a:prstGeom>
            <a:noFill/>
            <a:ln w="9525">
              <a:noFill/>
              <a:miter lim="800000"/>
              <a:headEnd/>
              <a:tailEnd/>
            </a:ln>
          </p:spPr>
          <p:txBody>
            <a:bodyPr wrap="none" lIns="0" tIns="0" rIns="0" bIns="0">
              <a:spAutoFit/>
            </a:bodyPr>
            <a:lstStyle/>
            <a:p>
              <a:r>
                <a:rPr lang="en-US" sz="1600" b="1" dirty="0"/>
                <a:t>Cost of Goods Sold</a:t>
              </a:r>
            </a:p>
          </p:txBody>
        </p:sp>
        <p:sp>
          <p:nvSpPr>
            <p:cNvPr id="68663" name="Rectangle 55"/>
            <p:cNvSpPr>
              <a:spLocks noChangeArrowheads="1"/>
            </p:cNvSpPr>
            <p:nvPr/>
          </p:nvSpPr>
          <p:spPr bwMode="auto">
            <a:xfrm>
              <a:off x="432" y="2895"/>
              <a:ext cx="1154" cy="99"/>
            </a:xfrm>
            <a:prstGeom prst="rect">
              <a:avLst/>
            </a:prstGeom>
            <a:noFill/>
            <a:ln w="9525">
              <a:noFill/>
              <a:miter lim="800000"/>
              <a:headEnd/>
              <a:tailEnd/>
            </a:ln>
          </p:spPr>
          <p:txBody>
            <a:bodyPr wrap="none" lIns="0" tIns="0" rIns="0" bIns="0">
              <a:spAutoFit/>
            </a:bodyPr>
            <a:lstStyle/>
            <a:p>
              <a:r>
                <a:rPr lang="en-US" sz="1600" b="1" dirty="0"/>
                <a:t>Accounts Receivable</a:t>
              </a:r>
            </a:p>
          </p:txBody>
        </p:sp>
        <p:sp>
          <p:nvSpPr>
            <p:cNvPr id="68664" name="Rectangle 56"/>
            <p:cNvSpPr>
              <a:spLocks noChangeArrowheads="1"/>
            </p:cNvSpPr>
            <p:nvPr/>
          </p:nvSpPr>
          <p:spPr bwMode="auto">
            <a:xfrm>
              <a:off x="432" y="2420"/>
              <a:ext cx="741" cy="99"/>
            </a:xfrm>
            <a:prstGeom prst="rect">
              <a:avLst/>
            </a:prstGeom>
            <a:noFill/>
            <a:ln w="9525">
              <a:noFill/>
              <a:miter lim="800000"/>
              <a:headEnd/>
              <a:tailEnd/>
            </a:ln>
          </p:spPr>
          <p:txBody>
            <a:bodyPr wrap="none" lIns="0" tIns="0" rIns="0" bIns="0">
              <a:spAutoFit/>
            </a:bodyPr>
            <a:lstStyle/>
            <a:p>
              <a:r>
                <a:rPr lang="en-US" sz="1600" b="1" dirty="0"/>
                <a:t>Gross Margin</a:t>
              </a:r>
            </a:p>
          </p:txBody>
        </p:sp>
        <p:sp>
          <p:nvSpPr>
            <p:cNvPr id="68665" name="Rectangle 57"/>
            <p:cNvSpPr>
              <a:spLocks noChangeArrowheads="1"/>
            </p:cNvSpPr>
            <p:nvPr/>
          </p:nvSpPr>
          <p:spPr bwMode="auto">
            <a:xfrm>
              <a:off x="440" y="2574"/>
              <a:ext cx="1373" cy="99"/>
            </a:xfrm>
            <a:prstGeom prst="rect">
              <a:avLst/>
            </a:prstGeom>
            <a:noFill/>
            <a:ln w="9525">
              <a:noFill/>
              <a:miter lim="800000"/>
              <a:headEnd/>
              <a:tailEnd/>
            </a:ln>
          </p:spPr>
          <p:txBody>
            <a:bodyPr wrap="none" lIns="0" tIns="0" rIns="0" bIns="0">
              <a:spAutoFit/>
            </a:bodyPr>
            <a:lstStyle/>
            <a:p>
              <a:r>
                <a:rPr lang="en-US" sz="1600" b="1" dirty="0"/>
                <a:t>District Selling Expenses</a:t>
              </a:r>
            </a:p>
          </p:txBody>
        </p:sp>
        <p:sp>
          <p:nvSpPr>
            <p:cNvPr id="68666" name="Rectangle 58"/>
            <p:cNvSpPr>
              <a:spLocks noChangeArrowheads="1"/>
            </p:cNvSpPr>
            <p:nvPr/>
          </p:nvSpPr>
          <p:spPr bwMode="auto">
            <a:xfrm>
              <a:off x="432" y="3052"/>
              <a:ext cx="517" cy="99"/>
            </a:xfrm>
            <a:prstGeom prst="rect">
              <a:avLst/>
            </a:prstGeom>
            <a:noFill/>
            <a:ln w="9525">
              <a:noFill/>
              <a:miter lim="800000"/>
              <a:headEnd/>
              <a:tailEnd/>
            </a:ln>
          </p:spPr>
          <p:txBody>
            <a:bodyPr wrap="none" lIns="0" tIns="0" rIns="0" bIns="0">
              <a:spAutoFit/>
            </a:bodyPr>
            <a:lstStyle/>
            <a:p>
              <a:r>
                <a:rPr lang="en-US" sz="1600" b="1" dirty="0"/>
                <a:t>Inventory</a:t>
              </a:r>
            </a:p>
          </p:txBody>
        </p:sp>
        <p:sp>
          <p:nvSpPr>
            <p:cNvPr id="68667" name="Rectangle 59"/>
            <p:cNvSpPr>
              <a:spLocks noChangeArrowheads="1"/>
            </p:cNvSpPr>
            <p:nvPr/>
          </p:nvSpPr>
          <p:spPr bwMode="auto">
            <a:xfrm>
              <a:off x="432" y="3216"/>
              <a:ext cx="1212" cy="99"/>
            </a:xfrm>
            <a:prstGeom prst="rect">
              <a:avLst/>
            </a:prstGeom>
            <a:noFill/>
            <a:ln w="9525">
              <a:noFill/>
              <a:miter lim="800000"/>
              <a:headEnd/>
              <a:tailEnd/>
            </a:ln>
          </p:spPr>
          <p:txBody>
            <a:bodyPr wrap="none" lIns="0" tIns="0" rIns="0" bIns="0">
              <a:spAutoFit/>
            </a:bodyPr>
            <a:lstStyle/>
            <a:p>
              <a:r>
                <a:rPr lang="en-US" sz="1600" b="1" dirty="0"/>
                <a:t>Total Assets Managed</a:t>
              </a:r>
            </a:p>
          </p:txBody>
        </p:sp>
        <p:sp>
          <p:nvSpPr>
            <p:cNvPr id="68668" name="Rectangle 60"/>
            <p:cNvSpPr>
              <a:spLocks noChangeArrowheads="1"/>
            </p:cNvSpPr>
            <p:nvPr/>
          </p:nvSpPr>
          <p:spPr bwMode="auto">
            <a:xfrm>
              <a:off x="432" y="3355"/>
              <a:ext cx="1673" cy="99"/>
            </a:xfrm>
            <a:prstGeom prst="rect">
              <a:avLst/>
            </a:prstGeom>
            <a:noFill/>
            <a:ln w="9525">
              <a:noFill/>
              <a:miter lim="800000"/>
              <a:headEnd/>
              <a:tailEnd/>
            </a:ln>
          </p:spPr>
          <p:txBody>
            <a:bodyPr wrap="none" lIns="0" tIns="0" rIns="0" bIns="0">
              <a:spAutoFit/>
            </a:bodyPr>
            <a:lstStyle/>
            <a:p>
              <a:r>
                <a:rPr lang="en-US" sz="1600" b="1" dirty="0"/>
                <a:t>Profit Contribution Percentage</a:t>
              </a:r>
            </a:p>
          </p:txBody>
        </p:sp>
        <p:sp>
          <p:nvSpPr>
            <p:cNvPr id="68669" name="Rectangle 61"/>
            <p:cNvSpPr>
              <a:spLocks noChangeArrowheads="1"/>
            </p:cNvSpPr>
            <p:nvPr/>
          </p:nvSpPr>
          <p:spPr bwMode="auto">
            <a:xfrm>
              <a:off x="432" y="3512"/>
              <a:ext cx="842" cy="100"/>
            </a:xfrm>
            <a:prstGeom prst="rect">
              <a:avLst/>
            </a:prstGeom>
            <a:noFill/>
            <a:ln w="9525">
              <a:noFill/>
              <a:miter lim="800000"/>
              <a:headEnd/>
              <a:tailEnd/>
            </a:ln>
          </p:spPr>
          <p:txBody>
            <a:bodyPr wrap="none" lIns="0" tIns="0" rIns="0" bIns="0">
              <a:spAutoFit/>
            </a:bodyPr>
            <a:lstStyle/>
            <a:p>
              <a:r>
                <a:rPr lang="en-US" sz="1600" b="1" dirty="0"/>
                <a:t>Asset Turnover</a:t>
              </a:r>
            </a:p>
          </p:txBody>
        </p:sp>
        <p:sp>
          <p:nvSpPr>
            <p:cNvPr id="68670" name="Rectangle 62"/>
            <p:cNvSpPr>
              <a:spLocks noChangeArrowheads="1"/>
            </p:cNvSpPr>
            <p:nvPr/>
          </p:nvSpPr>
          <p:spPr bwMode="auto">
            <a:xfrm>
              <a:off x="432" y="3676"/>
              <a:ext cx="351" cy="99"/>
            </a:xfrm>
            <a:prstGeom prst="rect">
              <a:avLst/>
            </a:prstGeom>
            <a:noFill/>
            <a:ln w="9525">
              <a:noFill/>
              <a:miter lim="800000"/>
              <a:headEnd/>
              <a:tailEnd/>
            </a:ln>
          </p:spPr>
          <p:txBody>
            <a:bodyPr wrap="none" lIns="0" tIns="0" rIns="0" bIns="0">
              <a:spAutoFit/>
            </a:bodyPr>
            <a:lstStyle/>
            <a:p>
              <a:r>
                <a:rPr lang="en-US" sz="1600" b="1" dirty="0"/>
                <a:t>ROAM</a:t>
              </a:r>
            </a:p>
          </p:txBody>
        </p:sp>
      </p:grpSp>
      <p:sp>
        <p:nvSpPr>
          <p:cNvPr id="68671" name="Rectangle 63"/>
          <p:cNvSpPr>
            <a:spLocks noChangeArrowheads="1"/>
          </p:cNvSpPr>
          <p:nvPr/>
        </p:nvSpPr>
        <p:spPr bwMode="auto">
          <a:xfrm>
            <a:off x="3584575" y="5751513"/>
            <a:ext cx="577850" cy="246062"/>
          </a:xfrm>
          <a:prstGeom prst="rect">
            <a:avLst/>
          </a:prstGeom>
          <a:noFill/>
          <a:ln w="9525">
            <a:noFill/>
            <a:miter lim="800000"/>
            <a:headEnd/>
            <a:tailEnd/>
          </a:ln>
        </p:spPr>
        <p:txBody>
          <a:bodyPr wrap="none" lIns="0" tIns="0" rIns="0" bIns="0">
            <a:spAutoFit/>
          </a:bodyPr>
          <a:lstStyle/>
          <a:p>
            <a:r>
              <a:rPr lang="en-US" sz="1600" dirty="0"/>
              <a:t>   30%</a:t>
            </a:r>
          </a:p>
        </p:txBody>
      </p:sp>
      <p:sp>
        <p:nvSpPr>
          <p:cNvPr id="68672" name="Rectangle 64"/>
          <p:cNvSpPr>
            <a:spLocks noChangeArrowheads="1"/>
          </p:cNvSpPr>
          <p:nvPr/>
        </p:nvSpPr>
        <p:spPr bwMode="auto">
          <a:xfrm>
            <a:off x="4886325" y="5751513"/>
            <a:ext cx="635000" cy="246062"/>
          </a:xfrm>
          <a:prstGeom prst="rect">
            <a:avLst/>
          </a:prstGeom>
          <a:noFill/>
          <a:ln w="9525">
            <a:noFill/>
            <a:miter lim="800000"/>
            <a:headEnd/>
            <a:tailEnd/>
          </a:ln>
        </p:spPr>
        <p:txBody>
          <a:bodyPr wrap="none" lIns="0" tIns="0" rIns="0" bIns="0">
            <a:spAutoFit/>
          </a:bodyPr>
          <a:lstStyle/>
          <a:p>
            <a:r>
              <a:rPr lang="en-US" sz="1600" dirty="0"/>
              <a:t>    30%</a:t>
            </a:r>
          </a:p>
        </p:txBody>
      </p:sp>
      <p:sp>
        <p:nvSpPr>
          <p:cNvPr id="68673" name="Rectangle 65"/>
          <p:cNvSpPr>
            <a:spLocks noChangeArrowheads="1"/>
          </p:cNvSpPr>
          <p:nvPr/>
        </p:nvSpPr>
        <p:spPr bwMode="auto">
          <a:xfrm>
            <a:off x="6499225" y="5751513"/>
            <a:ext cx="463550" cy="246062"/>
          </a:xfrm>
          <a:prstGeom prst="rect">
            <a:avLst/>
          </a:prstGeom>
          <a:noFill/>
          <a:ln w="9525">
            <a:noFill/>
            <a:miter lim="800000"/>
            <a:headEnd/>
            <a:tailEnd/>
          </a:ln>
        </p:spPr>
        <p:txBody>
          <a:bodyPr wrap="none" lIns="0" tIns="0" rIns="0" bIns="0">
            <a:spAutoFit/>
          </a:bodyPr>
          <a:lstStyle/>
          <a:p>
            <a:r>
              <a:rPr lang="en-US" sz="1600" dirty="0"/>
              <a:t> 15%</a:t>
            </a:r>
          </a:p>
        </p:txBody>
      </p:sp>
      <p:sp>
        <p:nvSpPr>
          <p:cNvPr id="68674" name="Rectangle 66"/>
          <p:cNvSpPr>
            <a:spLocks noChangeArrowheads="1"/>
          </p:cNvSpPr>
          <p:nvPr/>
        </p:nvSpPr>
        <p:spPr bwMode="auto">
          <a:xfrm>
            <a:off x="7883525" y="4911725"/>
            <a:ext cx="523875" cy="246063"/>
          </a:xfrm>
          <a:prstGeom prst="rect">
            <a:avLst/>
          </a:prstGeom>
          <a:noFill/>
          <a:ln w="9525">
            <a:noFill/>
            <a:miter lim="800000"/>
            <a:headEnd/>
            <a:tailEnd/>
          </a:ln>
        </p:spPr>
        <p:txBody>
          <a:bodyPr wrap="none" lIns="0" tIns="0" rIns="0" bIns="0">
            <a:spAutoFit/>
          </a:bodyPr>
          <a:lstStyle/>
          <a:p>
            <a:r>
              <a:rPr lang="en-US" sz="1600" dirty="0"/>
              <a:t>    5%</a:t>
            </a:r>
          </a:p>
        </p:txBody>
      </p:sp>
      <p:sp>
        <p:nvSpPr>
          <p:cNvPr id="68675" name="Rectangle 67"/>
          <p:cNvSpPr>
            <a:spLocks noChangeArrowheads="1"/>
          </p:cNvSpPr>
          <p:nvPr/>
        </p:nvSpPr>
        <p:spPr bwMode="auto">
          <a:xfrm>
            <a:off x="8047038" y="5297488"/>
            <a:ext cx="282575" cy="244475"/>
          </a:xfrm>
          <a:prstGeom prst="rect">
            <a:avLst/>
          </a:prstGeom>
          <a:noFill/>
          <a:ln w="9525">
            <a:noFill/>
            <a:miter lim="800000"/>
            <a:headEnd/>
            <a:tailEnd/>
          </a:ln>
        </p:spPr>
        <p:txBody>
          <a:bodyPr wrap="none" lIns="0" tIns="0" rIns="0" bIns="0">
            <a:spAutoFit/>
          </a:bodyPr>
          <a:lstStyle/>
          <a:p>
            <a:r>
              <a:rPr lang="en-US" sz="1600" dirty="0"/>
              <a:t>3.0</a:t>
            </a:r>
          </a:p>
        </p:txBody>
      </p:sp>
      <p:sp>
        <p:nvSpPr>
          <p:cNvPr id="68676" name="Rectangle 68"/>
          <p:cNvSpPr>
            <a:spLocks noChangeArrowheads="1"/>
          </p:cNvSpPr>
          <p:nvPr/>
        </p:nvSpPr>
        <p:spPr bwMode="auto">
          <a:xfrm>
            <a:off x="7820025" y="5702300"/>
            <a:ext cx="635000" cy="246063"/>
          </a:xfrm>
          <a:prstGeom prst="rect">
            <a:avLst/>
          </a:prstGeom>
          <a:noFill/>
          <a:ln w="9525">
            <a:noFill/>
            <a:miter lim="800000"/>
            <a:headEnd/>
            <a:tailEnd/>
          </a:ln>
        </p:spPr>
        <p:txBody>
          <a:bodyPr wrap="none" lIns="0" tIns="0" rIns="0" bIns="0">
            <a:spAutoFit/>
          </a:bodyPr>
          <a:lstStyle/>
          <a:p>
            <a:r>
              <a:rPr lang="en-US" sz="1600" dirty="0"/>
              <a:t>    15%</a:t>
            </a:r>
          </a:p>
        </p:txBody>
      </p:sp>
    </p:spTree>
    <p:extLst>
      <p:ext uri="{BB962C8B-B14F-4D97-AF65-F5344CB8AC3E}">
        <p14:creationId xmlns:p14="http://schemas.microsoft.com/office/powerpoint/2010/main" val="59398294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7065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dirty="0"/>
          </a:p>
        </p:txBody>
      </p:sp>
      <p:sp>
        <p:nvSpPr>
          <p:cNvPr id="70660" name="Rectangle 4"/>
          <p:cNvSpPr>
            <a:spLocks noGrp="1" noChangeArrowheads="1"/>
          </p:cNvSpPr>
          <p:nvPr>
            <p:ph type="title"/>
          </p:nvPr>
        </p:nvSpPr>
        <p:spPr>
          <a:solidFill>
            <a:schemeClr val="bg2">
              <a:lumMod val="60000"/>
              <a:lumOff val="40000"/>
            </a:schemeClr>
          </a:solidFill>
        </p:spPr>
        <p:txBody>
          <a:bodyPr/>
          <a:lstStyle/>
          <a:p>
            <a:r>
              <a:rPr lang="en-US" dirty="0"/>
              <a:t>Productivity Analysis… </a:t>
            </a:r>
            <a:br>
              <a:rPr lang="en-US" dirty="0"/>
            </a:br>
            <a:r>
              <a:rPr lang="en-US" i="1" dirty="0"/>
              <a:t>getting more with less</a:t>
            </a:r>
            <a:endParaRPr lang="en-US" sz="2800" i="1" dirty="0">
              <a:solidFill>
                <a:schemeClr val="accent2"/>
              </a:solidFill>
            </a:endParaRPr>
          </a:p>
        </p:txBody>
      </p:sp>
      <p:sp>
        <p:nvSpPr>
          <p:cNvPr id="70661" name="Rectangle 5"/>
          <p:cNvSpPr>
            <a:spLocks noGrp="1" noChangeArrowheads="1"/>
          </p:cNvSpPr>
          <p:nvPr>
            <p:ph idx="1"/>
          </p:nvPr>
        </p:nvSpPr>
        <p:spPr/>
        <p:txBody>
          <a:bodyPr/>
          <a:lstStyle/>
          <a:p>
            <a:pPr marL="344488" indent="-344488"/>
            <a:r>
              <a:rPr lang="en-US" sz="2400" dirty="0"/>
              <a:t>Compares profits and asset investments.</a:t>
            </a:r>
          </a:p>
          <a:p>
            <a:pPr marL="344488" indent="-344488">
              <a:buFontTx/>
              <a:buNone/>
            </a:pPr>
            <a:endParaRPr lang="en-US" sz="900" dirty="0"/>
          </a:p>
          <a:p>
            <a:pPr marL="344488" indent="-344488"/>
            <a:r>
              <a:rPr lang="en-US" sz="2400" dirty="0"/>
              <a:t>Expressed in terms of ratios of inputs to output.</a:t>
            </a:r>
          </a:p>
          <a:p>
            <a:pPr marL="344488" indent="-344488">
              <a:buFontTx/>
              <a:buNone/>
            </a:pPr>
            <a:endParaRPr lang="en-US" sz="900" dirty="0"/>
          </a:p>
          <a:p>
            <a:pPr marL="344488" indent="-344488"/>
            <a:r>
              <a:rPr lang="en-US" sz="2400" dirty="0"/>
              <a:t>Productivity improvements are obtained in one of two basic ways:</a:t>
            </a:r>
          </a:p>
          <a:p>
            <a:pPr marL="990600" lvl="1" indent="-266700">
              <a:buFontTx/>
              <a:buAutoNum type="arabicPeriod"/>
            </a:pPr>
            <a:r>
              <a:rPr lang="en-US" sz="2000" dirty="0"/>
              <a:t>Increasing output </a:t>
            </a:r>
            <a:br>
              <a:rPr lang="en-US" sz="2000" dirty="0"/>
            </a:br>
            <a:r>
              <a:rPr lang="en-US" sz="2000" dirty="0"/>
              <a:t>with the same</a:t>
            </a:r>
            <a:br>
              <a:rPr lang="en-US" sz="2000" dirty="0"/>
            </a:br>
            <a:r>
              <a:rPr lang="en-US" sz="2000" dirty="0"/>
              <a:t>level of input;</a:t>
            </a:r>
          </a:p>
          <a:p>
            <a:pPr marL="990600" lvl="1" indent="-266700">
              <a:buFontTx/>
              <a:buAutoNum type="arabicPeriod"/>
            </a:pPr>
            <a:r>
              <a:rPr lang="en-US" sz="2000" dirty="0"/>
              <a:t>Maintaining the </a:t>
            </a:r>
            <a:br>
              <a:rPr lang="en-US" sz="2000" dirty="0"/>
            </a:br>
            <a:r>
              <a:rPr lang="en-US" sz="2000" dirty="0"/>
              <a:t>same level of</a:t>
            </a:r>
            <a:br>
              <a:rPr lang="en-US" sz="2000" dirty="0"/>
            </a:br>
            <a:r>
              <a:rPr lang="en-US" sz="2000" dirty="0"/>
              <a:t>output but using</a:t>
            </a:r>
            <a:br>
              <a:rPr lang="en-US" sz="2000" dirty="0"/>
            </a:br>
            <a:r>
              <a:rPr lang="en-US" sz="2000" dirty="0"/>
              <a:t>less input.</a:t>
            </a:r>
          </a:p>
        </p:txBody>
      </p:sp>
      <p:pic>
        <p:nvPicPr>
          <p:cNvPr id="2" name="Picture 2" descr="Free vector multitasking business woman with six hands in balance">
            <a:extLst>
              <a:ext uri="{FF2B5EF4-FFF2-40B4-BE49-F238E27FC236}">
                <a16:creationId xmlns:a16="http://schemas.microsoft.com/office/drawing/2014/main" id="{AE3361D3-2D72-5A1E-077B-79E8702C34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3302245"/>
            <a:ext cx="3347671" cy="3347671"/>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751503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72708" name="Rectangle 4"/>
          <p:cNvSpPr>
            <a:spLocks noGrp="1" noChangeArrowheads="1"/>
          </p:cNvSpPr>
          <p:nvPr>
            <p:ph type="title"/>
          </p:nvPr>
        </p:nvSpPr>
        <p:spPr>
          <a:solidFill>
            <a:schemeClr val="bg2">
              <a:lumMod val="60000"/>
              <a:lumOff val="40000"/>
            </a:schemeClr>
          </a:solidFill>
        </p:spPr>
        <p:txBody>
          <a:bodyPr/>
          <a:lstStyle/>
          <a:p>
            <a:r>
              <a:rPr lang="en-US" dirty="0"/>
              <a:t>Productivity Analysis Example</a:t>
            </a:r>
          </a:p>
        </p:txBody>
      </p:sp>
      <p:grpSp>
        <p:nvGrpSpPr>
          <p:cNvPr id="3" name="Group 2"/>
          <p:cNvGrpSpPr/>
          <p:nvPr/>
        </p:nvGrpSpPr>
        <p:grpSpPr>
          <a:xfrm>
            <a:off x="200025" y="1828800"/>
            <a:ext cx="8772525" cy="4313238"/>
            <a:chOff x="200025" y="1752600"/>
            <a:chExt cx="8772525" cy="4313238"/>
          </a:xfrm>
        </p:grpSpPr>
        <p:sp>
          <p:nvSpPr>
            <p:cNvPr id="65" name="Rectangle 64"/>
            <p:cNvSpPr/>
            <p:nvPr/>
          </p:nvSpPr>
          <p:spPr bwMode="auto">
            <a:xfrm>
              <a:off x="7486650" y="1752600"/>
              <a:ext cx="1485900" cy="3581400"/>
            </a:xfrm>
            <a:prstGeom prst="rect">
              <a:avLst/>
            </a:prstGeom>
            <a:solidFill>
              <a:schemeClr val="bg2">
                <a:lumMod val="75000"/>
              </a:schemeClr>
            </a:solidFill>
            <a:ln>
              <a:noFill/>
              <a:headEnd type="none" w="med" len="med"/>
              <a:tailEnd type="none" w="med" len="med"/>
            </a:ln>
            <a:effectLst>
              <a:outerShdw blurRad="57150" dist="19050" dir="5400000" algn="ctr" rotWithShape="0">
                <a:srgbClr val="000000">
                  <a:alpha val="63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Times" pitchFamily="18" charset="0"/>
                <a:ea typeface="+mn-ea"/>
                <a:cs typeface="+mn-cs"/>
              </a:endParaRPr>
            </a:p>
          </p:txBody>
        </p:sp>
        <p:sp>
          <p:nvSpPr>
            <p:cNvPr id="66" name="Rectangle 65"/>
            <p:cNvSpPr/>
            <p:nvPr/>
          </p:nvSpPr>
          <p:spPr bwMode="auto">
            <a:xfrm>
              <a:off x="6000750" y="1752600"/>
              <a:ext cx="1485900" cy="3581400"/>
            </a:xfrm>
            <a:prstGeom prst="rect">
              <a:avLst/>
            </a:prstGeom>
            <a:solidFill>
              <a:schemeClr val="bg2">
                <a:lumMod val="60000"/>
                <a:lumOff val="40000"/>
              </a:schemeClr>
            </a:solidFill>
            <a:ln w="6350" cap="flat" cmpd="sng" algn="ctr">
              <a:solidFill>
                <a:srgbClr val="9BBB59"/>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Times" pitchFamily="18" charset="0"/>
                <a:ea typeface="+mn-ea"/>
                <a:cs typeface="+mn-cs"/>
              </a:endParaRPr>
            </a:p>
          </p:txBody>
        </p:sp>
        <p:sp>
          <p:nvSpPr>
            <p:cNvPr id="67" name="Rectangle 66"/>
            <p:cNvSpPr/>
            <p:nvPr/>
          </p:nvSpPr>
          <p:spPr bwMode="auto">
            <a:xfrm>
              <a:off x="4514850" y="1752600"/>
              <a:ext cx="1485900" cy="3581400"/>
            </a:xfrm>
            <a:prstGeom prst="rect">
              <a:avLst/>
            </a:prstGeom>
            <a:solidFill>
              <a:schemeClr val="bg2">
                <a:lumMod val="40000"/>
                <a:lumOff val="60000"/>
              </a:schemeClr>
            </a:solidFill>
            <a:ln>
              <a:noFill/>
              <a:headEnd type="none" w="med" len="med"/>
              <a:tailEnd type="none" w="med" len="med"/>
            </a:ln>
            <a:effectLst>
              <a:outerShdw blurRad="57150" dist="19050" dir="5400000" algn="ctr" rotWithShape="0">
                <a:srgbClr val="000000">
                  <a:alpha val="63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Times" pitchFamily="18" charset="0"/>
                <a:ea typeface="+mn-ea"/>
                <a:cs typeface="+mn-cs"/>
              </a:endParaRPr>
            </a:p>
          </p:txBody>
        </p:sp>
        <p:sp>
          <p:nvSpPr>
            <p:cNvPr id="68" name="Rectangle 67"/>
            <p:cNvSpPr/>
            <p:nvPr/>
          </p:nvSpPr>
          <p:spPr bwMode="auto">
            <a:xfrm>
              <a:off x="200025" y="1752600"/>
              <a:ext cx="2819400" cy="3581400"/>
            </a:xfrm>
            <a:prstGeom prst="rect">
              <a:avLst/>
            </a:prstGeom>
            <a:solidFill>
              <a:schemeClr val="bg2">
                <a:lumMod val="40000"/>
                <a:lumOff val="60000"/>
              </a:schemeClr>
            </a:solidFill>
            <a:ln>
              <a:noFill/>
              <a:headEnd type="none" w="med" len="med"/>
              <a:tailEnd type="none" w="med" len="med"/>
            </a:ln>
            <a:effectLst>
              <a:outerShdw blurRad="57150" dist="19050" dir="5400000" algn="ctr" rotWithShape="0">
                <a:srgbClr val="000000">
                  <a:alpha val="63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Times" pitchFamily="18" charset="0"/>
                <a:ea typeface="+mn-ea"/>
                <a:cs typeface="+mn-cs"/>
              </a:endParaRPr>
            </a:p>
          </p:txBody>
        </p:sp>
        <p:sp>
          <p:nvSpPr>
            <p:cNvPr id="72" name="Rectangle 71"/>
            <p:cNvSpPr/>
            <p:nvPr/>
          </p:nvSpPr>
          <p:spPr bwMode="auto">
            <a:xfrm>
              <a:off x="3028950" y="1752600"/>
              <a:ext cx="1485900" cy="3581400"/>
            </a:xfrm>
            <a:prstGeom prst="rect">
              <a:avLst/>
            </a:prstGeom>
            <a:ln w="6350" cap="flat" cmpd="sng" algn="ctr">
              <a:solidFill>
                <a:srgbClr val="9BBB59"/>
              </a:solidFill>
              <a:prstDash val="solid"/>
              <a:miter lim="800000"/>
              <a:headEnd type="none" w="med" len="med"/>
              <a:tailEnd type="none" w="med" len="med"/>
            </a:ln>
            <a:effectLst/>
          </p:spPr>
          <p:style>
            <a:lnRef idx="0">
              <a:scrgbClr r="0" g="0" b="0"/>
            </a:lnRef>
            <a:fillRef idx="1001">
              <a:schemeClr val="lt2"/>
            </a:fillRef>
            <a:effectRef idx="0">
              <a:scrgbClr r="0" g="0" b="0"/>
            </a:effectRef>
            <a:fontRef idx="major"/>
          </p:style>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Times" pitchFamily="18" charset="0"/>
                <a:ea typeface="+mn-ea"/>
                <a:cs typeface="+mn-cs"/>
              </a:endParaRPr>
            </a:p>
          </p:txBody>
        </p:sp>
        <p:grpSp>
          <p:nvGrpSpPr>
            <p:cNvPr id="73" name="Group 72"/>
            <p:cNvGrpSpPr>
              <a:grpSpLocks/>
            </p:cNvGrpSpPr>
            <p:nvPr/>
          </p:nvGrpSpPr>
          <p:grpSpPr bwMode="auto">
            <a:xfrm>
              <a:off x="295275" y="1752600"/>
              <a:ext cx="8639215" cy="4313238"/>
              <a:chOff x="1100" y="1680"/>
              <a:chExt cx="4539" cy="1949"/>
            </a:xfrm>
          </p:grpSpPr>
          <p:sp>
            <p:nvSpPr>
              <p:cNvPr id="74" name="Rectangle 73"/>
              <p:cNvSpPr>
                <a:spLocks noChangeArrowheads="1"/>
              </p:cNvSpPr>
              <p:nvPr/>
            </p:nvSpPr>
            <p:spPr bwMode="auto">
              <a:xfrm>
                <a:off x="1968" y="3341"/>
                <a:ext cx="1824" cy="288"/>
              </a:xfrm>
              <a:prstGeom prst="rect">
                <a:avLst/>
              </a:prstGeom>
              <a:noFill/>
              <a:ln w="12700">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75" name="Rectangle 74"/>
              <p:cNvSpPr>
                <a:spLocks noChangeArrowheads="1"/>
              </p:cNvSpPr>
              <p:nvPr/>
            </p:nvSpPr>
            <p:spPr bwMode="auto">
              <a:xfrm>
                <a:off x="1116" y="1825"/>
                <a:ext cx="278"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Sales</a:t>
                </a:r>
              </a:p>
            </p:txBody>
          </p:sp>
          <p:sp>
            <p:nvSpPr>
              <p:cNvPr id="76" name="Rectangle 75"/>
              <p:cNvSpPr>
                <a:spLocks noChangeArrowheads="1"/>
              </p:cNvSpPr>
              <p:nvPr/>
            </p:nvSpPr>
            <p:spPr bwMode="auto">
              <a:xfrm>
                <a:off x="1116" y="1994"/>
                <a:ext cx="877"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Selling Expenses</a:t>
                </a:r>
              </a:p>
            </p:txBody>
          </p:sp>
          <p:sp>
            <p:nvSpPr>
              <p:cNvPr id="77" name="Rectangle 76"/>
              <p:cNvSpPr>
                <a:spLocks noChangeArrowheads="1"/>
              </p:cNvSpPr>
              <p:nvPr/>
            </p:nvSpPr>
            <p:spPr bwMode="auto">
              <a:xfrm>
                <a:off x="1116" y="2636"/>
                <a:ext cx="942"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Sales/Salesperson</a:t>
                </a:r>
              </a:p>
            </p:txBody>
          </p:sp>
          <p:sp>
            <p:nvSpPr>
              <p:cNvPr id="78" name="Rectangle 77"/>
              <p:cNvSpPr>
                <a:spLocks noChangeArrowheads="1"/>
              </p:cNvSpPr>
              <p:nvPr/>
            </p:nvSpPr>
            <p:spPr bwMode="auto">
              <a:xfrm>
                <a:off x="1116" y="2161"/>
                <a:ext cx="564"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Sales Calls</a:t>
                </a:r>
              </a:p>
            </p:txBody>
          </p:sp>
          <p:sp>
            <p:nvSpPr>
              <p:cNvPr id="79" name="Rectangle 78"/>
              <p:cNvSpPr>
                <a:spLocks noChangeArrowheads="1"/>
              </p:cNvSpPr>
              <p:nvPr/>
            </p:nvSpPr>
            <p:spPr bwMode="auto">
              <a:xfrm>
                <a:off x="1124" y="2315"/>
                <a:ext cx="516"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Proposals</a:t>
                </a:r>
              </a:p>
            </p:txBody>
          </p:sp>
          <p:sp>
            <p:nvSpPr>
              <p:cNvPr id="80" name="Rectangle 79"/>
              <p:cNvSpPr>
                <a:spLocks noChangeArrowheads="1"/>
              </p:cNvSpPr>
              <p:nvPr/>
            </p:nvSpPr>
            <p:spPr bwMode="auto">
              <a:xfrm>
                <a:off x="2658" y="1680"/>
                <a:ext cx="458"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District 1</a:t>
                </a:r>
              </a:p>
            </p:txBody>
          </p:sp>
          <p:sp>
            <p:nvSpPr>
              <p:cNvPr id="81" name="Rectangle 80"/>
              <p:cNvSpPr>
                <a:spLocks noChangeArrowheads="1"/>
              </p:cNvSpPr>
              <p:nvPr/>
            </p:nvSpPr>
            <p:spPr bwMode="auto">
              <a:xfrm>
                <a:off x="2580" y="2646"/>
                <a:ext cx="594"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$ 1,000,000</a:t>
                </a:r>
              </a:p>
            </p:txBody>
          </p:sp>
          <p:sp>
            <p:nvSpPr>
              <p:cNvPr id="82" name="Rectangle 81"/>
              <p:cNvSpPr>
                <a:spLocks noChangeArrowheads="1"/>
              </p:cNvSpPr>
              <p:nvPr/>
            </p:nvSpPr>
            <p:spPr bwMode="auto">
              <a:xfrm>
                <a:off x="2580" y="2161"/>
                <a:ext cx="597"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9,000</a:t>
                </a:r>
              </a:p>
            </p:txBody>
          </p:sp>
          <p:sp>
            <p:nvSpPr>
              <p:cNvPr id="83" name="Rectangle 82"/>
              <p:cNvSpPr>
                <a:spLocks noChangeArrowheads="1"/>
              </p:cNvSpPr>
              <p:nvPr/>
            </p:nvSpPr>
            <p:spPr bwMode="auto">
              <a:xfrm>
                <a:off x="2580" y="2003"/>
                <a:ext cx="594"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2,000,000</a:t>
                </a:r>
              </a:p>
            </p:txBody>
          </p:sp>
          <p:sp>
            <p:nvSpPr>
              <p:cNvPr id="84" name="Text Box 17"/>
              <p:cNvSpPr txBox="1">
                <a:spLocks noChangeArrowheads="1"/>
              </p:cNvSpPr>
              <p:nvPr/>
            </p:nvSpPr>
            <p:spPr bwMode="auto">
              <a:xfrm>
                <a:off x="2532" y="1834"/>
                <a:ext cx="690" cy="152"/>
              </a:xfrm>
              <a:prstGeom prst="rect">
                <a:avLst/>
              </a:prstGeom>
              <a:noFill/>
              <a:ln w="12700">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$20,000,000</a:t>
                </a:r>
              </a:p>
            </p:txBody>
          </p:sp>
          <p:sp>
            <p:nvSpPr>
              <p:cNvPr id="85" name="Rectangle 84"/>
              <p:cNvSpPr>
                <a:spLocks noChangeArrowheads="1"/>
              </p:cNvSpPr>
              <p:nvPr/>
            </p:nvSpPr>
            <p:spPr bwMode="auto">
              <a:xfrm>
                <a:off x="2580" y="2324"/>
                <a:ext cx="598"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200</a:t>
                </a:r>
              </a:p>
            </p:txBody>
          </p:sp>
          <p:sp>
            <p:nvSpPr>
              <p:cNvPr id="86" name="Line 19"/>
              <p:cNvSpPr>
                <a:spLocks noChangeShapeType="1"/>
              </p:cNvSpPr>
              <p:nvPr/>
            </p:nvSpPr>
            <p:spPr bwMode="auto">
              <a:xfrm>
                <a:off x="2592" y="1820"/>
                <a:ext cx="672" cy="0"/>
              </a:xfrm>
              <a:prstGeom prst="line">
                <a:avLst/>
              </a:prstGeom>
              <a:noFill/>
              <a:ln w="1905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87" name="Text Box 20"/>
              <p:cNvSpPr txBox="1">
                <a:spLocks noChangeArrowheads="1"/>
              </p:cNvSpPr>
              <p:nvPr/>
            </p:nvSpPr>
            <p:spPr bwMode="auto">
              <a:xfrm>
                <a:off x="3398" y="1834"/>
                <a:ext cx="690" cy="152"/>
              </a:xfrm>
              <a:prstGeom prst="rect">
                <a:avLst/>
              </a:prstGeom>
              <a:noFill/>
              <a:ln w="12700">
                <a:noFill/>
                <a:miter lim="800000"/>
                <a:headEnd/>
                <a:tailEnd/>
              </a:ln>
              <a:effectLst/>
            </p:spPr>
            <p:txBody>
              <a:bodyPr wrap="non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$24,000,000</a:t>
                </a:r>
              </a:p>
            </p:txBody>
          </p:sp>
          <p:sp>
            <p:nvSpPr>
              <p:cNvPr id="88" name="Rectangle 87"/>
              <p:cNvSpPr>
                <a:spLocks noChangeArrowheads="1"/>
              </p:cNvSpPr>
              <p:nvPr/>
            </p:nvSpPr>
            <p:spPr bwMode="auto">
              <a:xfrm>
                <a:off x="3570" y="1680"/>
                <a:ext cx="462" cy="111"/>
              </a:xfrm>
              <a:prstGeom prst="rect">
                <a:avLst/>
              </a:prstGeom>
              <a:noFill/>
              <a:ln w="9525">
                <a:noFill/>
                <a:miter lim="800000"/>
                <a:headEnd/>
                <a:tailEnd/>
              </a:ln>
            </p:spPr>
            <p:txBody>
              <a:bodyPr wrap="none" lIns="0" tIns="0" rIns="0" bIns="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District 2</a:t>
                </a:r>
              </a:p>
            </p:txBody>
          </p:sp>
          <p:sp>
            <p:nvSpPr>
              <p:cNvPr id="89" name="Rectangle 88"/>
              <p:cNvSpPr>
                <a:spLocks noChangeArrowheads="1"/>
              </p:cNvSpPr>
              <p:nvPr/>
            </p:nvSpPr>
            <p:spPr bwMode="auto">
              <a:xfrm>
                <a:off x="4256" y="1680"/>
                <a:ext cx="458"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District 3</a:t>
                </a:r>
              </a:p>
            </p:txBody>
          </p:sp>
          <p:sp>
            <p:nvSpPr>
              <p:cNvPr id="90" name="Rectangle 89"/>
              <p:cNvSpPr>
                <a:spLocks noChangeArrowheads="1"/>
              </p:cNvSpPr>
              <p:nvPr/>
            </p:nvSpPr>
            <p:spPr bwMode="auto">
              <a:xfrm>
                <a:off x="5033" y="1680"/>
                <a:ext cx="458"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District 4</a:t>
                </a:r>
              </a:p>
            </p:txBody>
          </p:sp>
          <p:sp>
            <p:nvSpPr>
              <p:cNvPr id="91" name="Rectangle 90"/>
              <p:cNvSpPr>
                <a:spLocks noChangeArrowheads="1"/>
              </p:cNvSpPr>
              <p:nvPr/>
            </p:nvSpPr>
            <p:spPr bwMode="auto">
              <a:xfrm>
                <a:off x="3467" y="2646"/>
                <a:ext cx="565" cy="111"/>
              </a:xfrm>
              <a:prstGeom prst="rect">
                <a:avLst/>
              </a:prstGeom>
              <a:noFill/>
              <a:ln w="9525">
                <a:noFill/>
                <a:miter lim="800000"/>
                <a:headEnd/>
                <a:tailEnd/>
              </a:ln>
            </p:spPr>
            <p:txBody>
              <a:bodyPr wrap="none" lIns="0" tIns="0" rIns="0" bIns="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   800,000</a:t>
                </a:r>
              </a:p>
            </p:txBody>
          </p:sp>
          <p:sp>
            <p:nvSpPr>
              <p:cNvPr id="92" name="Rectangle 91"/>
              <p:cNvSpPr>
                <a:spLocks noChangeArrowheads="1"/>
              </p:cNvSpPr>
              <p:nvPr/>
            </p:nvSpPr>
            <p:spPr bwMode="auto">
              <a:xfrm>
                <a:off x="4208" y="2646"/>
                <a:ext cx="564"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$1,000,000</a:t>
                </a:r>
              </a:p>
            </p:txBody>
          </p:sp>
          <p:sp>
            <p:nvSpPr>
              <p:cNvPr id="93" name="Rectangle 92"/>
              <p:cNvSpPr>
                <a:spLocks noChangeArrowheads="1"/>
              </p:cNvSpPr>
              <p:nvPr/>
            </p:nvSpPr>
            <p:spPr bwMode="auto">
              <a:xfrm>
                <a:off x="3429" y="2161"/>
                <a:ext cx="603" cy="111"/>
              </a:xfrm>
              <a:prstGeom prst="rect">
                <a:avLst/>
              </a:prstGeom>
              <a:noFill/>
              <a:ln w="9525">
                <a:noFill/>
                <a:miter lim="800000"/>
                <a:headEnd/>
                <a:tailEnd/>
              </a:ln>
            </p:spPr>
            <p:txBody>
              <a:bodyPr wrap="none" lIns="0" tIns="0" rIns="0" bIns="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7,500</a:t>
                </a:r>
              </a:p>
            </p:txBody>
          </p:sp>
          <p:sp>
            <p:nvSpPr>
              <p:cNvPr id="94" name="Rectangle 93"/>
              <p:cNvSpPr>
                <a:spLocks noChangeArrowheads="1"/>
              </p:cNvSpPr>
              <p:nvPr/>
            </p:nvSpPr>
            <p:spPr bwMode="auto">
              <a:xfrm>
                <a:off x="4176" y="2161"/>
                <a:ext cx="597"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8,500</a:t>
                </a:r>
              </a:p>
            </p:txBody>
          </p:sp>
          <p:sp>
            <p:nvSpPr>
              <p:cNvPr id="95" name="Rectangle 94"/>
              <p:cNvSpPr>
                <a:spLocks noChangeArrowheads="1"/>
              </p:cNvSpPr>
              <p:nvPr/>
            </p:nvSpPr>
            <p:spPr bwMode="auto">
              <a:xfrm>
                <a:off x="5019" y="2161"/>
                <a:ext cx="567"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10,000</a:t>
                </a:r>
              </a:p>
            </p:txBody>
          </p:sp>
          <p:sp>
            <p:nvSpPr>
              <p:cNvPr id="96" name="Rectangle 95"/>
              <p:cNvSpPr>
                <a:spLocks noChangeArrowheads="1"/>
              </p:cNvSpPr>
              <p:nvPr/>
            </p:nvSpPr>
            <p:spPr bwMode="auto">
              <a:xfrm>
                <a:off x="5021" y="2003"/>
                <a:ext cx="565"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3,000,000</a:t>
                </a:r>
              </a:p>
            </p:txBody>
          </p:sp>
          <p:sp>
            <p:nvSpPr>
              <p:cNvPr id="97" name="Text Box 30"/>
              <p:cNvSpPr txBox="1">
                <a:spLocks noChangeArrowheads="1"/>
              </p:cNvSpPr>
              <p:nvPr/>
            </p:nvSpPr>
            <p:spPr bwMode="auto">
              <a:xfrm>
                <a:off x="4921" y="1830"/>
                <a:ext cx="690" cy="152"/>
              </a:xfrm>
              <a:prstGeom prst="rect">
                <a:avLst/>
              </a:prstGeom>
              <a:noFill/>
              <a:ln w="12700">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$24,000,000</a:t>
                </a:r>
              </a:p>
            </p:txBody>
          </p:sp>
          <p:sp>
            <p:nvSpPr>
              <p:cNvPr id="98" name="Rectangle 97"/>
              <p:cNvSpPr>
                <a:spLocks noChangeArrowheads="1"/>
              </p:cNvSpPr>
              <p:nvPr/>
            </p:nvSpPr>
            <p:spPr bwMode="auto">
              <a:xfrm>
                <a:off x="4176" y="2003"/>
                <a:ext cx="595"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3,000,000</a:t>
                </a:r>
              </a:p>
            </p:txBody>
          </p:sp>
          <p:sp>
            <p:nvSpPr>
              <p:cNvPr id="99" name="Text Box 32"/>
              <p:cNvSpPr txBox="1">
                <a:spLocks noChangeArrowheads="1"/>
              </p:cNvSpPr>
              <p:nvPr/>
            </p:nvSpPr>
            <p:spPr bwMode="auto">
              <a:xfrm>
                <a:off x="4128" y="1834"/>
                <a:ext cx="689" cy="152"/>
              </a:xfrm>
              <a:prstGeom prst="rect">
                <a:avLst/>
              </a:prstGeom>
              <a:noFill/>
              <a:ln w="12700">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$20,000,000</a:t>
                </a:r>
              </a:p>
            </p:txBody>
          </p:sp>
          <p:sp>
            <p:nvSpPr>
              <p:cNvPr id="100" name="Rectangle 99"/>
              <p:cNvSpPr>
                <a:spLocks noChangeArrowheads="1"/>
              </p:cNvSpPr>
              <p:nvPr/>
            </p:nvSpPr>
            <p:spPr bwMode="auto">
              <a:xfrm>
                <a:off x="3432" y="2003"/>
                <a:ext cx="600" cy="111"/>
              </a:xfrm>
              <a:prstGeom prst="rect">
                <a:avLst/>
              </a:prstGeom>
              <a:noFill/>
              <a:ln w="9525">
                <a:noFill/>
                <a:miter lim="800000"/>
                <a:headEnd/>
                <a:tailEnd/>
              </a:ln>
            </p:spPr>
            <p:txBody>
              <a:bodyPr wrap="none" lIns="0" tIns="0" rIns="0" bIns="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2,400,000</a:t>
                </a:r>
              </a:p>
            </p:txBody>
          </p:sp>
          <p:sp>
            <p:nvSpPr>
              <p:cNvPr id="101" name="Rectangle 100"/>
              <p:cNvSpPr>
                <a:spLocks noChangeArrowheads="1"/>
              </p:cNvSpPr>
              <p:nvPr/>
            </p:nvSpPr>
            <p:spPr bwMode="auto">
              <a:xfrm>
                <a:off x="4999" y="2324"/>
                <a:ext cx="568"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270</a:t>
                </a:r>
              </a:p>
            </p:txBody>
          </p:sp>
          <p:sp>
            <p:nvSpPr>
              <p:cNvPr id="102" name="Rectangle 101"/>
              <p:cNvSpPr>
                <a:spLocks noChangeArrowheads="1"/>
              </p:cNvSpPr>
              <p:nvPr/>
            </p:nvSpPr>
            <p:spPr bwMode="auto">
              <a:xfrm>
                <a:off x="4176" y="2324"/>
                <a:ext cx="598"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260</a:t>
                </a:r>
              </a:p>
            </p:txBody>
          </p:sp>
          <p:sp>
            <p:nvSpPr>
              <p:cNvPr id="103" name="Rectangle 102"/>
              <p:cNvSpPr>
                <a:spLocks noChangeArrowheads="1"/>
              </p:cNvSpPr>
              <p:nvPr/>
            </p:nvSpPr>
            <p:spPr bwMode="auto">
              <a:xfrm>
                <a:off x="3464" y="2324"/>
                <a:ext cx="568" cy="111"/>
              </a:xfrm>
              <a:prstGeom prst="rect">
                <a:avLst/>
              </a:prstGeom>
              <a:noFill/>
              <a:ln w="9525">
                <a:noFill/>
                <a:miter lim="800000"/>
                <a:headEnd/>
                <a:tailEnd/>
              </a:ln>
            </p:spPr>
            <p:txBody>
              <a:bodyPr wrap="none" lIns="0" tIns="0" rIns="0" bIns="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180</a:t>
                </a:r>
              </a:p>
            </p:txBody>
          </p:sp>
          <p:sp>
            <p:nvSpPr>
              <p:cNvPr id="104" name="Line 37"/>
              <p:cNvSpPr>
                <a:spLocks noChangeShapeType="1"/>
              </p:cNvSpPr>
              <p:nvPr/>
            </p:nvSpPr>
            <p:spPr bwMode="auto">
              <a:xfrm>
                <a:off x="4967" y="1820"/>
                <a:ext cx="672" cy="0"/>
              </a:xfrm>
              <a:prstGeom prst="line">
                <a:avLst/>
              </a:prstGeom>
              <a:noFill/>
              <a:ln w="1905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5" name="Line 38"/>
              <p:cNvSpPr>
                <a:spLocks noChangeShapeType="1"/>
              </p:cNvSpPr>
              <p:nvPr/>
            </p:nvSpPr>
            <p:spPr bwMode="auto">
              <a:xfrm>
                <a:off x="4176" y="1820"/>
                <a:ext cx="672" cy="0"/>
              </a:xfrm>
              <a:prstGeom prst="line">
                <a:avLst/>
              </a:prstGeom>
              <a:noFill/>
              <a:ln w="1905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6" name="Line 39"/>
              <p:cNvSpPr>
                <a:spLocks noChangeShapeType="1"/>
              </p:cNvSpPr>
              <p:nvPr/>
            </p:nvSpPr>
            <p:spPr bwMode="auto">
              <a:xfrm>
                <a:off x="3360" y="1820"/>
                <a:ext cx="672" cy="0"/>
              </a:xfrm>
              <a:prstGeom prst="line">
                <a:avLst/>
              </a:prstGeom>
              <a:noFill/>
              <a:ln w="19050">
                <a:solidFill>
                  <a:sysClr val="windowText" lastClr="000000"/>
                </a:solidFill>
                <a:round/>
                <a:headEnd/>
                <a:tailEnd/>
              </a:ln>
              <a:effectLst/>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07" name="Rectangle 106"/>
              <p:cNvSpPr>
                <a:spLocks noChangeArrowheads="1"/>
              </p:cNvSpPr>
              <p:nvPr/>
            </p:nvSpPr>
            <p:spPr bwMode="auto">
              <a:xfrm>
                <a:off x="1100" y="2477"/>
                <a:ext cx="1186"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Number of Salespeople</a:t>
                </a:r>
              </a:p>
            </p:txBody>
          </p:sp>
          <p:sp>
            <p:nvSpPr>
              <p:cNvPr id="108" name="Rectangle 107"/>
              <p:cNvSpPr>
                <a:spLocks noChangeArrowheads="1"/>
              </p:cNvSpPr>
              <p:nvPr/>
            </p:nvSpPr>
            <p:spPr bwMode="auto">
              <a:xfrm>
                <a:off x="2532" y="2487"/>
                <a:ext cx="629"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20</a:t>
                </a:r>
              </a:p>
            </p:txBody>
          </p:sp>
          <p:sp>
            <p:nvSpPr>
              <p:cNvPr id="109" name="Rectangle 108"/>
              <p:cNvSpPr>
                <a:spLocks noChangeArrowheads="1"/>
              </p:cNvSpPr>
              <p:nvPr/>
            </p:nvSpPr>
            <p:spPr bwMode="auto">
              <a:xfrm>
                <a:off x="3427" y="2487"/>
                <a:ext cx="605" cy="111"/>
              </a:xfrm>
              <a:prstGeom prst="rect">
                <a:avLst/>
              </a:prstGeom>
              <a:noFill/>
              <a:ln w="9525">
                <a:noFill/>
                <a:miter lim="800000"/>
                <a:headEnd/>
                <a:tailEnd/>
              </a:ln>
            </p:spPr>
            <p:txBody>
              <a:bodyPr wrap="none" lIns="0" tIns="0" rIns="0" bIns="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30</a:t>
                </a:r>
              </a:p>
            </p:txBody>
          </p:sp>
          <p:sp>
            <p:nvSpPr>
              <p:cNvPr id="110" name="Rectangle 109"/>
              <p:cNvSpPr>
                <a:spLocks noChangeArrowheads="1"/>
              </p:cNvSpPr>
              <p:nvPr/>
            </p:nvSpPr>
            <p:spPr bwMode="auto">
              <a:xfrm>
                <a:off x="4160" y="2487"/>
                <a:ext cx="599"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20</a:t>
                </a:r>
              </a:p>
            </p:txBody>
          </p:sp>
          <p:sp>
            <p:nvSpPr>
              <p:cNvPr id="111" name="Rectangle 110"/>
              <p:cNvSpPr>
                <a:spLocks noChangeArrowheads="1"/>
              </p:cNvSpPr>
              <p:nvPr/>
            </p:nvSpPr>
            <p:spPr bwMode="auto">
              <a:xfrm>
                <a:off x="4967" y="2487"/>
                <a:ext cx="599"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30</a:t>
                </a:r>
              </a:p>
            </p:txBody>
          </p:sp>
          <p:sp>
            <p:nvSpPr>
              <p:cNvPr id="112" name="Rectangle 111"/>
              <p:cNvSpPr>
                <a:spLocks noChangeArrowheads="1"/>
              </p:cNvSpPr>
              <p:nvPr/>
            </p:nvSpPr>
            <p:spPr bwMode="auto">
              <a:xfrm>
                <a:off x="1116" y="2793"/>
                <a:ext cx="1161"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Expenses/Salesperson</a:t>
                </a:r>
              </a:p>
            </p:txBody>
          </p:sp>
          <p:sp>
            <p:nvSpPr>
              <p:cNvPr id="113" name="Rectangle 112"/>
              <p:cNvSpPr>
                <a:spLocks noChangeArrowheads="1"/>
              </p:cNvSpPr>
              <p:nvPr/>
            </p:nvSpPr>
            <p:spPr bwMode="auto">
              <a:xfrm>
                <a:off x="2580" y="2803"/>
                <a:ext cx="594"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    100,000</a:t>
                </a:r>
              </a:p>
            </p:txBody>
          </p:sp>
          <p:sp>
            <p:nvSpPr>
              <p:cNvPr id="114" name="Rectangle 113"/>
              <p:cNvSpPr>
                <a:spLocks noChangeArrowheads="1"/>
              </p:cNvSpPr>
              <p:nvPr/>
            </p:nvSpPr>
            <p:spPr bwMode="auto">
              <a:xfrm>
                <a:off x="3466" y="2803"/>
                <a:ext cx="566" cy="111"/>
              </a:xfrm>
              <a:prstGeom prst="rect">
                <a:avLst/>
              </a:prstGeom>
              <a:noFill/>
              <a:ln w="9525">
                <a:noFill/>
                <a:miter lim="800000"/>
                <a:headEnd/>
                <a:tailEnd/>
              </a:ln>
            </p:spPr>
            <p:txBody>
              <a:bodyPr wrap="none" lIns="0" tIns="0" rIns="0" bIns="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     80,000</a:t>
                </a:r>
              </a:p>
            </p:txBody>
          </p:sp>
          <p:sp>
            <p:nvSpPr>
              <p:cNvPr id="115" name="Rectangle 114"/>
              <p:cNvSpPr>
                <a:spLocks noChangeArrowheads="1"/>
              </p:cNvSpPr>
              <p:nvPr/>
            </p:nvSpPr>
            <p:spPr bwMode="auto">
              <a:xfrm>
                <a:off x="4208" y="2803"/>
                <a:ext cx="564"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   150,000</a:t>
                </a:r>
              </a:p>
            </p:txBody>
          </p:sp>
          <p:sp>
            <p:nvSpPr>
              <p:cNvPr id="116" name="Rectangle 115"/>
              <p:cNvSpPr>
                <a:spLocks noChangeArrowheads="1"/>
              </p:cNvSpPr>
              <p:nvPr/>
            </p:nvSpPr>
            <p:spPr bwMode="auto">
              <a:xfrm>
                <a:off x="1116" y="2957"/>
                <a:ext cx="919"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Calls/Salesperson</a:t>
                </a:r>
              </a:p>
            </p:txBody>
          </p:sp>
          <p:sp>
            <p:nvSpPr>
              <p:cNvPr id="117" name="Rectangle 116"/>
              <p:cNvSpPr>
                <a:spLocks noChangeArrowheads="1"/>
              </p:cNvSpPr>
              <p:nvPr/>
            </p:nvSpPr>
            <p:spPr bwMode="auto">
              <a:xfrm>
                <a:off x="2580" y="2967"/>
                <a:ext cx="598"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450</a:t>
                </a:r>
              </a:p>
            </p:txBody>
          </p:sp>
          <p:sp>
            <p:nvSpPr>
              <p:cNvPr id="118" name="Rectangle 117"/>
              <p:cNvSpPr>
                <a:spLocks noChangeArrowheads="1"/>
              </p:cNvSpPr>
              <p:nvPr/>
            </p:nvSpPr>
            <p:spPr bwMode="auto">
              <a:xfrm>
                <a:off x="3458" y="2967"/>
                <a:ext cx="574" cy="111"/>
              </a:xfrm>
              <a:prstGeom prst="rect">
                <a:avLst/>
              </a:prstGeom>
              <a:noFill/>
              <a:ln w="9525">
                <a:noFill/>
                <a:miter lim="800000"/>
                <a:headEnd/>
                <a:tailEnd/>
              </a:ln>
            </p:spPr>
            <p:txBody>
              <a:bodyPr wrap="none" lIns="0" tIns="0" rIns="0" bIns="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250</a:t>
                </a:r>
              </a:p>
            </p:txBody>
          </p:sp>
          <p:sp>
            <p:nvSpPr>
              <p:cNvPr id="119" name="Rectangle 118"/>
              <p:cNvSpPr>
                <a:spLocks noChangeArrowheads="1"/>
              </p:cNvSpPr>
              <p:nvPr/>
            </p:nvSpPr>
            <p:spPr bwMode="auto">
              <a:xfrm>
                <a:off x="4208" y="2967"/>
                <a:ext cx="568"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425</a:t>
                </a:r>
              </a:p>
            </p:txBody>
          </p:sp>
          <p:sp>
            <p:nvSpPr>
              <p:cNvPr id="120" name="Rectangle 119"/>
              <p:cNvSpPr>
                <a:spLocks noChangeArrowheads="1"/>
              </p:cNvSpPr>
              <p:nvPr/>
            </p:nvSpPr>
            <p:spPr bwMode="auto">
              <a:xfrm>
                <a:off x="4967" y="2626"/>
                <a:ext cx="594"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    800,000</a:t>
                </a:r>
              </a:p>
            </p:txBody>
          </p:sp>
          <p:sp>
            <p:nvSpPr>
              <p:cNvPr id="121" name="Rectangle 120"/>
              <p:cNvSpPr>
                <a:spLocks noChangeArrowheads="1"/>
              </p:cNvSpPr>
              <p:nvPr/>
            </p:nvSpPr>
            <p:spPr bwMode="auto">
              <a:xfrm>
                <a:off x="4967" y="2783"/>
                <a:ext cx="594"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    100,000</a:t>
                </a:r>
              </a:p>
            </p:txBody>
          </p:sp>
          <p:sp>
            <p:nvSpPr>
              <p:cNvPr id="122" name="Rectangle 121"/>
              <p:cNvSpPr>
                <a:spLocks noChangeArrowheads="1"/>
              </p:cNvSpPr>
              <p:nvPr/>
            </p:nvSpPr>
            <p:spPr bwMode="auto">
              <a:xfrm>
                <a:off x="4967" y="2947"/>
                <a:ext cx="598"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333</a:t>
                </a:r>
              </a:p>
            </p:txBody>
          </p:sp>
          <p:sp>
            <p:nvSpPr>
              <p:cNvPr id="123" name="Rectangle 122"/>
              <p:cNvSpPr>
                <a:spLocks noChangeArrowheads="1"/>
              </p:cNvSpPr>
              <p:nvPr/>
            </p:nvSpPr>
            <p:spPr bwMode="auto">
              <a:xfrm>
                <a:off x="1116" y="3096"/>
                <a:ext cx="1179"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a:rPr>
                  <a:t>Proposals/Salesperson</a:t>
                </a:r>
              </a:p>
            </p:txBody>
          </p:sp>
          <p:sp>
            <p:nvSpPr>
              <p:cNvPr id="124" name="Rectangle 123"/>
              <p:cNvSpPr>
                <a:spLocks noChangeArrowheads="1"/>
              </p:cNvSpPr>
              <p:nvPr/>
            </p:nvSpPr>
            <p:spPr bwMode="auto">
              <a:xfrm>
                <a:off x="2665" y="3106"/>
                <a:ext cx="509"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11</a:t>
                </a:r>
              </a:p>
            </p:txBody>
          </p:sp>
          <p:sp>
            <p:nvSpPr>
              <p:cNvPr id="125" name="Rectangle 124"/>
              <p:cNvSpPr>
                <a:spLocks noChangeArrowheads="1"/>
              </p:cNvSpPr>
              <p:nvPr/>
            </p:nvSpPr>
            <p:spPr bwMode="auto">
              <a:xfrm>
                <a:off x="3517" y="3106"/>
                <a:ext cx="515" cy="111"/>
              </a:xfrm>
              <a:prstGeom prst="rect">
                <a:avLst/>
              </a:prstGeom>
              <a:noFill/>
              <a:ln w="9525">
                <a:noFill/>
                <a:miter lim="800000"/>
                <a:headEnd/>
                <a:tailEnd/>
              </a:ln>
            </p:spPr>
            <p:txBody>
              <a:bodyPr wrap="none" lIns="0" tIns="0" rIns="0" bIns="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6</a:t>
                </a:r>
              </a:p>
            </p:txBody>
          </p:sp>
          <p:sp>
            <p:nvSpPr>
              <p:cNvPr id="126" name="Rectangle 125"/>
              <p:cNvSpPr>
                <a:spLocks noChangeArrowheads="1"/>
              </p:cNvSpPr>
              <p:nvPr/>
            </p:nvSpPr>
            <p:spPr bwMode="auto">
              <a:xfrm>
                <a:off x="4341" y="3106"/>
                <a:ext cx="449" cy="111"/>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13</a:t>
                </a:r>
              </a:p>
            </p:txBody>
          </p:sp>
          <p:sp>
            <p:nvSpPr>
              <p:cNvPr id="127" name="Rectangle 126"/>
              <p:cNvSpPr>
                <a:spLocks noChangeArrowheads="1"/>
              </p:cNvSpPr>
              <p:nvPr/>
            </p:nvSpPr>
            <p:spPr bwMode="auto">
              <a:xfrm>
                <a:off x="5100" y="3086"/>
                <a:ext cx="480" cy="110"/>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9</a:t>
                </a:r>
              </a:p>
            </p:txBody>
          </p:sp>
          <p:sp>
            <p:nvSpPr>
              <p:cNvPr id="128" name="Rectangle 127"/>
              <p:cNvSpPr>
                <a:spLocks noChangeArrowheads="1"/>
              </p:cNvSpPr>
              <p:nvPr/>
            </p:nvSpPr>
            <p:spPr bwMode="auto">
              <a:xfrm>
                <a:off x="4750" y="3204"/>
                <a:ext cx="127" cy="152"/>
              </a:xfrm>
              <a:prstGeom prst="rect">
                <a:avLst/>
              </a:prstGeom>
              <a:noFill/>
              <a:ln w="12700">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 </a:t>
                </a:r>
              </a:p>
            </p:txBody>
          </p:sp>
        </p:grpSp>
      </p:grpSp>
    </p:spTree>
    <p:extLst>
      <p:ext uri="{BB962C8B-B14F-4D97-AF65-F5344CB8AC3E}">
        <p14:creationId xmlns:p14="http://schemas.microsoft.com/office/powerpoint/2010/main" val="924201360"/>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dirty="0"/>
          </a:p>
        </p:txBody>
      </p:sp>
      <p:sp>
        <p:nvSpPr>
          <p:cNvPr id="27651"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dirty="0"/>
          </a:p>
        </p:txBody>
      </p:sp>
      <p:sp>
        <p:nvSpPr>
          <p:cNvPr id="27652" name="Rectangle 4"/>
          <p:cNvSpPr>
            <a:spLocks noGrp="1" noChangeArrowheads="1"/>
          </p:cNvSpPr>
          <p:nvPr>
            <p:ph type="title"/>
          </p:nvPr>
        </p:nvSpPr>
        <p:spPr>
          <a:xfrm>
            <a:off x="266700" y="221520"/>
            <a:ext cx="8610600" cy="1066800"/>
          </a:xfrm>
          <a:solidFill>
            <a:schemeClr val="bg2">
              <a:lumMod val="60000"/>
              <a:lumOff val="40000"/>
            </a:schemeClr>
          </a:solidFill>
        </p:spPr>
        <p:txBody>
          <a:bodyPr/>
          <a:lstStyle/>
          <a:p>
            <a:r>
              <a:rPr lang="en-US" dirty="0"/>
              <a:t>Benchmarking</a:t>
            </a:r>
            <a:endParaRPr lang="en-US" sz="2800" dirty="0">
              <a:solidFill>
                <a:schemeClr val="accent2"/>
              </a:solidFill>
            </a:endParaRPr>
          </a:p>
        </p:txBody>
      </p:sp>
      <p:sp>
        <p:nvSpPr>
          <p:cNvPr id="2" name="TextBox 1"/>
          <p:cNvSpPr txBox="1"/>
          <p:nvPr/>
        </p:nvSpPr>
        <p:spPr>
          <a:xfrm>
            <a:off x="4576840" y="2209800"/>
            <a:ext cx="4225545" cy="3416320"/>
          </a:xfrm>
          <a:prstGeom prst="rect">
            <a:avLst/>
          </a:prstGeom>
          <a:noFill/>
        </p:spPr>
        <p:txBody>
          <a:bodyPr wrap="square" rtlCol="0">
            <a:spAutoFit/>
          </a:bodyPr>
          <a:lstStyle/>
          <a:p>
            <a:endParaRPr lang="en-US" dirty="0">
              <a:solidFill>
                <a:schemeClr val="tx2"/>
              </a:solidFill>
              <a:latin typeface="Arial" panose="020B0604020202020204" pitchFamily="34" charset="0"/>
              <a:cs typeface="Arial" panose="020B0604020202020204" pitchFamily="34" charset="0"/>
            </a:endParaRPr>
          </a:p>
          <a:p>
            <a:r>
              <a:rPr lang="en-US" dirty="0">
                <a:solidFill>
                  <a:schemeClr val="tx2"/>
                </a:solidFill>
                <a:latin typeface="Arial" panose="020B0604020202020204" pitchFamily="34" charset="0"/>
                <a:cs typeface="Arial" panose="020B0604020202020204" pitchFamily="34" charset="0"/>
              </a:rPr>
              <a:t>Benchmarking is an ongoing measurement and analysis process that compares an organization’s current operating practices with the “best practices” used by world-class organizations.</a:t>
            </a:r>
          </a:p>
          <a:p>
            <a:endParaRPr lang="en-US" dirty="0">
              <a:solidFill>
                <a:schemeClr val="tx2"/>
              </a:solidFill>
            </a:endParaRPr>
          </a:p>
        </p:txBody>
      </p:sp>
      <p:pic>
        <p:nvPicPr>
          <p:cNvPr id="8194" name="Picture 2" descr="Free vector flat design benchmark illustration">
            <a:extLst>
              <a:ext uri="{FF2B5EF4-FFF2-40B4-BE49-F238E27FC236}">
                <a16:creationId xmlns:a16="http://schemas.microsoft.com/office/drawing/2014/main" id="{4DEF7A9D-AB94-94C9-F930-CE44BACACE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088" y="1739453"/>
            <a:ext cx="3748394" cy="3748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332374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66700" y="117476"/>
            <a:ext cx="8610600" cy="1066800"/>
          </a:xfrm>
          <a:solidFill>
            <a:schemeClr val="bg2">
              <a:lumMod val="60000"/>
              <a:lumOff val="40000"/>
            </a:schemeClr>
          </a:solidFill>
        </p:spPr>
        <p:txBody>
          <a:bodyPr/>
          <a:lstStyle/>
          <a:p>
            <a:r>
              <a:rPr lang="en-US" dirty="0"/>
              <a:t>Benchmarking Process</a:t>
            </a:r>
            <a:endParaRPr lang="en-US" sz="2800" dirty="0">
              <a:solidFill>
                <a:schemeClr val="accent2"/>
              </a:solidFill>
            </a:endParaRPr>
          </a:p>
        </p:txBody>
      </p:sp>
      <p:sp>
        <p:nvSpPr>
          <p:cNvPr id="20" name="AutoShape 4"/>
          <p:cNvSpPr>
            <a:spLocks noChangeArrowheads="1"/>
          </p:cNvSpPr>
          <p:nvPr/>
        </p:nvSpPr>
        <p:spPr bwMode="auto">
          <a:xfrm>
            <a:off x="417513" y="1412875"/>
            <a:ext cx="2895600" cy="1600200"/>
          </a:xfrm>
          <a:prstGeom prst="roundRect">
            <a:avLst>
              <a:gd name="adj" fmla="val 16667"/>
            </a:avLst>
          </a:prstGeom>
          <a:solidFill>
            <a:srgbClr val="4BACC6"/>
          </a:solidFill>
          <a:ln w="12700" cap="flat" cmpd="sng" algn="ctr">
            <a:noFill/>
            <a:prstDash val="solid"/>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Plan</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Identify what to </a:t>
            </a:r>
            <a:b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benchmark.</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Identify comparative</a:t>
            </a:r>
            <a:b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companies or salesforces.</a:t>
            </a:r>
          </a:p>
        </p:txBody>
      </p:sp>
      <p:sp>
        <p:nvSpPr>
          <p:cNvPr id="21" name="AutoShape 7"/>
          <p:cNvSpPr>
            <a:spLocks noChangeArrowheads="1"/>
          </p:cNvSpPr>
          <p:nvPr/>
        </p:nvSpPr>
        <p:spPr bwMode="auto">
          <a:xfrm>
            <a:off x="417513" y="3932238"/>
            <a:ext cx="2898775" cy="1219200"/>
          </a:xfrm>
          <a:prstGeom prst="roundRect">
            <a:avLst>
              <a:gd name="adj" fmla="val 16667"/>
            </a:avLst>
          </a:prstGeom>
          <a:solidFill>
            <a:srgbClr val="4BACC6"/>
          </a:solidFill>
          <a:ln w="12700" cap="flat" cmpd="sng" algn="ctr">
            <a:noFill/>
            <a:prstDash val="solid"/>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228600" marR="0" lvl="0" indent="-22860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Gather Data</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Determine data collection</a:t>
            </a:r>
            <a:b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method and collect data.</a:t>
            </a:r>
          </a:p>
        </p:txBody>
      </p:sp>
      <p:sp>
        <p:nvSpPr>
          <p:cNvPr id="22" name="Line 9"/>
          <p:cNvSpPr>
            <a:spLocks noChangeShapeType="1"/>
          </p:cNvSpPr>
          <p:nvPr/>
        </p:nvSpPr>
        <p:spPr bwMode="auto">
          <a:xfrm>
            <a:off x="1865313" y="3013075"/>
            <a:ext cx="0" cy="914400"/>
          </a:xfrm>
          <a:prstGeom prst="line">
            <a:avLst/>
          </a:prstGeom>
          <a:noFill/>
          <a:ln w="381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23" name="AutoShape 11"/>
          <p:cNvSpPr>
            <a:spLocks noChangeArrowheads="1"/>
          </p:cNvSpPr>
          <p:nvPr/>
        </p:nvSpPr>
        <p:spPr bwMode="auto">
          <a:xfrm>
            <a:off x="4913313" y="1260476"/>
            <a:ext cx="3657600" cy="1981200"/>
          </a:xfrm>
          <a:prstGeom prst="roundRect">
            <a:avLst>
              <a:gd name="adj" fmla="val 16667"/>
            </a:avLst>
          </a:prstGeom>
          <a:solidFill>
            <a:srgbClr val="4BACC6"/>
          </a:solidFill>
          <a:ln w="12700" cap="flat" cmpd="sng" algn="ctr">
            <a:noFill/>
            <a:prstDash val="solid"/>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tab pos="107950" algn="l"/>
              </a:tabLst>
              <a:defRPr/>
            </a:pPr>
            <a:b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n-US" sz="1800" b="1" i="0" u="none" strike="noStrike" kern="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Analyze &amp; Communicate</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tab pos="107950" algn="l"/>
              </a:tabLst>
              <a:defRPr/>
            </a:pP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Determine current </a:t>
            </a:r>
            <a:b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performance gap.</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tab pos="107950" algn="l"/>
              </a:tabLst>
              <a:defRPr/>
            </a:pP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Project future performance levels.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tab pos="107950" algn="l"/>
              </a:tabLst>
              <a:defRPr/>
            </a:pP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Communicate benchmark </a:t>
            </a:r>
            <a:b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findings and gain acceptance.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 name="Line 13"/>
          <p:cNvSpPr>
            <a:spLocks noChangeShapeType="1"/>
          </p:cNvSpPr>
          <p:nvPr/>
        </p:nvSpPr>
        <p:spPr bwMode="auto">
          <a:xfrm>
            <a:off x="4075113" y="2251075"/>
            <a:ext cx="838200" cy="0"/>
          </a:xfrm>
          <a:prstGeom prst="line">
            <a:avLst/>
          </a:prstGeom>
          <a:noFill/>
          <a:ln w="381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25" name="AutoShape 15"/>
          <p:cNvSpPr>
            <a:spLocks noChangeArrowheads="1"/>
          </p:cNvSpPr>
          <p:nvPr/>
        </p:nvSpPr>
        <p:spPr bwMode="auto">
          <a:xfrm>
            <a:off x="4913313" y="3698875"/>
            <a:ext cx="3733800" cy="2514600"/>
          </a:xfrm>
          <a:prstGeom prst="roundRect">
            <a:avLst>
              <a:gd name="adj" fmla="val 16667"/>
            </a:avLst>
          </a:prstGeom>
          <a:solidFill>
            <a:srgbClr val="9BBB59"/>
          </a:solidFill>
          <a:ln w="12700" cap="flat" cmpd="sng" algn="ctr">
            <a:noFill/>
            <a:prstDash val="solid"/>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168275" marR="0" lvl="0" indent="-168275"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Implement &amp; Control to</a:t>
            </a:r>
            <a:br>
              <a:rPr kumimoji="0" lang="en-US" sz="1800" b="1" i="0" u="none" strike="noStrike" kern="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br>
            <a:r>
              <a:rPr kumimoji="0" lang="en-US" sz="1800" b="1" i="0" u="none" strike="noStrike" kern="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Improve Performance</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Establish functional goals.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Develop action plans.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Implement specific action plans</a:t>
            </a:r>
            <a:b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and monitor progress.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Recalibrate benchmark.</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
        <p:nvSpPr>
          <p:cNvPr id="26" name="Line 17"/>
          <p:cNvSpPr>
            <a:spLocks noChangeShapeType="1"/>
          </p:cNvSpPr>
          <p:nvPr/>
        </p:nvSpPr>
        <p:spPr bwMode="auto">
          <a:xfrm>
            <a:off x="4075113" y="2251075"/>
            <a:ext cx="0" cy="2286000"/>
          </a:xfrm>
          <a:prstGeom prst="line">
            <a:avLst/>
          </a:prstGeom>
          <a:noFill/>
          <a:ln w="381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27" name="Line 18"/>
          <p:cNvSpPr>
            <a:spLocks noChangeShapeType="1"/>
          </p:cNvSpPr>
          <p:nvPr/>
        </p:nvSpPr>
        <p:spPr bwMode="auto">
          <a:xfrm>
            <a:off x="3313113" y="4537075"/>
            <a:ext cx="762000" cy="0"/>
          </a:xfrm>
          <a:prstGeom prst="line">
            <a:avLst/>
          </a:prstGeom>
          <a:noFill/>
          <a:ln w="38100">
            <a:solidFill>
              <a:sysClr val="windowText" lastClr="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
        <p:nvSpPr>
          <p:cNvPr id="28" name="Line 19"/>
          <p:cNvSpPr>
            <a:spLocks noChangeShapeType="1"/>
          </p:cNvSpPr>
          <p:nvPr/>
        </p:nvSpPr>
        <p:spPr bwMode="auto">
          <a:xfrm>
            <a:off x="6818313" y="3241675"/>
            <a:ext cx="0" cy="457200"/>
          </a:xfrm>
          <a:prstGeom prst="line">
            <a:avLst/>
          </a:prstGeom>
          <a:noFill/>
          <a:ln w="38100">
            <a:solidFill>
              <a:sysClr val="windowText" lastClr="000000"/>
            </a:solidFill>
            <a:round/>
            <a:headEnd/>
            <a:tailEnd type="triangl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ndParaRPr>
          </a:p>
        </p:txBody>
      </p:sp>
    </p:spTree>
    <p:extLst>
      <p:ext uri="{BB962C8B-B14F-4D97-AF65-F5344CB8AC3E}">
        <p14:creationId xmlns:p14="http://schemas.microsoft.com/office/powerpoint/2010/main" val="249397243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60000"/>
              <a:lumOff val="40000"/>
            </a:schemeClr>
          </a:solidFill>
        </p:spPr>
        <p:txBody>
          <a:bodyPr/>
          <a:lstStyle/>
          <a:p>
            <a:r>
              <a:rPr lang="en-US" dirty="0"/>
              <a:t>Six Sigma</a:t>
            </a:r>
          </a:p>
        </p:txBody>
      </p:sp>
      <p:sp>
        <p:nvSpPr>
          <p:cNvPr id="3" name="Content Placeholder 2"/>
          <p:cNvSpPr>
            <a:spLocks noGrp="1"/>
          </p:cNvSpPr>
          <p:nvPr>
            <p:ph idx="1"/>
          </p:nvPr>
        </p:nvSpPr>
        <p:spPr/>
        <p:txBody>
          <a:bodyPr/>
          <a:lstStyle/>
          <a:p>
            <a:r>
              <a:rPr lang="en-US" dirty="0"/>
              <a:t>Data-driven methodology that attempts to eliminate defects in any process.</a:t>
            </a:r>
          </a:p>
          <a:p>
            <a:r>
              <a:rPr lang="en-US" dirty="0"/>
              <a:t>Six Sigma – 3.4 mistakes per million opportunities.</a:t>
            </a:r>
          </a:p>
          <a:p>
            <a:r>
              <a:rPr lang="en-US" dirty="0"/>
              <a:t>Improve processes by reducing variation</a:t>
            </a:r>
          </a:p>
          <a:p>
            <a:r>
              <a:rPr lang="en-US" dirty="0"/>
              <a:t>Credited with saving large</a:t>
            </a:r>
            <a:br>
              <a:rPr lang="en-US" dirty="0"/>
            </a:br>
            <a:r>
              <a:rPr lang="en-US" dirty="0"/>
              <a:t>companies hundreds of</a:t>
            </a:r>
            <a:br>
              <a:rPr lang="en-US" dirty="0"/>
            </a:br>
            <a:r>
              <a:rPr lang="en-US" dirty="0"/>
              <a:t> millions of dollars.</a:t>
            </a:r>
          </a:p>
        </p:txBody>
      </p:sp>
      <p:pic>
        <p:nvPicPr>
          <p:cNvPr id="7170" name="Picture 2">
            <a:extLst>
              <a:ext uri="{FF2B5EF4-FFF2-40B4-BE49-F238E27FC236}">
                <a16:creationId xmlns:a16="http://schemas.microsoft.com/office/drawing/2014/main" id="{94E0D165-640C-09F1-CE9B-81E52BC76F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9487" y="4195082"/>
            <a:ext cx="5502275" cy="2358118"/>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7842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58C2E-5FA1-4774-801D-7CFC300921D6}"/>
              </a:ext>
            </a:extLst>
          </p:cNvPr>
          <p:cNvSpPr>
            <a:spLocks noGrp="1"/>
          </p:cNvSpPr>
          <p:nvPr>
            <p:ph type="title"/>
          </p:nvPr>
        </p:nvSpPr>
        <p:spPr/>
        <p:txBody>
          <a:bodyPr/>
          <a:lstStyle/>
          <a:p>
            <a:r>
              <a:rPr lang="en-US" dirty="0"/>
              <a:t>Six Sigma in Plain English </a:t>
            </a:r>
          </a:p>
        </p:txBody>
      </p:sp>
      <p:pic>
        <p:nvPicPr>
          <p:cNvPr id="4" name="Picture 2" descr="Image result for an icon for video">
            <a:extLst>
              <a:ext uri="{FF2B5EF4-FFF2-40B4-BE49-F238E27FC236}">
                <a16:creationId xmlns:a16="http://schemas.microsoft.com/office/drawing/2014/main" id="{97460ED6-2ED5-42B8-88E0-B9D6711010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01000" y="644525"/>
            <a:ext cx="4222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Online Media 6" title="Six Sigma In Plain English">
            <a:hlinkClick r:id="" action="ppaction://media"/>
            <a:extLst>
              <a:ext uri="{FF2B5EF4-FFF2-40B4-BE49-F238E27FC236}">
                <a16:creationId xmlns:a16="http://schemas.microsoft.com/office/drawing/2014/main" id="{53C2CA68-FD80-4626-AC97-D90DA484BA5B}"/>
              </a:ext>
            </a:extLst>
          </p:cNvPr>
          <p:cNvPicPr>
            <a:picLocks noGrp="1" noRot="1" noChangeAspect="1"/>
          </p:cNvPicPr>
          <p:nvPr>
            <p:ph idx="1"/>
            <a:videoFile r:link="rId1"/>
          </p:nvPr>
        </p:nvPicPr>
        <p:blipFill>
          <a:blip r:embed="rId4"/>
          <a:stretch>
            <a:fillRect/>
          </a:stretch>
        </p:blipFill>
        <p:spPr>
          <a:xfrm>
            <a:off x="169332" y="1524000"/>
            <a:ext cx="8669868" cy="4876800"/>
          </a:xfrm>
          <a:prstGeom prst="rect">
            <a:avLst/>
          </a:prstGeom>
          <a:scene3d>
            <a:camera prst="orthographicFront"/>
            <a:lightRig rig="threePt" dir="t"/>
          </a:scene3d>
          <a:sp3d>
            <a:bevelT w="69850"/>
          </a:sp3d>
        </p:spPr>
      </p:pic>
      <p:sp>
        <p:nvSpPr>
          <p:cNvPr id="9" name="TextBox 8">
            <a:extLst>
              <a:ext uri="{FF2B5EF4-FFF2-40B4-BE49-F238E27FC236}">
                <a16:creationId xmlns:a16="http://schemas.microsoft.com/office/drawing/2014/main" id="{2F891472-EABA-4169-A8B1-E70B606CF2AF}"/>
              </a:ext>
            </a:extLst>
          </p:cNvPr>
          <p:cNvSpPr txBox="1"/>
          <p:nvPr/>
        </p:nvSpPr>
        <p:spPr>
          <a:xfrm>
            <a:off x="4267200" y="6477000"/>
            <a:ext cx="784189" cy="461665"/>
          </a:xfrm>
          <a:prstGeom prst="rect">
            <a:avLst/>
          </a:prstGeom>
          <a:noFill/>
        </p:spPr>
        <p:txBody>
          <a:bodyPr wrap="none" rtlCol="0">
            <a:spAutoFit/>
          </a:bodyPr>
          <a:lstStyle/>
          <a:p>
            <a:r>
              <a:rPr lang="en-US" dirty="0">
                <a:solidFill>
                  <a:srgbClr val="000000"/>
                </a:solidFill>
                <a:latin typeface="Arial" panose="020B0604020202020204"/>
              </a:rPr>
              <a:t>4:54</a:t>
            </a:r>
          </a:p>
        </p:txBody>
      </p:sp>
    </p:spTree>
    <p:extLst>
      <p:ext uri="{BB962C8B-B14F-4D97-AF65-F5344CB8AC3E}">
        <p14:creationId xmlns:p14="http://schemas.microsoft.com/office/powerpoint/2010/main" val="10625016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228600"/>
            <a:ext cx="8610600" cy="1066800"/>
          </a:xfrm>
          <a:solidFill>
            <a:schemeClr val="bg2">
              <a:lumMod val="60000"/>
              <a:lumOff val="40000"/>
            </a:schemeClr>
          </a:solidFill>
        </p:spPr>
        <p:txBody>
          <a:bodyPr/>
          <a:lstStyle/>
          <a:p>
            <a:r>
              <a:rPr lang="en-US" dirty="0"/>
              <a:t>The Steps of Six Sigma</a:t>
            </a:r>
          </a:p>
        </p:txBody>
      </p:sp>
      <p:sp>
        <p:nvSpPr>
          <p:cNvPr id="3" name="TextBox 2">
            <a:extLst>
              <a:ext uri="{FF2B5EF4-FFF2-40B4-BE49-F238E27FC236}">
                <a16:creationId xmlns:a16="http://schemas.microsoft.com/office/drawing/2014/main" id="{AD7F847B-A08C-478A-A7D6-C4847FB06FFF}"/>
              </a:ext>
            </a:extLst>
          </p:cNvPr>
          <p:cNvSpPr txBox="1"/>
          <p:nvPr/>
        </p:nvSpPr>
        <p:spPr>
          <a:xfrm>
            <a:off x="4876800" y="6077078"/>
            <a:ext cx="2105063" cy="246221"/>
          </a:xfrm>
          <a:prstGeom prst="rect">
            <a:avLst/>
          </a:prstGeom>
          <a:noFill/>
        </p:spPr>
        <p:txBody>
          <a:bodyPr wrap="none" rtlCol="0">
            <a:spAutoFit/>
          </a:bodyPr>
          <a:lstStyle/>
          <a:p>
            <a:r>
              <a:rPr lang="en-US" sz="1000" dirty="0"/>
              <a:t>Source: https://www.qualitymag.com</a:t>
            </a:r>
          </a:p>
        </p:txBody>
      </p:sp>
      <p:pic>
        <p:nvPicPr>
          <p:cNvPr id="8194" name="Picture 2" descr="Image result for six sigma">
            <a:extLst>
              <a:ext uri="{FF2B5EF4-FFF2-40B4-BE49-F238E27FC236}">
                <a16:creationId xmlns:a16="http://schemas.microsoft.com/office/drawing/2014/main" id="{7E58CBCF-281F-463D-8B7E-B2BC3C8166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24000"/>
            <a:ext cx="7867650" cy="4808008"/>
          </a:xfrm>
          <a:prstGeom prst="rect">
            <a:avLst/>
          </a:prstGeom>
          <a:noFill/>
          <a:effectLst>
            <a:softEdge rad="228600"/>
          </a:effectLst>
          <a:extLst>
            <a:ext uri="{909E8E84-426E-40DD-AFC4-6F175D3DCCD1}">
              <a14:hiddenFill xmlns:a14="http://schemas.microsoft.com/office/drawing/2010/main">
                <a:solidFill>
                  <a:srgbClr val="FFFFFF"/>
                </a:solidFill>
              </a14:hiddenFill>
            </a:ext>
          </a:extLst>
        </p:spPr>
      </p:pic>
      <p:sp>
        <p:nvSpPr>
          <p:cNvPr id="4" name="Star: 5 Points 3">
            <a:extLst>
              <a:ext uri="{FF2B5EF4-FFF2-40B4-BE49-F238E27FC236}">
                <a16:creationId xmlns:a16="http://schemas.microsoft.com/office/drawing/2014/main" id="{57BB0C85-9322-450F-B438-A5F9CAC26C78}"/>
              </a:ext>
            </a:extLst>
          </p:cNvPr>
          <p:cNvSpPr/>
          <p:nvPr/>
        </p:nvSpPr>
        <p:spPr bwMode="auto">
          <a:xfrm rot="1994364">
            <a:off x="5105400" y="1963579"/>
            <a:ext cx="228600" cy="246221"/>
          </a:xfrm>
          <a:prstGeom prst="star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Tree>
    <p:extLst>
      <p:ext uri="{BB962C8B-B14F-4D97-AF65-F5344CB8AC3E}">
        <p14:creationId xmlns:p14="http://schemas.microsoft.com/office/powerpoint/2010/main" val="8217083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FC062EB-40D4-417E-AC20-E1E8C933CE52}"/>
              </a:ext>
            </a:extLst>
          </p:cNvPr>
          <p:cNvSpPr/>
          <p:nvPr/>
        </p:nvSpPr>
        <p:spPr bwMode="auto">
          <a:xfrm>
            <a:off x="0" y="6437811"/>
            <a:ext cx="2362200" cy="420189"/>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 name="Title 1">
            <a:extLst>
              <a:ext uri="{FF2B5EF4-FFF2-40B4-BE49-F238E27FC236}">
                <a16:creationId xmlns:a16="http://schemas.microsoft.com/office/drawing/2014/main" id="{6BC0725B-494F-429A-8791-C86DFB158A0D}"/>
              </a:ext>
            </a:extLst>
          </p:cNvPr>
          <p:cNvSpPr>
            <a:spLocks noGrp="1"/>
          </p:cNvSpPr>
          <p:nvPr>
            <p:ph type="title"/>
          </p:nvPr>
        </p:nvSpPr>
        <p:spPr>
          <a:xfrm>
            <a:off x="266700" y="37011"/>
            <a:ext cx="8610600" cy="1066800"/>
          </a:xfrm>
          <a:solidFill>
            <a:schemeClr val="bg2">
              <a:lumMod val="60000"/>
              <a:lumOff val="40000"/>
            </a:schemeClr>
          </a:solidFill>
        </p:spPr>
        <p:txBody>
          <a:bodyPr/>
          <a:lstStyle/>
          <a:p>
            <a:r>
              <a:rPr lang="en-US" dirty="0"/>
              <a:t>The Steps of Six Sigma</a:t>
            </a:r>
          </a:p>
        </p:txBody>
      </p:sp>
      <p:pic>
        <p:nvPicPr>
          <p:cNvPr id="5" name="Content Placeholder 4" descr="A screenshot of a cell phone&#10;&#10;Description generated with very high confidence">
            <a:extLst>
              <a:ext uri="{FF2B5EF4-FFF2-40B4-BE49-F238E27FC236}">
                <a16:creationId xmlns:a16="http://schemas.microsoft.com/office/drawing/2014/main" id="{019B3504-A59B-49BC-BFA1-B1440CF9F64A}"/>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838200" y="1143000"/>
            <a:ext cx="7619408" cy="5677989"/>
          </a:xfrm>
        </p:spPr>
      </p:pic>
    </p:spTree>
    <p:extLst>
      <p:ext uri="{BB962C8B-B14F-4D97-AF65-F5344CB8AC3E}">
        <p14:creationId xmlns:p14="http://schemas.microsoft.com/office/powerpoint/2010/main" val="2399316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1AC50-7648-4AD2-8127-B3DABE429248}"/>
              </a:ext>
            </a:extLst>
          </p:cNvPr>
          <p:cNvSpPr>
            <a:spLocks noGrp="1"/>
          </p:cNvSpPr>
          <p:nvPr>
            <p:ph type="title"/>
          </p:nvPr>
        </p:nvSpPr>
        <p:spPr>
          <a:xfrm>
            <a:off x="266699" y="76200"/>
            <a:ext cx="8610600" cy="1066800"/>
          </a:xfrm>
          <a:solidFill>
            <a:schemeClr val="bg2">
              <a:lumMod val="60000"/>
              <a:lumOff val="40000"/>
            </a:schemeClr>
          </a:solidFill>
        </p:spPr>
        <p:txBody>
          <a:bodyPr/>
          <a:lstStyle/>
          <a:p>
            <a:r>
              <a:rPr lang="en-US" dirty="0"/>
              <a:t>An Ethical Dilemma</a:t>
            </a:r>
          </a:p>
        </p:txBody>
      </p:sp>
      <p:sp>
        <p:nvSpPr>
          <p:cNvPr id="3" name="Content Placeholder 2">
            <a:extLst>
              <a:ext uri="{FF2B5EF4-FFF2-40B4-BE49-F238E27FC236}">
                <a16:creationId xmlns:a16="http://schemas.microsoft.com/office/drawing/2014/main" id="{D41BA51B-2A62-4E36-9A9C-4A4BD3322962}"/>
              </a:ext>
            </a:extLst>
          </p:cNvPr>
          <p:cNvSpPr>
            <a:spLocks noGrp="1"/>
          </p:cNvSpPr>
          <p:nvPr>
            <p:ph idx="1"/>
          </p:nvPr>
        </p:nvSpPr>
        <p:spPr>
          <a:xfrm>
            <a:off x="85668" y="914400"/>
            <a:ext cx="8972663" cy="4233862"/>
          </a:xfrm>
        </p:spPr>
        <p:txBody>
          <a:bodyPr/>
          <a:lstStyle/>
          <a:p>
            <a:pPr marL="0" marR="0" indent="0">
              <a:spcBef>
                <a:spcPts val="0"/>
              </a:spcBef>
              <a:spcAft>
                <a:spcPts val="0"/>
              </a:spcAft>
              <a:buNone/>
            </a:pPr>
            <a:endParaRPr lang="en-US" sz="17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A leading supplier of equipment and supplies for research, testing, and medical labs,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Isotek</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Lab Supply has been a longtime proponent of faith-based business principles which directly link to the organization’s founding family. One of the company’s long-standing policies does not allow alcoholic beverages to be used in any of its business activities. This includes marketing conferences and trade shows and even extends to the company’s sales personnel entertaining customers. Gage Sutton, sales manager for the Western Region, is discussing the recent success of salesperson Lucy Waits in acquiring a substantial opening order from a national medical buying group along with monthly commitments over the coming year. During their discussion, Lucy mentions that as the result of several dinner meetings with the buying group’s regional buying team – where the customer’s buying team ordered wine and cocktails with their dinner – she is personally out just over $875 because of the company’s policy. Lucy asks Gage if she could just add some extra mileage, over-and-beyond what she actually travels in the coming month, to her expense report that would add up to what she is out of pocket for the unreimbursed drinks. What should Gage do? </a:t>
            </a:r>
          </a:p>
          <a:p>
            <a:pPr marL="342900" marR="0" lvl="0" indent="-342900">
              <a:spcBef>
                <a:spcPts val="0"/>
              </a:spcBef>
              <a:spcAft>
                <a:spcPts val="0"/>
              </a:spcAft>
              <a:buFont typeface="+mj-lt"/>
              <a:buAutoNum type="alphaLcPeriod"/>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Approve Lucy’s request to overstate her mileage in an amount that would reimburse her for the $875 in wine and cocktails her customers ordered.</a:t>
            </a:r>
          </a:p>
          <a:p>
            <a:pPr marL="342900" marR="0" lvl="0" indent="-342900">
              <a:spcBef>
                <a:spcPts val="0"/>
              </a:spcBef>
              <a:spcAft>
                <a:spcPts val="0"/>
              </a:spcAft>
              <a:buFont typeface="+mj-lt"/>
              <a:buAutoNum type="alphaLcPeriod"/>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Remind Lucy that company policy does not allow alcoholic beverages to be used in any business activities and that overstating her mileage would be an additional violation of company policy that should not be done for any reason. Lucy is simply out the $875.</a:t>
            </a:r>
          </a:p>
          <a:p>
            <a:pPr marL="342900" marR="0" lvl="0" indent="-342900">
              <a:spcBef>
                <a:spcPts val="0"/>
              </a:spcBef>
              <a:spcAft>
                <a:spcPts val="0"/>
              </a:spcAft>
              <a:buFont typeface="+mj-lt"/>
              <a:buAutoNum type="alphaLcPeriod"/>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Recognize this as a special situation that was beyond Lucy’s control and authorize the additional $875 reimbursement for the dinner meetings and discuss strategies with Lucy to assist her from being put in this type of situation in the future.</a:t>
            </a:r>
          </a:p>
          <a:p>
            <a:pPr marL="0" marR="0" indent="0">
              <a:spcBef>
                <a:spcPts val="0"/>
              </a:spcBef>
              <a:spcAft>
                <a:spcPts val="0"/>
              </a:spcAft>
              <a:buNone/>
            </a:pP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p>
          <a:p>
            <a:endParaRPr lang="en-US" sz="1800" dirty="0">
              <a:solidFill>
                <a:srgbClr val="0070C0"/>
              </a:solidFill>
            </a:endParaRPr>
          </a:p>
        </p:txBody>
      </p:sp>
    </p:spTree>
    <p:extLst>
      <p:ext uri="{BB962C8B-B14F-4D97-AF65-F5344CB8AC3E}">
        <p14:creationId xmlns:p14="http://schemas.microsoft.com/office/powerpoint/2010/main" val="36289100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4"/>
          <p:cNvSpPr>
            <a:spLocks noGrp="1" noChangeArrowheads="1"/>
          </p:cNvSpPr>
          <p:nvPr>
            <p:ph type="title"/>
          </p:nvPr>
        </p:nvSpPr>
        <p:spPr>
          <a:xfrm>
            <a:off x="266700" y="152400"/>
            <a:ext cx="8610600" cy="1066800"/>
          </a:xfrm>
          <a:solidFill>
            <a:schemeClr val="bg2">
              <a:lumMod val="60000"/>
              <a:lumOff val="40000"/>
            </a:schemeClr>
          </a:solidFill>
        </p:spPr>
        <p:txBody>
          <a:bodyPr/>
          <a:lstStyle/>
          <a:p>
            <a:r>
              <a:rPr lang="en-US" dirty="0"/>
              <a:t>Ethical Issues</a:t>
            </a:r>
          </a:p>
        </p:txBody>
      </p:sp>
      <p:sp>
        <p:nvSpPr>
          <p:cNvPr id="88069" name="Text Box 5"/>
          <p:cNvSpPr txBox="1">
            <a:spLocks noChangeArrowheads="1"/>
          </p:cNvSpPr>
          <p:nvPr/>
        </p:nvSpPr>
        <p:spPr bwMode="auto">
          <a:xfrm>
            <a:off x="457200" y="1447800"/>
            <a:ext cx="8153400" cy="1754326"/>
          </a:xfrm>
          <a:prstGeom prst="rect">
            <a:avLst/>
          </a:prstGeom>
          <a:solidFill>
            <a:schemeClr val="bg2">
              <a:lumMod val="20000"/>
              <a:lumOff val="80000"/>
            </a:schemeClr>
          </a:solidFill>
          <a:ln w="9525">
            <a:noFill/>
            <a:miter lim="800000"/>
            <a:headEnd/>
            <a:tailEnd/>
          </a:ln>
          <a:effectLst/>
          <a:scene3d>
            <a:camera prst="orthographicFront"/>
            <a:lightRig rig="threePt" dir="t"/>
          </a:scene3d>
          <a:sp3d>
            <a:bevelT/>
          </a:sp3d>
        </p:spPr>
        <p:txBody>
          <a:bodyPr wrap="square">
            <a:spAutoFit/>
          </a:bodyPr>
          <a:lstStyle/>
          <a:p>
            <a:pPr>
              <a:spcBef>
                <a:spcPct val="50000"/>
              </a:spcBef>
            </a:pPr>
            <a:r>
              <a:rPr lang="en-US" sz="1800" dirty="0">
                <a:latin typeface="Arial" panose="020B0604020202020204" pitchFamily="34" charset="0"/>
                <a:cs typeface="Arial" panose="020B0604020202020204" pitchFamily="34" charset="0"/>
              </a:rPr>
              <a:t>A salesperson has been on the road for a week and incurs laundry expenses.  He knows that if he places the laundry expenses under the miscellaneous expense category in his expense report, he will have to provide receipts.  He decides that he can include them under the meals category because receipts are not required for this category as long as he stays under his per-diem allowance.  </a:t>
            </a:r>
          </a:p>
        </p:txBody>
      </p:sp>
      <p:sp>
        <p:nvSpPr>
          <p:cNvPr id="88070" name="Text Box 6"/>
          <p:cNvSpPr txBox="1">
            <a:spLocks noChangeArrowheads="1"/>
          </p:cNvSpPr>
          <p:nvPr/>
        </p:nvSpPr>
        <p:spPr bwMode="auto">
          <a:xfrm>
            <a:off x="457200" y="3670529"/>
            <a:ext cx="5410200" cy="2308324"/>
          </a:xfrm>
          <a:prstGeom prst="rect">
            <a:avLst/>
          </a:prstGeom>
          <a:solidFill>
            <a:schemeClr val="bg2">
              <a:lumMod val="20000"/>
              <a:lumOff val="80000"/>
            </a:schemeClr>
          </a:solidFill>
          <a:ln w="9525">
            <a:noFill/>
            <a:miter lim="800000"/>
            <a:headEnd/>
            <a:tailEnd/>
          </a:ln>
          <a:effectLst/>
          <a:scene3d>
            <a:camera prst="orthographicFront"/>
            <a:lightRig rig="threePt" dir="t"/>
          </a:scene3d>
          <a:sp3d>
            <a:bevelT/>
          </a:sp3d>
        </p:spPr>
        <p:txBody>
          <a:bodyPr wrap="square">
            <a:spAutoFit/>
          </a:bodyPr>
          <a:lstStyle/>
          <a:p>
            <a:pPr>
              <a:spcBef>
                <a:spcPct val="50000"/>
              </a:spcBef>
            </a:pPr>
            <a:r>
              <a:rPr lang="en-US" sz="1800" dirty="0">
                <a:latin typeface="Arial" panose="020B0604020202020204" pitchFamily="34" charset="0"/>
                <a:cs typeface="Arial" panose="020B0604020202020204" pitchFamily="34" charset="0"/>
              </a:rPr>
              <a:t>A salesperson is trying to get the customer to purchase a new product.  He decides to take three individuals from the customer’s firm to dinner and a basketball game, even though he knows that he has exceeded his entertainment budget for the month.  He thinks about hiding these entertainment expenses in different categories in his expense report.    </a:t>
            </a:r>
          </a:p>
        </p:txBody>
      </p:sp>
      <p:pic>
        <p:nvPicPr>
          <p:cNvPr id="9218" name="Picture 2" descr="Free vector ethical dilemma illustration">
            <a:extLst>
              <a:ext uri="{FF2B5EF4-FFF2-40B4-BE49-F238E27FC236}">
                <a16:creationId xmlns:a16="http://schemas.microsoft.com/office/drawing/2014/main" id="{FA6456B0-AC0E-5C77-23D7-326C6B230E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34" t="5377" r="7071" b="21895"/>
          <a:stretch/>
        </p:blipFill>
        <p:spPr bwMode="auto">
          <a:xfrm>
            <a:off x="6057900" y="3599984"/>
            <a:ext cx="2819400" cy="2378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34158"/>
      </p:ext>
    </p:extLst>
  </p:cSld>
  <p:clrMapOvr>
    <a:masterClrMapping/>
  </p:clrMapOvr>
</p:sld>
</file>

<file path=ppt/theme/theme1.xml><?xml version="1.0" encoding="utf-8"?>
<a:theme xmlns:a="http://schemas.openxmlformats.org/drawingml/2006/main" name="Sales Management 2015 Routledge">
  <a:themeElements>
    <a:clrScheme name="">
      <a:dk1>
        <a:srgbClr val="000000"/>
      </a:dk1>
      <a:lt1>
        <a:srgbClr val="FFFFFF"/>
      </a:lt1>
      <a:dk2>
        <a:srgbClr val="11147D"/>
      </a:dk2>
      <a:lt2>
        <a:srgbClr val="9DBCDB"/>
      </a:lt2>
      <a:accent1>
        <a:srgbClr val="DEF0FC"/>
      </a:accent1>
      <a:accent2>
        <a:srgbClr val="11147D"/>
      </a:accent2>
      <a:accent3>
        <a:srgbClr val="FFFFFF"/>
      </a:accent3>
      <a:accent4>
        <a:srgbClr val="000000"/>
      </a:accent4>
      <a:accent5>
        <a:srgbClr val="ECF6FD"/>
      </a:accent5>
      <a:accent6>
        <a:srgbClr val="0E1171"/>
      </a:accent6>
      <a:hlink>
        <a:srgbClr val="ADDAF7"/>
      </a:hlink>
      <a:folHlink>
        <a:srgbClr val="3E7AB8"/>
      </a:folHlink>
    </a:clrScheme>
    <a:fontScheme name="Office Them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
      <a:dk1>
        <a:srgbClr val="000000"/>
      </a:dk1>
      <a:lt1>
        <a:srgbClr val="FFFFFF"/>
      </a:lt1>
      <a:dk2>
        <a:srgbClr val="11147D"/>
      </a:dk2>
      <a:lt2>
        <a:srgbClr val="9DBCDB"/>
      </a:lt2>
      <a:accent1>
        <a:srgbClr val="DEF0FC"/>
      </a:accent1>
      <a:accent2>
        <a:srgbClr val="11147D"/>
      </a:accent2>
      <a:accent3>
        <a:srgbClr val="FFFFFF"/>
      </a:accent3>
      <a:accent4>
        <a:srgbClr val="000000"/>
      </a:accent4>
      <a:accent5>
        <a:srgbClr val="ECF6FD"/>
      </a:accent5>
      <a:accent6>
        <a:srgbClr val="0E1171"/>
      </a:accent6>
      <a:hlink>
        <a:srgbClr val="ADDAF7"/>
      </a:hlink>
      <a:folHlink>
        <a:srgbClr val="3E7AB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routledge_master.potx" id="{9A77C883-1095-4854-8E7E-82E4EE26E2F8}" vid="{0FC05ABE-6AF4-47F1-8D35-2814AB325C2D}"/>
    </a:ext>
  </a:extLst>
</a:theme>
</file>

<file path=ppt/theme/theme3.xml><?xml version="1.0" encoding="utf-8"?>
<a:theme xmlns:a="http://schemas.openxmlformats.org/drawingml/2006/main" name="1_Sales Management 2015 Routledge">
  <a:themeElements>
    <a:clrScheme name="">
      <a:dk1>
        <a:srgbClr val="000000"/>
      </a:dk1>
      <a:lt1>
        <a:srgbClr val="FFFFFF"/>
      </a:lt1>
      <a:dk2>
        <a:srgbClr val="11147D"/>
      </a:dk2>
      <a:lt2>
        <a:srgbClr val="9DBCDB"/>
      </a:lt2>
      <a:accent1>
        <a:srgbClr val="DEF0FC"/>
      </a:accent1>
      <a:accent2>
        <a:srgbClr val="11147D"/>
      </a:accent2>
      <a:accent3>
        <a:srgbClr val="FFFFFF"/>
      </a:accent3>
      <a:accent4>
        <a:srgbClr val="000000"/>
      </a:accent4>
      <a:accent5>
        <a:srgbClr val="ECF6FD"/>
      </a:accent5>
      <a:accent6>
        <a:srgbClr val="0E1171"/>
      </a:accent6>
      <a:hlink>
        <a:srgbClr val="ADDAF7"/>
      </a:hlink>
      <a:folHlink>
        <a:srgbClr val="3E7AB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Sales Management 2015 Routledge</Template>
  <TotalTime>1847</TotalTime>
  <Words>5601</Words>
  <Application>Microsoft Office PowerPoint</Application>
  <PresentationFormat>On-screen Show (4:3)</PresentationFormat>
  <Paragraphs>729</Paragraphs>
  <Slides>46</Slides>
  <Notes>41</Notes>
  <HiddenSlides>0</HiddenSlides>
  <MMClips>2</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46</vt:i4>
      </vt:variant>
    </vt:vector>
  </HeadingPairs>
  <TitlesOfParts>
    <vt:vector size="56" baseType="lpstr">
      <vt:lpstr>Arial</vt:lpstr>
      <vt:lpstr>Calibri</vt:lpstr>
      <vt:lpstr>Rockwell</vt:lpstr>
      <vt:lpstr>Times</vt:lpstr>
      <vt:lpstr>Times New Roman</vt:lpstr>
      <vt:lpstr>Verdana</vt:lpstr>
      <vt:lpstr>Wingdings</vt:lpstr>
      <vt:lpstr>Sales Management 2015 Routledge</vt:lpstr>
      <vt:lpstr>1_Office Theme</vt:lpstr>
      <vt:lpstr>1_Sales Management 2015 Routledge</vt:lpstr>
      <vt:lpstr>PowerPoint Presentation</vt:lpstr>
      <vt:lpstr>Learning Objectives</vt:lpstr>
      <vt:lpstr>Learning Objectives</vt:lpstr>
      <vt:lpstr>Sales Organization Effectiveness</vt:lpstr>
      <vt:lpstr>Sales Organization Audit</vt:lpstr>
      <vt:lpstr>Sales Organization Audit</vt:lpstr>
      <vt:lpstr>Sales Organization Audit Framework</vt:lpstr>
      <vt:lpstr>Evaluating Effectiveness through Customer Satisfaction Surveys </vt:lpstr>
      <vt:lpstr>Sales Organization Effectiveness Evaluations</vt:lpstr>
      <vt:lpstr>Sales Organization Effectiveness Framework</vt:lpstr>
      <vt:lpstr>Sales Analysis</vt:lpstr>
      <vt:lpstr>Sales Analysis Framework </vt:lpstr>
      <vt:lpstr>Organization Level of Analysis</vt:lpstr>
      <vt:lpstr>Example of Hierarchical Sales Analysis</vt:lpstr>
      <vt:lpstr>Type of Sales</vt:lpstr>
      <vt:lpstr>Example of Type-of-Sales Analysis</vt:lpstr>
      <vt:lpstr>Method of Analysis</vt:lpstr>
      <vt:lpstr>Method of Analysis Examples</vt:lpstr>
      <vt:lpstr>Cost Analysis</vt:lpstr>
      <vt:lpstr>Selling Budgets</vt:lpstr>
      <vt:lpstr>Determining Budget Expenditure Level</vt:lpstr>
      <vt:lpstr>Selling Expense Categories</vt:lpstr>
      <vt:lpstr>Cost Analysis Example</vt:lpstr>
      <vt:lpstr>An Ethical Dilemma</vt:lpstr>
      <vt:lpstr>Profitability Analysis</vt:lpstr>
      <vt:lpstr>Profitability Analysis:  Income Statement Analysis</vt:lpstr>
      <vt:lpstr>Profitability Analysis Example</vt:lpstr>
      <vt:lpstr>Profitability Analysis:   Activity-Based Costing (ABC)</vt:lpstr>
      <vt:lpstr>Warm-Up to ABC</vt:lpstr>
      <vt:lpstr>What is Activity-Based Costing (ABC)?</vt:lpstr>
      <vt:lpstr>Traditional Costing vs. ABC</vt:lpstr>
      <vt:lpstr>ABC Example in Sales</vt:lpstr>
      <vt:lpstr>Key Takeaways</vt:lpstr>
      <vt:lpstr>Activity-Based Costing Example</vt:lpstr>
      <vt:lpstr>Profitability Analysis:  Return on Assets Managed Analysis (ROAM) </vt:lpstr>
      <vt:lpstr>Return on Assets Managed (ROAM) </vt:lpstr>
      <vt:lpstr>Productivity Analysis…  getting more with less</vt:lpstr>
      <vt:lpstr>Productivity Analysis Example</vt:lpstr>
      <vt:lpstr>Benchmarking</vt:lpstr>
      <vt:lpstr>Benchmarking Process</vt:lpstr>
      <vt:lpstr>Six Sigma</vt:lpstr>
      <vt:lpstr>Six Sigma in Plain English </vt:lpstr>
      <vt:lpstr>The Steps of Six Sigma</vt:lpstr>
      <vt:lpstr>The Steps of Six Sigma</vt:lpstr>
      <vt:lpstr>An Ethical Dilemma</vt:lpstr>
      <vt:lpstr>Ethical Issues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Effectiveness of the Organization</dc:title>
  <dc:creator>Scott A. Inks</dc:creator>
  <cp:lastModifiedBy>Selva, Jorge</cp:lastModifiedBy>
  <cp:revision>57</cp:revision>
  <dcterms:created xsi:type="dcterms:W3CDTF">2015-07-12T20:24:07Z</dcterms:created>
  <dcterms:modified xsi:type="dcterms:W3CDTF">2025-04-07T10:21:39Z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bbab825-a111-45e4-86a1-18cee0005896_Enabled">
    <vt:lpwstr>true</vt:lpwstr>
  </property>
  <property fmtid="{D5CDD505-2E9C-101B-9397-08002B2CF9AE}" pid="3" name="MSIP_Label_2bbab825-a111-45e4-86a1-18cee0005896_SetDate">
    <vt:lpwstr>2023-09-27T14:31:22Z</vt:lpwstr>
  </property>
  <property fmtid="{D5CDD505-2E9C-101B-9397-08002B2CF9AE}" pid="4" name="MSIP_Label_2bbab825-a111-45e4-86a1-18cee0005896_Method">
    <vt:lpwstr>Standard</vt:lpwstr>
  </property>
  <property fmtid="{D5CDD505-2E9C-101B-9397-08002B2CF9AE}" pid="5" name="MSIP_Label_2bbab825-a111-45e4-86a1-18cee0005896_Name">
    <vt:lpwstr>2bbab825-a111-45e4-86a1-18cee0005896</vt:lpwstr>
  </property>
  <property fmtid="{D5CDD505-2E9C-101B-9397-08002B2CF9AE}" pid="6" name="MSIP_Label_2bbab825-a111-45e4-86a1-18cee0005896_SiteId">
    <vt:lpwstr>2567d566-604c-408a-8a60-55d0dc9d9d6b</vt:lpwstr>
  </property>
  <property fmtid="{D5CDD505-2E9C-101B-9397-08002B2CF9AE}" pid="7" name="MSIP_Label_2bbab825-a111-45e4-86a1-18cee0005896_ActionId">
    <vt:lpwstr>91b44357-358c-4d96-b51e-721d29e7cdc1</vt:lpwstr>
  </property>
  <property fmtid="{D5CDD505-2E9C-101B-9397-08002B2CF9AE}" pid="8" name="MSIP_Label_2bbab825-a111-45e4-86a1-18cee0005896_ContentBits">
    <vt:lpwstr>2</vt:lpwstr>
  </property>
  <property fmtid="{D5CDD505-2E9C-101B-9397-08002B2CF9AE}" pid="9" name="ClassificationContentMarkingFooterLocations">
    <vt:lpwstr>Sales Management 2015 Routledge:3\1_Office Theme:3\1_Sales Management 2015 Routledge:3</vt:lpwstr>
  </property>
  <property fmtid="{D5CDD505-2E9C-101B-9397-08002B2CF9AE}" pid="10" name="ClassificationContentMarkingFooterText">
    <vt:lpwstr>Information Classification: General</vt:lpwstr>
  </property>
</Properties>
</file>