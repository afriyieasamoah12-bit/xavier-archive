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2" r:id="rId3"/>
    <p:sldId id="453" r:id="rId4"/>
    <p:sldId id="426" r:id="rId5"/>
    <p:sldId id="261" r:id="rId6"/>
    <p:sldId id="262" r:id="rId7"/>
    <p:sldId id="452" r:id="rId8"/>
    <p:sldId id="446" r:id="rId9"/>
    <p:sldId id="447" r:id="rId10"/>
    <p:sldId id="448" r:id="rId11"/>
    <p:sldId id="449" r:id="rId12"/>
    <p:sldId id="271" r:id="rId13"/>
    <p:sldId id="451" r:id="rId14"/>
    <p:sldId id="273" r:id="rId15"/>
    <p:sldId id="274" r:id="rId16"/>
    <p:sldId id="450" r:id="rId17"/>
    <p:sldId id="266" r:id="rId18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9CC8"/>
    <a:srgbClr val="001541"/>
    <a:srgbClr val="BD707B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68"/>
    <p:restoredTop sz="94890"/>
  </p:normalViewPr>
  <p:slideViewPr>
    <p:cSldViewPr snapToGrid="0" snapToObjects="1" showGuides="1">
      <p:cViewPr varScale="1">
        <p:scale>
          <a:sx n="62" d="100"/>
          <a:sy n="62" d="100"/>
        </p:scale>
        <p:origin x="68" y="2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03FFF951-6D62-CB4E-866F-40E5C899BB84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134B82A-5292-FA40-A7FB-7C93D521E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660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963D65B7-7862-7F47-B99E-B3AB2843FF42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EEA2CE63-AE64-8646-9F3E-7DE0B8E53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1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72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74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0873" indent="-287332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409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763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79584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3677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9396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5115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0834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24458">
              <a:spcBef>
                <a:spcPct val="0"/>
              </a:spcBef>
              <a:defRPr/>
            </a:pPr>
            <a:r>
              <a:rPr lang="en-US" altLang="en-US">
                <a:solidFill>
                  <a:srgbClr val="000000"/>
                </a:solidFill>
                <a:latin typeface="Arial" pitchFamily="34" charset="0"/>
              </a:rPr>
              <a:t>Chapter 9 Decision Support Systems and Marketing Research</a:t>
            </a:r>
          </a:p>
        </p:txBody>
      </p:sp>
      <p:sp>
        <p:nvSpPr>
          <p:cNvPr id="1044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0873" indent="-287332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409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7630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79584" indent="-230183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3677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93965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5115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08347" indent="-230183" defTabSz="45719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24458">
              <a:spcBef>
                <a:spcPct val="0"/>
              </a:spcBef>
              <a:defRPr/>
            </a:pPr>
            <a:fld id="{53437379-86BC-4FA2-914B-4322BE7105B6}" type="slidenum">
              <a:rPr lang="en-US" altLang="en-US">
                <a:solidFill>
                  <a:srgbClr val="000000"/>
                </a:solidFill>
                <a:latin typeface="Arial" pitchFamily="34" charset="0"/>
              </a:rPr>
              <a:pPr defTabSz="924458">
                <a:spcBef>
                  <a:spcPct val="0"/>
                </a:spcBef>
                <a:defRPr/>
              </a:pPr>
              <a:t>4</a:t>
            </a:fld>
            <a:endParaRPr lang="en-US" altLang="en-U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044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54050" y="1162050"/>
            <a:ext cx="5575300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30183" indent="-230183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6674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45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2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31190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9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74295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3400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9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53400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0456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1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53400" y="6373545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69288" y="6373545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8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53746" y="6356349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349643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6DFB-264B-4D4C-9468-2A87659E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00734-FF99-944C-8656-684769A3B86B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E6DFB-264B-4D4C-9468-2A87659E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3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twitter.com/search?q=coke&amp;src=typed_query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rends.google.com/trends/?geo=US&amp;hl=en-US" TargetMode="External"/><Relationship Id="rId2" Type="http://schemas.openxmlformats.org/officeDocument/2006/relationships/hyperlink" Target="https://www.tripadvisor.co.nz/ShowUserReviews-g60993-d11960445-r499214912-Cincinnati_Bell_Connector-Cincinnati_Ohio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reel/C1upl3ftfCA/" TargetMode="External"/><Relationship Id="rId2" Type="http://schemas.openxmlformats.org/officeDocument/2006/relationships/hyperlink" Target="https://twitter.com/Reds/status/175136083426403152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d.com/talks/nicholas_christakis_how_social_networks_predict_epidemic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roger.com/savings/cl/mycoupons/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8072" y="969962"/>
            <a:ext cx="9144000" cy="2706687"/>
          </a:xfrm>
        </p:spPr>
        <p:txBody>
          <a:bodyPr/>
          <a:lstStyle/>
          <a:p>
            <a:r>
              <a:rPr lang="en-US" b="1" dirty="0">
                <a:solidFill>
                  <a:srgbClr val="001541"/>
                </a:solidFill>
              </a:rPr>
              <a:t>Working with Big Data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70857" y="3749447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rgbClr val="009CC8"/>
                </a:solidFill>
              </a:rPr>
              <a:t>MKTG 302-01</a:t>
            </a:r>
          </a:p>
          <a:p>
            <a:r>
              <a:rPr lang="en-US" b="1" dirty="0">
                <a:solidFill>
                  <a:srgbClr val="009CC8"/>
                </a:solidFill>
              </a:rPr>
              <a:t>Spring Semester, 2025</a:t>
            </a:r>
          </a:p>
          <a:p>
            <a:r>
              <a:rPr lang="en-US" b="1" dirty="0">
                <a:solidFill>
                  <a:srgbClr val="009CC8"/>
                </a:solidFill>
              </a:rPr>
              <a:t>Prof. Scott Beck</a:t>
            </a:r>
          </a:p>
        </p:txBody>
      </p:sp>
    </p:spTree>
    <p:extLst>
      <p:ext uri="{BB962C8B-B14F-4D97-AF65-F5344CB8AC3E}">
        <p14:creationId xmlns:p14="http://schemas.microsoft.com/office/powerpoint/2010/main" val="51856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716" y="669925"/>
            <a:ext cx="9154885" cy="1325563"/>
          </a:xfrm>
        </p:spPr>
        <p:txBody>
          <a:bodyPr/>
          <a:lstStyle/>
          <a:p>
            <a:r>
              <a:rPr lang="en-US" dirty="0">
                <a:solidFill>
                  <a:srgbClr val="001541"/>
                </a:solidFill>
                <a:latin typeface="+mn-lt"/>
              </a:rPr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716" y="2130425"/>
            <a:ext cx="9154885" cy="4351338"/>
          </a:xfrm>
        </p:spPr>
        <p:txBody>
          <a:bodyPr/>
          <a:lstStyle/>
          <a:p>
            <a:r>
              <a:rPr lang="en-US" dirty="0">
                <a:solidFill>
                  <a:srgbClr val="009CC8"/>
                </a:solidFill>
              </a:rPr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0819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for Today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5"/>
                </a:solidFill>
              </a:rPr>
              <a:t>Prepare for your Personal Interviews next week by preselecting potential respondents,</a:t>
            </a:r>
          </a:p>
          <a:p>
            <a:r>
              <a:rPr lang="en-US" sz="3600" dirty="0">
                <a:solidFill>
                  <a:schemeClr val="accent5"/>
                </a:solidFill>
              </a:rPr>
              <a:t>Meet your teammates, and</a:t>
            </a:r>
          </a:p>
          <a:p>
            <a:r>
              <a:rPr lang="en-US" sz="3600" dirty="0">
                <a:solidFill>
                  <a:schemeClr val="accent5"/>
                </a:solidFill>
              </a:rPr>
              <a:t>Today, learn about Big Data integration and how it augments traditional marketing research!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2018 Cengage Learning.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64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Geneva"/>
                <a:cs typeface="Geneva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E86FE-CC4A-4BDD-8E7B-D334D15973BB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773" y="199460"/>
            <a:ext cx="9229000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latin typeface="+mn-lt"/>
                <a:ea typeface="Geneva"/>
                <a:cs typeface="Geneva"/>
              </a:rPr>
              <a:t>Student Learning Objectives</a:t>
            </a:r>
          </a:p>
        </p:txBody>
      </p:sp>
      <p:sp>
        <p:nvSpPr>
          <p:cNvPr id="15365" name="Rectangle 20"/>
          <p:cNvSpPr>
            <a:spLocks noChangeArrowheads="1"/>
          </p:cNvSpPr>
          <p:nvPr/>
        </p:nvSpPr>
        <p:spPr bwMode="auto">
          <a:xfrm>
            <a:off x="802739" y="1216402"/>
            <a:ext cx="8111067" cy="3840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the end of this module you will be able to: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Contrast structured and unstructured data,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>
                <a:solidFill>
                  <a:schemeClr val="accent5"/>
                </a:solidFill>
                <a:latin typeface="Calibri" panose="020F0502020204030204"/>
              </a:rPr>
              <a:t>Describe the three sources of “big data” for marketers, and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>
                <a:solidFill>
                  <a:schemeClr val="accent5"/>
                </a:solidFill>
                <a:latin typeface="Calibri" panose="020F0502020204030204"/>
              </a:rPr>
              <a:t>Compare descriptive, predictive, and prescriptive analytical approaches.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9752021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“Big Data”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623041" cy="4351338"/>
          </a:xfrm>
        </p:spPr>
        <p:txBody>
          <a:bodyPr/>
          <a:lstStyle/>
          <a:p>
            <a:r>
              <a:rPr lang="en-US" sz="3600" dirty="0">
                <a:solidFill>
                  <a:schemeClr val="accent5"/>
                </a:solidFill>
              </a:rPr>
              <a:t>The process of capturing, merging, and analyzing large and varied data sets for the purpose of understanding current business practices and seeking new opportunities to enhance future performance.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2023 Cengage Learning.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9490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strike="dblStrike" dirty="0"/>
              <a:t>Four</a:t>
            </a:r>
            <a:r>
              <a:rPr lang="en-US" dirty="0"/>
              <a:t> Five V’s of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1600200"/>
            <a:ext cx="7924800" cy="4495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VOLUME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sz="3000" dirty="0"/>
              <a:t>The sheer amount of data being collected in “big data” systems.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VELOCITY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sz="3000" dirty="0"/>
              <a:t>The pace of data flow, both into and out of a firm.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VARIETY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sz="3000" dirty="0"/>
              <a:t>The combination of structured and unstructured data collected in “big data” systems.</a:t>
            </a:r>
          </a:p>
          <a:p>
            <a:pPr marL="457200" lvl="1" indent="0">
              <a:buNone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2023 Cengage Learning.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9297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strike="dblStrike" dirty="0"/>
              <a:t>Four</a:t>
            </a:r>
            <a:r>
              <a:rPr lang="en-US" dirty="0"/>
              <a:t> Five V’s of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1600200"/>
            <a:ext cx="79248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VERACITY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sz="3000" dirty="0"/>
              <a:t>The measurement of the </a:t>
            </a:r>
            <a:r>
              <a:rPr lang="en-US" sz="3000" dirty="0">
                <a:hlinkClick r:id="rId2"/>
              </a:rPr>
              <a:t>accuracy</a:t>
            </a:r>
            <a:r>
              <a:rPr lang="en-US" sz="3000" dirty="0"/>
              <a:t> and reliability of the data.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VALUE</a:t>
            </a:r>
            <a:endParaRPr lang="en-US" dirty="0"/>
          </a:p>
          <a:p>
            <a:pPr marL="457200" lvl="1" indent="0">
              <a:buNone/>
            </a:pPr>
            <a:r>
              <a:rPr lang="en-US" sz="3000" dirty="0"/>
              <a:t>The value derived from the data to the organization in the use of the data, transforming it into information.</a:t>
            </a:r>
          </a:p>
          <a:p>
            <a:pPr marL="457200" lvl="1" indent="0">
              <a:buNone/>
            </a:pPr>
            <a:endParaRPr lang="en-US" sz="3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2023 Cengage Learning.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2427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Sources of “Big Data”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STRUCTURED DATA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accent5"/>
                </a:solidFill>
              </a:rPr>
              <a:t>Data that can be written into rows on a spreadsheet or database based on standard column headings.</a:t>
            </a:r>
          </a:p>
          <a:p>
            <a:pPr marL="457200" lvl="1" indent="0">
              <a:buNone/>
            </a:pPr>
            <a:endParaRPr lang="en-US" sz="2400" dirty="0">
              <a:solidFill>
                <a:schemeClr val="accent5"/>
              </a:solidFill>
            </a:endParaRPr>
          </a:p>
          <a:p>
            <a:pPr marL="457200" lvl="1" indent="0">
              <a:buNone/>
            </a:pPr>
            <a:r>
              <a:rPr lang="en-US" sz="2400" b="1" i="1" dirty="0">
                <a:solidFill>
                  <a:schemeClr val="accent5"/>
                </a:solidFill>
              </a:rPr>
              <a:t>Examples:</a:t>
            </a:r>
            <a:r>
              <a:rPr lang="en-US" sz="2400" dirty="0">
                <a:solidFill>
                  <a:schemeClr val="accent5"/>
                </a:solidFill>
              </a:rPr>
              <a:t> transactional data, customer profile information obtained from registration materials or other sources</a:t>
            </a:r>
          </a:p>
        </p:txBody>
      </p:sp>
    </p:spTree>
    <p:extLst>
      <p:ext uri="{BB962C8B-B14F-4D97-AF65-F5344CB8AC3E}">
        <p14:creationId xmlns:p14="http://schemas.microsoft.com/office/powerpoint/2010/main" val="376205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2286000" y="2438400"/>
            <a:ext cx="7391400" cy="39624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UNSTRUCTURED DATA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5"/>
                </a:solidFill>
              </a:rPr>
              <a:t>Data that take the form of </a:t>
            </a:r>
            <a:r>
              <a:rPr lang="en-US" dirty="0">
                <a:solidFill>
                  <a:schemeClr val="accent5"/>
                </a:solidFill>
                <a:hlinkClick r:id="rId2"/>
              </a:rPr>
              <a:t>social media comments</a:t>
            </a:r>
            <a:r>
              <a:rPr lang="en-US" dirty="0">
                <a:solidFill>
                  <a:schemeClr val="accent5"/>
                </a:solidFill>
              </a:rPr>
              <a:t>, blog posts, other text-based communication, photos, video, audio, or </a:t>
            </a:r>
            <a:r>
              <a:rPr lang="en-US" dirty="0">
                <a:solidFill>
                  <a:schemeClr val="accent5"/>
                </a:solidFill>
                <a:hlinkClick r:id="rId3"/>
              </a:rPr>
              <a:t>any other form</a:t>
            </a:r>
            <a:r>
              <a:rPr lang="en-US" dirty="0">
                <a:solidFill>
                  <a:schemeClr val="accent5"/>
                </a:solidFill>
              </a:rPr>
              <a:t> that is not easily arranged in structured format.</a:t>
            </a:r>
          </a:p>
          <a:p>
            <a:pPr marL="457200" lvl="1" indent="0">
              <a:buNone/>
            </a:pPr>
            <a:endParaRPr lang="en-US" sz="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4400" y="990600"/>
            <a:ext cx="8534400" cy="75895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Sources of “Big Data”</a:t>
            </a:r>
          </a:p>
        </p:txBody>
      </p:sp>
    </p:spTree>
    <p:extLst>
      <p:ext uri="{BB962C8B-B14F-4D97-AF65-F5344CB8AC3E}">
        <p14:creationId xmlns:p14="http://schemas.microsoft.com/office/powerpoint/2010/main" val="95546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051" y="838200"/>
            <a:ext cx="8763000" cy="7921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Key Types of Unstructured Data: Social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“Voice of the Customer” Data: </a:t>
            </a:r>
            <a:r>
              <a:rPr lang="en-US" dirty="0">
                <a:solidFill>
                  <a:schemeClr val="accent5"/>
                </a:solidFill>
              </a:rPr>
              <a:t>unstructured posts on social media networks such as Facebook, </a:t>
            </a:r>
            <a:r>
              <a:rPr lang="en-US" dirty="0">
                <a:solidFill>
                  <a:schemeClr val="accent5"/>
                </a:solidFill>
                <a:hlinkClick r:id="rId2"/>
              </a:rPr>
              <a:t>Twitter</a:t>
            </a:r>
            <a:r>
              <a:rPr lang="en-US" dirty="0">
                <a:solidFill>
                  <a:schemeClr val="accent5"/>
                </a:solidFill>
              </a:rPr>
              <a:t>, Google+, YouTube, </a:t>
            </a:r>
            <a:r>
              <a:rPr lang="en-US" dirty="0">
                <a:solidFill>
                  <a:schemeClr val="accent5"/>
                </a:solidFill>
                <a:hlinkClick r:id="rId3"/>
              </a:rPr>
              <a:t>Instagram</a:t>
            </a:r>
            <a:r>
              <a:rPr lang="en-US" dirty="0">
                <a:solidFill>
                  <a:schemeClr val="accent5"/>
                </a:solidFill>
              </a:rPr>
              <a:t>, LinkedIn, Tumblr, Pinterest, etc.</a:t>
            </a:r>
          </a:p>
          <a:p>
            <a:r>
              <a:rPr lang="en-US" b="1" dirty="0">
                <a:hlinkClick r:id="rId4"/>
              </a:rPr>
              <a:t>Social Network Analysis</a:t>
            </a:r>
            <a:r>
              <a:rPr lang="en-US" b="1" dirty="0"/>
              <a:t>: </a:t>
            </a:r>
            <a:r>
              <a:rPr lang="en-US" dirty="0">
                <a:solidFill>
                  <a:schemeClr val="accent5"/>
                </a:solidFill>
              </a:rPr>
              <a:t>a popular tool for studying the social connections between people.</a:t>
            </a:r>
          </a:p>
        </p:txBody>
      </p:sp>
    </p:spTree>
    <p:extLst>
      <p:ext uri="{BB962C8B-B14F-4D97-AF65-F5344CB8AC3E}">
        <p14:creationId xmlns:p14="http://schemas.microsoft.com/office/powerpoint/2010/main" val="774843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62000" y="685800"/>
            <a:ext cx="7696200" cy="114300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dirty="0">
                <a:latin typeface="+mn-lt"/>
              </a:rPr>
              <a:t>Key Types of Unstructured Data: Mobile Data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533330" y="2654560"/>
            <a:ext cx="8229600" cy="39624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Smartphone and Tablet Data: </a:t>
            </a:r>
            <a:r>
              <a:rPr lang="en-US" dirty="0">
                <a:solidFill>
                  <a:schemeClr val="accent5"/>
                </a:solidFill>
              </a:rPr>
              <a:t>data from texting, photo sharing, in-store shopping.</a:t>
            </a:r>
          </a:p>
          <a:p>
            <a:r>
              <a:rPr lang="en-US" b="1" dirty="0"/>
              <a:t>Location-based Services: </a:t>
            </a:r>
            <a:r>
              <a:rPr lang="en-US" dirty="0">
                <a:solidFill>
                  <a:schemeClr val="accent5"/>
                </a:solidFill>
              </a:rPr>
              <a:t>geo-targeted text messages, mapping services, location-sharing, and location data from call records.</a:t>
            </a:r>
          </a:p>
        </p:txBody>
      </p:sp>
    </p:spTree>
    <p:extLst>
      <p:ext uri="{BB962C8B-B14F-4D97-AF65-F5344CB8AC3E}">
        <p14:creationId xmlns:p14="http://schemas.microsoft.com/office/powerpoint/2010/main" val="185882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“Big Data”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0" y="1524000"/>
            <a:ext cx="7924800" cy="449580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DESCRIPTIVE ANALYSIS</a:t>
            </a:r>
            <a:endParaRPr lang="en-US" sz="3600" b="1" dirty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457200" lvl="1" indent="0">
              <a:buNone/>
            </a:pPr>
            <a:r>
              <a:rPr lang="en-US" sz="3000" dirty="0">
                <a:solidFill>
                  <a:schemeClr val="accent5"/>
                </a:solidFill>
              </a:rPr>
              <a:t>Designed to enhance understanding of available data to benefit firm performance.</a:t>
            </a:r>
          </a:p>
          <a:p>
            <a:pPr marL="457200" lvl="1" indent="0">
              <a:buNone/>
            </a:pPr>
            <a:endParaRPr lang="en-US" dirty="0">
              <a:solidFill>
                <a:schemeClr val="accent5"/>
              </a:solidFill>
            </a:endParaRPr>
          </a:p>
          <a:p>
            <a:pPr marL="457200" lvl="1" indent="0">
              <a:buNone/>
            </a:pPr>
            <a:r>
              <a:rPr lang="en-US" sz="3000" b="1" i="1" dirty="0"/>
              <a:t>Examples:</a:t>
            </a:r>
            <a:r>
              <a:rPr lang="en-US" sz="3000" dirty="0"/>
              <a:t> </a:t>
            </a:r>
            <a:r>
              <a:rPr lang="en-US" sz="3000" dirty="0">
                <a:solidFill>
                  <a:schemeClr val="accent5"/>
                </a:solidFill>
              </a:rPr>
              <a:t>data mining, data fusion, neural network analysis, visualization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2023 Cengage Learning.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3925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400300" y="76200"/>
            <a:ext cx="7391400" cy="114300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dirty="0">
                <a:solidFill>
                  <a:srgbClr val="FFFFFF"/>
                </a:solidFill>
              </a:rPr>
              <a:t>Types of “Big Data” Analyses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819400" y="1600200"/>
            <a:ext cx="7391400" cy="39624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PREDICTIVE ANALYSIS</a:t>
            </a:r>
            <a:endParaRPr lang="en-US" sz="3600" b="1" dirty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sz="3600" b="1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en-US" sz="3000" dirty="0">
                <a:solidFill>
                  <a:schemeClr val="accent5"/>
                </a:solidFill>
              </a:rPr>
              <a:t>Designed to aid both explanatory and forecasting abilities for the betterment of the firm.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3000" b="1" i="1" dirty="0"/>
              <a:t>Examples:</a:t>
            </a:r>
            <a:r>
              <a:rPr lang="en-US" sz="3000" dirty="0"/>
              <a:t> </a:t>
            </a:r>
            <a:r>
              <a:rPr lang="en-US" sz="3000" dirty="0">
                <a:solidFill>
                  <a:schemeClr val="accent5"/>
                </a:solidFill>
              </a:rPr>
              <a:t>regression analysis, time series analysis, simulation</a:t>
            </a:r>
          </a:p>
          <a:p>
            <a:endParaRPr lang="en-US" dirty="0"/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4648200" y="6475943"/>
            <a:ext cx="2895600" cy="3651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1000" dirty="0"/>
              <a:t>© 2023 Cengage Learning. All Rights Reserved.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E81658A-8CE8-4EB9-86C9-31AA901E77A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Types of “Big Data” Analyses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52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2819400" y="1600200"/>
            <a:ext cx="7391400" cy="39624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PRESCRIPTIVE ANALYSIS</a:t>
            </a:r>
            <a:endParaRPr lang="en-US" sz="3600" b="1" dirty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457200" lvl="1" indent="0">
              <a:buNone/>
            </a:pPr>
            <a:r>
              <a:rPr lang="en-US" sz="3000" dirty="0">
                <a:solidFill>
                  <a:schemeClr val="accent5"/>
                </a:solidFill>
              </a:rPr>
              <a:t>Designed to optimize the various courses of action available to enhance firm performance.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3000" b="1" i="1" dirty="0"/>
              <a:t>Examples:</a:t>
            </a:r>
            <a:r>
              <a:rPr lang="en-US" sz="3000" dirty="0"/>
              <a:t> </a:t>
            </a:r>
            <a:r>
              <a:rPr lang="en-US" sz="3000" dirty="0">
                <a:solidFill>
                  <a:schemeClr val="accent5"/>
                </a:solidFill>
              </a:rPr>
              <a:t>optimization tools, </a:t>
            </a:r>
            <a:r>
              <a:rPr lang="en-US" sz="3000" dirty="0">
                <a:solidFill>
                  <a:schemeClr val="accent5"/>
                </a:solidFill>
                <a:hlinkClick r:id="rId2"/>
              </a:rPr>
              <a:t>loyalty databases</a:t>
            </a:r>
            <a:endParaRPr lang="en-US" sz="3000" dirty="0">
              <a:solidFill>
                <a:schemeClr val="accent5"/>
              </a:solidFill>
            </a:endParaRPr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00300" y="76200"/>
            <a:ext cx="7391400" cy="114300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dirty="0">
                <a:solidFill>
                  <a:srgbClr val="FFFFFF"/>
                </a:solidFill>
              </a:rPr>
              <a:t>Types of “Big Data” Analyses</a:t>
            </a:r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4648200" y="6475943"/>
            <a:ext cx="2895600" cy="3651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1000" dirty="0"/>
              <a:t>© 2023 Cengage Learning. All Rights Reserved.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7911C0-3B80-46DB-8F23-6DF81B23D9D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Types of “Big Data” Analyses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07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Challenges of “Big Data”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5"/>
                </a:solidFill>
              </a:rPr>
              <a:t>Access to and retrieval of data (including data integration)</a:t>
            </a:r>
          </a:p>
          <a:p>
            <a:r>
              <a:rPr lang="en-US" sz="3600" dirty="0">
                <a:solidFill>
                  <a:schemeClr val="accent5"/>
                </a:solidFill>
              </a:rPr>
              <a:t>Analytic skills</a:t>
            </a:r>
          </a:p>
          <a:p>
            <a:r>
              <a:rPr lang="en-US" sz="3600" dirty="0">
                <a:solidFill>
                  <a:schemeClr val="accent5"/>
                </a:solidFill>
              </a:rPr>
              <a:t>Firm integration of big data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2018 Cengage Learning.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00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10101072" cy="149961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Key Challenges of “Big Data”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/>
                </a:solidFill>
              </a:rPr>
              <a:t>Access to and retrieval of data (including data integration)</a:t>
            </a:r>
          </a:p>
          <a:p>
            <a:r>
              <a:rPr lang="en-US" sz="3200" dirty="0">
                <a:solidFill>
                  <a:schemeClr val="accent5"/>
                </a:solidFill>
              </a:rPr>
              <a:t>Analytic skills</a:t>
            </a:r>
          </a:p>
          <a:p>
            <a:r>
              <a:rPr lang="en-US" sz="3200" dirty="0">
                <a:solidFill>
                  <a:schemeClr val="accent5"/>
                </a:solidFill>
              </a:rPr>
              <a:t>Firm integration of big data</a:t>
            </a:r>
          </a:p>
        </p:txBody>
      </p:sp>
    </p:spTree>
    <p:extLst>
      <p:ext uri="{BB962C8B-B14F-4D97-AF65-F5344CB8AC3E}">
        <p14:creationId xmlns:p14="http://schemas.microsoft.com/office/powerpoint/2010/main" val="396097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6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XU_PPTtemplate2" id="{0469F02D-B852-2749-917C-AD4BF6465C21}" vid="{F25CEA40-8609-7F4F-BE1D-8B08452F0A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xu-powerpoint-template3</Template>
  <TotalTime>1352</TotalTime>
  <Words>665</Words>
  <Application>Microsoft Office PowerPoint</Application>
  <PresentationFormat>Widescreen</PresentationFormat>
  <Paragraphs>83</Paragraphs>
  <Slides>17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Working with Big Data</vt:lpstr>
      <vt:lpstr>Click to add title</vt:lpstr>
      <vt:lpstr>Agenda for Today …</vt:lpstr>
      <vt:lpstr>Student Learning Objectives</vt:lpstr>
      <vt:lpstr>“Big Data” Definition</vt:lpstr>
      <vt:lpstr>The Four Five V’s of Big Data</vt:lpstr>
      <vt:lpstr>The Four Five V’s of Big Data</vt:lpstr>
      <vt:lpstr>Sources of “Big Data”</vt:lpstr>
      <vt:lpstr>Sources of “Big Data”</vt:lpstr>
      <vt:lpstr>Key Types of Unstructured Data: Social Data</vt:lpstr>
      <vt:lpstr>PowerPoint Presentation</vt:lpstr>
      <vt:lpstr>Types of “Big Data” Analyses</vt:lpstr>
      <vt:lpstr>PowerPoint Presentation</vt:lpstr>
      <vt:lpstr>PowerPoint Presentation</vt:lpstr>
      <vt:lpstr>Key Challenges of “Big Data” Integration</vt:lpstr>
      <vt:lpstr>Key Challenges of “Big Data” Integration</vt:lpstr>
      <vt:lpstr>PowerPoint Presentation</vt:lpstr>
    </vt:vector>
  </TitlesOfParts>
  <Company>Xavier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Strategy</dc:title>
  <dc:creator>Beck, Scott</dc:creator>
  <cp:lastModifiedBy>Beck, Scott</cp:lastModifiedBy>
  <cp:revision>76</cp:revision>
  <cp:lastPrinted>2020-08-26T16:29:50Z</cp:lastPrinted>
  <dcterms:created xsi:type="dcterms:W3CDTF">2020-06-29T15:54:52Z</dcterms:created>
  <dcterms:modified xsi:type="dcterms:W3CDTF">2025-02-03T19:04:25Z</dcterms:modified>
</cp:coreProperties>
</file>