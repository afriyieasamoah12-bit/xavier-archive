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handoutMasterIdLst>
    <p:handoutMasterId r:id="rId54"/>
  </p:handoutMasterIdLst>
  <p:sldIdLst>
    <p:sldId id="256" r:id="rId2"/>
    <p:sldId id="645" r:id="rId3"/>
    <p:sldId id="646" r:id="rId4"/>
    <p:sldId id="599" r:id="rId5"/>
    <p:sldId id="600" r:id="rId6"/>
    <p:sldId id="601" r:id="rId7"/>
    <p:sldId id="602" r:id="rId8"/>
    <p:sldId id="603" r:id="rId9"/>
    <p:sldId id="604" r:id="rId10"/>
    <p:sldId id="605" r:id="rId11"/>
    <p:sldId id="606" r:id="rId12"/>
    <p:sldId id="607" r:id="rId13"/>
    <p:sldId id="608" r:id="rId14"/>
    <p:sldId id="609" r:id="rId15"/>
    <p:sldId id="610" r:id="rId16"/>
    <p:sldId id="611" r:id="rId17"/>
    <p:sldId id="612" r:id="rId18"/>
    <p:sldId id="644" r:id="rId19"/>
    <p:sldId id="613" r:id="rId20"/>
    <p:sldId id="643" r:id="rId21"/>
    <p:sldId id="614" r:id="rId22"/>
    <p:sldId id="615" r:id="rId23"/>
    <p:sldId id="616" r:id="rId24"/>
    <p:sldId id="617" r:id="rId25"/>
    <p:sldId id="618" r:id="rId26"/>
    <p:sldId id="619" r:id="rId27"/>
    <p:sldId id="620" r:id="rId28"/>
    <p:sldId id="642" r:id="rId29"/>
    <p:sldId id="621" r:id="rId30"/>
    <p:sldId id="622" r:id="rId31"/>
    <p:sldId id="623" r:id="rId32"/>
    <p:sldId id="624" r:id="rId33"/>
    <p:sldId id="625" r:id="rId34"/>
    <p:sldId id="648" r:id="rId35"/>
    <p:sldId id="649" r:id="rId36"/>
    <p:sldId id="647" r:id="rId37"/>
    <p:sldId id="626" r:id="rId38"/>
    <p:sldId id="627" r:id="rId39"/>
    <p:sldId id="628" r:id="rId40"/>
    <p:sldId id="629" r:id="rId41"/>
    <p:sldId id="630" r:id="rId42"/>
    <p:sldId id="631" r:id="rId43"/>
    <p:sldId id="632" r:id="rId44"/>
    <p:sldId id="633" r:id="rId45"/>
    <p:sldId id="634" r:id="rId46"/>
    <p:sldId id="635" r:id="rId47"/>
    <p:sldId id="636" r:id="rId48"/>
    <p:sldId id="637" r:id="rId49"/>
    <p:sldId id="638" r:id="rId50"/>
    <p:sldId id="639" r:id="rId51"/>
    <p:sldId id="266" r:id="rId52"/>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9CC8"/>
    <a:srgbClr val="001541"/>
    <a:srgbClr val="BD707B"/>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68"/>
    <p:restoredTop sz="94890"/>
  </p:normalViewPr>
  <p:slideViewPr>
    <p:cSldViewPr snapToGrid="0" snapToObjects="1" showGuides="1">
      <p:cViewPr varScale="1">
        <p:scale>
          <a:sx n="62" d="100"/>
          <a:sy n="62" d="100"/>
        </p:scale>
        <p:origin x="68" y="272"/>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sz="quarter" idx="1"/>
          </p:nvPr>
        </p:nvSpPr>
        <p:spPr>
          <a:xfrm>
            <a:off x="3898102" y="0"/>
            <a:ext cx="2982119" cy="466434"/>
          </a:xfrm>
          <a:prstGeom prst="rect">
            <a:avLst/>
          </a:prstGeom>
        </p:spPr>
        <p:txBody>
          <a:bodyPr vert="horz" lIns="92446" tIns="46223" rIns="92446" bIns="46223" rtlCol="0"/>
          <a:lstStyle>
            <a:lvl1pPr algn="r">
              <a:defRPr sz="1200"/>
            </a:lvl1pPr>
          </a:lstStyle>
          <a:p>
            <a:fld id="{03FFF951-6D62-CB4E-866F-40E5C899BB84}" type="datetimeFigureOut">
              <a:rPr lang="en-US" smtClean="0"/>
              <a:t>3/17/2025</a:t>
            </a:fld>
            <a:endParaRPr lang="en-US"/>
          </a:p>
        </p:txBody>
      </p:sp>
      <p:sp>
        <p:nvSpPr>
          <p:cNvPr id="4" name="Footer Placeholder 3"/>
          <p:cNvSpPr>
            <a:spLocks noGrp="1"/>
          </p:cNvSpPr>
          <p:nvPr>
            <p:ph type="ftr" sz="quarter" idx="2"/>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5" name="Slide Number Placeholder 4"/>
          <p:cNvSpPr>
            <a:spLocks noGrp="1"/>
          </p:cNvSpPr>
          <p:nvPr>
            <p:ph type="sldNum" sz="quarter" idx="3"/>
          </p:nvPr>
        </p:nvSpPr>
        <p:spPr>
          <a:xfrm>
            <a:off x="3898102" y="8829967"/>
            <a:ext cx="2982119" cy="466433"/>
          </a:xfrm>
          <a:prstGeom prst="rect">
            <a:avLst/>
          </a:prstGeom>
        </p:spPr>
        <p:txBody>
          <a:bodyPr vert="horz" lIns="92446" tIns="46223" rIns="92446" bIns="46223" rtlCol="0" anchor="b"/>
          <a:lstStyle>
            <a:lvl1pPr algn="r">
              <a:defRPr sz="1200"/>
            </a:lvl1pPr>
          </a:lstStyle>
          <a:p>
            <a:fld id="{C134B82A-5292-FA40-A7FB-7C93D521ECD4}" type="slidenum">
              <a:rPr lang="en-US" smtClean="0"/>
              <a:t>‹#›</a:t>
            </a:fld>
            <a:endParaRPr lang="en-US"/>
          </a:p>
        </p:txBody>
      </p:sp>
    </p:spTree>
    <p:extLst>
      <p:ext uri="{BB962C8B-B14F-4D97-AF65-F5344CB8AC3E}">
        <p14:creationId xmlns:p14="http://schemas.microsoft.com/office/powerpoint/2010/main" val="872266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idx="1"/>
          </p:nvPr>
        </p:nvSpPr>
        <p:spPr>
          <a:xfrm>
            <a:off x="3898102" y="0"/>
            <a:ext cx="2982119" cy="466434"/>
          </a:xfrm>
          <a:prstGeom prst="rect">
            <a:avLst/>
          </a:prstGeom>
        </p:spPr>
        <p:txBody>
          <a:bodyPr vert="horz" lIns="92446" tIns="46223" rIns="92446" bIns="46223" rtlCol="0"/>
          <a:lstStyle>
            <a:lvl1pPr algn="r">
              <a:defRPr sz="1200"/>
            </a:lvl1pPr>
          </a:lstStyle>
          <a:p>
            <a:fld id="{963D65B7-7862-7F47-B99E-B3AB2843FF42}" type="datetimeFigureOut">
              <a:rPr lang="en-US" smtClean="0"/>
              <a:t>3/17/2025</a:t>
            </a:fld>
            <a:endParaRPr lang="en-US"/>
          </a:p>
        </p:txBody>
      </p:sp>
      <p:sp>
        <p:nvSpPr>
          <p:cNvPr id="4" name="Slide Image Placeholder 3"/>
          <p:cNvSpPr>
            <a:spLocks noGrp="1" noRot="1" noChangeAspect="1"/>
          </p:cNvSpPr>
          <p:nvPr>
            <p:ph type="sldImg" idx="2"/>
          </p:nvPr>
        </p:nvSpPr>
        <p:spPr>
          <a:xfrm>
            <a:off x="654050" y="1162050"/>
            <a:ext cx="5575300" cy="313690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688182" y="4473892"/>
            <a:ext cx="5505450" cy="3660458"/>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7" name="Slide Number Placeholder 6"/>
          <p:cNvSpPr>
            <a:spLocks noGrp="1"/>
          </p:cNvSpPr>
          <p:nvPr>
            <p:ph type="sldNum" sz="quarter" idx="5"/>
          </p:nvPr>
        </p:nvSpPr>
        <p:spPr>
          <a:xfrm>
            <a:off x="3898102" y="8829967"/>
            <a:ext cx="2982119" cy="466433"/>
          </a:xfrm>
          <a:prstGeom prst="rect">
            <a:avLst/>
          </a:prstGeom>
        </p:spPr>
        <p:txBody>
          <a:bodyPr vert="horz" lIns="92446" tIns="46223" rIns="92446" bIns="46223" rtlCol="0" anchor="b"/>
          <a:lstStyle>
            <a:lvl1pPr algn="r">
              <a:defRPr sz="1200"/>
            </a:lvl1pPr>
          </a:lstStyle>
          <a:p>
            <a:fld id="{EEA2CE63-AE64-8646-9F3E-7DE0B8E53F29}" type="slidenum">
              <a:rPr lang="en-US" smtClean="0"/>
              <a:t>‹#›</a:t>
            </a:fld>
            <a:endParaRPr lang="en-US"/>
          </a:p>
        </p:txBody>
      </p:sp>
    </p:spTree>
    <p:extLst>
      <p:ext uri="{BB962C8B-B14F-4D97-AF65-F5344CB8AC3E}">
        <p14:creationId xmlns:p14="http://schemas.microsoft.com/office/powerpoint/2010/main" val="1415218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1</a:t>
            </a:fld>
            <a:endParaRPr lang="en-US"/>
          </a:p>
        </p:txBody>
      </p:sp>
    </p:spTree>
    <p:extLst>
      <p:ext uri="{BB962C8B-B14F-4D97-AF65-F5344CB8AC3E}">
        <p14:creationId xmlns:p14="http://schemas.microsoft.com/office/powerpoint/2010/main" val="1860172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2</a:t>
            </a:fld>
            <a:endParaRPr lang="en-US"/>
          </a:p>
        </p:txBody>
      </p:sp>
    </p:spTree>
    <p:extLst>
      <p:ext uri="{BB962C8B-B14F-4D97-AF65-F5344CB8AC3E}">
        <p14:creationId xmlns:p14="http://schemas.microsoft.com/office/powerpoint/2010/main" val="466203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3</a:t>
            </a:fld>
            <a:endParaRPr lang="en-US"/>
          </a:p>
        </p:txBody>
      </p:sp>
    </p:spTree>
    <p:extLst>
      <p:ext uri="{BB962C8B-B14F-4D97-AF65-F5344CB8AC3E}">
        <p14:creationId xmlns:p14="http://schemas.microsoft.com/office/powerpoint/2010/main" val="2813522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18</a:t>
            </a:fld>
            <a:endParaRPr lang="en-US"/>
          </a:p>
        </p:txBody>
      </p:sp>
    </p:spTree>
    <p:extLst>
      <p:ext uri="{BB962C8B-B14F-4D97-AF65-F5344CB8AC3E}">
        <p14:creationId xmlns:p14="http://schemas.microsoft.com/office/powerpoint/2010/main" val="3345766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385763" y="685800"/>
            <a:ext cx="6091237" cy="3427413"/>
          </a:xfrm>
          <a:ln cap="flat"/>
        </p:spPr>
      </p:sp>
      <p:sp>
        <p:nvSpPr>
          <p:cNvPr id="87043" name="Rectangle 3"/>
          <p:cNvSpPr>
            <a:spLocks noGrp="1" noChangeArrowheads="1"/>
          </p:cNvSpPr>
          <p:nvPr>
            <p:ph type="body" idx="1"/>
          </p:nvPr>
        </p:nvSpPr>
        <p:spPr>
          <a:xfrm>
            <a:off x="912203" y="4341814"/>
            <a:ext cx="5033596" cy="411638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36" tIns="46169" rIns="92336" bIns="46169"/>
          <a:lstStyle/>
          <a:p>
            <a:endParaRPr lang="en-US" altLang="en-US"/>
          </a:p>
        </p:txBody>
      </p:sp>
    </p:spTree>
    <p:extLst>
      <p:ext uri="{BB962C8B-B14F-4D97-AF65-F5344CB8AC3E}">
        <p14:creationId xmlns:p14="http://schemas.microsoft.com/office/powerpoint/2010/main" val="2716606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51</a:t>
            </a:fld>
            <a:endParaRPr lang="en-US"/>
          </a:p>
        </p:txBody>
      </p:sp>
    </p:spTree>
    <p:extLst>
      <p:ext uri="{BB962C8B-B14F-4D97-AF65-F5344CB8AC3E}">
        <p14:creationId xmlns:p14="http://schemas.microsoft.com/office/powerpoint/2010/main" val="859645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4100734-FF99-944C-8656-684769A3B86B}"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12992898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53400" y="631190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6501948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4100734-FF99-944C-8656-684769A3B86B}"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374295"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7382866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4100734-FF99-944C-8656-684769A3B86B}"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153400"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74029152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4100734-FF99-944C-8656-684769A3B86B}" type="datetimeFigureOut">
              <a:rPr lang="en-US" smtClean="0"/>
              <a:t>3/17/2025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153400"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35245576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4100734-FF99-944C-8656-684769A3B86B}" type="datetimeFigureOut">
              <a:rPr lang="en-US" smtClean="0"/>
              <a:t>3/17/2025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8230456"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96411031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100734-FF99-944C-8656-684769A3B86B}" type="datetimeFigureOut">
              <a:rPr lang="en-US" smtClean="0"/>
              <a:t>3/17/2025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8153400" y="6373545"/>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03794759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100734-FF99-944C-8656-684769A3B86B}"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69288" y="6373545"/>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77548054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100734-FF99-944C-8656-684769A3B86B}"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353746" y="6356349"/>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42333340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53400" y="6349643"/>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35113128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3E6DFB-264B-4D4C-9468-2A87659EAF58}" type="slidenum">
              <a:rPr lang="en-US" smtClean="0"/>
              <a:t>‹#›</a:t>
            </a:fld>
            <a:endParaRPr lang="en-US"/>
          </a:p>
        </p:txBody>
      </p:sp>
    </p:spTree>
    <p:extLst>
      <p:ext uri="{BB962C8B-B14F-4D97-AF65-F5344CB8AC3E}">
        <p14:creationId xmlns:p14="http://schemas.microsoft.com/office/powerpoint/2010/main" val="1785122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000" b="-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100734-FF99-944C-8656-684769A3B86B}" type="datetimeFigureOut">
              <a:rPr lang="en-US" smtClean="0"/>
              <a:t>3/17/2025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3E6DFB-264B-4D4C-9468-2A87659EAF58}" type="slidenum">
              <a:rPr lang="en-US" smtClean="0"/>
              <a:t>‹#›</a:t>
            </a:fld>
            <a:endParaRPr lang="en-US"/>
          </a:p>
        </p:txBody>
      </p:sp>
    </p:spTree>
    <p:extLst>
      <p:ext uri="{BB962C8B-B14F-4D97-AF65-F5344CB8AC3E}">
        <p14:creationId xmlns:p14="http://schemas.microsoft.com/office/powerpoint/2010/main" val="1736632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watch?v=pvpronRblC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www.cincinnati-oh.gov/planning/maps-and-data/census-demographics/2020-census-data/"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censusreporter.org/profiles/31000US17140-cincinnati-oh-ky-in-metro-area/"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www.qualtrics.com/blog/calculating-sample-size/" TargetMode="External"/><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z-table.com/" TargetMode="Externa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8072" y="969962"/>
            <a:ext cx="9144000" cy="2706687"/>
          </a:xfrm>
        </p:spPr>
        <p:txBody>
          <a:bodyPr/>
          <a:lstStyle/>
          <a:p>
            <a:r>
              <a:rPr lang="en-US" b="1" dirty="0">
                <a:solidFill>
                  <a:srgbClr val="001541"/>
                </a:solidFill>
                <a:hlinkClick r:id="rId3"/>
              </a:rPr>
              <a:t>Sampling</a:t>
            </a:r>
            <a:endParaRPr lang="en-US" b="1" dirty="0">
              <a:solidFill>
                <a:srgbClr val="001541"/>
              </a:solidFill>
            </a:endParaRPr>
          </a:p>
        </p:txBody>
      </p:sp>
      <p:sp>
        <p:nvSpPr>
          <p:cNvPr id="8" name="Subtitle 2"/>
          <p:cNvSpPr>
            <a:spLocks noGrp="1"/>
          </p:cNvSpPr>
          <p:nvPr>
            <p:ph type="subTitle" idx="1"/>
          </p:nvPr>
        </p:nvSpPr>
        <p:spPr>
          <a:xfrm>
            <a:off x="870857" y="3749447"/>
            <a:ext cx="9144000" cy="1655762"/>
          </a:xfrm>
        </p:spPr>
        <p:txBody>
          <a:bodyPr/>
          <a:lstStyle/>
          <a:p>
            <a:r>
              <a:rPr lang="en-US" b="1" dirty="0">
                <a:solidFill>
                  <a:srgbClr val="009CC8"/>
                </a:solidFill>
              </a:rPr>
              <a:t>MKTG 302-01</a:t>
            </a:r>
          </a:p>
          <a:p>
            <a:r>
              <a:rPr lang="en-US" b="1" dirty="0">
                <a:solidFill>
                  <a:srgbClr val="009CC8"/>
                </a:solidFill>
              </a:rPr>
              <a:t>Spring Semester, 2025</a:t>
            </a:r>
          </a:p>
          <a:p>
            <a:r>
              <a:rPr lang="en-US" b="1" dirty="0">
                <a:solidFill>
                  <a:srgbClr val="009CC8"/>
                </a:solidFill>
              </a:rPr>
              <a:t>Scott Beck</a:t>
            </a:r>
          </a:p>
        </p:txBody>
      </p:sp>
    </p:spTree>
    <p:extLst>
      <p:ext uri="{BB962C8B-B14F-4D97-AF65-F5344CB8AC3E}">
        <p14:creationId xmlns:p14="http://schemas.microsoft.com/office/powerpoint/2010/main" val="51856047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716" y="669925"/>
            <a:ext cx="9154885" cy="1325563"/>
          </a:xfrm>
        </p:spPr>
        <p:txBody>
          <a:bodyPr/>
          <a:lstStyle/>
          <a:p>
            <a:r>
              <a:rPr lang="en-US" dirty="0">
                <a:solidFill>
                  <a:srgbClr val="001541"/>
                </a:solidFill>
                <a:latin typeface="+mn-lt"/>
              </a:rPr>
              <a:t>Student Learning Objectives</a:t>
            </a:r>
          </a:p>
        </p:txBody>
      </p:sp>
      <p:sp>
        <p:nvSpPr>
          <p:cNvPr id="3" name="Content Placeholder 2"/>
          <p:cNvSpPr>
            <a:spLocks noGrp="1"/>
          </p:cNvSpPr>
          <p:nvPr>
            <p:ph idx="1"/>
          </p:nvPr>
        </p:nvSpPr>
        <p:spPr>
          <a:xfrm>
            <a:off x="598716" y="2130425"/>
            <a:ext cx="9154885" cy="4351338"/>
          </a:xfrm>
        </p:spPr>
        <p:txBody>
          <a:bodyPr/>
          <a:lstStyle/>
          <a:p>
            <a:r>
              <a:rPr lang="en-US" dirty="0">
                <a:solidFill>
                  <a:srgbClr val="009CC8"/>
                </a:solidFill>
              </a:rPr>
              <a:t>Learn about different forms of sampling</a:t>
            </a:r>
          </a:p>
          <a:p>
            <a:r>
              <a:rPr lang="en-US" dirty="0">
                <a:solidFill>
                  <a:srgbClr val="009CC8"/>
                </a:solidFill>
              </a:rPr>
              <a:t>Understand sampling design</a:t>
            </a:r>
          </a:p>
        </p:txBody>
      </p:sp>
    </p:spTree>
    <p:extLst>
      <p:ext uri="{BB962C8B-B14F-4D97-AF65-F5344CB8AC3E}">
        <p14:creationId xmlns:p14="http://schemas.microsoft.com/office/powerpoint/2010/main" val="216847938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716" y="669925"/>
            <a:ext cx="9154885" cy="1325563"/>
          </a:xfrm>
        </p:spPr>
        <p:txBody>
          <a:bodyPr/>
          <a:lstStyle/>
          <a:p>
            <a:r>
              <a:rPr lang="en-US" dirty="0">
                <a:solidFill>
                  <a:srgbClr val="001541"/>
                </a:solidFill>
                <a:latin typeface="+mn-lt"/>
              </a:rPr>
              <a:t>A consideration and some advice …</a:t>
            </a:r>
          </a:p>
        </p:txBody>
      </p:sp>
      <p:sp>
        <p:nvSpPr>
          <p:cNvPr id="3" name="Content Placeholder 2"/>
          <p:cNvSpPr>
            <a:spLocks noGrp="1"/>
          </p:cNvSpPr>
          <p:nvPr>
            <p:ph idx="1"/>
          </p:nvPr>
        </p:nvSpPr>
        <p:spPr>
          <a:xfrm>
            <a:off x="598716" y="2130425"/>
            <a:ext cx="9154885" cy="4351338"/>
          </a:xfrm>
        </p:spPr>
        <p:txBody>
          <a:bodyPr/>
          <a:lstStyle/>
          <a:p>
            <a:r>
              <a:rPr lang="en-US" dirty="0">
                <a:solidFill>
                  <a:srgbClr val="009CC8"/>
                </a:solidFill>
              </a:rPr>
              <a:t>Today’s material is a little heavy (but important)!</a:t>
            </a:r>
          </a:p>
          <a:p>
            <a:r>
              <a:rPr lang="en-US" dirty="0">
                <a:solidFill>
                  <a:srgbClr val="009CC8"/>
                </a:solidFill>
              </a:rPr>
              <a:t>It will be covered heavily on your upcoming quiz.</a:t>
            </a:r>
          </a:p>
          <a:p>
            <a:r>
              <a:rPr lang="en-US" dirty="0">
                <a:solidFill>
                  <a:srgbClr val="009CC8"/>
                </a:solidFill>
              </a:rPr>
              <a:t>Be sure to read Chapter 14 in your book, if you haven’t already.</a:t>
            </a:r>
          </a:p>
        </p:txBody>
      </p:sp>
    </p:spTree>
    <p:extLst>
      <p:ext uri="{BB962C8B-B14F-4D97-AF65-F5344CB8AC3E}">
        <p14:creationId xmlns:p14="http://schemas.microsoft.com/office/powerpoint/2010/main" val="59721793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914400"/>
            <a:ext cx="8739668"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189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Oval 4"/>
          <p:cNvSpPr>
            <a:spLocks noChangeArrowheads="1"/>
          </p:cNvSpPr>
          <p:nvPr/>
        </p:nvSpPr>
        <p:spPr bwMode="auto">
          <a:xfrm>
            <a:off x="2909455" y="4226379"/>
            <a:ext cx="7481455" cy="1395411"/>
          </a:xfrm>
          <a:prstGeom prst="ellipse">
            <a:avLst/>
          </a:prstGeom>
          <a:solidFill>
            <a:schemeClr val="accent1"/>
          </a:solidFill>
          <a:ln w="12700">
            <a:solidFill>
              <a:schemeClr val="tx1"/>
            </a:solidFill>
            <a:round/>
            <a:headEnd/>
            <a:tailEnd/>
          </a:ln>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11267" name="Rectangle 2"/>
          <p:cNvSpPr>
            <a:spLocks noGrp="1" noChangeArrowheads="1"/>
          </p:cNvSpPr>
          <p:nvPr>
            <p:ph type="title"/>
          </p:nvPr>
        </p:nvSpPr>
        <p:spPr>
          <a:xfrm>
            <a:off x="990600" y="708430"/>
            <a:ext cx="7872557" cy="1143461"/>
          </a:xfrm>
        </p:spPr>
        <p:txBody>
          <a:bodyPr/>
          <a:lstStyle/>
          <a:p>
            <a:pPr eaLnBrk="1" hangingPunct="1"/>
            <a:r>
              <a:rPr lang="en-US" altLang="en-US" sz="3700" b="1" i="1" dirty="0">
                <a:solidFill>
                  <a:schemeClr val="tx2"/>
                </a:solidFill>
              </a:rPr>
              <a:t>STEP 1:</a:t>
            </a:r>
            <a:r>
              <a:rPr lang="en-US" altLang="en-US" sz="3700" dirty="0"/>
              <a:t> Define the Target Population</a:t>
            </a:r>
          </a:p>
        </p:txBody>
      </p:sp>
      <p:sp>
        <p:nvSpPr>
          <p:cNvPr id="11268" name="Rectangle 3"/>
          <p:cNvSpPr>
            <a:spLocks noGrp="1" noChangeArrowheads="1"/>
          </p:cNvSpPr>
          <p:nvPr>
            <p:ph idx="1"/>
          </p:nvPr>
        </p:nvSpPr>
        <p:spPr>
          <a:xfrm>
            <a:off x="2819400" y="3352800"/>
            <a:ext cx="7391400" cy="1012478"/>
          </a:xfrm>
        </p:spPr>
        <p:txBody>
          <a:bodyPr>
            <a:normAutofit fontScale="77500" lnSpcReduction="20000"/>
          </a:bodyPr>
          <a:lstStyle/>
          <a:p>
            <a:pPr lvl="1" eaLnBrk="1" hangingPunct="1"/>
            <a:r>
              <a:rPr lang="en-US" altLang="en-US" i="1" dirty="0"/>
              <a:t>Researchers must be very clear and precise in defining the population.</a:t>
            </a:r>
          </a:p>
          <a:p>
            <a:pPr lvl="2" eaLnBrk="1" hangingPunct="1">
              <a:buFont typeface="Wingdings" pitchFamily="2" charset="2"/>
              <a:buNone/>
            </a:pPr>
            <a:r>
              <a:rPr lang="en-US" altLang="en-US" dirty="0"/>
              <a:t>	</a:t>
            </a:r>
          </a:p>
          <a:p>
            <a:pPr lvl="2" eaLnBrk="1" hangingPunct="1">
              <a:buFont typeface="Wingdings" pitchFamily="2" charset="2"/>
              <a:buNone/>
            </a:pPr>
            <a:r>
              <a:rPr lang="en-US" altLang="en-US" sz="2100" i="1" dirty="0"/>
              <a:t>	</a:t>
            </a:r>
            <a:endParaRPr lang="en-US" altLang="en-US" sz="2100" dirty="0"/>
          </a:p>
        </p:txBody>
      </p:sp>
      <p:sp>
        <p:nvSpPr>
          <p:cNvPr id="2" name="TextBox 1"/>
          <p:cNvSpPr txBox="1"/>
          <p:nvPr/>
        </p:nvSpPr>
        <p:spPr>
          <a:xfrm>
            <a:off x="3186955" y="4558556"/>
            <a:ext cx="6858000" cy="1015663"/>
          </a:xfrm>
          <a:prstGeom prst="rect">
            <a:avLst/>
          </a:prstGeom>
          <a:noFill/>
        </p:spPr>
        <p:txBody>
          <a:bodyPr wrap="square" rtlCol="0">
            <a:spAutoFit/>
          </a:bodyPr>
          <a:lstStyle/>
          <a:p>
            <a:pPr marL="0" lvl="2" algn="ctr"/>
            <a:r>
              <a:rPr lang="en-US" altLang="en-US" sz="2100" dirty="0">
                <a:hlinkClick r:id="rId2"/>
              </a:rPr>
              <a:t>Households in the city limits of Cincinnati, OH</a:t>
            </a:r>
            <a:r>
              <a:rPr lang="en-US" altLang="en-US" sz="2100" dirty="0"/>
              <a:t>, with one or more children under the age of 18 living at home.</a:t>
            </a:r>
          </a:p>
          <a:p>
            <a:endParaRPr lang="en-US" dirty="0"/>
          </a:p>
        </p:txBody>
      </p:sp>
      <p:sp>
        <p:nvSpPr>
          <p:cNvPr id="6" name="Content Placeholder 2"/>
          <p:cNvSpPr txBox="1">
            <a:spLocks/>
          </p:cNvSpPr>
          <p:nvPr/>
        </p:nvSpPr>
        <p:spPr>
          <a:xfrm>
            <a:off x="2514600" y="182880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POPULATION</a:t>
            </a:r>
            <a:r>
              <a:rPr lang="en-US" sz="3600" b="1" dirty="0">
                <a:solidFill>
                  <a:schemeClr val="tx2"/>
                </a:solidFill>
                <a:highlight>
                  <a:srgbClr val="FFFF00"/>
                </a:highlight>
              </a:rPr>
              <a:t>*</a:t>
            </a:r>
          </a:p>
          <a:p>
            <a:pPr marL="457200" lvl="1" indent="0">
              <a:buNone/>
            </a:pPr>
            <a:r>
              <a:rPr lang="en-US" dirty="0"/>
              <a:t>All cases that meet designated specifications for membership in the group.</a:t>
            </a:r>
          </a:p>
        </p:txBody>
      </p:sp>
    </p:spTree>
    <p:extLst>
      <p:ext uri="{BB962C8B-B14F-4D97-AF65-F5344CB8AC3E}">
        <p14:creationId xmlns:p14="http://schemas.microsoft.com/office/powerpoint/2010/main" val="3755823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2667000" y="160020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hlinkClick r:id="rId2"/>
              </a:rPr>
              <a:t>CENSUS</a:t>
            </a:r>
            <a:r>
              <a:rPr lang="en-US" sz="3600" b="1" dirty="0">
                <a:solidFill>
                  <a:schemeClr val="tx2"/>
                </a:solidFill>
                <a:highlight>
                  <a:srgbClr val="FFFF00"/>
                </a:highlight>
              </a:rPr>
              <a:t>*</a:t>
            </a:r>
          </a:p>
          <a:p>
            <a:pPr marL="457200" lvl="1" indent="0">
              <a:buNone/>
            </a:pPr>
            <a:r>
              <a:rPr lang="en-US" dirty="0"/>
              <a:t>A type of sampling plan in which data are collected from or about each member of a population.</a:t>
            </a:r>
          </a:p>
        </p:txBody>
      </p:sp>
      <p:sp>
        <p:nvSpPr>
          <p:cNvPr id="5" name="Content Placeholder 2"/>
          <p:cNvSpPr txBox="1">
            <a:spLocks/>
          </p:cNvSpPr>
          <p:nvPr/>
        </p:nvSpPr>
        <p:spPr>
          <a:xfrm>
            <a:off x="2797624" y="396240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SAMPLE</a:t>
            </a:r>
            <a:r>
              <a:rPr lang="en-US" sz="3600" b="1" dirty="0">
                <a:solidFill>
                  <a:schemeClr val="tx2"/>
                </a:solidFill>
                <a:highlight>
                  <a:srgbClr val="FFFF00"/>
                </a:highlight>
              </a:rPr>
              <a:t>*</a:t>
            </a:r>
          </a:p>
          <a:p>
            <a:pPr marL="457200" lvl="1" indent="0">
              <a:buNone/>
            </a:pPr>
            <a:r>
              <a:rPr lang="en-US" dirty="0"/>
              <a:t>Selection of a subset of elements from a larger group of objects.</a:t>
            </a:r>
          </a:p>
        </p:txBody>
      </p:sp>
    </p:spTree>
    <p:extLst>
      <p:ext uri="{BB962C8B-B14F-4D97-AF65-F5344CB8AC3E}">
        <p14:creationId xmlns:p14="http://schemas.microsoft.com/office/powerpoint/2010/main" val="1056691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3611961" y="4864361"/>
            <a:ext cx="6580909" cy="7973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81638" tIns="40819" rIns="81638" bIns="40819" anchor="ctr"/>
          <a:lstStyle/>
          <a:p>
            <a:pPr algn="ctr">
              <a:defRPr/>
            </a:pPr>
            <a:endParaRPr lang="en-US"/>
          </a:p>
        </p:txBody>
      </p:sp>
      <p:sp>
        <p:nvSpPr>
          <p:cNvPr id="13316" name="Rectangle 3"/>
          <p:cNvSpPr>
            <a:spLocks noGrp="1" noChangeArrowheads="1"/>
          </p:cNvSpPr>
          <p:nvPr>
            <p:ph idx="1"/>
          </p:nvPr>
        </p:nvSpPr>
        <p:spPr>
          <a:xfrm>
            <a:off x="2971800" y="4957668"/>
            <a:ext cx="7391400" cy="1675262"/>
          </a:xfrm>
        </p:spPr>
        <p:txBody>
          <a:bodyPr/>
          <a:lstStyle/>
          <a:p>
            <a:pPr lvl="1" algn="ctr" eaLnBrk="1" hangingPunct="1">
              <a:buFont typeface="Arial" pitchFamily="34" charset="0"/>
              <a:buNone/>
            </a:pPr>
            <a:r>
              <a:rPr lang="en-US" altLang="en-US" sz="2500" i="1" dirty="0"/>
              <a:t>	</a:t>
            </a:r>
            <a:r>
              <a:rPr lang="en-US" altLang="en-US" sz="2500" b="1" i="1" dirty="0">
                <a:solidFill>
                  <a:schemeClr val="bg1"/>
                </a:solidFill>
              </a:rPr>
              <a:t>We calculate statistics from sample data in order to estimate population parameters</a:t>
            </a:r>
          </a:p>
          <a:p>
            <a:pPr lvl="1" eaLnBrk="1" hangingPunct="1">
              <a:buFont typeface="Wingdings" pitchFamily="2" charset="2"/>
              <a:buNone/>
            </a:pPr>
            <a:endParaRPr lang="en-US" altLang="en-US" dirty="0"/>
          </a:p>
        </p:txBody>
      </p:sp>
      <p:sp>
        <p:nvSpPr>
          <p:cNvPr id="7" name="Content Placeholder 2"/>
          <p:cNvSpPr txBox="1">
            <a:spLocks/>
          </p:cNvSpPr>
          <p:nvPr/>
        </p:nvSpPr>
        <p:spPr>
          <a:xfrm>
            <a:off x="2801470" y="1021895"/>
            <a:ext cx="7391400" cy="13267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PARAMETER</a:t>
            </a:r>
            <a:r>
              <a:rPr lang="en-US" sz="3600" b="1" dirty="0">
                <a:solidFill>
                  <a:schemeClr val="tx2"/>
                </a:solidFill>
                <a:highlight>
                  <a:srgbClr val="FFFF00"/>
                </a:highlight>
              </a:rPr>
              <a:t>*</a:t>
            </a:r>
          </a:p>
          <a:p>
            <a:pPr marL="457200" lvl="1" indent="0">
              <a:buNone/>
            </a:pPr>
            <a:r>
              <a:rPr lang="en-US" dirty="0"/>
              <a:t>A characteristic or measure of a population.  Could include measurements such as age, income, etc.</a:t>
            </a:r>
          </a:p>
        </p:txBody>
      </p:sp>
      <p:sp>
        <p:nvSpPr>
          <p:cNvPr id="8" name="Content Placeholder 2"/>
          <p:cNvSpPr txBox="1">
            <a:spLocks/>
          </p:cNvSpPr>
          <p:nvPr/>
        </p:nvSpPr>
        <p:spPr>
          <a:xfrm>
            <a:off x="2801470" y="3229651"/>
            <a:ext cx="7391400" cy="1279675"/>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STATISTIC</a:t>
            </a:r>
            <a:r>
              <a:rPr lang="en-US" sz="3600" b="1" dirty="0">
                <a:solidFill>
                  <a:schemeClr val="tx2"/>
                </a:solidFill>
                <a:highlight>
                  <a:srgbClr val="FFFF00"/>
                </a:highlight>
              </a:rPr>
              <a:t>*</a:t>
            </a:r>
          </a:p>
          <a:p>
            <a:pPr marL="457200" lvl="1" indent="0">
              <a:buNone/>
            </a:pPr>
            <a:r>
              <a:rPr lang="en-US" dirty="0"/>
              <a:t>A characteristic or measure of a sample.</a:t>
            </a:r>
          </a:p>
        </p:txBody>
      </p:sp>
    </p:spTree>
    <p:extLst>
      <p:ext uri="{BB962C8B-B14F-4D97-AF65-F5344CB8AC3E}">
        <p14:creationId xmlns:p14="http://schemas.microsoft.com/office/powerpoint/2010/main" val="809156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782924"/>
            <a:ext cx="8714176" cy="4989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54886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Error</a:t>
            </a:r>
            <a:r>
              <a:rPr lang="en-US" sz="4400" b="1" dirty="0">
                <a:solidFill>
                  <a:schemeClr val="tx2"/>
                </a:solidFill>
                <a:highlight>
                  <a:srgbClr val="FFFF00"/>
                </a:highlight>
              </a:rPr>
              <a:t>*</a:t>
            </a:r>
            <a:endParaRPr lang="en-US" dirty="0"/>
          </a:p>
        </p:txBody>
      </p:sp>
      <p:sp>
        <p:nvSpPr>
          <p:cNvPr id="15363" name="Rectangle 3"/>
          <p:cNvSpPr>
            <a:spLocks noGrp="1" noChangeArrowheads="1"/>
          </p:cNvSpPr>
          <p:nvPr>
            <p:ph idx="4294967295"/>
          </p:nvPr>
        </p:nvSpPr>
        <p:spPr>
          <a:xfrm>
            <a:off x="4800600" y="4038600"/>
            <a:ext cx="7391400" cy="1447800"/>
          </a:xfrm>
        </p:spPr>
        <p:txBody>
          <a:bodyPr/>
          <a:lstStyle/>
          <a:p>
            <a:pPr lvl="1" eaLnBrk="1" hangingPunct="1"/>
            <a:r>
              <a:rPr lang="en-US" altLang="en-US" sz="2500" i="1" dirty="0"/>
              <a:t>Decreased by increasing sample size</a:t>
            </a:r>
          </a:p>
          <a:p>
            <a:pPr lvl="1" eaLnBrk="1" hangingPunct="1"/>
            <a:r>
              <a:rPr lang="en-US" altLang="en-US" sz="2500" i="1" dirty="0"/>
              <a:t>Can be estimated (assuming probability sample)</a:t>
            </a:r>
          </a:p>
          <a:p>
            <a:pPr lvl="1" eaLnBrk="1" hangingPunct="1"/>
            <a:r>
              <a:rPr lang="en-US" altLang="en-US" sz="2500" i="1" dirty="0"/>
              <a:t>Usually less troublesome than other kinds of error</a:t>
            </a:r>
          </a:p>
        </p:txBody>
      </p:sp>
      <p:sp>
        <p:nvSpPr>
          <p:cNvPr id="5" name="Content Placeholder 2"/>
          <p:cNvSpPr txBox="1">
            <a:spLocks/>
          </p:cNvSpPr>
          <p:nvPr/>
        </p:nvSpPr>
        <p:spPr>
          <a:xfrm>
            <a:off x="1219200" y="2057400"/>
            <a:ext cx="8941013"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The difference between results obtained from a sample and results that would have been obtained had information been gathered from or about every member of the population.</a:t>
            </a:r>
          </a:p>
        </p:txBody>
      </p:sp>
    </p:spTree>
    <p:extLst>
      <p:ext uri="{BB962C8B-B14F-4D97-AF65-F5344CB8AC3E}">
        <p14:creationId xmlns:p14="http://schemas.microsoft.com/office/powerpoint/2010/main" val="1905370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066800" y="722967"/>
            <a:ext cx="7941830" cy="1144845"/>
          </a:xfrm>
        </p:spPr>
        <p:txBody>
          <a:bodyPr/>
          <a:lstStyle/>
          <a:p>
            <a:pPr eaLnBrk="1" hangingPunct="1"/>
            <a:r>
              <a:rPr lang="en-US" altLang="en-US" sz="3700" b="1" i="1" dirty="0">
                <a:solidFill>
                  <a:schemeClr val="tx2"/>
                </a:solidFill>
              </a:rPr>
              <a:t>STEP 2:</a:t>
            </a:r>
            <a:r>
              <a:rPr lang="en-US" altLang="en-US" sz="3700" dirty="0"/>
              <a:t> Identify the Sampling Frame</a:t>
            </a:r>
          </a:p>
        </p:txBody>
      </p:sp>
      <p:sp>
        <p:nvSpPr>
          <p:cNvPr id="16387" name="Rectangle 3"/>
          <p:cNvSpPr>
            <a:spLocks noGrp="1" noChangeArrowheads="1"/>
          </p:cNvSpPr>
          <p:nvPr>
            <p:ph idx="1"/>
          </p:nvPr>
        </p:nvSpPr>
        <p:spPr>
          <a:xfrm>
            <a:off x="2590800" y="4419600"/>
            <a:ext cx="6629400" cy="1371600"/>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pPr marL="457200" lvl="1" indent="0" algn="ctr">
              <a:buNone/>
            </a:pPr>
            <a:r>
              <a:rPr lang="en-US" altLang="en-US" sz="3200" b="1" dirty="0">
                <a:solidFill>
                  <a:schemeClr val="bg1"/>
                </a:solidFill>
              </a:rPr>
              <a:t>Commonly used sampling frames</a:t>
            </a:r>
          </a:p>
          <a:p>
            <a:pPr lvl="2" algn="ctr" eaLnBrk="1" hangingPunct="1">
              <a:buFont typeface="Wingdings" pitchFamily="2" charset="2"/>
              <a:buNone/>
            </a:pPr>
            <a:r>
              <a:rPr lang="en-US" altLang="en-US" sz="2400" i="1" dirty="0"/>
              <a:t>Customer database, member directories</a:t>
            </a:r>
          </a:p>
          <a:p>
            <a:pPr lvl="2" algn="ctr" eaLnBrk="1" hangingPunct="1">
              <a:buFont typeface="Wingdings" pitchFamily="2" charset="2"/>
              <a:buNone/>
            </a:pPr>
            <a:r>
              <a:rPr lang="en-US" altLang="en-US" sz="2400" i="1" dirty="0"/>
              <a:t>     Lists developed by data compilers</a:t>
            </a:r>
          </a:p>
          <a:p>
            <a:pPr lvl="2" algn="ctr" eaLnBrk="1" hangingPunct="1">
              <a:buFont typeface="Wingdings" pitchFamily="2" charset="2"/>
              <a:buNone/>
            </a:pPr>
            <a:r>
              <a:rPr lang="en-US" altLang="en-US" sz="2400" i="1" dirty="0"/>
              <a:t>                             </a:t>
            </a:r>
          </a:p>
        </p:txBody>
      </p:sp>
      <p:sp>
        <p:nvSpPr>
          <p:cNvPr id="4" name="Content Placeholder 2"/>
          <p:cNvSpPr txBox="1">
            <a:spLocks/>
          </p:cNvSpPr>
          <p:nvPr/>
        </p:nvSpPr>
        <p:spPr>
          <a:xfrm>
            <a:off x="1524000" y="1888594"/>
            <a:ext cx="8915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SAMPLING FRAME</a:t>
            </a:r>
            <a:r>
              <a:rPr lang="en-US" sz="3600" b="1" dirty="0">
                <a:solidFill>
                  <a:schemeClr val="tx2"/>
                </a:solidFill>
                <a:highlight>
                  <a:srgbClr val="FFFF00"/>
                </a:highlight>
              </a:rPr>
              <a:t>*</a:t>
            </a:r>
          </a:p>
          <a:p>
            <a:pPr marL="457200" lvl="1" indent="0">
              <a:buNone/>
            </a:pPr>
            <a:r>
              <a:rPr lang="en-US" dirty="0"/>
              <a:t>The </a:t>
            </a:r>
            <a:r>
              <a:rPr lang="en-US" sz="3200" b="1" u="sng" dirty="0"/>
              <a:t>list</a:t>
            </a:r>
            <a:r>
              <a:rPr lang="en-US" dirty="0"/>
              <a:t> of population elements from which a sample will be drawn; the list could consist of geographic areas, institutions, individuals, or other units.</a:t>
            </a:r>
          </a:p>
        </p:txBody>
      </p:sp>
    </p:spTree>
    <p:extLst>
      <p:ext uri="{BB962C8B-B14F-4D97-AF65-F5344CB8AC3E}">
        <p14:creationId xmlns:p14="http://schemas.microsoft.com/office/powerpoint/2010/main" val="705865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990600" y="760155"/>
            <a:ext cx="8229023" cy="1144845"/>
          </a:xfrm>
        </p:spPr>
        <p:txBody>
          <a:bodyPr/>
          <a:lstStyle/>
          <a:p>
            <a:pPr eaLnBrk="1" hangingPunct="1"/>
            <a:r>
              <a:rPr lang="en-US" altLang="en-US" sz="3700" b="1" i="1" dirty="0">
                <a:solidFill>
                  <a:schemeClr val="tx2"/>
                </a:solidFill>
              </a:rPr>
              <a:t>STEP 3:</a:t>
            </a:r>
            <a:r>
              <a:rPr lang="en-US" altLang="en-US" sz="3700" dirty="0"/>
              <a:t> Select a Sampling Procedure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4032" y="1905000"/>
            <a:ext cx="8579169"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2682715" y="5867401"/>
            <a:ext cx="6781800" cy="83099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400" dirty="0"/>
              <a:t>What kind of sample are you going to be using for your projects in this class?</a:t>
            </a:r>
          </a:p>
        </p:txBody>
      </p:sp>
    </p:spTree>
    <p:extLst>
      <p:ext uri="{BB962C8B-B14F-4D97-AF65-F5344CB8AC3E}">
        <p14:creationId xmlns:p14="http://schemas.microsoft.com/office/powerpoint/2010/main" val="2714319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Nonprobability Sample</a:t>
            </a:r>
            <a:r>
              <a:rPr lang="en-US" sz="4400" b="1" dirty="0">
                <a:solidFill>
                  <a:schemeClr val="tx2"/>
                </a:solidFill>
                <a:highlight>
                  <a:srgbClr val="FFFF00"/>
                </a:highlight>
              </a:rPr>
              <a:t>*</a:t>
            </a:r>
            <a:endParaRPr lang="en-US" dirty="0"/>
          </a:p>
        </p:txBody>
      </p:sp>
      <p:sp>
        <p:nvSpPr>
          <p:cNvPr id="18435" name="Rectangle 3"/>
          <p:cNvSpPr>
            <a:spLocks noGrp="1" noChangeArrowheads="1"/>
          </p:cNvSpPr>
          <p:nvPr>
            <p:ph idx="4294967295"/>
          </p:nvPr>
        </p:nvSpPr>
        <p:spPr>
          <a:xfrm>
            <a:off x="1828800" y="3362695"/>
            <a:ext cx="7620000" cy="1136650"/>
          </a:xfrm>
        </p:spPr>
        <p:style>
          <a:lnRef idx="2">
            <a:schemeClr val="accent2">
              <a:shade val="50000"/>
            </a:schemeClr>
          </a:lnRef>
          <a:fillRef idx="1">
            <a:schemeClr val="accent2"/>
          </a:fillRef>
          <a:effectRef idx="0">
            <a:schemeClr val="accent2"/>
          </a:effectRef>
          <a:fontRef idx="minor">
            <a:schemeClr val="lt1"/>
          </a:fontRef>
        </p:style>
        <p:txBody>
          <a:bodyPr/>
          <a:lstStyle/>
          <a:p>
            <a:pPr marL="457200" lvl="1" indent="0">
              <a:buNone/>
            </a:pPr>
            <a:r>
              <a:rPr lang="en-US" altLang="en-US" sz="2400" i="1" dirty="0"/>
              <a:t>With nonprobability samples, sampling error cannot be estimated and we cannot calculate the margin of sampling error.</a:t>
            </a:r>
          </a:p>
          <a:p>
            <a:pPr lvl="1" eaLnBrk="1" hangingPunct="1"/>
            <a:endParaRPr lang="en-US" altLang="en-US" dirty="0"/>
          </a:p>
        </p:txBody>
      </p:sp>
      <p:sp>
        <p:nvSpPr>
          <p:cNvPr id="114692" name="Text Box 4"/>
          <p:cNvSpPr txBox="1">
            <a:spLocks noChangeArrowheads="1"/>
          </p:cNvSpPr>
          <p:nvPr/>
        </p:nvSpPr>
        <p:spPr bwMode="auto">
          <a:xfrm>
            <a:off x="4141700" y="4953000"/>
            <a:ext cx="4539096" cy="1390480"/>
          </a:xfrm>
          <a:prstGeom prst="rect">
            <a:avLst/>
          </a:prstGeom>
          <a:noFill/>
          <a:ln w="12700">
            <a:noFill/>
            <a:miter lim="800000"/>
            <a:headEnd/>
            <a:tailEnd/>
          </a:ln>
          <a:effectLst/>
        </p:spPr>
        <p:txBody>
          <a:bodyPr wrap="square" lIns="81633" tIns="40816" rIns="81633" bIns="40816">
            <a:spAutoFit/>
          </a:bodyPr>
          <a:lstStyle/>
          <a:p>
            <a:pPr marL="342900" indent="-342900">
              <a:lnSpc>
                <a:spcPct val="80000"/>
              </a:lnSpc>
              <a:spcBef>
                <a:spcPct val="50000"/>
              </a:spcBef>
              <a:buFont typeface="Arial" panose="020B0604020202020204" pitchFamily="34" charset="0"/>
              <a:buChar char="•"/>
              <a:defRPr/>
            </a:pPr>
            <a:r>
              <a:rPr lang="en-US" sz="2500" dirty="0"/>
              <a:t>Convenience</a:t>
            </a:r>
          </a:p>
          <a:p>
            <a:pPr marL="342900" indent="-342900">
              <a:lnSpc>
                <a:spcPct val="80000"/>
              </a:lnSpc>
              <a:spcBef>
                <a:spcPct val="50000"/>
              </a:spcBef>
              <a:buFont typeface="Arial" panose="020B0604020202020204" pitchFamily="34" charset="0"/>
              <a:buChar char="•"/>
              <a:defRPr/>
            </a:pPr>
            <a:r>
              <a:rPr lang="en-US" sz="2500" dirty="0"/>
              <a:t>Judgment (e.g., snowball)</a:t>
            </a:r>
          </a:p>
          <a:p>
            <a:pPr marL="342900" indent="-342900">
              <a:lnSpc>
                <a:spcPct val="80000"/>
              </a:lnSpc>
              <a:spcBef>
                <a:spcPct val="50000"/>
              </a:spcBef>
              <a:buFont typeface="Arial" panose="020B0604020202020204" pitchFamily="34" charset="0"/>
              <a:buChar char="•"/>
              <a:defRPr/>
            </a:pPr>
            <a:r>
              <a:rPr lang="en-US" sz="2500" dirty="0"/>
              <a:t>Quota</a:t>
            </a:r>
          </a:p>
        </p:txBody>
      </p:sp>
      <p:sp>
        <p:nvSpPr>
          <p:cNvPr id="5" name="Content Placeholder 2"/>
          <p:cNvSpPr txBox="1">
            <a:spLocks/>
          </p:cNvSpPr>
          <p:nvPr/>
        </p:nvSpPr>
        <p:spPr>
          <a:xfrm>
            <a:off x="1676400" y="2084832"/>
            <a:ext cx="7391400" cy="10219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A sample that relies on personal judgment in the element selection process.</a:t>
            </a:r>
          </a:p>
        </p:txBody>
      </p:sp>
    </p:spTree>
    <p:extLst>
      <p:ext uri="{BB962C8B-B14F-4D97-AF65-F5344CB8AC3E}">
        <p14:creationId xmlns:p14="http://schemas.microsoft.com/office/powerpoint/2010/main" val="4283476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838200" y="2514600"/>
            <a:ext cx="9601200" cy="1854428"/>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A nonprobability sample in which population elements are included in the sample because they were readily available.</a:t>
            </a:r>
          </a:p>
        </p:txBody>
      </p:sp>
      <p:sp>
        <p:nvSpPr>
          <p:cNvPr id="3" name="Rectangle 3"/>
          <p:cNvSpPr txBox="1">
            <a:spLocks noChangeArrowheads="1"/>
          </p:cNvSpPr>
          <p:nvPr/>
        </p:nvSpPr>
        <p:spPr>
          <a:xfrm>
            <a:off x="1371600" y="3962400"/>
            <a:ext cx="9372600" cy="2312905"/>
          </a:xfrm>
          <a:prstGeom prst="rect">
            <a:avLst/>
          </a:prstGeom>
        </p:spPr>
        <p:txBody>
          <a:bodyPr lIns="92063" tIns="46032" rIns="92063" bIns="46032"/>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06191" lvl="1" indent="-306141"/>
            <a:r>
              <a:rPr lang="en-US" altLang="en-US" sz="2100" i="1" dirty="0"/>
              <a:t>Sometimes referred to as “accidental” sampling; population elements are sampled simply because they are in the right place at the right time.</a:t>
            </a:r>
          </a:p>
          <a:p>
            <a:pPr marL="706191" lvl="1" indent="-306141"/>
            <a:r>
              <a:rPr lang="en-US" altLang="en-US" sz="2100" i="1" dirty="0"/>
              <a:t>easy to conduct, but no way to know if sample is representative of the population (i.e., cannot statistically assess sampling error).</a:t>
            </a:r>
          </a:p>
        </p:txBody>
      </p:sp>
      <p:sp>
        <p:nvSpPr>
          <p:cNvPr id="4" name="Title 3"/>
          <p:cNvSpPr>
            <a:spLocks noGrp="1"/>
          </p:cNvSpPr>
          <p:nvPr>
            <p:ph type="title"/>
          </p:nvPr>
        </p:nvSpPr>
        <p:spPr/>
        <p:txBody>
          <a:bodyPr/>
          <a:lstStyle/>
          <a:p>
            <a:r>
              <a:rPr lang="en-US" dirty="0"/>
              <a:t>Convenience Sample</a:t>
            </a:r>
            <a:r>
              <a:rPr lang="en-US" sz="4400" b="1" dirty="0">
                <a:solidFill>
                  <a:schemeClr val="tx2"/>
                </a:solidFill>
                <a:highlight>
                  <a:srgbClr val="FFFF00"/>
                </a:highlight>
              </a:rPr>
              <a:t>*</a:t>
            </a:r>
            <a:endParaRPr lang="en-US" dirty="0"/>
          </a:p>
        </p:txBody>
      </p:sp>
    </p:spTree>
    <p:extLst>
      <p:ext uri="{BB962C8B-B14F-4D97-AF65-F5344CB8AC3E}">
        <p14:creationId xmlns:p14="http://schemas.microsoft.com/office/powerpoint/2010/main" val="14058261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838200" y="2590800"/>
            <a:ext cx="10058400" cy="16315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A nonprobability sample in which the sample elements are handpicked because they are expected to serve the research purpose.</a:t>
            </a:r>
          </a:p>
        </p:txBody>
      </p:sp>
      <p:sp>
        <p:nvSpPr>
          <p:cNvPr id="3" name="Rectangle 3"/>
          <p:cNvSpPr txBox="1">
            <a:spLocks noChangeArrowheads="1"/>
          </p:cNvSpPr>
          <p:nvPr/>
        </p:nvSpPr>
        <p:spPr>
          <a:xfrm>
            <a:off x="1295400" y="4267200"/>
            <a:ext cx="9677400" cy="2192788"/>
          </a:xfrm>
          <a:prstGeom prst="rect">
            <a:avLst/>
          </a:prstGeom>
        </p:spPr>
        <p:txBody>
          <a:bodyPr lIns="92063" tIns="46032" rIns="92063" bIns="46032"/>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06191" lvl="1" indent="-306141"/>
            <a:r>
              <a:rPr lang="en-US" altLang="en-US" sz="2400" i="1" dirty="0"/>
              <a:t>the researcher may believe that the sample elements are representative of the larger population or that they can offer the information needed</a:t>
            </a:r>
          </a:p>
        </p:txBody>
      </p:sp>
      <p:sp>
        <p:nvSpPr>
          <p:cNvPr id="4" name="Title 3"/>
          <p:cNvSpPr>
            <a:spLocks noGrp="1"/>
          </p:cNvSpPr>
          <p:nvPr>
            <p:ph type="title"/>
          </p:nvPr>
        </p:nvSpPr>
        <p:spPr/>
        <p:txBody>
          <a:bodyPr/>
          <a:lstStyle/>
          <a:p>
            <a:r>
              <a:rPr lang="en-US" dirty="0"/>
              <a:t>Judgment Sample</a:t>
            </a:r>
            <a:r>
              <a:rPr lang="en-US" sz="4400" b="1" dirty="0">
                <a:solidFill>
                  <a:schemeClr val="tx2"/>
                </a:solidFill>
                <a:highlight>
                  <a:srgbClr val="FFFF00"/>
                </a:highlight>
              </a:rPr>
              <a:t> *</a:t>
            </a:r>
            <a:endParaRPr lang="en-US" dirty="0"/>
          </a:p>
        </p:txBody>
      </p:sp>
    </p:spTree>
    <p:extLst>
      <p:ext uri="{BB962C8B-B14F-4D97-AF65-F5344CB8AC3E}">
        <p14:creationId xmlns:p14="http://schemas.microsoft.com/office/powerpoint/2010/main" val="132759616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07964" y="2588826"/>
            <a:ext cx="9583836" cy="16315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A nonprobability sample chosen so that the proportion of sample elements with certain characteristics is about the same as the proportion of the elements with the characteristics in the target population.</a:t>
            </a:r>
          </a:p>
        </p:txBody>
      </p:sp>
      <p:sp>
        <p:nvSpPr>
          <p:cNvPr id="3" name="Rectangle 3"/>
          <p:cNvSpPr txBox="1">
            <a:spLocks noChangeArrowheads="1"/>
          </p:cNvSpPr>
          <p:nvPr/>
        </p:nvSpPr>
        <p:spPr>
          <a:xfrm>
            <a:off x="1024128" y="4724400"/>
            <a:ext cx="10177272" cy="990600"/>
          </a:xfrm>
          <a:prstGeom prst="rect">
            <a:avLst/>
          </a:prstGeom>
        </p:spPr>
        <p:txBody>
          <a:bodyPr lIns="92063" tIns="46032" rIns="92063" bIns="46032"/>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06191" lvl="1" indent="-306141"/>
            <a:r>
              <a:rPr lang="en-US" altLang="en-US" sz="2100" i="1" dirty="0"/>
              <a:t>a “quota” representing these characteristics is established (e.g., 25 males between the ages of 20 and 29; 25 females between the ages of 20 and 29; 35 males between the ages of 30 and 39; etc.) so that when the sample is complete it will mirror the population on the key characteristics</a:t>
            </a:r>
          </a:p>
        </p:txBody>
      </p:sp>
      <p:sp>
        <p:nvSpPr>
          <p:cNvPr id="4" name="Title 3"/>
          <p:cNvSpPr>
            <a:spLocks noGrp="1"/>
          </p:cNvSpPr>
          <p:nvPr>
            <p:ph type="title"/>
          </p:nvPr>
        </p:nvSpPr>
        <p:spPr/>
        <p:txBody>
          <a:bodyPr/>
          <a:lstStyle/>
          <a:p>
            <a:r>
              <a:rPr lang="en-US" dirty="0"/>
              <a:t>Quota Sample</a:t>
            </a:r>
            <a:r>
              <a:rPr lang="en-US" sz="4400" b="1" dirty="0">
                <a:solidFill>
                  <a:schemeClr val="tx2"/>
                </a:solidFill>
                <a:highlight>
                  <a:srgbClr val="FFFF00"/>
                </a:highlight>
              </a:rPr>
              <a:t> *</a:t>
            </a:r>
            <a:endParaRPr lang="en-US" dirty="0"/>
          </a:p>
        </p:txBody>
      </p:sp>
    </p:spTree>
    <p:extLst>
      <p:ext uri="{BB962C8B-B14F-4D97-AF65-F5344CB8AC3E}">
        <p14:creationId xmlns:p14="http://schemas.microsoft.com/office/powerpoint/2010/main" val="9430920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143000" y="705660"/>
            <a:ext cx="7941830" cy="1144845"/>
          </a:xfrm>
          <a:noFill/>
        </p:spPr>
        <p:txBody>
          <a:bodyPr vert="horz" lIns="92063" tIns="46032" rIns="92063" bIns="46032" rtlCol="0" anchor="ctr">
            <a:normAutofit/>
          </a:bodyPr>
          <a:lstStyle/>
          <a:p>
            <a:pPr eaLnBrk="1" hangingPunct="1"/>
            <a:r>
              <a:rPr lang="en-US" altLang="en-US" sz="3200" b="1" i="1" dirty="0"/>
              <a:t>Quota Sampling Example</a:t>
            </a:r>
          </a:p>
        </p:txBody>
      </p:sp>
      <p:sp>
        <p:nvSpPr>
          <p:cNvPr id="22531" name="Rectangle 3"/>
          <p:cNvSpPr>
            <a:spLocks noGrp="1" noChangeArrowheads="1"/>
          </p:cNvSpPr>
          <p:nvPr>
            <p:ph idx="1"/>
          </p:nvPr>
        </p:nvSpPr>
        <p:spPr>
          <a:xfrm>
            <a:off x="2362200" y="2362200"/>
            <a:ext cx="7800397" cy="3733554"/>
          </a:xfrm>
        </p:spPr>
        <p:txBody>
          <a:bodyPr vert="horz" lIns="92063" tIns="46032" rIns="92063" bIns="46032" rtlCol="0">
            <a:normAutofit/>
          </a:bodyPr>
          <a:lstStyle/>
          <a:p>
            <a:pPr marL="306141" indent="-306141"/>
            <a:r>
              <a:rPr lang="en-US" altLang="en-US" sz="2500" b="1" i="1" dirty="0"/>
              <a:t>Research Problem:</a:t>
            </a:r>
            <a:r>
              <a:rPr lang="en-US" altLang="en-US" sz="2500" b="1" dirty="0"/>
              <a:t>  </a:t>
            </a:r>
            <a:r>
              <a:rPr lang="en-US" altLang="en-US" sz="2500" dirty="0"/>
              <a:t>Investigate undergraduate student attitudes toward controversial technology fee.</a:t>
            </a:r>
          </a:p>
          <a:p>
            <a:pPr marL="663306" lvl="1" indent="-255118"/>
            <a:r>
              <a:rPr lang="en-US" altLang="en-US" sz="2300" dirty="0"/>
              <a:t>Known population parameters:  </a:t>
            </a:r>
            <a:r>
              <a:rPr lang="en-US" altLang="en-US" sz="2300" dirty="0">
                <a:solidFill>
                  <a:srgbClr val="CC0000"/>
                </a:solidFill>
              </a:rPr>
              <a:t>class </a:t>
            </a:r>
            <a:r>
              <a:rPr lang="en-US" altLang="en-US" sz="2300" dirty="0"/>
              <a:t>(30% FR, 20% SO, 30% JR, 20% SR) and </a:t>
            </a:r>
            <a:r>
              <a:rPr lang="en-US" altLang="en-US" sz="2300" dirty="0">
                <a:solidFill>
                  <a:srgbClr val="CC0000"/>
                </a:solidFill>
              </a:rPr>
              <a:t>gender</a:t>
            </a:r>
            <a:r>
              <a:rPr lang="en-US" altLang="en-US" sz="2300" dirty="0"/>
              <a:t> (50% male, 50% female)</a:t>
            </a:r>
          </a:p>
          <a:p>
            <a:pPr marL="663306" lvl="1" indent="-255118"/>
            <a:r>
              <a:rPr lang="en-US" altLang="en-US" sz="2300" dirty="0"/>
              <a:t>10 students will interview 10 friends each</a:t>
            </a:r>
          </a:p>
          <a:p>
            <a:pPr marL="663306" lvl="1" indent="-255118">
              <a:buNone/>
            </a:pPr>
            <a:r>
              <a:rPr lang="en-US" altLang="en-US" sz="2300" dirty="0"/>
              <a:t>			</a:t>
            </a:r>
          </a:p>
          <a:p>
            <a:pPr marL="663306" lvl="1" indent="-255118">
              <a:buNone/>
            </a:pPr>
            <a:r>
              <a:rPr lang="en-US" altLang="en-US" sz="2300" b="1" i="1" dirty="0"/>
              <a:t>			What should be the composition (class and 			gender) of those 100 students?</a:t>
            </a:r>
          </a:p>
        </p:txBody>
      </p:sp>
      <p:pic>
        <p:nvPicPr>
          <p:cNvPr id="22532" name="Picture 4" descr="C:\Documents and Settings\tomb\Local Settings\Temporary Internet Files\Content.IE5\ELLOOPLA\MCj0441498000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0400" y="4419600"/>
            <a:ext cx="1039091" cy="996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770021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1143000" y="760156"/>
            <a:ext cx="7941830" cy="1144845"/>
          </a:xfrm>
          <a:noFill/>
        </p:spPr>
        <p:txBody>
          <a:bodyPr vert="horz" lIns="92063" tIns="46032" rIns="92063" bIns="46032" rtlCol="0" anchor="ctr">
            <a:normAutofit/>
          </a:bodyPr>
          <a:lstStyle/>
          <a:p>
            <a:pPr eaLnBrk="1" hangingPunct="1"/>
            <a:r>
              <a:rPr lang="en-US" altLang="en-US" sz="3200" b="1" i="1" dirty="0"/>
              <a:t>Quota Sampling Example</a:t>
            </a:r>
          </a:p>
        </p:txBody>
      </p:sp>
      <p:sp>
        <p:nvSpPr>
          <p:cNvPr id="23555" name="Rectangle 3"/>
          <p:cNvSpPr>
            <a:spLocks noGrp="1" noChangeArrowheads="1"/>
          </p:cNvSpPr>
          <p:nvPr>
            <p:ph idx="1"/>
          </p:nvPr>
        </p:nvSpPr>
        <p:spPr>
          <a:xfrm>
            <a:off x="2424545" y="2057401"/>
            <a:ext cx="7620000" cy="3733553"/>
          </a:xfrm>
        </p:spPr>
        <p:txBody>
          <a:bodyPr>
            <a:normAutofit/>
          </a:bodyPr>
          <a:lstStyle/>
          <a:p>
            <a:pPr eaLnBrk="1" hangingPunct="1">
              <a:lnSpc>
                <a:spcPct val="90000"/>
              </a:lnSpc>
              <a:buFontTx/>
              <a:buNone/>
            </a:pPr>
            <a:endParaRPr lang="en-US" altLang="en-US" dirty="0"/>
          </a:p>
          <a:p>
            <a:pPr lvl="1" eaLnBrk="1" hangingPunct="1">
              <a:lnSpc>
                <a:spcPct val="90000"/>
              </a:lnSpc>
            </a:pPr>
            <a:r>
              <a:rPr lang="en-US" altLang="en-US" sz="2500" dirty="0"/>
              <a:t>15 FR men</a:t>
            </a:r>
          </a:p>
          <a:p>
            <a:pPr lvl="1" eaLnBrk="1" hangingPunct="1">
              <a:lnSpc>
                <a:spcPct val="90000"/>
              </a:lnSpc>
            </a:pPr>
            <a:r>
              <a:rPr lang="en-US" altLang="en-US" sz="2500" dirty="0"/>
              <a:t>15 FR women</a:t>
            </a:r>
          </a:p>
          <a:p>
            <a:pPr lvl="1" eaLnBrk="1" hangingPunct="1">
              <a:lnSpc>
                <a:spcPct val="90000"/>
              </a:lnSpc>
            </a:pPr>
            <a:r>
              <a:rPr lang="en-US" altLang="en-US" sz="2500" dirty="0"/>
              <a:t>10 SO men</a:t>
            </a:r>
          </a:p>
          <a:p>
            <a:pPr lvl="1" eaLnBrk="1" hangingPunct="1">
              <a:lnSpc>
                <a:spcPct val="90000"/>
              </a:lnSpc>
            </a:pPr>
            <a:r>
              <a:rPr lang="en-US" altLang="en-US" sz="2500" dirty="0"/>
              <a:t>10 SO women</a:t>
            </a:r>
          </a:p>
          <a:p>
            <a:pPr lvl="1" eaLnBrk="1" hangingPunct="1">
              <a:lnSpc>
                <a:spcPct val="90000"/>
              </a:lnSpc>
            </a:pPr>
            <a:r>
              <a:rPr lang="en-US" altLang="en-US" sz="2500" dirty="0"/>
              <a:t>15 JR men</a:t>
            </a:r>
          </a:p>
          <a:p>
            <a:pPr lvl="1" eaLnBrk="1" hangingPunct="1">
              <a:lnSpc>
                <a:spcPct val="90000"/>
              </a:lnSpc>
            </a:pPr>
            <a:r>
              <a:rPr lang="en-US" altLang="en-US" sz="2500" dirty="0"/>
              <a:t>15 JR women</a:t>
            </a:r>
          </a:p>
          <a:p>
            <a:pPr lvl="1" eaLnBrk="1" hangingPunct="1">
              <a:lnSpc>
                <a:spcPct val="90000"/>
              </a:lnSpc>
            </a:pPr>
            <a:r>
              <a:rPr lang="en-US" altLang="en-US" sz="2500" dirty="0"/>
              <a:t>10 SR men</a:t>
            </a:r>
          </a:p>
          <a:p>
            <a:pPr lvl="1" eaLnBrk="1" hangingPunct="1">
              <a:lnSpc>
                <a:spcPct val="90000"/>
              </a:lnSpc>
            </a:pPr>
            <a:r>
              <a:rPr lang="en-US" altLang="en-US" sz="2500" dirty="0"/>
              <a:t>10 SR women</a:t>
            </a:r>
          </a:p>
        </p:txBody>
      </p:sp>
      <p:sp>
        <p:nvSpPr>
          <p:cNvPr id="23556" name="AutoShape 5"/>
          <p:cNvSpPr>
            <a:spLocks/>
          </p:cNvSpPr>
          <p:nvPr/>
        </p:nvSpPr>
        <p:spPr bwMode="auto">
          <a:xfrm>
            <a:off x="5486401" y="2362200"/>
            <a:ext cx="1037647" cy="3428754"/>
          </a:xfrm>
          <a:prstGeom prst="rightBrace">
            <a:avLst>
              <a:gd name="adj1" fmla="val 29489"/>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140294" name="Text Box 6"/>
          <p:cNvSpPr txBox="1">
            <a:spLocks noChangeArrowheads="1"/>
          </p:cNvSpPr>
          <p:nvPr/>
        </p:nvSpPr>
        <p:spPr bwMode="auto">
          <a:xfrm>
            <a:off x="6858000" y="2742701"/>
            <a:ext cx="3186545" cy="2667752"/>
          </a:xfrm>
          <a:prstGeom prst="rect">
            <a:avLst/>
          </a:prstGeom>
          <a:noFill/>
          <a:ln w="38100">
            <a:solidFill>
              <a:schemeClr val="tx1"/>
            </a:solidFill>
            <a:miter lim="800000"/>
            <a:headEnd/>
            <a:tailEnd/>
          </a:ln>
          <a:effectLst/>
        </p:spPr>
        <p:txBody>
          <a:bodyPr lIns="81633" tIns="40816" rIns="81633" bIns="40816">
            <a:spAutoFit/>
          </a:bodyPr>
          <a:lstStyle/>
          <a:p>
            <a:pPr>
              <a:spcBef>
                <a:spcPct val="50000"/>
              </a:spcBef>
              <a:defRPr/>
            </a:pPr>
            <a:r>
              <a:rPr lang="en-US" sz="2100" dirty="0"/>
              <a:t>Student interviewers assigned a “quota” for which types of respondents they need. When all respondents from all interviewers combined, the numbers will match those shown on the left.</a:t>
            </a:r>
          </a:p>
        </p:txBody>
      </p:sp>
    </p:spTree>
    <p:extLst>
      <p:ext uri="{BB962C8B-B14F-4D97-AF65-F5344CB8AC3E}">
        <p14:creationId xmlns:p14="http://schemas.microsoft.com/office/powerpoint/2010/main" val="3916059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716" y="669925"/>
            <a:ext cx="9154885" cy="1325563"/>
          </a:xfrm>
        </p:spPr>
        <p:txBody>
          <a:bodyPr/>
          <a:lstStyle/>
          <a:p>
            <a:r>
              <a:rPr lang="en-US" dirty="0">
                <a:solidFill>
                  <a:srgbClr val="001541"/>
                </a:solidFill>
                <a:latin typeface="+mn-lt"/>
              </a:rPr>
              <a:t>Quick Review …</a:t>
            </a:r>
          </a:p>
        </p:txBody>
      </p:sp>
      <p:sp>
        <p:nvSpPr>
          <p:cNvPr id="3" name="Content Placeholder 2"/>
          <p:cNvSpPr>
            <a:spLocks noGrp="1"/>
          </p:cNvSpPr>
          <p:nvPr>
            <p:ph idx="1"/>
          </p:nvPr>
        </p:nvSpPr>
        <p:spPr>
          <a:xfrm>
            <a:off x="598716" y="2130425"/>
            <a:ext cx="9154885" cy="4351338"/>
          </a:xfrm>
        </p:spPr>
        <p:txBody>
          <a:bodyPr/>
          <a:lstStyle/>
          <a:p>
            <a:r>
              <a:rPr lang="en-US" dirty="0">
                <a:solidFill>
                  <a:srgbClr val="009CC8"/>
                </a:solidFill>
              </a:rPr>
              <a:t>A review of the terms relevant to Sampling:</a:t>
            </a:r>
          </a:p>
        </p:txBody>
      </p:sp>
      <p:sp>
        <p:nvSpPr>
          <p:cNvPr id="6" name="Flowchart: Manual Operation 5"/>
          <p:cNvSpPr/>
          <p:nvPr/>
        </p:nvSpPr>
        <p:spPr>
          <a:xfrm>
            <a:off x="3764902" y="2789869"/>
            <a:ext cx="2715208" cy="3032449"/>
          </a:xfrm>
          <a:prstGeom prst="flowChartManualOpe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295329" y="2930014"/>
            <a:ext cx="1199046" cy="369332"/>
          </a:xfrm>
          <a:prstGeom prst="rect">
            <a:avLst/>
          </a:prstGeom>
          <a:noFill/>
        </p:spPr>
        <p:txBody>
          <a:bodyPr wrap="none" rtlCol="0">
            <a:spAutoFit/>
          </a:bodyPr>
          <a:lstStyle/>
          <a:p>
            <a:r>
              <a:rPr lang="en-US" dirty="0"/>
              <a:t>Population</a:t>
            </a:r>
          </a:p>
        </p:txBody>
      </p:sp>
      <p:sp>
        <p:nvSpPr>
          <p:cNvPr id="8" name="TextBox 7"/>
          <p:cNvSpPr txBox="1"/>
          <p:nvPr/>
        </p:nvSpPr>
        <p:spPr>
          <a:xfrm>
            <a:off x="1978866" y="3834960"/>
            <a:ext cx="1831976" cy="369332"/>
          </a:xfrm>
          <a:prstGeom prst="rect">
            <a:avLst/>
          </a:prstGeom>
          <a:noFill/>
        </p:spPr>
        <p:txBody>
          <a:bodyPr wrap="none" rtlCol="0">
            <a:spAutoFit/>
          </a:bodyPr>
          <a:lstStyle/>
          <a:p>
            <a:r>
              <a:rPr lang="en-US" dirty="0"/>
              <a:t>Target Population</a:t>
            </a:r>
          </a:p>
        </p:txBody>
      </p:sp>
      <p:sp>
        <p:nvSpPr>
          <p:cNvPr id="9" name="TextBox 8"/>
          <p:cNvSpPr txBox="1"/>
          <p:nvPr/>
        </p:nvSpPr>
        <p:spPr>
          <a:xfrm>
            <a:off x="2050680" y="4593855"/>
            <a:ext cx="1688347" cy="369332"/>
          </a:xfrm>
          <a:prstGeom prst="rect">
            <a:avLst/>
          </a:prstGeom>
          <a:noFill/>
        </p:spPr>
        <p:txBody>
          <a:bodyPr wrap="none" rtlCol="0">
            <a:spAutoFit/>
          </a:bodyPr>
          <a:lstStyle/>
          <a:p>
            <a:r>
              <a:rPr lang="en-US" dirty="0"/>
              <a:t>Sampling Frame</a:t>
            </a:r>
          </a:p>
        </p:txBody>
      </p:sp>
      <p:sp>
        <p:nvSpPr>
          <p:cNvPr id="10" name="TextBox 9"/>
          <p:cNvSpPr txBox="1"/>
          <p:nvPr/>
        </p:nvSpPr>
        <p:spPr>
          <a:xfrm>
            <a:off x="2457072" y="5207485"/>
            <a:ext cx="875561" cy="369332"/>
          </a:xfrm>
          <a:prstGeom prst="rect">
            <a:avLst/>
          </a:prstGeom>
          <a:noFill/>
        </p:spPr>
        <p:txBody>
          <a:bodyPr wrap="none" rtlCol="0">
            <a:spAutoFit/>
          </a:bodyPr>
          <a:lstStyle/>
          <a:p>
            <a:r>
              <a:rPr lang="en-US" dirty="0"/>
              <a:t>Sample</a:t>
            </a:r>
          </a:p>
        </p:txBody>
      </p:sp>
      <p:sp>
        <p:nvSpPr>
          <p:cNvPr id="11" name="TextBox 10"/>
          <p:cNvSpPr txBox="1"/>
          <p:nvPr/>
        </p:nvSpPr>
        <p:spPr>
          <a:xfrm>
            <a:off x="6750634" y="2915193"/>
            <a:ext cx="2691945" cy="784830"/>
          </a:xfrm>
          <a:prstGeom prst="rect">
            <a:avLst/>
          </a:prstGeom>
          <a:noFill/>
        </p:spPr>
        <p:txBody>
          <a:bodyPr wrap="square" rtlCol="0">
            <a:spAutoFit/>
          </a:bodyPr>
          <a:lstStyle/>
          <a:p>
            <a:r>
              <a:rPr lang="en-US" sz="1500" dirty="0"/>
              <a:t>Aggregation of individuals and groups you wish to study (i.e., Total US, etc.)</a:t>
            </a:r>
          </a:p>
        </p:txBody>
      </p:sp>
      <p:sp>
        <p:nvSpPr>
          <p:cNvPr id="12" name="TextBox 11"/>
          <p:cNvSpPr txBox="1"/>
          <p:nvPr/>
        </p:nvSpPr>
        <p:spPr>
          <a:xfrm>
            <a:off x="6750635" y="3834960"/>
            <a:ext cx="2691945" cy="553998"/>
          </a:xfrm>
          <a:prstGeom prst="rect">
            <a:avLst/>
          </a:prstGeom>
          <a:noFill/>
        </p:spPr>
        <p:txBody>
          <a:bodyPr wrap="square" rtlCol="0">
            <a:spAutoFit/>
          </a:bodyPr>
          <a:lstStyle/>
          <a:p>
            <a:r>
              <a:rPr lang="en-US" sz="1500" dirty="0"/>
              <a:t>Group you are seeking to understand (Census).</a:t>
            </a:r>
          </a:p>
        </p:txBody>
      </p:sp>
      <p:sp>
        <p:nvSpPr>
          <p:cNvPr id="13" name="TextBox 12"/>
          <p:cNvSpPr txBox="1"/>
          <p:nvPr/>
        </p:nvSpPr>
        <p:spPr>
          <a:xfrm>
            <a:off x="6750633" y="4600060"/>
            <a:ext cx="2691945" cy="323165"/>
          </a:xfrm>
          <a:prstGeom prst="rect">
            <a:avLst/>
          </a:prstGeom>
          <a:noFill/>
        </p:spPr>
        <p:txBody>
          <a:bodyPr wrap="square" rtlCol="0">
            <a:spAutoFit/>
          </a:bodyPr>
          <a:lstStyle/>
          <a:p>
            <a:r>
              <a:rPr lang="en-US" sz="1500" dirty="0"/>
              <a:t>Group you have access to.</a:t>
            </a:r>
          </a:p>
        </p:txBody>
      </p:sp>
      <p:sp>
        <p:nvSpPr>
          <p:cNvPr id="14" name="TextBox 13"/>
          <p:cNvSpPr txBox="1"/>
          <p:nvPr/>
        </p:nvSpPr>
        <p:spPr>
          <a:xfrm>
            <a:off x="6770883" y="5207485"/>
            <a:ext cx="2691945" cy="323165"/>
          </a:xfrm>
          <a:prstGeom prst="rect">
            <a:avLst/>
          </a:prstGeom>
          <a:noFill/>
        </p:spPr>
        <p:txBody>
          <a:bodyPr wrap="square" rtlCol="0">
            <a:spAutoFit/>
          </a:bodyPr>
          <a:lstStyle/>
          <a:p>
            <a:r>
              <a:rPr lang="en-US" sz="1500" dirty="0"/>
              <a:t>Who is in your study?</a:t>
            </a:r>
          </a:p>
        </p:txBody>
      </p:sp>
      <p:cxnSp>
        <p:nvCxnSpPr>
          <p:cNvPr id="16" name="Straight Connector 15"/>
          <p:cNvCxnSpPr/>
          <p:nvPr/>
        </p:nvCxnSpPr>
        <p:spPr>
          <a:xfrm>
            <a:off x="3909527" y="3629608"/>
            <a:ext cx="2416628"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4061927" y="4423280"/>
            <a:ext cx="216074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4204007" y="5207485"/>
            <a:ext cx="1864284" cy="0"/>
          </a:xfrm>
          <a:prstGeom prst="line">
            <a:avLst/>
          </a:prstGeom>
          <a:ln w="38100"/>
        </p:spPr>
        <p:style>
          <a:lnRef idx="1">
            <a:schemeClr val="dk1"/>
          </a:lnRef>
          <a:fillRef idx="0">
            <a:schemeClr val="dk1"/>
          </a:fillRef>
          <a:effectRef idx="0">
            <a:schemeClr val="dk1"/>
          </a:effectRef>
          <a:fontRef idx="minor">
            <a:schemeClr val="tx1"/>
          </a:fontRef>
        </p:style>
      </p:cxnSp>
      <p:pic>
        <p:nvPicPr>
          <p:cNvPr id="22" name="Picture 21"/>
          <p:cNvPicPr>
            <a:picLocks noChangeAspect="1"/>
          </p:cNvPicPr>
          <p:nvPr/>
        </p:nvPicPr>
        <p:blipFill>
          <a:blip r:embed="rId3"/>
          <a:stretch>
            <a:fillRect/>
          </a:stretch>
        </p:blipFill>
        <p:spPr>
          <a:xfrm>
            <a:off x="4650033" y="2982869"/>
            <a:ext cx="935615" cy="499807"/>
          </a:xfrm>
          <a:prstGeom prst="rect">
            <a:avLst/>
          </a:prstGeom>
        </p:spPr>
      </p:pic>
      <p:pic>
        <p:nvPicPr>
          <p:cNvPr id="25" name="Picture 24"/>
          <p:cNvPicPr>
            <a:picLocks noChangeAspect="1"/>
          </p:cNvPicPr>
          <p:nvPr/>
        </p:nvPicPr>
        <p:blipFill rotWithShape="1">
          <a:blip r:embed="rId4"/>
          <a:srcRect t="14644" b="11960"/>
          <a:stretch/>
        </p:blipFill>
        <p:spPr>
          <a:xfrm>
            <a:off x="4530125" y="3650118"/>
            <a:ext cx="1321733" cy="749451"/>
          </a:xfrm>
          <a:prstGeom prst="rect">
            <a:avLst/>
          </a:prstGeom>
        </p:spPr>
      </p:pic>
      <p:pic>
        <p:nvPicPr>
          <p:cNvPr id="26" name="Picture 25"/>
          <p:cNvPicPr>
            <a:picLocks noChangeAspect="1"/>
          </p:cNvPicPr>
          <p:nvPr/>
        </p:nvPicPr>
        <p:blipFill>
          <a:blip r:embed="rId5"/>
          <a:stretch>
            <a:fillRect/>
          </a:stretch>
        </p:blipFill>
        <p:spPr>
          <a:xfrm>
            <a:off x="4643385" y="4494538"/>
            <a:ext cx="1065546" cy="712947"/>
          </a:xfrm>
          <a:prstGeom prst="rect">
            <a:avLst/>
          </a:prstGeom>
        </p:spPr>
      </p:pic>
      <p:pic>
        <p:nvPicPr>
          <p:cNvPr id="27" name="Picture 26"/>
          <p:cNvPicPr>
            <a:picLocks noChangeAspect="1"/>
          </p:cNvPicPr>
          <p:nvPr/>
        </p:nvPicPr>
        <p:blipFill>
          <a:blip r:embed="rId6"/>
          <a:stretch>
            <a:fillRect/>
          </a:stretch>
        </p:blipFill>
        <p:spPr>
          <a:xfrm>
            <a:off x="4916387" y="5242742"/>
            <a:ext cx="586136" cy="586136"/>
          </a:xfrm>
          <a:prstGeom prst="rect">
            <a:avLst/>
          </a:prstGeom>
        </p:spPr>
      </p:pic>
      <p:sp>
        <p:nvSpPr>
          <p:cNvPr id="28" name="TextBox 27"/>
          <p:cNvSpPr txBox="1"/>
          <p:nvPr/>
        </p:nvSpPr>
        <p:spPr>
          <a:xfrm>
            <a:off x="391886" y="6602681"/>
            <a:ext cx="3034805" cy="261610"/>
          </a:xfrm>
          <a:prstGeom prst="rect">
            <a:avLst/>
          </a:prstGeom>
          <a:noFill/>
        </p:spPr>
        <p:txBody>
          <a:bodyPr wrap="none" rtlCol="0">
            <a:spAutoFit/>
          </a:bodyPr>
          <a:lstStyle/>
          <a:p>
            <a:r>
              <a:rPr lang="en-US" sz="1100" dirty="0"/>
              <a:t>Source:  Borrowed from University of Washington</a:t>
            </a:r>
          </a:p>
        </p:txBody>
      </p:sp>
    </p:spTree>
    <p:extLst>
      <p:ext uri="{BB962C8B-B14F-4D97-AF65-F5344CB8AC3E}">
        <p14:creationId xmlns:p14="http://schemas.microsoft.com/office/powerpoint/2010/main" val="5433062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36371" y="3529533"/>
            <a:ext cx="7848600" cy="1143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4"/>
          <p:cNvSpPr txBox="1">
            <a:spLocks noChangeArrowheads="1"/>
          </p:cNvSpPr>
          <p:nvPr/>
        </p:nvSpPr>
        <p:spPr bwMode="auto">
          <a:xfrm>
            <a:off x="4114800" y="4620758"/>
            <a:ext cx="4539096" cy="1929089"/>
          </a:xfrm>
          <a:prstGeom prst="rect">
            <a:avLst/>
          </a:prstGeom>
          <a:noFill/>
          <a:ln w="12700">
            <a:noFill/>
            <a:miter lim="800000"/>
            <a:headEnd/>
            <a:tailEnd/>
          </a:ln>
          <a:effectLst/>
        </p:spPr>
        <p:txBody>
          <a:bodyPr wrap="square" lIns="81633" tIns="40816" rIns="81633" bIns="40816">
            <a:spAutoFit/>
          </a:bodyPr>
          <a:lstStyle/>
          <a:p>
            <a:pPr marL="342900" indent="-342900">
              <a:buFont typeface="Arial" panose="020B0604020202020204" pitchFamily="34" charset="0"/>
              <a:buChar char="•"/>
              <a:defRPr/>
            </a:pPr>
            <a:r>
              <a:rPr lang="en-US" sz="2500" dirty="0"/>
              <a:t>Simple Random</a:t>
            </a:r>
          </a:p>
          <a:p>
            <a:pPr marL="342900" indent="-342900">
              <a:buFont typeface="Arial" panose="020B0604020202020204" pitchFamily="34" charset="0"/>
              <a:buChar char="•"/>
              <a:defRPr/>
            </a:pPr>
            <a:r>
              <a:rPr lang="en-US" sz="2500" dirty="0"/>
              <a:t>Systematic</a:t>
            </a:r>
          </a:p>
          <a:p>
            <a:pPr marL="342900" indent="-342900">
              <a:buFont typeface="Arial" panose="020B0604020202020204" pitchFamily="34" charset="0"/>
              <a:buChar char="•"/>
              <a:defRPr/>
            </a:pPr>
            <a:r>
              <a:rPr lang="en-US" sz="2500" dirty="0"/>
              <a:t>Stratified</a:t>
            </a:r>
          </a:p>
          <a:p>
            <a:pPr marL="342900" indent="-342900">
              <a:buFont typeface="Arial" panose="020B0604020202020204" pitchFamily="34" charset="0"/>
              <a:buChar char="•"/>
              <a:defRPr/>
            </a:pPr>
            <a:r>
              <a:rPr lang="en-US" sz="2500" dirty="0"/>
              <a:t>Cluster (including area)</a:t>
            </a:r>
          </a:p>
          <a:p>
            <a:pPr>
              <a:lnSpc>
                <a:spcPct val="80000"/>
              </a:lnSpc>
              <a:defRPr/>
            </a:pPr>
            <a:endParaRPr lang="en-US" sz="2500" dirty="0"/>
          </a:p>
        </p:txBody>
      </p:sp>
      <p:sp>
        <p:nvSpPr>
          <p:cNvPr id="5" name="Content Placeholder 2"/>
          <p:cNvSpPr txBox="1">
            <a:spLocks/>
          </p:cNvSpPr>
          <p:nvPr/>
        </p:nvSpPr>
        <p:spPr>
          <a:xfrm>
            <a:off x="2536371" y="2084832"/>
            <a:ext cx="7391400" cy="16315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A sample in which each target population element has a known, nonzero chance of being included in the sample.</a:t>
            </a:r>
          </a:p>
        </p:txBody>
      </p:sp>
      <p:sp>
        <p:nvSpPr>
          <p:cNvPr id="6" name="Rectangle 3"/>
          <p:cNvSpPr txBox="1">
            <a:spLocks noChangeArrowheads="1"/>
          </p:cNvSpPr>
          <p:nvPr/>
        </p:nvSpPr>
        <p:spPr>
          <a:xfrm>
            <a:off x="2536371" y="3491433"/>
            <a:ext cx="7391400" cy="6096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altLang="en-US" sz="2500" i="1" dirty="0"/>
              <a:t>With probability samples there is a random component to which elements are selected; sampling error can be estimated.</a:t>
            </a:r>
          </a:p>
        </p:txBody>
      </p:sp>
      <p:sp>
        <p:nvSpPr>
          <p:cNvPr id="3" name="Title 2"/>
          <p:cNvSpPr>
            <a:spLocks noGrp="1"/>
          </p:cNvSpPr>
          <p:nvPr>
            <p:ph type="title"/>
          </p:nvPr>
        </p:nvSpPr>
        <p:spPr/>
        <p:txBody>
          <a:bodyPr/>
          <a:lstStyle/>
          <a:p>
            <a:r>
              <a:rPr lang="en-US" dirty="0"/>
              <a:t>Probability Sample—</a:t>
            </a:r>
            <a:r>
              <a:rPr lang="en-US" b="1" dirty="0"/>
              <a:t>Must</a:t>
            </a:r>
            <a:r>
              <a:rPr lang="en-US" dirty="0"/>
              <a:t> Have Sampling Frame (List)</a:t>
            </a:r>
            <a:r>
              <a:rPr lang="en-US" sz="4400" b="1" dirty="0">
                <a:solidFill>
                  <a:schemeClr val="tx2"/>
                </a:solidFill>
                <a:highlight>
                  <a:srgbClr val="FFFF00"/>
                </a:highlight>
              </a:rPr>
              <a:t> *</a:t>
            </a:r>
            <a:endParaRPr lang="en-US" dirty="0"/>
          </a:p>
        </p:txBody>
      </p:sp>
    </p:spTree>
    <p:extLst>
      <p:ext uri="{BB962C8B-B14F-4D97-AF65-F5344CB8AC3E}">
        <p14:creationId xmlns:p14="http://schemas.microsoft.com/office/powerpoint/2010/main" val="181602329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2536371" y="2084831"/>
            <a:ext cx="7391400" cy="4213331"/>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A sample in which there is no way of</a:t>
            </a:r>
          </a:p>
          <a:p>
            <a:pPr marL="457200" lvl="1" indent="0">
              <a:buNone/>
            </a:pPr>
            <a:r>
              <a:rPr lang="en-US" dirty="0"/>
              <a:t>estimating the probability that each</a:t>
            </a:r>
          </a:p>
          <a:p>
            <a:pPr marL="457200" lvl="1" indent="0">
              <a:buNone/>
            </a:pPr>
            <a:r>
              <a:rPr lang="en-US" dirty="0"/>
              <a:t>participant has of being included in the</a:t>
            </a:r>
          </a:p>
          <a:p>
            <a:pPr marL="457200" lvl="1" indent="0">
              <a:buNone/>
            </a:pPr>
            <a:r>
              <a:rPr lang="en-US" dirty="0"/>
              <a:t>sample. Therefore bias is usually introduced.</a:t>
            </a:r>
          </a:p>
          <a:p>
            <a:pPr lvl="1"/>
            <a:r>
              <a:rPr lang="en-US" dirty="0"/>
              <a:t>Convenience</a:t>
            </a:r>
          </a:p>
          <a:p>
            <a:pPr lvl="1"/>
            <a:r>
              <a:rPr lang="en-US" dirty="0"/>
              <a:t>Quota</a:t>
            </a:r>
          </a:p>
          <a:p>
            <a:pPr lvl="1"/>
            <a:r>
              <a:rPr lang="en-US" dirty="0"/>
              <a:t>Judgement</a:t>
            </a:r>
          </a:p>
          <a:p>
            <a:pPr lvl="1"/>
            <a:r>
              <a:rPr lang="en-US" dirty="0"/>
              <a:t>Snowball</a:t>
            </a:r>
          </a:p>
        </p:txBody>
      </p:sp>
      <p:sp>
        <p:nvSpPr>
          <p:cNvPr id="3" name="Title 2"/>
          <p:cNvSpPr>
            <a:spLocks noGrp="1"/>
          </p:cNvSpPr>
          <p:nvPr>
            <p:ph type="title"/>
          </p:nvPr>
        </p:nvSpPr>
        <p:spPr/>
        <p:txBody>
          <a:bodyPr/>
          <a:lstStyle/>
          <a:p>
            <a:r>
              <a:rPr lang="en-US" dirty="0"/>
              <a:t>Non Probability Sample—</a:t>
            </a:r>
            <a:r>
              <a:rPr lang="en-US" b="1" dirty="0"/>
              <a:t>Must</a:t>
            </a:r>
            <a:r>
              <a:rPr lang="en-US" dirty="0"/>
              <a:t> Have Sampling Frame (List)</a:t>
            </a:r>
          </a:p>
        </p:txBody>
      </p:sp>
    </p:spTree>
    <p:extLst>
      <p:ext uri="{BB962C8B-B14F-4D97-AF65-F5344CB8AC3E}">
        <p14:creationId xmlns:p14="http://schemas.microsoft.com/office/powerpoint/2010/main" val="233274431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AutoShape 2"/>
          <p:cNvSpPr>
            <a:spLocks noChangeArrowheads="1"/>
          </p:cNvSpPr>
          <p:nvPr/>
        </p:nvSpPr>
        <p:spPr bwMode="auto">
          <a:xfrm>
            <a:off x="1974273" y="2701302"/>
            <a:ext cx="1683327" cy="1464380"/>
          </a:xfrm>
          <a:prstGeom prst="star5">
            <a:avLst/>
          </a:prstGeom>
          <a:solidFill>
            <a:srgbClr val="ECC520"/>
          </a:solidFill>
          <a:ln w="12700">
            <a:solidFill>
              <a:schemeClr val="tx1"/>
            </a:solidFill>
            <a:miter lim="800000"/>
            <a:headEnd/>
            <a:tailEnd/>
          </a:ln>
          <a:effectLst/>
        </p:spPr>
        <p:txBody>
          <a:bodyPr wrap="none" lIns="81638" tIns="40819" rIns="81638" bIns="40819" anchor="ctr"/>
          <a:lstStyle/>
          <a:p>
            <a:pPr>
              <a:defRPr/>
            </a:pPr>
            <a:endParaRPr lang="en-US"/>
          </a:p>
        </p:txBody>
      </p:sp>
      <p:sp>
        <p:nvSpPr>
          <p:cNvPr id="25603" name="Rectangle 3"/>
          <p:cNvSpPr>
            <a:spLocks noGrp="1" noChangeArrowheads="1"/>
          </p:cNvSpPr>
          <p:nvPr>
            <p:ph type="title"/>
          </p:nvPr>
        </p:nvSpPr>
        <p:spPr>
          <a:xfrm>
            <a:off x="1066800" y="649151"/>
            <a:ext cx="7959148" cy="1143461"/>
          </a:xfrm>
          <a:noFill/>
        </p:spPr>
        <p:txBody>
          <a:bodyPr vert="horz" lIns="92063" tIns="46032" rIns="92063" bIns="46032" rtlCol="0" anchor="ctr">
            <a:normAutofit/>
          </a:bodyPr>
          <a:lstStyle/>
          <a:p>
            <a:pPr eaLnBrk="1" hangingPunct="1"/>
            <a:r>
              <a:rPr lang="en-US" altLang="en-US" sz="3600" b="1" i="1" dirty="0">
                <a:solidFill>
                  <a:schemeClr val="tx2"/>
                </a:solidFill>
              </a:rPr>
              <a:t>Why Use Probability Sampling?</a:t>
            </a:r>
            <a:r>
              <a:rPr lang="en-US" sz="3600" b="1" dirty="0">
                <a:solidFill>
                  <a:schemeClr val="tx2"/>
                </a:solidFill>
                <a:highlight>
                  <a:srgbClr val="FFFF00"/>
                </a:highlight>
              </a:rPr>
              <a:t> *</a:t>
            </a:r>
            <a:endParaRPr lang="en-US" altLang="en-US" sz="3600" b="1" i="1" dirty="0">
              <a:solidFill>
                <a:schemeClr val="tx2"/>
              </a:solidFill>
            </a:endParaRPr>
          </a:p>
        </p:txBody>
      </p:sp>
      <p:sp>
        <p:nvSpPr>
          <p:cNvPr id="25604" name="Rectangle 4"/>
          <p:cNvSpPr>
            <a:spLocks noGrp="1" noChangeArrowheads="1"/>
          </p:cNvSpPr>
          <p:nvPr>
            <p:ph idx="1"/>
          </p:nvPr>
        </p:nvSpPr>
        <p:spPr>
          <a:xfrm>
            <a:off x="3657600" y="1981200"/>
            <a:ext cx="6663171" cy="4368964"/>
          </a:xfrm>
        </p:spPr>
        <p:txBody>
          <a:bodyPr vert="horz" lIns="92063" tIns="46032" rIns="92063" bIns="46032" rtlCol="0">
            <a:normAutofit/>
          </a:bodyPr>
          <a:lstStyle/>
          <a:p>
            <a:pPr marL="306141" indent="-306141">
              <a:buClr>
                <a:schemeClr val="hlink"/>
              </a:buClr>
              <a:buSzPct val="75000"/>
              <a:buFont typeface="Monotype Sorts" pitchFamily="2" charset="2"/>
              <a:buChar char=" "/>
            </a:pPr>
            <a:endParaRPr lang="en-US" altLang="en-US" dirty="0"/>
          </a:p>
          <a:p>
            <a:pPr marL="306141" indent="-306141">
              <a:buClr>
                <a:schemeClr val="hlink"/>
              </a:buClr>
              <a:buSzPct val="75000"/>
              <a:buFont typeface="Monotype Sorts" pitchFamily="2" charset="2"/>
              <a:buChar char=" "/>
            </a:pPr>
            <a:endParaRPr lang="en-US" altLang="en-US" dirty="0"/>
          </a:p>
          <a:p>
            <a:pPr marL="306141" indent="-306141">
              <a:buClr>
                <a:schemeClr val="hlink"/>
              </a:buClr>
              <a:buSzPct val="75000"/>
              <a:buFont typeface="Monotype Sorts" pitchFamily="2" charset="2"/>
              <a:buChar char=" "/>
            </a:pPr>
            <a:r>
              <a:rPr lang="en-US" altLang="en-US" sz="2900" dirty="0"/>
              <a:t>…because the analyst can statistically assess the level of sampling error and make projections to the population.</a:t>
            </a:r>
          </a:p>
          <a:p>
            <a:pPr marL="306141" indent="-306141">
              <a:buClr>
                <a:schemeClr val="hlink"/>
              </a:buClr>
              <a:buSzPct val="75000"/>
              <a:buFont typeface="Monotype Sorts" pitchFamily="2" charset="2"/>
              <a:buChar char=" "/>
            </a:pPr>
            <a:endParaRPr lang="en-US" altLang="en-US" sz="2900" dirty="0"/>
          </a:p>
          <a:p>
            <a:pPr marL="306141" indent="-306141">
              <a:buClr>
                <a:schemeClr val="hlink"/>
              </a:buClr>
              <a:buSzPct val="75000"/>
              <a:buFont typeface="Monotype Sorts" pitchFamily="2" charset="2"/>
              <a:buChar char=" "/>
            </a:pPr>
            <a:r>
              <a:rPr lang="en-US" altLang="en-US" sz="2400" b="1" i="1" dirty="0">
                <a:solidFill>
                  <a:schemeClr val="tx2"/>
                </a:solidFill>
              </a:rPr>
              <a:t>(just don’t forget that sampling error is only one kind of error… and it usually isn’t the biggest problem)</a:t>
            </a:r>
          </a:p>
          <a:p>
            <a:pPr marL="306141" indent="-306141">
              <a:buClr>
                <a:schemeClr val="hlink"/>
              </a:buClr>
              <a:buSzPct val="75000"/>
              <a:buFont typeface="Monotype Sorts" pitchFamily="2" charset="2"/>
              <a:buChar char=" "/>
            </a:pPr>
            <a:endParaRPr lang="en-US" altLang="en-US" dirty="0"/>
          </a:p>
        </p:txBody>
      </p:sp>
    </p:spTree>
    <p:extLst>
      <p:ext uri="{BB962C8B-B14F-4D97-AF65-F5344CB8AC3E}">
        <p14:creationId xmlns:p14="http://schemas.microsoft.com/office/powerpoint/2010/main" val="228939441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2188464" y="2866529"/>
            <a:ext cx="7391400" cy="16315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A probability sampling plan in which each unit included in the population has a </a:t>
            </a:r>
            <a:r>
              <a:rPr lang="en-US" u="sng" dirty="0"/>
              <a:t>known</a:t>
            </a:r>
            <a:r>
              <a:rPr lang="en-US" dirty="0"/>
              <a:t> and </a:t>
            </a:r>
            <a:r>
              <a:rPr lang="en-US" u="sng" dirty="0"/>
              <a:t>equal chance</a:t>
            </a:r>
            <a:r>
              <a:rPr lang="en-US" dirty="0"/>
              <a:t> of being selected for the sample.</a:t>
            </a:r>
          </a:p>
        </p:txBody>
      </p:sp>
      <p:sp>
        <p:nvSpPr>
          <p:cNvPr id="7" name="Rectangle 3"/>
          <p:cNvSpPr txBox="1">
            <a:spLocks noChangeArrowheads="1"/>
          </p:cNvSpPr>
          <p:nvPr/>
        </p:nvSpPr>
        <p:spPr>
          <a:xfrm>
            <a:off x="2286000" y="4495800"/>
            <a:ext cx="7602682" cy="2192788"/>
          </a:xfrm>
          <a:prstGeom prst="rect">
            <a:avLst/>
          </a:prstGeom>
        </p:spPr>
        <p:txBody>
          <a:bodyPr lIns="92063" tIns="46032" rIns="92063" bIns="46032"/>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06191" lvl="1" indent="-306141"/>
            <a:r>
              <a:rPr lang="en-US" altLang="en-US" sz="2400" i="1" dirty="0"/>
              <a:t>if a digital version of the sampling frame is available, implementing a simple random sample is relatively easy </a:t>
            </a:r>
            <a:endParaRPr lang="en-US" altLang="en-US" sz="2100" i="1" dirty="0"/>
          </a:p>
        </p:txBody>
      </p:sp>
      <p:sp>
        <p:nvSpPr>
          <p:cNvPr id="2" name="Title 1"/>
          <p:cNvSpPr>
            <a:spLocks noGrp="1"/>
          </p:cNvSpPr>
          <p:nvPr>
            <p:ph type="title"/>
          </p:nvPr>
        </p:nvSpPr>
        <p:spPr/>
        <p:txBody>
          <a:bodyPr/>
          <a:lstStyle/>
          <a:p>
            <a:r>
              <a:rPr lang="en-US" dirty="0"/>
              <a:t>Simple Random Sample</a:t>
            </a:r>
            <a:r>
              <a:rPr lang="en-US" sz="4400" b="1" dirty="0">
                <a:solidFill>
                  <a:schemeClr val="tx2"/>
                </a:solidFill>
                <a:highlight>
                  <a:srgbClr val="FFFF00"/>
                </a:highlight>
              </a:rPr>
              <a:t> *</a:t>
            </a:r>
            <a:endParaRPr lang="en-US" dirty="0"/>
          </a:p>
        </p:txBody>
      </p:sp>
    </p:spTree>
    <p:extLst>
      <p:ext uri="{BB962C8B-B14F-4D97-AF65-F5344CB8AC3E}">
        <p14:creationId xmlns:p14="http://schemas.microsoft.com/office/powerpoint/2010/main" val="158521035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19200" y="3048000"/>
            <a:ext cx="9372600" cy="16315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A probability sampling plan in which every </a:t>
            </a:r>
            <a:r>
              <a:rPr lang="en-US" i="1" dirty="0"/>
              <a:t>k</a:t>
            </a:r>
            <a:r>
              <a:rPr lang="en-US" dirty="0"/>
              <a:t>th element in the population is selected from the sample pool after a random start.</a:t>
            </a:r>
          </a:p>
        </p:txBody>
      </p:sp>
      <p:sp>
        <p:nvSpPr>
          <p:cNvPr id="3" name="Rectangle 3"/>
          <p:cNvSpPr txBox="1">
            <a:spLocks noChangeArrowheads="1"/>
          </p:cNvSpPr>
          <p:nvPr/>
        </p:nvSpPr>
        <p:spPr>
          <a:xfrm>
            <a:off x="1600200" y="4800600"/>
            <a:ext cx="7602682" cy="2192788"/>
          </a:xfrm>
          <a:prstGeom prst="rect">
            <a:avLst/>
          </a:prstGeom>
        </p:spPr>
        <p:txBody>
          <a:bodyPr lIns="92063" tIns="46032" rIns="92063" bIns="46032"/>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06191" lvl="1" indent="-306141"/>
            <a:r>
              <a:rPr lang="en-US" altLang="en-US" sz="2400" i="1" dirty="0"/>
              <a:t>if a digital version of the sampling frame is NOT available, but a list of population members exists, this is a useful approach</a:t>
            </a:r>
            <a:endParaRPr lang="en-US" altLang="en-US" sz="2100" i="1" dirty="0"/>
          </a:p>
        </p:txBody>
      </p:sp>
      <p:sp>
        <p:nvSpPr>
          <p:cNvPr id="4" name="Title 3"/>
          <p:cNvSpPr>
            <a:spLocks noGrp="1"/>
          </p:cNvSpPr>
          <p:nvPr>
            <p:ph type="title"/>
          </p:nvPr>
        </p:nvSpPr>
        <p:spPr/>
        <p:txBody>
          <a:bodyPr/>
          <a:lstStyle/>
          <a:p>
            <a:r>
              <a:rPr lang="en-US" dirty="0"/>
              <a:t>Systematic Sample</a:t>
            </a:r>
            <a:r>
              <a:rPr lang="en-US" sz="4400" b="1" dirty="0">
                <a:solidFill>
                  <a:schemeClr val="tx2"/>
                </a:solidFill>
                <a:highlight>
                  <a:srgbClr val="FFFF00"/>
                </a:highlight>
              </a:rPr>
              <a:t> *</a:t>
            </a:r>
            <a:endParaRPr lang="en-US" dirty="0"/>
          </a:p>
        </p:txBody>
      </p:sp>
    </p:spTree>
    <p:extLst>
      <p:ext uri="{BB962C8B-B14F-4D97-AF65-F5344CB8AC3E}">
        <p14:creationId xmlns:p14="http://schemas.microsoft.com/office/powerpoint/2010/main" val="329308772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962400" y="3124200"/>
            <a:ext cx="5181600" cy="2133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2"/>
          <p:cNvSpPr txBox="1">
            <a:spLocks/>
          </p:cNvSpPr>
          <p:nvPr/>
        </p:nvSpPr>
        <p:spPr>
          <a:xfrm>
            <a:off x="2801470" y="838200"/>
            <a:ext cx="7391400" cy="16315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SAMPLING INTERVAL (</a:t>
            </a:r>
            <a:r>
              <a:rPr lang="en-US" sz="3600" b="1" i="1" dirty="0">
                <a:solidFill>
                  <a:schemeClr val="tx2"/>
                </a:solidFill>
              </a:rPr>
              <a:t>k</a:t>
            </a:r>
            <a:r>
              <a:rPr lang="en-US" sz="3600" b="1" dirty="0">
                <a:solidFill>
                  <a:schemeClr val="tx2"/>
                </a:solidFill>
              </a:rPr>
              <a:t>)</a:t>
            </a:r>
            <a:r>
              <a:rPr lang="en-US" sz="3600" b="1" dirty="0">
                <a:solidFill>
                  <a:schemeClr val="tx2"/>
                </a:solidFill>
                <a:highlight>
                  <a:srgbClr val="FFFF00"/>
                </a:highlight>
              </a:rPr>
              <a:t> *</a:t>
            </a:r>
            <a:endParaRPr lang="en-US" sz="3600" b="1" dirty="0">
              <a:solidFill>
                <a:schemeClr val="tx2"/>
              </a:solidFill>
            </a:endParaRPr>
          </a:p>
          <a:p>
            <a:pPr marL="457200" lvl="1" indent="0">
              <a:buNone/>
            </a:pPr>
            <a:r>
              <a:rPr lang="en-US" dirty="0"/>
              <a:t>The number of population elements to count (</a:t>
            </a:r>
            <a:r>
              <a:rPr lang="en-US" i="1" dirty="0"/>
              <a:t>k</a:t>
            </a:r>
            <a:r>
              <a:rPr lang="en-US" dirty="0"/>
              <a:t>) when selecting the sample members in a systematic sample.</a:t>
            </a:r>
          </a:p>
        </p:txBody>
      </p:sp>
      <p:grpSp>
        <p:nvGrpSpPr>
          <p:cNvPr id="8" name="Group 7"/>
          <p:cNvGrpSpPr/>
          <p:nvPr/>
        </p:nvGrpSpPr>
        <p:grpSpPr>
          <a:xfrm>
            <a:off x="4302132" y="3281092"/>
            <a:ext cx="4079868" cy="1790221"/>
            <a:chOff x="2778132" y="3003176"/>
            <a:chExt cx="4079868" cy="1790221"/>
          </a:xfrm>
        </p:grpSpPr>
        <p:sp>
          <p:nvSpPr>
            <p:cNvPr id="3" name="TextBox 2"/>
            <p:cNvSpPr txBox="1"/>
            <p:nvPr/>
          </p:nvSpPr>
          <p:spPr>
            <a:xfrm>
              <a:off x="2778132" y="3576284"/>
              <a:ext cx="1260468" cy="584775"/>
            </a:xfrm>
            <a:prstGeom prst="rect">
              <a:avLst/>
            </a:prstGeom>
            <a:noFill/>
          </p:spPr>
          <p:txBody>
            <a:bodyPr wrap="square" rtlCol="0">
              <a:spAutoFit/>
            </a:bodyPr>
            <a:lstStyle/>
            <a:p>
              <a:r>
                <a:rPr lang="en-US" sz="3200" i="1" dirty="0"/>
                <a:t>k</a:t>
              </a:r>
              <a:r>
                <a:rPr lang="en-US" sz="3200" dirty="0"/>
                <a:t>  =  </a:t>
              </a:r>
            </a:p>
          </p:txBody>
        </p:sp>
        <p:sp>
          <p:nvSpPr>
            <p:cNvPr id="4" name="TextBox 3"/>
            <p:cNvSpPr txBox="1"/>
            <p:nvPr/>
          </p:nvSpPr>
          <p:spPr>
            <a:xfrm>
              <a:off x="4038600" y="3003176"/>
              <a:ext cx="2743200" cy="830997"/>
            </a:xfrm>
            <a:prstGeom prst="rect">
              <a:avLst/>
            </a:prstGeom>
            <a:noFill/>
          </p:spPr>
          <p:txBody>
            <a:bodyPr wrap="square" rtlCol="0">
              <a:spAutoFit/>
            </a:bodyPr>
            <a:lstStyle/>
            <a:p>
              <a:pPr algn="ctr"/>
              <a:r>
                <a:rPr lang="en-US" sz="2400" dirty="0"/>
                <a:t># elements in  sampling frame  </a:t>
              </a:r>
            </a:p>
          </p:txBody>
        </p:sp>
        <p:sp>
          <p:nvSpPr>
            <p:cNvPr id="5" name="TextBox 4"/>
            <p:cNvSpPr txBox="1"/>
            <p:nvPr/>
          </p:nvSpPr>
          <p:spPr>
            <a:xfrm>
              <a:off x="4038600" y="3962400"/>
              <a:ext cx="2743200" cy="830997"/>
            </a:xfrm>
            <a:prstGeom prst="rect">
              <a:avLst/>
            </a:prstGeom>
            <a:noFill/>
          </p:spPr>
          <p:txBody>
            <a:bodyPr wrap="square" rtlCol="0">
              <a:spAutoFit/>
            </a:bodyPr>
            <a:lstStyle/>
            <a:p>
              <a:pPr algn="ctr"/>
              <a:r>
                <a:rPr lang="en-US" sz="2400" dirty="0"/>
                <a:t>total sampling elements</a:t>
              </a:r>
            </a:p>
          </p:txBody>
        </p:sp>
        <p:cxnSp>
          <p:nvCxnSpPr>
            <p:cNvPr id="7" name="Straight Connector 6"/>
            <p:cNvCxnSpPr/>
            <p:nvPr/>
          </p:nvCxnSpPr>
          <p:spPr>
            <a:xfrm>
              <a:off x="4038600" y="3873787"/>
              <a:ext cx="2819400" cy="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9911438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838200" y="1905000"/>
            <a:ext cx="10744200" cy="4755378"/>
          </a:xfrm>
          <a:prstGeom prst="rect">
            <a:avLst/>
          </a:prstGeom>
        </p:spPr>
        <p:txBody>
          <a:bodyPr lIns="92063" tIns="46032" rIns="92063" bIns="46032"/>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06141" indent="-306141">
              <a:buNone/>
            </a:pPr>
            <a:r>
              <a:rPr lang="en-US" altLang="en-US" sz="2800" dirty="0"/>
              <a:t>	Knowing that you need a sample pool of 4,762 students to ultimately get about 200 students in your sample, you are in position to draw a systematic sample from the student directory at your university.  Further, 42,000 students are listed in the directory.</a:t>
            </a:r>
          </a:p>
          <a:p>
            <a:pPr marL="306141" indent="-306141">
              <a:buNone/>
            </a:pPr>
            <a:r>
              <a:rPr lang="en-US" altLang="en-US" sz="2800" dirty="0"/>
              <a:t>	   </a:t>
            </a:r>
            <a:r>
              <a:rPr lang="en-US" altLang="en-US" sz="2800" b="1" i="1" dirty="0"/>
              <a:t>What is the sampling interval?</a:t>
            </a:r>
            <a:endParaRPr lang="en-US" altLang="en-US" sz="2800" b="1" dirty="0"/>
          </a:p>
        </p:txBody>
      </p:sp>
      <p:sp>
        <p:nvSpPr>
          <p:cNvPr id="4" name="Title 3"/>
          <p:cNvSpPr>
            <a:spLocks noGrp="1"/>
          </p:cNvSpPr>
          <p:nvPr>
            <p:ph type="title"/>
          </p:nvPr>
        </p:nvSpPr>
        <p:spPr>
          <a:xfrm>
            <a:off x="990600" y="762000"/>
            <a:ext cx="8153400" cy="990600"/>
          </a:xfrm>
        </p:spPr>
        <p:txBody>
          <a:bodyPr/>
          <a:lstStyle/>
          <a:p>
            <a:r>
              <a:rPr lang="en-US" dirty="0"/>
              <a:t>Systematic Sample Example</a:t>
            </a:r>
          </a:p>
        </p:txBody>
      </p:sp>
    </p:spTree>
    <p:extLst>
      <p:ext uri="{BB962C8B-B14F-4D97-AF65-F5344CB8AC3E}">
        <p14:creationId xmlns:p14="http://schemas.microsoft.com/office/powerpoint/2010/main" val="139299241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2362200" y="3224592"/>
            <a:ext cx="8305800" cy="179022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2"/>
          <p:cNvSpPr txBox="1">
            <a:spLocks noChangeArrowheads="1"/>
          </p:cNvSpPr>
          <p:nvPr/>
        </p:nvSpPr>
        <p:spPr>
          <a:xfrm>
            <a:off x="1405036" y="269044"/>
            <a:ext cx="7941830" cy="1143461"/>
          </a:xfrm>
          <a:prstGeom prst="rect">
            <a:avLst/>
          </a:prstGeom>
          <a:noFill/>
        </p:spPr>
        <p:txBody>
          <a:bodyPr lIns="92063" tIns="46032" rIns="92063" bIns="46032"/>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sz="3200" dirty="0"/>
              <a:t>SYSTEMATIC SAMPLE EXAMPLE</a:t>
            </a:r>
            <a:r>
              <a:rPr lang="en-US" sz="3200" b="1" dirty="0">
                <a:solidFill>
                  <a:schemeClr val="tx2"/>
                </a:solidFill>
                <a:highlight>
                  <a:srgbClr val="FFFF00"/>
                </a:highlight>
              </a:rPr>
              <a:t> *</a:t>
            </a:r>
            <a:endParaRPr lang="en-US" altLang="en-US" sz="3200" dirty="0"/>
          </a:p>
        </p:txBody>
      </p:sp>
      <p:sp>
        <p:nvSpPr>
          <p:cNvPr id="3" name="Rectangle 3"/>
          <p:cNvSpPr txBox="1">
            <a:spLocks noChangeArrowheads="1"/>
          </p:cNvSpPr>
          <p:nvPr/>
        </p:nvSpPr>
        <p:spPr>
          <a:xfrm>
            <a:off x="1524000" y="1226106"/>
            <a:ext cx="8001000" cy="1725835"/>
          </a:xfrm>
          <a:prstGeom prst="rect">
            <a:avLst/>
          </a:prstGeom>
        </p:spPr>
        <p:txBody>
          <a:bodyPr lIns="92063" tIns="46032" rIns="92063" bIns="46032"/>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06141" indent="-306141">
              <a:buNone/>
            </a:pPr>
            <a:r>
              <a:rPr lang="en-US" altLang="en-US" sz="2100" dirty="0"/>
              <a:t>	Knowing that you need a sample pool of 4,762 students to ultimately get about 200 students in your sample, you are in position to draw a systematic sample from the student directory at your university.  Further, 42,000 students are listed in the directory.</a:t>
            </a:r>
          </a:p>
          <a:p>
            <a:pPr marL="306141" indent="-306141">
              <a:buNone/>
            </a:pPr>
            <a:r>
              <a:rPr lang="en-US" altLang="en-US" sz="2100" dirty="0"/>
              <a:t>	   </a:t>
            </a:r>
            <a:r>
              <a:rPr lang="en-US" altLang="en-US" sz="2100" b="1" i="1" dirty="0"/>
              <a:t>What is the sampling interval?</a:t>
            </a:r>
            <a:endParaRPr lang="en-US" altLang="en-US" sz="2100" b="1" dirty="0"/>
          </a:p>
        </p:txBody>
      </p:sp>
      <p:grpSp>
        <p:nvGrpSpPr>
          <p:cNvPr id="4" name="Group 3"/>
          <p:cNvGrpSpPr/>
          <p:nvPr/>
        </p:nvGrpSpPr>
        <p:grpSpPr>
          <a:xfrm>
            <a:off x="2563091" y="3224592"/>
            <a:ext cx="4260660" cy="1790221"/>
            <a:chOff x="2597340" y="3003176"/>
            <a:chExt cx="4260660" cy="1790221"/>
          </a:xfrm>
        </p:grpSpPr>
        <p:sp>
          <p:nvSpPr>
            <p:cNvPr id="5" name="TextBox 4"/>
            <p:cNvSpPr txBox="1"/>
            <p:nvPr/>
          </p:nvSpPr>
          <p:spPr>
            <a:xfrm>
              <a:off x="2597340" y="3563470"/>
              <a:ext cx="1176835" cy="584775"/>
            </a:xfrm>
            <a:prstGeom prst="rect">
              <a:avLst/>
            </a:prstGeom>
            <a:noFill/>
          </p:spPr>
          <p:txBody>
            <a:bodyPr wrap="square" rtlCol="0">
              <a:spAutoFit/>
            </a:bodyPr>
            <a:lstStyle/>
            <a:p>
              <a:r>
                <a:rPr lang="en-US" sz="3200" i="1" dirty="0"/>
                <a:t>k</a:t>
              </a:r>
              <a:r>
                <a:rPr lang="en-US" sz="3200" dirty="0"/>
                <a:t>  =  </a:t>
              </a:r>
            </a:p>
          </p:txBody>
        </p:sp>
        <p:sp>
          <p:nvSpPr>
            <p:cNvPr id="6" name="TextBox 5"/>
            <p:cNvSpPr txBox="1"/>
            <p:nvPr/>
          </p:nvSpPr>
          <p:spPr>
            <a:xfrm>
              <a:off x="4038600" y="3003176"/>
              <a:ext cx="2743200" cy="830997"/>
            </a:xfrm>
            <a:prstGeom prst="rect">
              <a:avLst/>
            </a:prstGeom>
            <a:noFill/>
          </p:spPr>
          <p:txBody>
            <a:bodyPr wrap="square" rtlCol="0">
              <a:spAutoFit/>
            </a:bodyPr>
            <a:lstStyle/>
            <a:p>
              <a:pPr algn="ctr"/>
              <a:r>
                <a:rPr lang="en-US" sz="2400" dirty="0"/>
                <a:t># elements in  sampling frame  </a:t>
              </a:r>
            </a:p>
          </p:txBody>
        </p:sp>
        <p:sp>
          <p:nvSpPr>
            <p:cNvPr id="7" name="TextBox 6"/>
            <p:cNvSpPr txBox="1"/>
            <p:nvPr/>
          </p:nvSpPr>
          <p:spPr>
            <a:xfrm>
              <a:off x="4038600" y="3962400"/>
              <a:ext cx="2743200" cy="830997"/>
            </a:xfrm>
            <a:prstGeom prst="rect">
              <a:avLst/>
            </a:prstGeom>
            <a:noFill/>
          </p:spPr>
          <p:txBody>
            <a:bodyPr wrap="square" rtlCol="0">
              <a:spAutoFit/>
            </a:bodyPr>
            <a:lstStyle/>
            <a:p>
              <a:pPr algn="ctr"/>
              <a:r>
                <a:rPr lang="en-US" sz="2400" dirty="0"/>
                <a:t>total sampling elements</a:t>
              </a:r>
            </a:p>
          </p:txBody>
        </p:sp>
        <p:cxnSp>
          <p:nvCxnSpPr>
            <p:cNvPr id="8" name="Straight Connector 7"/>
            <p:cNvCxnSpPr/>
            <p:nvPr/>
          </p:nvCxnSpPr>
          <p:spPr>
            <a:xfrm>
              <a:off x="4038600" y="3873787"/>
              <a:ext cx="2819400" cy="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a:off x="6957694" y="3809996"/>
            <a:ext cx="781194" cy="584775"/>
          </a:xfrm>
          <a:prstGeom prst="rect">
            <a:avLst/>
          </a:prstGeom>
          <a:noFill/>
        </p:spPr>
        <p:txBody>
          <a:bodyPr wrap="square" rtlCol="0">
            <a:spAutoFit/>
          </a:bodyPr>
          <a:lstStyle/>
          <a:p>
            <a:r>
              <a:rPr lang="en-US" sz="3200" dirty="0"/>
              <a:t>=</a:t>
            </a:r>
          </a:p>
        </p:txBody>
      </p:sp>
      <p:sp>
        <p:nvSpPr>
          <p:cNvPr id="10" name="TextBox 9"/>
          <p:cNvSpPr txBox="1"/>
          <p:nvPr/>
        </p:nvSpPr>
        <p:spPr>
          <a:xfrm>
            <a:off x="6950714" y="3610072"/>
            <a:ext cx="2493818" cy="461665"/>
          </a:xfrm>
          <a:prstGeom prst="rect">
            <a:avLst/>
          </a:prstGeom>
          <a:noFill/>
        </p:spPr>
        <p:txBody>
          <a:bodyPr wrap="square" rtlCol="0">
            <a:spAutoFit/>
          </a:bodyPr>
          <a:lstStyle/>
          <a:p>
            <a:pPr algn="ctr"/>
            <a:r>
              <a:rPr lang="en-US" sz="2400" dirty="0"/>
              <a:t>42,000</a:t>
            </a:r>
          </a:p>
        </p:txBody>
      </p:sp>
      <p:sp>
        <p:nvSpPr>
          <p:cNvPr id="11" name="TextBox 10"/>
          <p:cNvSpPr txBox="1"/>
          <p:nvPr/>
        </p:nvSpPr>
        <p:spPr>
          <a:xfrm>
            <a:off x="7194432" y="4183816"/>
            <a:ext cx="2006383" cy="461665"/>
          </a:xfrm>
          <a:prstGeom prst="rect">
            <a:avLst/>
          </a:prstGeom>
          <a:noFill/>
        </p:spPr>
        <p:txBody>
          <a:bodyPr wrap="square" rtlCol="0">
            <a:spAutoFit/>
          </a:bodyPr>
          <a:lstStyle/>
          <a:p>
            <a:pPr algn="ctr"/>
            <a:r>
              <a:rPr lang="en-US" sz="2400" dirty="0"/>
              <a:t>4,762</a:t>
            </a:r>
          </a:p>
        </p:txBody>
      </p:sp>
      <p:cxnSp>
        <p:nvCxnSpPr>
          <p:cNvPr id="12" name="Straight Connector 11"/>
          <p:cNvCxnSpPr/>
          <p:nvPr/>
        </p:nvCxnSpPr>
        <p:spPr>
          <a:xfrm>
            <a:off x="7420012" y="4095198"/>
            <a:ext cx="1450579" cy="5"/>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983779" y="3809991"/>
            <a:ext cx="781194" cy="584775"/>
          </a:xfrm>
          <a:prstGeom prst="rect">
            <a:avLst/>
          </a:prstGeom>
          <a:noFill/>
        </p:spPr>
        <p:txBody>
          <a:bodyPr wrap="square" rtlCol="0">
            <a:spAutoFit/>
          </a:bodyPr>
          <a:lstStyle/>
          <a:p>
            <a:r>
              <a:rPr lang="en-US" sz="3200" dirty="0"/>
              <a:t>=</a:t>
            </a:r>
          </a:p>
        </p:txBody>
      </p:sp>
      <p:sp>
        <p:nvSpPr>
          <p:cNvPr id="15" name="TextBox 14"/>
          <p:cNvSpPr txBox="1"/>
          <p:nvPr/>
        </p:nvSpPr>
        <p:spPr>
          <a:xfrm>
            <a:off x="9374376" y="3871550"/>
            <a:ext cx="1172614" cy="461665"/>
          </a:xfrm>
          <a:prstGeom prst="rect">
            <a:avLst/>
          </a:prstGeom>
          <a:noFill/>
        </p:spPr>
        <p:txBody>
          <a:bodyPr wrap="square" rtlCol="0">
            <a:spAutoFit/>
          </a:bodyPr>
          <a:lstStyle/>
          <a:p>
            <a:r>
              <a:rPr lang="en-US" sz="2400" dirty="0"/>
              <a:t>8.8</a:t>
            </a:r>
          </a:p>
        </p:txBody>
      </p:sp>
      <p:sp>
        <p:nvSpPr>
          <p:cNvPr id="17" name="Rectangle 3"/>
          <p:cNvSpPr txBox="1">
            <a:spLocks noChangeArrowheads="1"/>
          </p:cNvSpPr>
          <p:nvPr/>
        </p:nvSpPr>
        <p:spPr>
          <a:xfrm>
            <a:off x="1443532" y="5256851"/>
            <a:ext cx="8001000" cy="862917"/>
          </a:xfrm>
          <a:prstGeom prst="rect">
            <a:avLst/>
          </a:prstGeom>
        </p:spPr>
        <p:txBody>
          <a:bodyPr lIns="92063" tIns="46032" rIns="92063" bIns="46032"/>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06141" indent="-306141">
              <a:buNone/>
            </a:pPr>
            <a:r>
              <a:rPr lang="en-US" altLang="en-US" sz="2100" dirty="0"/>
              <a:t>	Randomly select one of the first 9 students and then select every 9</a:t>
            </a:r>
            <a:r>
              <a:rPr lang="en-US" altLang="en-US" sz="2100" baseline="30000" dirty="0"/>
              <a:t>th</a:t>
            </a:r>
            <a:r>
              <a:rPr lang="en-US" altLang="en-US" sz="2100" dirty="0"/>
              <a:t> student after to be in the initial sampling pool.</a:t>
            </a:r>
            <a:endParaRPr lang="en-US" altLang="en-US" sz="2100" b="1" dirty="0"/>
          </a:p>
        </p:txBody>
      </p:sp>
    </p:spTree>
    <p:extLst>
      <p:ext uri="{BB962C8B-B14F-4D97-AF65-F5344CB8AC3E}">
        <p14:creationId xmlns:p14="http://schemas.microsoft.com/office/powerpoint/2010/main" val="265871077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09600" y="2667000"/>
            <a:ext cx="10134599" cy="16315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A probability sample in which (1) the population is divided into mutually exclusive and exhaustive subsets, and (2) a probabilistic sample of elements is chosen independently from each subset.</a:t>
            </a:r>
          </a:p>
        </p:txBody>
      </p:sp>
      <p:sp>
        <p:nvSpPr>
          <p:cNvPr id="3" name="Rectangle 3"/>
          <p:cNvSpPr txBox="1">
            <a:spLocks noChangeArrowheads="1"/>
          </p:cNvSpPr>
          <p:nvPr/>
        </p:nvSpPr>
        <p:spPr>
          <a:xfrm>
            <a:off x="987182" y="4495800"/>
            <a:ext cx="9757017" cy="1676400"/>
          </a:xfrm>
          <a:prstGeom prst="rect">
            <a:avLst/>
          </a:prstGeom>
        </p:spPr>
        <p:txBody>
          <a:bodyPr lIns="92063" tIns="46032" rIns="92063" bIns="46032"/>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05825" lvl="1" indent="-306141">
              <a:lnSpc>
                <a:spcPct val="90000"/>
              </a:lnSpc>
            </a:pPr>
            <a:r>
              <a:rPr lang="en-US" altLang="en-US" sz="2200" i="1" dirty="0"/>
              <a:t>most appropriate when strata are </a:t>
            </a:r>
            <a:r>
              <a:rPr lang="en-US" altLang="en-US" sz="2200" b="1" i="1" dirty="0"/>
              <a:t>homogeneous within</a:t>
            </a:r>
            <a:r>
              <a:rPr lang="en-US" altLang="en-US" sz="2200" i="1" dirty="0"/>
              <a:t> but </a:t>
            </a:r>
            <a:r>
              <a:rPr lang="en-US" altLang="en-US" sz="2200" b="1" i="1" dirty="0"/>
              <a:t>heterogeneous between</a:t>
            </a:r>
            <a:r>
              <a:rPr lang="en-US" altLang="en-US" sz="2200" i="1" dirty="0"/>
              <a:t> with respect to key variable(s)</a:t>
            </a:r>
          </a:p>
          <a:p>
            <a:pPr marL="705825" lvl="1" indent="-306141">
              <a:lnSpc>
                <a:spcPct val="90000"/>
              </a:lnSpc>
            </a:pPr>
            <a:r>
              <a:rPr lang="en-US" altLang="en-US" sz="2200" i="1" dirty="0"/>
              <a:t>decreased variance within strata on key variable(s) means increased precision</a:t>
            </a:r>
          </a:p>
          <a:p>
            <a:pPr marL="705825" lvl="1" indent="-306141">
              <a:lnSpc>
                <a:spcPct val="90000"/>
              </a:lnSpc>
            </a:pPr>
            <a:r>
              <a:rPr lang="en-US" altLang="en-US" sz="2200" i="1" dirty="0"/>
              <a:t>ability to ensure that important strata are represented</a:t>
            </a:r>
          </a:p>
        </p:txBody>
      </p:sp>
      <p:sp>
        <p:nvSpPr>
          <p:cNvPr id="4" name="Title 3"/>
          <p:cNvSpPr>
            <a:spLocks noGrp="1"/>
          </p:cNvSpPr>
          <p:nvPr>
            <p:ph type="title"/>
          </p:nvPr>
        </p:nvSpPr>
        <p:spPr/>
        <p:txBody>
          <a:bodyPr/>
          <a:lstStyle/>
          <a:p>
            <a:r>
              <a:rPr lang="en-US" dirty="0"/>
              <a:t>Stratified Sample</a:t>
            </a:r>
            <a:r>
              <a:rPr lang="en-US" sz="4400" b="1" dirty="0">
                <a:solidFill>
                  <a:schemeClr val="tx2"/>
                </a:solidFill>
                <a:highlight>
                  <a:srgbClr val="FFFF00"/>
                </a:highlight>
              </a:rPr>
              <a:t> *</a:t>
            </a:r>
            <a:endParaRPr lang="en-US" dirty="0"/>
          </a:p>
        </p:txBody>
      </p:sp>
    </p:spTree>
    <p:extLst>
      <p:ext uri="{BB962C8B-B14F-4D97-AF65-F5344CB8AC3E}">
        <p14:creationId xmlns:p14="http://schemas.microsoft.com/office/powerpoint/2010/main" val="16670327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09600" y="2667000"/>
            <a:ext cx="10134599" cy="16315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What are the differences?</a:t>
            </a:r>
          </a:p>
        </p:txBody>
      </p:sp>
      <p:sp>
        <p:nvSpPr>
          <p:cNvPr id="3" name="Rectangle 3"/>
          <p:cNvSpPr txBox="1">
            <a:spLocks noChangeArrowheads="1"/>
          </p:cNvSpPr>
          <p:nvPr/>
        </p:nvSpPr>
        <p:spPr>
          <a:xfrm>
            <a:off x="987182" y="4495800"/>
            <a:ext cx="9757017" cy="1676400"/>
          </a:xfrm>
          <a:prstGeom prst="rect">
            <a:avLst/>
          </a:prstGeom>
        </p:spPr>
        <p:txBody>
          <a:bodyPr lIns="92063" tIns="46032" rIns="92063" bIns="46032"/>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05825" lvl="1" indent="-306141">
              <a:lnSpc>
                <a:spcPct val="90000"/>
              </a:lnSpc>
            </a:pPr>
            <a:r>
              <a:rPr lang="en-US" altLang="en-US" sz="2200" i="1" dirty="0"/>
              <a:t>Homogeneous suggests little variance in the sample</a:t>
            </a:r>
          </a:p>
          <a:p>
            <a:pPr marL="705825" lvl="1" indent="-306141">
              <a:lnSpc>
                <a:spcPct val="90000"/>
              </a:lnSpc>
            </a:pPr>
            <a:r>
              <a:rPr lang="en-US" altLang="en-US" sz="2200" i="1" dirty="0"/>
              <a:t>Heterogeneous suggests substantial and expected variance in the sample</a:t>
            </a:r>
          </a:p>
        </p:txBody>
      </p:sp>
      <p:sp>
        <p:nvSpPr>
          <p:cNvPr id="4" name="Title 3"/>
          <p:cNvSpPr>
            <a:spLocks noGrp="1"/>
          </p:cNvSpPr>
          <p:nvPr>
            <p:ph type="title"/>
          </p:nvPr>
        </p:nvSpPr>
        <p:spPr/>
        <p:txBody>
          <a:bodyPr/>
          <a:lstStyle/>
          <a:p>
            <a:r>
              <a:rPr lang="en-US" dirty="0"/>
              <a:t>Homogeneous and Heterogeneous</a:t>
            </a:r>
            <a:r>
              <a:rPr lang="en-US" sz="4400" b="1" dirty="0">
                <a:solidFill>
                  <a:schemeClr val="tx2"/>
                </a:solidFill>
                <a:highlight>
                  <a:srgbClr val="FFFF00"/>
                </a:highlight>
              </a:rPr>
              <a:t> *</a:t>
            </a:r>
            <a:endParaRPr lang="en-US" dirty="0"/>
          </a:p>
        </p:txBody>
      </p:sp>
    </p:spTree>
    <p:extLst>
      <p:ext uri="{BB962C8B-B14F-4D97-AF65-F5344CB8AC3E}">
        <p14:creationId xmlns:p14="http://schemas.microsoft.com/office/powerpoint/2010/main" val="203158303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762000" y="2496462"/>
            <a:ext cx="10744200" cy="16315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A probability sample in which (1) the parent population is divided into mutually exclusive and exhaustive subsets, and (2) a random sample of one or more subsets (clusters) is selected.</a:t>
            </a:r>
          </a:p>
        </p:txBody>
      </p:sp>
      <p:sp>
        <p:nvSpPr>
          <p:cNvPr id="3" name="Rectangle 3"/>
          <p:cNvSpPr txBox="1">
            <a:spLocks noChangeArrowheads="1"/>
          </p:cNvSpPr>
          <p:nvPr/>
        </p:nvSpPr>
        <p:spPr>
          <a:xfrm>
            <a:off x="1524000" y="4572000"/>
            <a:ext cx="9677400" cy="1676400"/>
          </a:xfrm>
          <a:prstGeom prst="rect">
            <a:avLst/>
          </a:prstGeom>
        </p:spPr>
        <p:txBody>
          <a:bodyPr lIns="92063" tIns="46032" rIns="92063" bIns="46032"/>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05825" lvl="1" indent="-306141">
              <a:lnSpc>
                <a:spcPct val="90000"/>
              </a:lnSpc>
            </a:pPr>
            <a:r>
              <a:rPr lang="en-US" altLang="en-US" sz="2400" i="1" dirty="0"/>
              <a:t>strata should be </a:t>
            </a:r>
            <a:r>
              <a:rPr lang="en-US" altLang="en-US" sz="2400" b="1" i="1" dirty="0"/>
              <a:t>heterogeneous within</a:t>
            </a:r>
            <a:r>
              <a:rPr lang="en-US" altLang="en-US" sz="2400" i="1" dirty="0"/>
              <a:t>, </a:t>
            </a:r>
            <a:r>
              <a:rPr lang="en-US" altLang="en-US" sz="2400" b="1" i="1" dirty="0"/>
              <a:t>homogeneous between</a:t>
            </a:r>
          </a:p>
          <a:p>
            <a:pPr marL="705825" lvl="1" indent="-306141">
              <a:lnSpc>
                <a:spcPct val="90000"/>
              </a:lnSpc>
            </a:pPr>
            <a:r>
              <a:rPr lang="en-US" altLang="en-US" sz="2400" i="1" dirty="0"/>
              <a:t>an </a:t>
            </a:r>
            <a:r>
              <a:rPr lang="en-US" altLang="en-US" sz="2400" b="1" i="1" dirty="0">
                <a:solidFill>
                  <a:schemeClr val="tx2"/>
                </a:solidFill>
              </a:rPr>
              <a:t>AREA SAMPLE </a:t>
            </a:r>
            <a:r>
              <a:rPr lang="en-US" altLang="en-US" sz="2400" i="1" dirty="0"/>
              <a:t>is a form of cluster sampling in which areas (e.g., census tracts, blocks) serve as the primary sampling units</a:t>
            </a:r>
          </a:p>
        </p:txBody>
      </p:sp>
      <p:sp>
        <p:nvSpPr>
          <p:cNvPr id="4" name="Title 3"/>
          <p:cNvSpPr>
            <a:spLocks noGrp="1"/>
          </p:cNvSpPr>
          <p:nvPr>
            <p:ph type="title"/>
          </p:nvPr>
        </p:nvSpPr>
        <p:spPr/>
        <p:txBody>
          <a:bodyPr/>
          <a:lstStyle/>
          <a:p>
            <a:r>
              <a:rPr lang="en-US" dirty="0"/>
              <a:t>Cluster Sample</a:t>
            </a:r>
            <a:r>
              <a:rPr lang="en-US" sz="4400" b="1" dirty="0">
                <a:solidFill>
                  <a:schemeClr val="tx2"/>
                </a:solidFill>
                <a:highlight>
                  <a:srgbClr val="FFFF00"/>
                </a:highlight>
              </a:rPr>
              <a:t> *</a:t>
            </a:r>
            <a:endParaRPr lang="en-US" dirty="0"/>
          </a:p>
        </p:txBody>
      </p:sp>
    </p:spTree>
    <p:extLst>
      <p:ext uri="{BB962C8B-B14F-4D97-AF65-F5344CB8AC3E}">
        <p14:creationId xmlns:p14="http://schemas.microsoft.com/office/powerpoint/2010/main" val="344354969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371600" y="2590800"/>
            <a:ext cx="10058400" cy="3962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altLang="en-US" sz="2700" dirty="0"/>
              <a:t>To determine the necessary sample size, we need three pieces of information:</a:t>
            </a:r>
          </a:p>
          <a:p>
            <a:pPr lvl="1">
              <a:lnSpc>
                <a:spcPct val="90000"/>
              </a:lnSpc>
              <a:buFont typeface="Arial" pitchFamily="34" charset="0"/>
              <a:buChar char="•"/>
            </a:pPr>
            <a:r>
              <a:rPr lang="en-US" altLang="en-US" sz="2500" b="1" dirty="0">
                <a:solidFill>
                  <a:schemeClr val="tx2"/>
                </a:solidFill>
              </a:rPr>
              <a:t>how homogeneous (similar) the population is </a:t>
            </a:r>
            <a:r>
              <a:rPr lang="en-US" altLang="en-US" sz="2500" dirty="0"/>
              <a:t>on the characteristic to be estimated</a:t>
            </a:r>
          </a:p>
          <a:p>
            <a:pPr lvl="1">
              <a:lnSpc>
                <a:spcPct val="90000"/>
              </a:lnSpc>
              <a:buFont typeface="Arial" pitchFamily="34" charset="0"/>
              <a:buChar char="•"/>
            </a:pPr>
            <a:r>
              <a:rPr lang="en-US" altLang="en-US" sz="2500" b="1" dirty="0">
                <a:solidFill>
                  <a:schemeClr val="tx2"/>
                </a:solidFill>
              </a:rPr>
              <a:t>how much precision is needed</a:t>
            </a:r>
            <a:r>
              <a:rPr lang="en-US" altLang="en-US" sz="2500" dirty="0"/>
              <a:t> in the estimate</a:t>
            </a:r>
          </a:p>
          <a:p>
            <a:pPr lvl="1">
              <a:lnSpc>
                <a:spcPct val="90000"/>
              </a:lnSpc>
              <a:buFont typeface="Arial" pitchFamily="34" charset="0"/>
              <a:buChar char="•"/>
            </a:pPr>
            <a:r>
              <a:rPr lang="en-US" altLang="en-US" sz="2500" b="1" dirty="0">
                <a:solidFill>
                  <a:schemeClr val="tx2"/>
                </a:solidFill>
              </a:rPr>
              <a:t>how confident we need to be </a:t>
            </a:r>
            <a:r>
              <a:rPr lang="en-US" altLang="en-US" sz="2500" dirty="0"/>
              <a:t>that the true value falls within the precision range established</a:t>
            </a:r>
          </a:p>
        </p:txBody>
      </p:sp>
      <p:sp>
        <p:nvSpPr>
          <p:cNvPr id="4" name="Title 3"/>
          <p:cNvSpPr>
            <a:spLocks noGrp="1"/>
          </p:cNvSpPr>
          <p:nvPr>
            <p:ph type="title"/>
          </p:nvPr>
        </p:nvSpPr>
        <p:spPr>
          <a:xfrm>
            <a:off x="1066800" y="762000"/>
            <a:ext cx="8153400" cy="990600"/>
          </a:xfrm>
        </p:spPr>
        <p:txBody>
          <a:bodyPr>
            <a:normAutofit/>
          </a:bodyPr>
          <a:lstStyle/>
          <a:p>
            <a:r>
              <a:rPr lang="en-US" altLang="en-US" b="1" i="1" dirty="0"/>
              <a:t>STEP 4:</a:t>
            </a:r>
            <a:r>
              <a:rPr lang="en-US" altLang="en-US" dirty="0"/>
              <a:t> Determine the Sample Size</a:t>
            </a:r>
            <a:endParaRPr lang="en-US" dirty="0"/>
          </a:p>
        </p:txBody>
      </p:sp>
    </p:spTree>
    <p:extLst>
      <p:ext uri="{BB962C8B-B14F-4D97-AF65-F5344CB8AC3E}">
        <p14:creationId xmlns:p14="http://schemas.microsoft.com/office/powerpoint/2010/main" val="214860594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90800" y="4410635"/>
            <a:ext cx="7602070" cy="990600"/>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2" name="Content Placeholder 2"/>
          <p:cNvSpPr txBox="1">
            <a:spLocks/>
          </p:cNvSpPr>
          <p:nvPr/>
        </p:nvSpPr>
        <p:spPr>
          <a:xfrm>
            <a:off x="914400" y="838200"/>
            <a:ext cx="9278470" cy="16315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PRECISION</a:t>
            </a:r>
            <a:r>
              <a:rPr lang="en-US" sz="3600" b="1" dirty="0">
                <a:solidFill>
                  <a:schemeClr val="tx2"/>
                </a:solidFill>
                <a:highlight>
                  <a:srgbClr val="FFFF00"/>
                </a:highlight>
              </a:rPr>
              <a:t> *</a:t>
            </a:r>
            <a:endParaRPr lang="en-US" sz="3600" b="1" dirty="0">
              <a:solidFill>
                <a:schemeClr val="tx2"/>
              </a:solidFill>
            </a:endParaRPr>
          </a:p>
          <a:p>
            <a:pPr marL="457200" lvl="1" indent="0">
              <a:buNone/>
            </a:pPr>
            <a:r>
              <a:rPr lang="en-US" dirty="0"/>
              <a:t>The degree of error in an estimate of a population parameter. e.g. ± 2</a:t>
            </a:r>
          </a:p>
        </p:txBody>
      </p:sp>
      <p:sp>
        <p:nvSpPr>
          <p:cNvPr id="3" name="Content Placeholder 2"/>
          <p:cNvSpPr txBox="1">
            <a:spLocks/>
          </p:cNvSpPr>
          <p:nvPr/>
        </p:nvSpPr>
        <p:spPr>
          <a:xfrm>
            <a:off x="914400" y="2469780"/>
            <a:ext cx="9278465" cy="16315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CONFIDENCE</a:t>
            </a:r>
            <a:r>
              <a:rPr lang="en-US" sz="3600" b="1" dirty="0">
                <a:solidFill>
                  <a:schemeClr val="tx2"/>
                </a:solidFill>
                <a:highlight>
                  <a:srgbClr val="FFFF00"/>
                </a:highlight>
              </a:rPr>
              <a:t> *</a:t>
            </a:r>
            <a:endParaRPr lang="en-US" sz="3600" b="1" dirty="0">
              <a:solidFill>
                <a:schemeClr val="tx2"/>
              </a:solidFill>
            </a:endParaRPr>
          </a:p>
          <a:p>
            <a:pPr marL="457200" lvl="1" indent="0">
              <a:buNone/>
            </a:pPr>
            <a:r>
              <a:rPr lang="en-US" dirty="0"/>
              <a:t>The degree to which one can feel confident that an estimate approximates the true value. </a:t>
            </a:r>
            <a:r>
              <a:rPr lang="en-US" b="1" dirty="0">
                <a:highlight>
                  <a:srgbClr val="FFFF00"/>
                </a:highlight>
              </a:rPr>
              <a:t>Most often use 95%</a:t>
            </a:r>
          </a:p>
        </p:txBody>
      </p:sp>
      <p:sp>
        <p:nvSpPr>
          <p:cNvPr id="4" name="TextBox 3"/>
          <p:cNvSpPr txBox="1"/>
          <p:nvPr/>
        </p:nvSpPr>
        <p:spPr>
          <a:xfrm>
            <a:off x="2819402" y="4404884"/>
            <a:ext cx="7144865" cy="1323439"/>
          </a:xfrm>
          <a:prstGeom prst="rect">
            <a:avLst/>
          </a:prstGeom>
          <a:noFill/>
        </p:spPr>
        <p:txBody>
          <a:bodyPr wrap="square" rtlCol="0">
            <a:spAutoFit/>
          </a:bodyPr>
          <a:lstStyle/>
          <a:p>
            <a:pPr marL="0" lvl="1"/>
            <a:r>
              <a:rPr lang="en-US" altLang="en-US" sz="2600" b="1" dirty="0">
                <a:solidFill>
                  <a:schemeClr val="bg1"/>
                </a:solidFill>
              </a:rPr>
              <a:t>Precision and confidence are inversely related; as one increases, the other decreases, all else equal.</a:t>
            </a:r>
          </a:p>
          <a:p>
            <a:endParaRPr lang="en-US" sz="2800" b="1" dirty="0"/>
          </a:p>
        </p:txBody>
      </p:sp>
    </p:spTree>
    <p:extLst>
      <p:ext uri="{BB962C8B-B14F-4D97-AF65-F5344CB8AC3E}">
        <p14:creationId xmlns:p14="http://schemas.microsoft.com/office/powerpoint/2010/main" val="279004777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990600" y="774855"/>
            <a:ext cx="9677400" cy="1143461"/>
          </a:xfrm>
        </p:spPr>
        <p:txBody>
          <a:bodyPr>
            <a:normAutofit fontScale="90000"/>
          </a:bodyPr>
          <a:lstStyle/>
          <a:p>
            <a:pPr eaLnBrk="1" hangingPunct="1"/>
            <a:r>
              <a:rPr lang="en-US" altLang="en-US" sz="4400" dirty="0"/>
              <a:t>Determining Sample Size When Estimating Means</a:t>
            </a:r>
            <a:r>
              <a:rPr lang="en-US" sz="4400" b="1" dirty="0">
                <a:solidFill>
                  <a:schemeClr val="tx2"/>
                </a:solidFill>
                <a:highlight>
                  <a:srgbClr val="FFFF00"/>
                </a:highlight>
              </a:rPr>
              <a:t> *</a:t>
            </a:r>
            <a:endParaRPr lang="en-US" altLang="en-US" sz="4400" dirty="0"/>
          </a:p>
        </p:txBody>
      </p:sp>
      <p:pic>
        <p:nvPicPr>
          <p:cNvPr id="409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0516" y="1630023"/>
            <a:ext cx="6029876" cy="2128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59748" name="Text Box 4"/>
          <p:cNvSpPr txBox="1">
            <a:spLocks noChangeArrowheads="1"/>
          </p:cNvSpPr>
          <p:nvPr/>
        </p:nvSpPr>
        <p:spPr bwMode="auto">
          <a:xfrm>
            <a:off x="1447800" y="3561362"/>
            <a:ext cx="8532685" cy="1375097"/>
          </a:xfrm>
          <a:prstGeom prst="rect">
            <a:avLst/>
          </a:prstGeom>
          <a:noFill/>
          <a:ln w="12700">
            <a:noFill/>
            <a:miter lim="800000"/>
            <a:headEnd/>
            <a:tailEnd/>
          </a:ln>
          <a:effectLst/>
        </p:spPr>
        <p:txBody>
          <a:bodyPr wrap="square" lIns="81638" tIns="40819" rIns="81638" bIns="40819">
            <a:spAutoFit/>
          </a:bodyPr>
          <a:lstStyle/>
          <a:p>
            <a:pPr>
              <a:spcBef>
                <a:spcPct val="50000"/>
              </a:spcBef>
              <a:defRPr/>
            </a:pPr>
            <a:r>
              <a:rPr lang="en-US" sz="2800" dirty="0">
                <a:latin typeface="+mj-lt"/>
              </a:rPr>
              <a:t>Where </a:t>
            </a:r>
            <a:r>
              <a:rPr lang="en-US" sz="2800" i="1" dirty="0">
                <a:latin typeface="+mj-lt"/>
              </a:rPr>
              <a:t>n</a:t>
            </a:r>
            <a:r>
              <a:rPr lang="en-US" sz="2800" dirty="0">
                <a:latin typeface="+mj-lt"/>
              </a:rPr>
              <a:t> = required sample size, </a:t>
            </a:r>
            <a:r>
              <a:rPr lang="en-US" sz="2800" i="1" dirty="0">
                <a:latin typeface="+mj-lt"/>
              </a:rPr>
              <a:t>z</a:t>
            </a:r>
            <a:r>
              <a:rPr lang="en-US" sz="2800" dirty="0">
                <a:latin typeface="+mj-lt"/>
              </a:rPr>
              <a:t> = </a:t>
            </a:r>
            <a:r>
              <a:rPr lang="en-US" sz="2800" i="1" dirty="0">
                <a:latin typeface="+mj-lt"/>
              </a:rPr>
              <a:t>z</a:t>
            </a:r>
            <a:r>
              <a:rPr lang="en-US" sz="2800" dirty="0">
                <a:latin typeface="+mj-lt"/>
              </a:rPr>
              <a:t>-score corresponding to the desired degree of confidence, </a:t>
            </a:r>
            <a:r>
              <a:rPr lang="en-US" sz="2800" i="1" dirty="0">
                <a:latin typeface="+mj-lt"/>
              </a:rPr>
              <a:t>H</a:t>
            </a:r>
            <a:r>
              <a:rPr lang="en-US" sz="2800" dirty="0">
                <a:latin typeface="+mj-lt"/>
              </a:rPr>
              <a:t> = half-precision (or how far off the estimate can be in either direction), and </a:t>
            </a:r>
            <a:r>
              <a:rPr lang="el-GR" sz="2800" i="1" dirty="0">
                <a:latin typeface="+mj-lt"/>
                <a:cs typeface="Arial" pitchFamily="34" charset="0"/>
              </a:rPr>
              <a:t>σ</a:t>
            </a:r>
            <a:r>
              <a:rPr lang="en-US" sz="2800" i="1" baseline="30000" dirty="0">
                <a:latin typeface="+mj-lt"/>
                <a:cs typeface="Arial" pitchFamily="34" charset="0"/>
              </a:rPr>
              <a:t>2</a:t>
            </a:r>
            <a:r>
              <a:rPr lang="en-US" sz="2800" baseline="30000" dirty="0">
                <a:latin typeface="+mj-lt"/>
                <a:cs typeface="Arial" pitchFamily="34" charset="0"/>
              </a:rPr>
              <a:t> </a:t>
            </a:r>
            <a:r>
              <a:rPr lang="en-US" sz="2800" dirty="0">
                <a:latin typeface="+mj-lt"/>
                <a:cs typeface="Arial" pitchFamily="34" charset="0"/>
              </a:rPr>
              <a:t>= variance of the variable in the population.</a:t>
            </a:r>
            <a:endParaRPr lang="el-GR" sz="2800" dirty="0">
              <a:latin typeface="+mj-lt"/>
              <a:cs typeface="Arial" pitchFamily="34" charset="0"/>
            </a:endParaRPr>
          </a:p>
        </p:txBody>
      </p:sp>
      <p:sp>
        <p:nvSpPr>
          <p:cNvPr id="2" name="TextBox 1"/>
          <p:cNvSpPr txBox="1"/>
          <p:nvPr/>
        </p:nvSpPr>
        <p:spPr>
          <a:xfrm>
            <a:off x="3053219" y="5749603"/>
            <a:ext cx="5720477" cy="369332"/>
          </a:xfrm>
          <a:prstGeom prst="rect">
            <a:avLst/>
          </a:prstGeom>
          <a:noFill/>
        </p:spPr>
        <p:txBody>
          <a:bodyPr wrap="none" rtlCol="0">
            <a:spAutoFit/>
          </a:bodyPr>
          <a:lstStyle/>
          <a:p>
            <a:r>
              <a:rPr lang="en-US" dirty="0">
                <a:hlinkClick r:id="rId3"/>
              </a:rPr>
              <a:t>https://www.qualtrics.com/blog/calculating-sample-size/</a:t>
            </a:r>
            <a:r>
              <a:rPr lang="en-US" sz="1800" b="1" dirty="0">
                <a:solidFill>
                  <a:schemeClr val="tx2"/>
                </a:solidFill>
                <a:highlight>
                  <a:srgbClr val="FFFF00"/>
                </a:highlight>
              </a:rPr>
              <a:t> *</a:t>
            </a:r>
            <a:endParaRPr lang="en-US" dirty="0"/>
          </a:p>
        </p:txBody>
      </p:sp>
    </p:spTree>
    <p:extLst>
      <p:ext uri="{BB962C8B-B14F-4D97-AF65-F5344CB8AC3E}">
        <p14:creationId xmlns:p14="http://schemas.microsoft.com/office/powerpoint/2010/main" val="32939385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4419600" y="3048000"/>
            <a:ext cx="3255818" cy="2126340"/>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81638" tIns="40819" rIns="81638" bIns="40819" anchor="ctr"/>
          <a:lstStyle/>
          <a:p>
            <a:pPr algn="ctr">
              <a:defRPr/>
            </a:pPr>
            <a:endParaRPr lang="en-US"/>
          </a:p>
        </p:txBody>
      </p:sp>
      <p:sp>
        <p:nvSpPr>
          <p:cNvPr id="41987" name="Rectangle 2"/>
          <p:cNvSpPr>
            <a:spLocks noGrp="1" noChangeArrowheads="1"/>
          </p:cNvSpPr>
          <p:nvPr>
            <p:ph idx="1"/>
          </p:nvPr>
        </p:nvSpPr>
        <p:spPr>
          <a:xfrm>
            <a:off x="2209800" y="1981201"/>
            <a:ext cx="7620000" cy="3733553"/>
          </a:xfrm>
        </p:spPr>
        <p:txBody>
          <a:bodyPr/>
          <a:lstStyle/>
          <a:p>
            <a:pPr marL="0" indent="0" algn="ctr">
              <a:buNone/>
            </a:pPr>
            <a:r>
              <a:rPr lang="en-US" altLang="en-US" sz="3200" dirty="0"/>
              <a:t>When is it </a:t>
            </a:r>
            <a:r>
              <a:rPr lang="en-US" altLang="en-US" sz="3200" b="1" i="1" dirty="0"/>
              <a:t>mean</a:t>
            </a:r>
            <a:r>
              <a:rPr lang="en-US" altLang="en-US" sz="3200" dirty="0"/>
              <a:t>ingful to calculate a mean?</a:t>
            </a:r>
          </a:p>
          <a:p>
            <a:pPr marL="0" indent="0" algn="ctr">
              <a:buNone/>
            </a:pPr>
            <a:endParaRPr lang="en-US" altLang="en-US" sz="2500" dirty="0"/>
          </a:p>
          <a:p>
            <a:pPr eaLnBrk="1" hangingPunct="1"/>
            <a:endParaRPr lang="en-US" altLang="en-US" dirty="0"/>
          </a:p>
          <a:p>
            <a:pPr algn="ctr" eaLnBrk="1" hangingPunct="1">
              <a:buFontTx/>
              <a:buNone/>
            </a:pPr>
            <a:r>
              <a:rPr lang="en-US" altLang="en-US" sz="2900" b="1" i="1" dirty="0">
                <a:solidFill>
                  <a:schemeClr val="tx2"/>
                </a:solidFill>
              </a:rPr>
              <a:t>INTERVAL SCALES</a:t>
            </a:r>
          </a:p>
          <a:p>
            <a:pPr algn="ctr" eaLnBrk="1" hangingPunct="1">
              <a:buFontTx/>
              <a:buNone/>
            </a:pPr>
            <a:endParaRPr lang="en-US" altLang="en-US" sz="700" b="1" i="1" dirty="0">
              <a:solidFill>
                <a:schemeClr val="tx2"/>
              </a:solidFill>
            </a:endParaRPr>
          </a:p>
          <a:p>
            <a:pPr algn="ctr" eaLnBrk="1" hangingPunct="1">
              <a:buFontTx/>
              <a:buNone/>
            </a:pPr>
            <a:r>
              <a:rPr lang="en-US" altLang="en-US" sz="2900" b="1" i="1" dirty="0">
                <a:solidFill>
                  <a:schemeClr val="tx2"/>
                </a:solidFill>
              </a:rPr>
              <a:t>RATIO SCALES</a:t>
            </a:r>
          </a:p>
        </p:txBody>
      </p:sp>
    </p:spTree>
    <p:extLst>
      <p:ext uri="{BB962C8B-B14F-4D97-AF65-F5344CB8AC3E}">
        <p14:creationId xmlns:p14="http://schemas.microsoft.com/office/powerpoint/2010/main" val="6933971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990600" y="774855"/>
            <a:ext cx="9677400" cy="1143461"/>
          </a:xfrm>
        </p:spPr>
        <p:txBody>
          <a:bodyPr>
            <a:normAutofit/>
          </a:bodyPr>
          <a:lstStyle/>
          <a:p>
            <a:r>
              <a:rPr lang="en-US" altLang="en-US" sz="4400" dirty="0"/>
              <a:t>What is an Interval Scale?</a:t>
            </a:r>
            <a:r>
              <a:rPr lang="en-US" b="1" dirty="0">
                <a:solidFill>
                  <a:schemeClr val="tx2"/>
                </a:solidFill>
                <a:highlight>
                  <a:srgbClr val="FFFF00"/>
                </a:highlight>
              </a:rPr>
              <a:t> *</a:t>
            </a:r>
            <a:endParaRPr lang="en-US" altLang="en-US" sz="4400" dirty="0"/>
          </a:p>
        </p:txBody>
      </p:sp>
      <p:sp>
        <p:nvSpPr>
          <p:cNvPr id="159748" name="Text Box 4"/>
          <p:cNvSpPr txBox="1">
            <a:spLocks noChangeArrowheads="1"/>
          </p:cNvSpPr>
          <p:nvPr/>
        </p:nvSpPr>
        <p:spPr bwMode="auto">
          <a:xfrm>
            <a:off x="1083906" y="2208423"/>
            <a:ext cx="8532685" cy="2236871"/>
          </a:xfrm>
          <a:prstGeom prst="rect">
            <a:avLst/>
          </a:prstGeom>
          <a:noFill/>
          <a:ln w="12700">
            <a:noFill/>
            <a:miter lim="800000"/>
            <a:headEnd/>
            <a:tailEnd/>
          </a:ln>
          <a:effectLst/>
        </p:spPr>
        <p:txBody>
          <a:bodyPr wrap="square" lIns="81638" tIns="40819" rIns="81638" bIns="40819">
            <a:spAutoFit/>
          </a:bodyPr>
          <a:lstStyle/>
          <a:p>
            <a:pPr>
              <a:spcBef>
                <a:spcPct val="50000"/>
              </a:spcBef>
              <a:defRPr/>
            </a:pPr>
            <a:r>
              <a:rPr lang="en-US" sz="2800" dirty="0">
                <a:latin typeface="+mj-lt"/>
              </a:rPr>
              <a:t>The interval scale collects and measures data where the distance between two points is equal. The scale indicates the degree of difference as well as the rank and order of the values gathered from market research or types of survey questions.</a:t>
            </a:r>
            <a:endParaRPr lang="el-GR" sz="2800" dirty="0">
              <a:latin typeface="+mj-lt"/>
              <a:cs typeface="Arial" pitchFamily="34" charset="0"/>
            </a:endParaRPr>
          </a:p>
        </p:txBody>
      </p:sp>
      <p:sp>
        <p:nvSpPr>
          <p:cNvPr id="3" name="TextBox 2">
            <a:extLst>
              <a:ext uri="{FF2B5EF4-FFF2-40B4-BE49-F238E27FC236}">
                <a16:creationId xmlns:a16="http://schemas.microsoft.com/office/drawing/2014/main" id="{02EA5CB4-B38B-4116-A304-A2C80824ED07}"/>
              </a:ext>
            </a:extLst>
          </p:cNvPr>
          <p:cNvSpPr txBox="1"/>
          <p:nvPr/>
        </p:nvSpPr>
        <p:spPr>
          <a:xfrm>
            <a:off x="1175657" y="4889241"/>
            <a:ext cx="8247514" cy="923330"/>
          </a:xfrm>
          <a:prstGeom prst="rect">
            <a:avLst/>
          </a:prstGeom>
          <a:noFill/>
        </p:spPr>
        <p:txBody>
          <a:bodyPr wrap="none" rtlCol="0">
            <a:spAutoFit/>
          </a:bodyPr>
          <a:lstStyle/>
          <a:p>
            <a:r>
              <a:rPr lang="en-US" dirty="0"/>
              <a:t>How would you rate your Professor, where 0 is Strongly Dislike and 10 is Strongly Like?</a:t>
            </a:r>
          </a:p>
          <a:p>
            <a:endParaRPr lang="en-US" dirty="0"/>
          </a:p>
          <a:p>
            <a:pPr algn="ctr"/>
            <a:r>
              <a:rPr lang="en-US" dirty="0"/>
              <a:t>0   1   2   3   4   5   6   7   8   9   10</a:t>
            </a:r>
          </a:p>
        </p:txBody>
      </p:sp>
      <p:sp>
        <p:nvSpPr>
          <p:cNvPr id="4" name="Explosion: 8 Points 3">
            <a:extLst>
              <a:ext uri="{FF2B5EF4-FFF2-40B4-BE49-F238E27FC236}">
                <a16:creationId xmlns:a16="http://schemas.microsoft.com/office/drawing/2014/main" id="{4E717130-7D29-4295-B2D8-8E432652FA69}"/>
              </a:ext>
            </a:extLst>
          </p:cNvPr>
          <p:cNvSpPr/>
          <p:nvPr/>
        </p:nvSpPr>
        <p:spPr>
          <a:xfrm>
            <a:off x="6316824" y="5215813"/>
            <a:ext cx="765111" cy="802018"/>
          </a:xfrm>
          <a:prstGeom prst="irregularSeal1">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4636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990600" y="774855"/>
            <a:ext cx="9677400" cy="1143461"/>
          </a:xfrm>
        </p:spPr>
        <p:txBody>
          <a:bodyPr>
            <a:normAutofit/>
          </a:bodyPr>
          <a:lstStyle/>
          <a:p>
            <a:pPr eaLnBrk="1" hangingPunct="1"/>
            <a:r>
              <a:rPr lang="en-US" altLang="en-US" sz="4400" dirty="0"/>
              <a:t>What is a Ratio Scale?</a:t>
            </a:r>
            <a:r>
              <a:rPr lang="en-US" sz="4400" b="1" dirty="0">
                <a:solidFill>
                  <a:schemeClr val="tx2"/>
                </a:solidFill>
                <a:highlight>
                  <a:srgbClr val="FFFF00"/>
                </a:highlight>
              </a:rPr>
              <a:t> *</a:t>
            </a:r>
            <a:endParaRPr lang="en-US" altLang="en-US" sz="4400" dirty="0"/>
          </a:p>
        </p:txBody>
      </p:sp>
      <p:sp>
        <p:nvSpPr>
          <p:cNvPr id="159748" name="Text Box 4"/>
          <p:cNvSpPr txBox="1">
            <a:spLocks noChangeArrowheads="1"/>
          </p:cNvSpPr>
          <p:nvPr/>
        </p:nvSpPr>
        <p:spPr bwMode="auto">
          <a:xfrm>
            <a:off x="1083906" y="2208423"/>
            <a:ext cx="8532685" cy="1805984"/>
          </a:xfrm>
          <a:prstGeom prst="rect">
            <a:avLst/>
          </a:prstGeom>
          <a:noFill/>
          <a:ln w="12700">
            <a:noFill/>
            <a:miter lim="800000"/>
            <a:headEnd/>
            <a:tailEnd/>
          </a:ln>
          <a:effectLst/>
        </p:spPr>
        <p:txBody>
          <a:bodyPr wrap="square" lIns="81638" tIns="40819" rIns="81638" bIns="40819">
            <a:spAutoFit/>
          </a:bodyPr>
          <a:lstStyle/>
          <a:p>
            <a:pPr>
              <a:spcBef>
                <a:spcPct val="50000"/>
              </a:spcBef>
              <a:defRPr/>
            </a:pPr>
            <a:r>
              <a:rPr lang="en-US" sz="2800" dirty="0">
                <a:latin typeface="+mj-lt"/>
              </a:rPr>
              <a:t>A ratio scale is a quantitative scale that uses equal intervals between points and a true zero to measure data. It's the highest level of measurement scale in terms of precision. </a:t>
            </a:r>
          </a:p>
        </p:txBody>
      </p:sp>
      <p:sp>
        <p:nvSpPr>
          <p:cNvPr id="3" name="TextBox 2">
            <a:extLst>
              <a:ext uri="{FF2B5EF4-FFF2-40B4-BE49-F238E27FC236}">
                <a16:creationId xmlns:a16="http://schemas.microsoft.com/office/drawing/2014/main" id="{02EA5CB4-B38B-4116-A304-A2C80824ED07}"/>
              </a:ext>
            </a:extLst>
          </p:cNvPr>
          <p:cNvSpPr txBox="1"/>
          <p:nvPr/>
        </p:nvSpPr>
        <p:spPr>
          <a:xfrm>
            <a:off x="1175657" y="4889241"/>
            <a:ext cx="6842835" cy="369332"/>
          </a:xfrm>
          <a:prstGeom prst="rect">
            <a:avLst/>
          </a:prstGeom>
          <a:noFill/>
        </p:spPr>
        <p:txBody>
          <a:bodyPr wrap="none" rtlCol="0">
            <a:spAutoFit/>
          </a:bodyPr>
          <a:lstStyle/>
          <a:p>
            <a:pPr algn="ctr"/>
            <a:r>
              <a:rPr lang="en-US" dirty="0"/>
              <a:t>Key uses are Height, Weight, Market Share, Sales, Customer Count, etc.</a:t>
            </a:r>
          </a:p>
        </p:txBody>
      </p:sp>
    </p:spTree>
    <p:extLst>
      <p:ext uri="{BB962C8B-B14F-4D97-AF65-F5344CB8AC3E}">
        <p14:creationId xmlns:p14="http://schemas.microsoft.com/office/powerpoint/2010/main" val="9166304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066800" y="1974979"/>
            <a:ext cx="10058400" cy="3962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altLang="en-US" sz="2700" dirty="0"/>
              <a:t>How did I get to </a:t>
            </a:r>
            <a:r>
              <a:rPr lang="en-US" altLang="en-US" sz="2700" dirty="0">
                <a:hlinkClick r:id="rId2"/>
              </a:rPr>
              <a:t>1.96</a:t>
            </a:r>
            <a:r>
              <a:rPr lang="en-US" altLang="en-US" sz="2700" dirty="0"/>
              <a:t>?</a:t>
            </a:r>
          </a:p>
          <a:p>
            <a:pPr>
              <a:lnSpc>
                <a:spcPct val="90000"/>
              </a:lnSpc>
            </a:pPr>
            <a:r>
              <a:rPr lang="en-US" altLang="en-US" sz="2700" dirty="0"/>
              <a:t>Calculate:</a:t>
            </a:r>
          </a:p>
          <a:p>
            <a:pPr lvl="1">
              <a:lnSpc>
                <a:spcPct val="90000"/>
              </a:lnSpc>
            </a:pPr>
            <a:r>
              <a:rPr lang="en-US" altLang="en-US" sz="2100" dirty="0"/>
              <a:t>A</a:t>
            </a:r>
            <a:r>
              <a:rPr lang="en-US" altLang="en-US" sz="1200" dirty="0"/>
              <a:t>L</a:t>
            </a:r>
            <a:r>
              <a:rPr lang="en-US" altLang="en-US" sz="2100" dirty="0"/>
              <a:t> = (1 + CI)/2 = (1 + .95)/2 = 1.95/2 = 0.975</a:t>
            </a:r>
          </a:p>
          <a:p>
            <a:pPr lvl="1">
              <a:lnSpc>
                <a:spcPct val="90000"/>
              </a:lnSpc>
            </a:pPr>
            <a:endParaRPr lang="en-US" altLang="en-US" sz="2100" dirty="0"/>
          </a:p>
        </p:txBody>
      </p:sp>
      <p:sp>
        <p:nvSpPr>
          <p:cNvPr id="4" name="Title 3"/>
          <p:cNvSpPr>
            <a:spLocks noGrp="1"/>
          </p:cNvSpPr>
          <p:nvPr>
            <p:ph type="title"/>
          </p:nvPr>
        </p:nvSpPr>
        <p:spPr>
          <a:xfrm>
            <a:off x="1066800" y="762000"/>
            <a:ext cx="8153400" cy="990600"/>
          </a:xfrm>
        </p:spPr>
        <p:txBody>
          <a:bodyPr>
            <a:normAutofit/>
          </a:bodyPr>
          <a:lstStyle/>
          <a:p>
            <a:r>
              <a:rPr lang="en-US" altLang="en-US" b="1" i="1" dirty="0"/>
              <a:t>Determining Z-Score</a:t>
            </a:r>
            <a:r>
              <a:rPr lang="en-US" sz="4400" b="1" dirty="0">
                <a:solidFill>
                  <a:schemeClr val="tx2"/>
                </a:solidFill>
                <a:highlight>
                  <a:srgbClr val="FFFF00"/>
                </a:highlight>
              </a:rPr>
              <a:t> *</a:t>
            </a:r>
            <a:endParaRPr lang="en-US" dirty="0"/>
          </a:p>
        </p:txBody>
      </p:sp>
      <p:pic>
        <p:nvPicPr>
          <p:cNvPr id="2" name="Picture 1">
            <a:extLst>
              <a:ext uri="{FF2B5EF4-FFF2-40B4-BE49-F238E27FC236}">
                <a16:creationId xmlns:a16="http://schemas.microsoft.com/office/drawing/2014/main" id="{95E5F80B-14EA-4363-BB5B-77517CDC1280}"/>
              </a:ext>
            </a:extLst>
          </p:cNvPr>
          <p:cNvPicPr>
            <a:picLocks noChangeAspect="1"/>
          </p:cNvPicPr>
          <p:nvPr/>
        </p:nvPicPr>
        <p:blipFill>
          <a:blip r:embed="rId3"/>
          <a:stretch>
            <a:fillRect/>
          </a:stretch>
        </p:blipFill>
        <p:spPr>
          <a:xfrm>
            <a:off x="2754915" y="3429001"/>
            <a:ext cx="4960654" cy="2803848"/>
          </a:xfrm>
          <a:prstGeom prst="rect">
            <a:avLst/>
          </a:prstGeom>
        </p:spPr>
      </p:pic>
    </p:spTree>
    <p:extLst>
      <p:ext uri="{BB962C8B-B14F-4D97-AF65-F5344CB8AC3E}">
        <p14:creationId xmlns:p14="http://schemas.microsoft.com/office/powerpoint/2010/main" val="366504747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2834409" y="4650061"/>
            <a:ext cx="7620000" cy="797377"/>
          </a:xfrm>
          <a:prstGeom prst="rect">
            <a:avLst/>
          </a:prstGeom>
          <a:gradFill rotWithShape="0">
            <a:gsLst>
              <a:gs pos="0">
                <a:schemeClr val="bg1"/>
              </a:gs>
              <a:gs pos="100000">
                <a:schemeClr val="accent1"/>
              </a:gs>
            </a:gsLst>
            <a:lin ang="5400000" scaled="1"/>
          </a:gradFill>
          <a:ln w="12700">
            <a:solidFill>
              <a:schemeClr val="tx1"/>
            </a:solidFill>
            <a:miter lim="800000"/>
            <a:headEnd/>
            <a:tailEnd/>
          </a:ln>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46084" name="Rectangle 3"/>
          <p:cNvSpPr>
            <a:spLocks noGrp="1" noChangeArrowheads="1"/>
          </p:cNvSpPr>
          <p:nvPr>
            <p:ph idx="1"/>
          </p:nvPr>
        </p:nvSpPr>
        <p:spPr>
          <a:xfrm>
            <a:off x="2514600" y="1600200"/>
            <a:ext cx="7620000" cy="3734938"/>
          </a:xfrm>
        </p:spPr>
        <p:txBody>
          <a:bodyPr>
            <a:normAutofit lnSpcReduction="10000"/>
          </a:bodyPr>
          <a:lstStyle/>
          <a:p>
            <a:pPr eaLnBrk="1" hangingPunct="1"/>
            <a:r>
              <a:rPr lang="en-US" altLang="en-US" sz="2100" dirty="0"/>
              <a:t>You have been asked to determine the average amount that fishermen spend per year on food and lodging while on fishing trips in a certain state. Your estimate is to be within   + / - $25 of the population mean; the confidence level is to be 95%; and the estimated standard deviation for the amount spent is $125 based on prior research. Thus,</a:t>
            </a:r>
          </a:p>
          <a:p>
            <a:pPr lvl="1" algn="ctr" eaLnBrk="1" hangingPunct="1">
              <a:buFont typeface="Wingdings" pitchFamily="2" charset="2"/>
              <a:buNone/>
            </a:pPr>
            <a:r>
              <a:rPr lang="en-US" altLang="en-US" sz="2500" b="1" dirty="0"/>
              <a:t>H = $25</a:t>
            </a:r>
          </a:p>
          <a:p>
            <a:pPr lvl="1" algn="ctr" eaLnBrk="1" hangingPunct="1">
              <a:buFont typeface="Wingdings" pitchFamily="2" charset="2"/>
              <a:buNone/>
            </a:pPr>
            <a:r>
              <a:rPr lang="en-US" altLang="en-US" sz="2500" b="1" i="1" dirty="0"/>
              <a:t>z </a:t>
            </a:r>
            <a:r>
              <a:rPr lang="en-US" altLang="en-US" sz="2500" b="1" dirty="0"/>
              <a:t>= 1.96</a:t>
            </a:r>
          </a:p>
          <a:p>
            <a:pPr lvl="1" algn="ctr" eaLnBrk="1" hangingPunct="1">
              <a:buFont typeface="Wingdings" pitchFamily="2" charset="2"/>
              <a:buNone/>
            </a:pPr>
            <a:r>
              <a:rPr lang="el-GR" altLang="en-US" sz="2500" b="1" i="1" dirty="0">
                <a:cs typeface="Arial" pitchFamily="34" charset="0"/>
              </a:rPr>
              <a:t>σ</a:t>
            </a:r>
            <a:r>
              <a:rPr lang="en-US" altLang="en-US" sz="2500" b="1" dirty="0">
                <a:cs typeface="Arial" pitchFamily="34" charset="0"/>
              </a:rPr>
              <a:t> = $125</a:t>
            </a:r>
          </a:p>
          <a:p>
            <a:pPr lvl="1" eaLnBrk="1" hangingPunct="1">
              <a:buFont typeface="Wingdings" pitchFamily="2" charset="2"/>
              <a:buNone/>
            </a:pPr>
            <a:endParaRPr lang="en-US" altLang="en-US" sz="2500" b="1" i="1" dirty="0">
              <a:solidFill>
                <a:srgbClr val="FF9933"/>
              </a:solidFill>
              <a:cs typeface="Arial" pitchFamily="34" charset="0"/>
            </a:endParaRPr>
          </a:p>
          <a:p>
            <a:pPr lvl="1" algn="ctr" eaLnBrk="1" hangingPunct="1">
              <a:buFont typeface="Wingdings" pitchFamily="2" charset="2"/>
              <a:buNone/>
            </a:pPr>
            <a:r>
              <a:rPr lang="en-US" altLang="en-US" sz="2900" b="1" i="1" dirty="0">
                <a:solidFill>
                  <a:schemeClr val="tx2"/>
                </a:solidFill>
                <a:cs typeface="Arial" pitchFamily="34" charset="0"/>
              </a:rPr>
              <a:t>HOW LARGE A SAMPLE DO YOU NEED?</a:t>
            </a:r>
            <a:endParaRPr lang="el-GR" altLang="en-US" sz="2900" b="1" i="1" dirty="0">
              <a:solidFill>
                <a:schemeClr val="tx2"/>
              </a:solidFill>
              <a:cs typeface="Arial" pitchFamily="34" charset="0"/>
            </a:endParaRPr>
          </a:p>
        </p:txBody>
      </p:sp>
    </p:spTree>
    <p:extLst>
      <p:ext uri="{BB962C8B-B14F-4D97-AF65-F5344CB8AC3E}">
        <p14:creationId xmlns:p14="http://schemas.microsoft.com/office/powerpoint/2010/main" val="31312875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2363" y="2129109"/>
            <a:ext cx="7811944" cy="1987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 name="Title 1"/>
          <p:cNvSpPr>
            <a:spLocks noGrp="1"/>
          </p:cNvSpPr>
          <p:nvPr>
            <p:ph type="title"/>
          </p:nvPr>
        </p:nvSpPr>
        <p:spPr/>
        <p:txBody>
          <a:bodyPr/>
          <a:lstStyle/>
          <a:p>
            <a:r>
              <a:rPr lang="en-US" dirty="0"/>
              <a:t>Calculation</a:t>
            </a:r>
            <a:r>
              <a:rPr lang="en-US" sz="4400" b="1" dirty="0">
                <a:solidFill>
                  <a:schemeClr val="tx2"/>
                </a:solidFill>
                <a:highlight>
                  <a:srgbClr val="FFFF00"/>
                </a:highlight>
              </a:rPr>
              <a:t> *</a:t>
            </a:r>
            <a:endParaRPr lang="en-US" dirty="0"/>
          </a:p>
        </p:txBody>
      </p:sp>
    </p:spTree>
    <p:extLst>
      <p:ext uri="{BB962C8B-B14F-4D97-AF65-F5344CB8AC3E}">
        <p14:creationId xmlns:p14="http://schemas.microsoft.com/office/powerpoint/2010/main" val="22384205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813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362200"/>
            <a:ext cx="6165273" cy="2257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69987" name="Text Box 3"/>
          <p:cNvSpPr txBox="1">
            <a:spLocks noChangeArrowheads="1"/>
          </p:cNvSpPr>
          <p:nvPr/>
        </p:nvSpPr>
        <p:spPr bwMode="auto">
          <a:xfrm>
            <a:off x="1752600" y="4353352"/>
            <a:ext cx="8160328" cy="1559763"/>
          </a:xfrm>
          <a:prstGeom prst="rect">
            <a:avLst/>
          </a:prstGeom>
          <a:noFill/>
          <a:ln w="12700">
            <a:noFill/>
            <a:miter lim="800000"/>
            <a:headEnd/>
            <a:tailEnd/>
          </a:ln>
          <a:effectLst/>
        </p:spPr>
        <p:txBody>
          <a:bodyPr wrap="square" lIns="81638" tIns="40819" rIns="81638" bIns="40819">
            <a:spAutoFit/>
          </a:bodyPr>
          <a:lstStyle/>
          <a:p>
            <a:pPr>
              <a:spcBef>
                <a:spcPct val="50000"/>
              </a:spcBef>
              <a:defRPr/>
            </a:pPr>
            <a:r>
              <a:rPr lang="en-US" sz="2400" dirty="0"/>
              <a:t>Where </a:t>
            </a:r>
            <a:r>
              <a:rPr lang="en-US" sz="2400" i="1" dirty="0"/>
              <a:t>n</a:t>
            </a:r>
            <a:r>
              <a:rPr lang="en-US" sz="2400" dirty="0"/>
              <a:t> = required sample size, </a:t>
            </a:r>
            <a:r>
              <a:rPr lang="en-US" sz="2400" i="1" dirty="0"/>
              <a:t>z</a:t>
            </a:r>
            <a:r>
              <a:rPr lang="en-US" sz="2400" dirty="0"/>
              <a:t> = </a:t>
            </a:r>
            <a:r>
              <a:rPr lang="en-US" sz="2400" i="1" dirty="0"/>
              <a:t>z</a:t>
            </a:r>
            <a:r>
              <a:rPr lang="en-US" sz="2400" dirty="0"/>
              <a:t>-score corresponding to the desired degree of confidence, </a:t>
            </a:r>
            <a:r>
              <a:rPr lang="en-US" sz="2400" i="1" dirty="0"/>
              <a:t>H</a:t>
            </a:r>
            <a:r>
              <a:rPr lang="en-US" sz="2400" dirty="0"/>
              <a:t> = half-precision (or how far off the estimate can be in either direction), and </a:t>
            </a:r>
            <a:r>
              <a:rPr lang="el-GR" sz="2400" i="1" dirty="0">
                <a:cs typeface="Arial" pitchFamily="34" charset="0"/>
              </a:rPr>
              <a:t>π</a:t>
            </a:r>
            <a:r>
              <a:rPr lang="en-US" sz="2400" baseline="30000" dirty="0">
                <a:cs typeface="Arial" pitchFamily="34" charset="0"/>
              </a:rPr>
              <a:t> </a:t>
            </a:r>
            <a:r>
              <a:rPr lang="en-US" sz="2400" dirty="0">
                <a:cs typeface="Arial" pitchFamily="34" charset="0"/>
              </a:rPr>
              <a:t>= estimated population proportion.</a:t>
            </a:r>
            <a:endParaRPr lang="el-GR" sz="2400" dirty="0">
              <a:cs typeface="Arial" pitchFamily="34" charset="0"/>
            </a:endParaRPr>
          </a:p>
        </p:txBody>
      </p:sp>
      <p:sp>
        <p:nvSpPr>
          <p:cNvPr id="2" name="Title 1"/>
          <p:cNvSpPr>
            <a:spLocks noGrp="1"/>
          </p:cNvSpPr>
          <p:nvPr>
            <p:ph type="title"/>
          </p:nvPr>
        </p:nvSpPr>
        <p:spPr>
          <a:xfrm>
            <a:off x="914400" y="1104901"/>
            <a:ext cx="9677400" cy="990600"/>
          </a:xfrm>
        </p:spPr>
        <p:txBody>
          <a:bodyPr>
            <a:normAutofit fontScale="90000"/>
          </a:bodyPr>
          <a:lstStyle/>
          <a:p>
            <a:r>
              <a:rPr lang="en-US" dirty="0"/>
              <a:t>Determining Sample Size When Estimating Proportions</a:t>
            </a:r>
            <a:br>
              <a:rPr lang="en-US" dirty="0"/>
            </a:br>
            <a:endParaRPr lang="en-US" dirty="0"/>
          </a:p>
        </p:txBody>
      </p:sp>
    </p:spTree>
    <p:extLst>
      <p:ext uri="{BB962C8B-B14F-4D97-AF65-F5344CB8AC3E}">
        <p14:creationId xmlns:p14="http://schemas.microsoft.com/office/powerpoint/2010/main" val="41334832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Oval 5"/>
          <p:cNvSpPr/>
          <p:nvPr/>
        </p:nvSpPr>
        <p:spPr>
          <a:xfrm>
            <a:off x="4495800" y="2646850"/>
            <a:ext cx="3525404" cy="2126340"/>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81638" tIns="40819" rIns="81638" bIns="40819" anchor="ctr"/>
          <a:lstStyle/>
          <a:p>
            <a:pPr algn="ctr">
              <a:defRPr/>
            </a:pPr>
            <a:endParaRPr lang="en-US"/>
          </a:p>
        </p:txBody>
      </p:sp>
      <p:sp>
        <p:nvSpPr>
          <p:cNvPr id="49155" name="Rectangle 2"/>
          <p:cNvSpPr>
            <a:spLocks noGrp="1" noChangeArrowheads="1"/>
          </p:cNvSpPr>
          <p:nvPr>
            <p:ph idx="1"/>
          </p:nvPr>
        </p:nvSpPr>
        <p:spPr>
          <a:xfrm>
            <a:off x="1447800" y="1600200"/>
            <a:ext cx="9720073" cy="4023360"/>
          </a:xfrm>
        </p:spPr>
        <p:txBody>
          <a:bodyPr/>
          <a:lstStyle/>
          <a:p>
            <a:pPr eaLnBrk="1" hangingPunct="1"/>
            <a:r>
              <a:rPr lang="en-US" altLang="en-US" sz="2900" dirty="0"/>
              <a:t>When do we use the proportion formula for sample size calculation?</a:t>
            </a:r>
          </a:p>
          <a:p>
            <a:pPr eaLnBrk="1" hangingPunct="1"/>
            <a:endParaRPr lang="en-US" altLang="en-US" dirty="0"/>
          </a:p>
          <a:p>
            <a:pPr algn="ctr" eaLnBrk="1" hangingPunct="1">
              <a:buFontTx/>
              <a:buNone/>
            </a:pPr>
            <a:r>
              <a:rPr lang="en-US" altLang="en-US" sz="2900" b="1" i="1" dirty="0">
                <a:solidFill>
                  <a:schemeClr val="accent2"/>
                </a:solidFill>
              </a:rPr>
              <a:t>NOMINAL SCALES</a:t>
            </a:r>
          </a:p>
          <a:p>
            <a:pPr algn="ctr" eaLnBrk="1" hangingPunct="1">
              <a:buFontTx/>
              <a:buNone/>
            </a:pPr>
            <a:endParaRPr lang="en-US" altLang="en-US" sz="700" b="1" i="1" dirty="0">
              <a:solidFill>
                <a:schemeClr val="accent2"/>
              </a:solidFill>
            </a:endParaRPr>
          </a:p>
          <a:p>
            <a:pPr algn="ctr" eaLnBrk="1" hangingPunct="1">
              <a:buFontTx/>
              <a:buNone/>
            </a:pPr>
            <a:r>
              <a:rPr lang="en-US" altLang="en-US" sz="2900" b="1" i="1" dirty="0">
                <a:solidFill>
                  <a:schemeClr val="accent2"/>
                </a:solidFill>
              </a:rPr>
              <a:t>ORDINAL SCALES</a:t>
            </a:r>
          </a:p>
        </p:txBody>
      </p:sp>
    </p:spTree>
    <p:extLst>
      <p:ext uri="{BB962C8B-B14F-4D97-AF65-F5344CB8AC3E}">
        <p14:creationId xmlns:p14="http://schemas.microsoft.com/office/powerpoint/2010/main" val="4190050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2724727" y="4691919"/>
            <a:ext cx="7620000" cy="797377"/>
          </a:xfrm>
          <a:prstGeom prst="rect">
            <a:avLst/>
          </a:prstGeom>
          <a:gradFill rotWithShape="0">
            <a:gsLst>
              <a:gs pos="0">
                <a:schemeClr val="bg1"/>
              </a:gs>
              <a:gs pos="100000">
                <a:schemeClr val="accent1"/>
              </a:gs>
            </a:gsLst>
            <a:lin ang="5400000" scaled="1"/>
          </a:gradFill>
          <a:ln w="12700">
            <a:solidFill>
              <a:schemeClr val="tx1"/>
            </a:solidFill>
            <a:miter lim="800000"/>
            <a:headEnd/>
            <a:tailEnd/>
          </a:ln>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173059" name="Rectangle 3"/>
          <p:cNvSpPr>
            <a:spLocks noChangeArrowheads="1"/>
          </p:cNvSpPr>
          <p:nvPr/>
        </p:nvSpPr>
        <p:spPr bwMode="auto">
          <a:xfrm>
            <a:off x="2438977" y="962517"/>
            <a:ext cx="8001000" cy="4525394"/>
          </a:xfrm>
          <a:prstGeom prst="rect">
            <a:avLst/>
          </a:prstGeom>
          <a:noFill/>
          <a:ln w="9525">
            <a:noFill/>
            <a:miter lim="800000"/>
            <a:headEnd/>
            <a:tailEnd/>
          </a:ln>
          <a:effectLst/>
        </p:spPr>
        <p:txBody>
          <a:bodyPr lIns="91428" tIns="45714" rIns="91428" bIns="45714"/>
          <a:lstStyle/>
          <a:p>
            <a:pPr marL="342991" indent="-342991" defTabSz="914172">
              <a:spcBef>
                <a:spcPct val="20000"/>
              </a:spcBef>
              <a:defRPr/>
            </a:pPr>
            <a:r>
              <a:rPr lang="en-US" sz="2100" dirty="0"/>
              <a:t>	You have been asked to determine the proportion of all out-of-state fishermen who took at least one overnight fishing trip in the past year. Your estimate is to be within   + / - 2% of the population mean; the confidence level is to be 95%; and the best guess is that 25% of out-of-state respondents have taken at least one overnight fishing trip. Thus,</a:t>
            </a:r>
          </a:p>
          <a:p>
            <a:pPr marL="742676" lvl="1" indent="-284882" algn="ctr" defTabSz="914172">
              <a:spcBef>
                <a:spcPct val="20000"/>
              </a:spcBef>
              <a:defRPr/>
            </a:pPr>
            <a:r>
              <a:rPr lang="en-US" sz="2500" b="1" dirty="0"/>
              <a:t>H = 2%</a:t>
            </a:r>
          </a:p>
          <a:p>
            <a:pPr marL="742676" lvl="1" indent="-284882" algn="ctr" defTabSz="914172">
              <a:spcBef>
                <a:spcPct val="20000"/>
              </a:spcBef>
              <a:defRPr/>
            </a:pPr>
            <a:r>
              <a:rPr lang="en-US" sz="2500" b="1" i="1" dirty="0"/>
              <a:t>z </a:t>
            </a:r>
            <a:r>
              <a:rPr lang="en-US" sz="2500" b="1" dirty="0"/>
              <a:t>= 1.96</a:t>
            </a:r>
          </a:p>
          <a:p>
            <a:pPr marL="742676" lvl="1" indent="-284882" algn="ctr" defTabSz="914172">
              <a:spcBef>
                <a:spcPct val="20000"/>
              </a:spcBef>
              <a:defRPr/>
            </a:pPr>
            <a:r>
              <a:rPr lang="el-GR" sz="2500" b="1" i="1" dirty="0">
                <a:cs typeface="Arial" pitchFamily="34" charset="0"/>
              </a:rPr>
              <a:t>π</a:t>
            </a:r>
            <a:r>
              <a:rPr lang="en-US" sz="2500" b="1" dirty="0">
                <a:cs typeface="Arial" pitchFamily="34" charset="0"/>
              </a:rPr>
              <a:t> = 25%</a:t>
            </a:r>
          </a:p>
          <a:p>
            <a:pPr marL="742676" lvl="1" indent="-284882" algn="ctr" defTabSz="914172">
              <a:spcBef>
                <a:spcPct val="20000"/>
              </a:spcBef>
              <a:defRPr/>
            </a:pPr>
            <a:endParaRPr lang="en-US" sz="2500" b="1" dirty="0">
              <a:cs typeface="Arial" pitchFamily="34" charset="0"/>
            </a:endParaRPr>
          </a:p>
          <a:p>
            <a:pPr marL="742676" lvl="1" indent="-284882" defTabSz="914172">
              <a:spcBef>
                <a:spcPct val="20000"/>
              </a:spcBef>
              <a:defRPr/>
            </a:pPr>
            <a:r>
              <a:rPr lang="en-US" sz="2900" b="1" i="1" dirty="0">
                <a:solidFill>
                  <a:schemeClr val="accent2"/>
                </a:solidFill>
                <a:cs typeface="Arial" pitchFamily="34" charset="0"/>
              </a:rPr>
              <a:t>		HOW LARGE A SAMPLE DO YOU NEED?</a:t>
            </a:r>
            <a:endParaRPr lang="el-GR" sz="2900" b="1" i="1" dirty="0">
              <a:solidFill>
                <a:schemeClr val="accent2"/>
              </a:solidFill>
              <a:cs typeface="Arial" pitchFamily="34" charset="0"/>
            </a:endParaRPr>
          </a:p>
        </p:txBody>
      </p:sp>
    </p:spTree>
    <p:extLst>
      <p:ext uri="{BB962C8B-B14F-4D97-AF65-F5344CB8AC3E}">
        <p14:creationId xmlns:p14="http://schemas.microsoft.com/office/powerpoint/2010/main" val="23617045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22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514600"/>
            <a:ext cx="8727134" cy="186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4546719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914400" y="838200"/>
            <a:ext cx="7941830" cy="1143461"/>
          </a:xfrm>
        </p:spPr>
        <p:txBody>
          <a:bodyPr>
            <a:normAutofit/>
          </a:bodyPr>
          <a:lstStyle/>
          <a:p>
            <a:pPr eaLnBrk="1" hangingPunct="1"/>
            <a:r>
              <a:rPr lang="en-US" altLang="en-US" sz="3700" dirty="0"/>
              <a:t>Multiple Sample Size Estimates in a Single Project</a:t>
            </a:r>
          </a:p>
        </p:txBody>
      </p:sp>
      <p:pic>
        <p:nvPicPr>
          <p:cNvPr id="5325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052722"/>
            <a:ext cx="9067800" cy="354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 name="TextBox 1"/>
          <p:cNvSpPr txBox="1"/>
          <p:nvPr/>
        </p:nvSpPr>
        <p:spPr>
          <a:xfrm>
            <a:off x="3390900" y="5633507"/>
            <a:ext cx="5943600" cy="830997"/>
          </a:xfrm>
          <a:prstGeom prst="rect">
            <a:avLst/>
          </a:prstGeom>
          <a:noFill/>
        </p:spPr>
        <p:txBody>
          <a:bodyPr wrap="square" rtlCol="0">
            <a:spAutoFit/>
          </a:bodyPr>
          <a:lstStyle/>
          <a:p>
            <a:pPr algn="ctr"/>
            <a:r>
              <a:rPr lang="en-US" sz="2400" b="1" i="1" dirty="0"/>
              <a:t>Which sample size do you select? </a:t>
            </a:r>
          </a:p>
          <a:p>
            <a:pPr algn="ctr"/>
            <a:endParaRPr lang="en-US" sz="2400" b="1" i="1" dirty="0"/>
          </a:p>
        </p:txBody>
      </p:sp>
    </p:spTree>
    <p:extLst>
      <p:ext uri="{BB962C8B-B14F-4D97-AF65-F5344CB8AC3E}">
        <p14:creationId xmlns:p14="http://schemas.microsoft.com/office/powerpoint/2010/main" val="117641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024128" y="762000"/>
            <a:ext cx="7941830" cy="1143461"/>
          </a:xfrm>
        </p:spPr>
        <p:txBody>
          <a:bodyPr/>
          <a:lstStyle/>
          <a:p>
            <a:pPr eaLnBrk="1" hangingPunct="1"/>
            <a:r>
              <a:rPr lang="en-US" altLang="en-US" dirty="0"/>
              <a:t>Population Size and Sample Size</a:t>
            </a:r>
          </a:p>
        </p:txBody>
      </p:sp>
      <p:sp>
        <p:nvSpPr>
          <p:cNvPr id="57347" name="Rectangle 3"/>
          <p:cNvSpPr>
            <a:spLocks noGrp="1" noChangeArrowheads="1"/>
          </p:cNvSpPr>
          <p:nvPr>
            <p:ph idx="1"/>
          </p:nvPr>
        </p:nvSpPr>
        <p:spPr/>
        <p:txBody>
          <a:bodyPr/>
          <a:lstStyle/>
          <a:p>
            <a:pPr eaLnBrk="1" hangingPunct="1"/>
            <a:r>
              <a:rPr lang="en-US" altLang="en-US" sz="2500" dirty="0"/>
              <a:t>Unless the sample will be more than 5-10% of the population size, the size of the population does not enter into the calculation of the size of the sample.</a:t>
            </a:r>
          </a:p>
          <a:p>
            <a:pPr eaLnBrk="1" hangingPunct="1"/>
            <a:endParaRPr lang="en-US" altLang="en-US" sz="2500" dirty="0"/>
          </a:p>
          <a:p>
            <a:pPr eaLnBrk="1" hangingPunct="1">
              <a:buFont typeface="Arial" pitchFamily="34" charset="0"/>
              <a:buNone/>
            </a:pPr>
            <a:r>
              <a:rPr lang="en-US" altLang="en-US" sz="2500" dirty="0"/>
              <a:t>	</a:t>
            </a:r>
            <a:r>
              <a:rPr lang="en-US" altLang="en-US" sz="2500" b="1" i="1" dirty="0">
                <a:solidFill>
                  <a:schemeClr val="tx2"/>
                </a:solidFill>
              </a:rPr>
              <a:t>Many people, including managers, have trouble with this idea.</a:t>
            </a:r>
          </a:p>
        </p:txBody>
      </p:sp>
    </p:spTree>
    <p:extLst>
      <p:ext uri="{BB962C8B-B14F-4D97-AF65-F5344CB8AC3E}">
        <p14:creationId xmlns:p14="http://schemas.microsoft.com/office/powerpoint/2010/main" val="3799605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024128" y="685800"/>
            <a:ext cx="9948672" cy="1143461"/>
          </a:xfrm>
        </p:spPr>
        <p:txBody>
          <a:bodyPr>
            <a:normAutofit fontScale="90000"/>
          </a:bodyPr>
          <a:lstStyle/>
          <a:p>
            <a:pPr eaLnBrk="1" hangingPunct="1"/>
            <a:r>
              <a:rPr lang="en-US" altLang="en-US" sz="4400" dirty="0"/>
              <a:t>Other Approaches to Determining Sample Size</a:t>
            </a:r>
          </a:p>
        </p:txBody>
      </p:sp>
      <p:sp>
        <p:nvSpPr>
          <p:cNvPr id="59395" name="Rectangle 3"/>
          <p:cNvSpPr>
            <a:spLocks noGrp="1" noChangeArrowheads="1"/>
          </p:cNvSpPr>
          <p:nvPr>
            <p:ph idx="1"/>
          </p:nvPr>
        </p:nvSpPr>
        <p:spPr/>
        <p:txBody>
          <a:bodyPr/>
          <a:lstStyle/>
          <a:p>
            <a:pPr eaLnBrk="1" hangingPunct="1"/>
            <a:endParaRPr lang="en-US" altLang="en-US"/>
          </a:p>
          <a:p>
            <a:pPr eaLnBrk="1" hangingPunct="1"/>
            <a:r>
              <a:rPr lang="en-US" altLang="en-US" sz="2900"/>
              <a:t>Size of research budget</a:t>
            </a:r>
          </a:p>
          <a:p>
            <a:pPr eaLnBrk="1" hangingPunct="1"/>
            <a:r>
              <a:rPr lang="en-US" altLang="en-US" sz="2900"/>
              <a:t>Anticipated analyses</a:t>
            </a:r>
          </a:p>
          <a:p>
            <a:pPr eaLnBrk="1" hangingPunct="1"/>
            <a:r>
              <a:rPr lang="en-US" altLang="en-US" sz="2900"/>
              <a:t>Historical practice</a:t>
            </a:r>
          </a:p>
        </p:txBody>
      </p:sp>
    </p:spTree>
    <p:extLst>
      <p:ext uri="{BB962C8B-B14F-4D97-AF65-F5344CB8AC3E}">
        <p14:creationId xmlns:p14="http://schemas.microsoft.com/office/powerpoint/2010/main" val="9898287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2355274" y="141204"/>
            <a:ext cx="8312727" cy="1143461"/>
          </a:xfrm>
        </p:spPr>
        <p:txBody>
          <a:bodyPr/>
          <a:lstStyle/>
          <a:p>
            <a:pPr eaLnBrk="1" hangingPunct="1"/>
            <a:r>
              <a:rPr lang="en-US" altLang="en-US" sz="3700" dirty="0"/>
              <a:t>Basics of the Sampling Distribution</a:t>
            </a:r>
          </a:p>
        </p:txBody>
      </p:sp>
      <p:sp>
        <p:nvSpPr>
          <p:cNvPr id="149509" name="Text Box 5"/>
          <p:cNvSpPr txBox="1">
            <a:spLocks noChangeArrowheads="1"/>
          </p:cNvSpPr>
          <p:nvPr/>
        </p:nvSpPr>
        <p:spPr bwMode="auto">
          <a:xfrm>
            <a:off x="7550728" y="3362553"/>
            <a:ext cx="2770909" cy="724007"/>
          </a:xfrm>
          <a:prstGeom prst="rect">
            <a:avLst/>
          </a:prstGeom>
          <a:noFill/>
          <a:ln w="12700">
            <a:noFill/>
            <a:miter lim="800000"/>
            <a:headEnd/>
            <a:tailEnd/>
          </a:ln>
          <a:effectLst/>
        </p:spPr>
        <p:txBody>
          <a:bodyPr lIns="81633" tIns="40816" rIns="81633" bIns="40816">
            <a:spAutoFit/>
          </a:bodyPr>
          <a:lstStyle/>
          <a:p>
            <a:pPr algn="ctr">
              <a:spcBef>
                <a:spcPct val="50000"/>
              </a:spcBef>
              <a:defRPr/>
            </a:pPr>
            <a:r>
              <a:rPr lang="en-US" sz="2100" b="1" dirty="0"/>
              <a:t>Population Mean (</a:t>
            </a:r>
            <a:r>
              <a:rPr lang="el-GR" sz="2100" b="1" i="1" dirty="0">
                <a:cs typeface="Arial" pitchFamily="34" charset="0"/>
              </a:rPr>
              <a:t>μ</a:t>
            </a:r>
            <a:r>
              <a:rPr lang="en-US" sz="2100" b="1" dirty="0">
                <a:cs typeface="Arial" pitchFamily="34" charset="0"/>
              </a:rPr>
              <a:t>) = $9400</a:t>
            </a:r>
            <a:endParaRPr lang="el-GR" sz="2100" b="1" dirty="0">
              <a:cs typeface="Arial"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6255" y="943256"/>
            <a:ext cx="4244473" cy="556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74325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2209800" y="2438400"/>
            <a:ext cx="7391400" cy="163158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DERIVED POPULATION</a:t>
            </a:r>
          </a:p>
          <a:p>
            <a:pPr marL="457200" lvl="1" indent="0">
              <a:buNone/>
            </a:pPr>
            <a:r>
              <a:rPr lang="en-US" dirty="0"/>
              <a:t>All possible samples that can be drawn from the population under a given sampling plan.</a:t>
            </a:r>
          </a:p>
        </p:txBody>
      </p:sp>
    </p:spTree>
    <p:extLst>
      <p:ext uri="{BB962C8B-B14F-4D97-AF65-F5344CB8AC3E}">
        <p14:creationId xmlns:p14="http://schemas.microsoft.com/office/powerpoint/2010/main" val="9878666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
            <a:ext cx="83058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186255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0"/>
            <a:ext cx="83058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12184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3"/>
          <p:cNvSpPr>
            <a:spLocks noGrp="1" noChangeArrowheads="1"/>
          </p:cNvSpPr>
          <p:nvPr>
            <p:ph idx="1"/>
          </p:nvPr>
        </p:nvSpPr>
        <p:spPr>
          <a:xfrm>
            <a:off x="2438400" y="1752601"/>
            <a:ext cx="7620000" cy="3733553"/>
          </a:xfrm>
        </p:spPr>
        <p:txBody>
          <a:bodyPr>
            <a:normAutofit/>
          </a:bodyPr>
          <a:lstStyle/>
          <a:p>
            <a:pPr eaLnBrk="1" hangingPunct="1"/>
            <a:r>
              <a:rPr lang="en-US" altLang="en-US" sz="2900" dirty="0"/>
              <a:t>The mean of all possible sample means is equal to the population mean.</a:t>
            </a:r>
          </a:p>
          <a:p>
            <a:pPr eaLnBrk="1" hangingPunct="1"/>
            <a:r>
              <a:rPr lang="en-US" altLang="en-US" sz="2900" dirty="0"/>
              <a:t>The variance of sample means is related to the population variance.</a:t>
            </a:r>
          </a:p>
          <a:p>
            <a:pPr eaLnBrk="1" hangingPunct="1"/>
            <a:r>
              <a:rPr lang="en-US" altLang="en-US" sz="2900" dirty="0"/>
              <a:t>The sampling distribution is mound shaped. </a:t>
            </a:r>
          </a:p>
          <a:p>
            <a:pPr lvl="1" eaLnBrk="1" hangingPunct="1"/>
            <a:r>
              <a:rPr lang="en-US" altLang="en-US" sz="2100" i="1" dirty="0"/>
              <a:t>consistent with the Central-Limit Theorem, regardless of the shape of the distribution of the variable in the population, with a sample size of 30 (and sometimes a lot less), the distribution of sample means becomes normally distributed</a:t>
            </a:r>
          </a:p>
        </p:txBody>
      </p:sp>
    </p:spTree>
    <p:extLst>
      <p:ext uri="{BB962C8B-B14F-4D97-AF65-F5344CB8AC3E}">
        <p14:creationId xmlns:p14="http://schemas.microsoft.com/office/powerpoint/2010/main" val="5856837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000" b="-3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6880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XU_PPTtemplate2" id="{0469F02D-B852-2749-917C-AD4BF6465C21}" vid="{F25CEA40-8609-7F4F-BE1D-8B08452F0A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xu-powerpoint-template3</Template>
  <TotalTime>3029</TotalTime>
  <Words>2226</Words>
  <Application>Microsoft Office PowerPoint</Application>
  <PresentationFormat>Widescreen</PresentationFormat>
  <Paragraphs>221</Paragraphs>
  <Slides>51</Slides>
  <Notes>6</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Calibri Light</vt:lpstr>
      <vt:lpstr>Monotype Sorts</vt:lpstr>
      <vt:lpstr>Wingdings</vt:lpstr>
      <vt:lpstr>Office Theme</vt:lpstr>
      <vt:lpstr>Sampling</vt:lpstr>
      <vt:lpstr>Student Learning Objectives</vt:lpstr>
      <vt:lpstr>A consideration and some advice …</vt:lpstr>
      <vt:lpstr>PowerPoint Presentation</vt:lpstr>
      <vt:lpstr>STEP 1: Define the Target Population</vt:lpstr>
      <vt:lpstr>PowerPoint Presentation</vt:lpstr>
      <vt:lpstr>PowerPoint Presentation</vt:lpstr>
      <vt:lpstr>PowerPoint Presentation</vt:lpstr>
      <vt:lpstr>Sampling Error*</vt:lpstr>
      <vt:lpstr>STEP 2: Identify the Sampling Frame</vt:lpstr>
      <vt:lpstr>STEP 3: Select a Sampling Procedure</vt:lpstr>
      <vt:lpstr>Nonprobability Sample*</vt:lpstr>
      <vt:lpstr>Convenience Sample*</vt:lpstr>
      <vt:lpstr>Judgment Sample *</vt:lpstr>
      <vt:lpstr>Quota Sample *</vt:lpstr>
      <vt:lpstr>Quota Sampling Example</vt:lpstr>
      <vt:lpstr>Quota Sampling Example</vt:lpstr>
      <vt:lpstr>Quick Review …</vt:lpstr>
      <vt:lpstr>Probability Sample—Must Have Sampling Frame (List) *</vt:lpstr>
      <vt:lpstr>Non Probability Sample—Must Have Sampling Frame (List)</vt:lpstr>
      <vt:lpstr>Why Use Probability Sampling? *</vt:lpstr>
      <vt:lpstr>Simple Random Sample *</vt:lpstr>
      <vt:lpstr>Systematic Sample *</vt:lpstr>
      <vt:lpstr>PowerPoint Presentation</vt:lpstr>
      <vt:lpstr>Systematic Sample Example</vt:lpstr>
      <vt:lpstr>PowerPoint Presentation</vt:lpstr>
      <vt:lpstr>Stratified Sample *</vt:lpstr>
      <vt:lpstr>Homogeneous and Heterogeneous *</vt:lpstr>
      <vt:lpstr>Cluster Sample *</vt:lpstr>
      <vt:lpstr>STEP 4: Determine the Sample Size</vt:lpstr>
      <vt:lpstr>PowerPoint Presentation</vt:lpstr>
      <vt:lpstr>Determining Sample Size When Estimating Means *</vt:lpstr>
      <vt:lpstr>PowerPoint Presentation</vt:lpstr>
      <vt:lpstr>What is an Interval Scale? *</vt:lpstr>
      <vt:lpstr>What is a Ratio Scale? *</vt:lpstr>
      <vt:lpstr>Determining Z-Score *</vt:lpstr>
      <vt:lpstr>PowerPoint Presentation</vt:lpstr>
      <vt:lpstr>Calculation *</vt:lpstr>
      <vt:lpstr>Determining Sample Size When Estimating Proportions </vt:lpstr>
      <vt:lpstr>PowerPoint Presentation</vt:lpstr>
      <vt:lpstr>PowerPoint Presentation</vt:lpstr>
      <vt:lpstr>PowerPoint Presentation</vt:lpstr>
      <vt:lpstr>Multiple Sample Size Estimates in a Single Project</vt:lpstr>
      <vt:lpstr>Population Size and Sample Size</vt:lpstr>
      <vt:lpstr>Other Approaches to Determining Sample Size</vt:lpstr>
      <vt:lpstr>Basics of the Sampling Distribution</vt:lpstr>
      <vt:lpstr>PowerPoint Presentation</vt:lpstr>
      <vt:lpstr>PowerPoint Presentation</vt:lpstr>
      <vt:lpstr>PowerPoint Presentation</vt:lpstr>
      <vt:lpstr>PowerPoint Presentation</vt:lpstr>
      <vt:lpstr>PowerPoint Presentation</vt:lpstr>
    </vt:vector>
  </TitlesOfParts>
  <Company>Xavier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Strategy</dc:title>
  <dc:creator>Beck, Scott</dc:creator>
  <cp:lastModifiedBy>Beck, Scott</cp:lastModifiedBy>
  <cp:revision>106</cp:revision>
  <cp:lastPrinted>2020-08-26T16:29:50Z</cp:lastPrinted>
  <dcterms:created xsi:type="dcterms:W3CDTF">2020-06-29T15:54:52Z</dcterms:created>
  <dcterms:modified xsi:type="dcterms:W3CDTF">2025-03-17T22:46:17Z</dcterms:modified>
</cp:coreProperties>
</file>