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706" r:id="rId3"/>
    <p:sldId id="707" r:id="rId4"/>
    <p:sldId id="681" r:id="rId5"/>
    <p:sldId id="682" r:id="rId6"/>
    <p:sldId id="683" r:id="rId7"/>
    <p:sldId id="684" r:id="rId8"/>
    <p:sldId id="685" r:id="rId9"/>
    <p:sldId id="686" r:id="rId10"/>
    <p:sldId id="687" r:id="rId11"/>
    <p:sldId id="688" r:id="rId12"/>
    <p:sldId id="689" r:id="rId13"/>
    <p:sldId id="690" r:id="rId14"/>
    <p:sldId id="691" r:id="rId15"/>
    <p:sldId id="692" r:id="rId16"/>
    <p:sldId id="693" r:id="rId17"/>
    <p:sldId id="694" r:id="rId18"/>
    <p:sldId id="695" r:id="rId19"/>
    <p:sldId id="696" r:id="rId20"/>
    <p:sldId id="697" r:id="rId21"/>
    <p:sldId id="698" r:id="rId22"/>
    <p:sldId id="699" r:id="rId23"/>
    <p:sldId id="700" r:id="rId24"/>
    <p:sldId id="701" r:id="rId25"/>
    <p:sldId id="702" r:id="rId26"/>
    <p:sldId id="703" r:id="rId27"/>
    <p:sldId id="266" r:id="rId28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CC8"/>
    <a:srgbClr val="001541"/>
    <a:srgbClr val="BD707B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4890"/>
  </p:normalViewPr>
  <p:slideViewPr>
    <p:cSldViewPr snapToGrid="0" snapToObjects="1" showGuides="1">
      <p:cViewPr varScale="1">
        <p:scale>
          <a:sx n="103" d="100"/>
          <a:sy n="103" d="100"/>
        </p:scale>
        <p:origin x="11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3FFF951-6D62-CB4E-866F-40E5C899BB8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134B82A-5292-FA40-A7FB-7C93D521E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6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63D65B7-7862-7F47-B99E-B3AB2843FF42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EA2CE63-AE64-8646-9F3E-7DE0B8E53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1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7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89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01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CBF7B-F26E-41AF-AA3F-FD0075240C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84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 cap="flat"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772" y="4341814"/>
            <a:ext cx="5030456" cy="41163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928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 cap="flat"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772" y="4341814"/>
            <a:ext cx="5030456" cy="41163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3772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4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1190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74295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9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0456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53400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69288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53746" y="6356349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49643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0734-FF99-944C-8656-684769A3B86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072" y="969962"/>
            <a:ext cx="9144000" cy="2706687"/>
          </a:xfrm>
        </p:spPr>
        <p:txBody>
          <a:bodyPr/>
          <a:lstStyle/>
          <a:p>
            <a:r>
              <a:rPr lang="en-US" b="1" dirty="0">
                <a:solidFill>
                  <a:srgbClr val="001541"/>
                </a:solidFill>
              </a:rPr>
              <a:t>Response Rates and Errors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70857" y="374944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9CC8"/>
                </a:solidFill>
              </a:rPr>
              <a:t>MKTG 302-01</a:t>
            </a:r>
          </a:p>
          <a:p>
            <a:r>
              <a:rPr lang="en-US" b="1" dirty="0">
                <a:solidFill>
                  <a:srgbClr val="009CC8"/>
                </a:solidFill>
              </a:rPr>
              <a:t>Spring Semester, 2025</a:t>
            </a:r>
          </a:p>
          <a:p>
            <a:r>
              <a:rPr lang="en-US" b="1" dirty="0">
                <a:solidFill>
                  <a:srgbClr val="009CC8"/>
                </a:solidFill>
              </a:rPr>
              <a:t>Scott Beck</a:t>
            </a:r>
          </a:p>
        </p:txBody>
      </p:sp>
    </p:spTree>
    <p:extLst>
      <p:ext uri="{BB962C8B-B14F-4D97-AF65-F5344CB8AC3E}">
        <p14:creationId xmlns:p14="http://schemas.microsoft.com/office/powerpoint/2010/main" val="5185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Student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6" y="2130425"/>
            <a:ext cx="9154885" cy="4351338"/>
          </a:xfrm>
        </p:spPr>
        <p:txBody>
          <a:bodyPr/>
          <a:lstStyle/>
          <a:p>
            <a:r>
              <a:rPr lang="en-US" dirty="0">
                <a:solidFill>
                  <a:srgbClr val="009CC8"/>
                </a:solidFill>
              </a:rPr>
              <a:t>Learn about the different types of errors that occur when collecting primary data.</a:t>
            </a:r>
          </a:p>
          <a:p>
            <a:r>
              <a:rPr lang="en-US" dirty="0">
                <a:solidFill>
                  <a:srgbClr val="009CC8"/>
                </a:solidFill>
              </a:rPr>
              <a:t>Learn ways to reduce errors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196044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But first … some important dates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6" y="2130425"/>
            <a:ext cx="915488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9CC8"/>
                </a:solidFill>
              </a:rPr>
              <a:t>Apr 10 – likely conclude survey </a:t>
            </a:r>
            <a:r>
              <a:rPr lang="en-US" dirty="0">
                <a:solidFill>
                  <a:srgbClr val="009CC8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rgbClr val="009CC8"/>
              </a:solidFill>
            </a:endParaRPr>
          </a:p>
          <a:p>
            <a:r>
              <a:rPr lang="en-US" dirty="0">
                <a:solidFill>
                  <a:srgbClr val="009CC8"/>
                </a:solidFill>
              </a:rPr>
              <a:t>Apr 15 – 1</a:t>
            </a:r>
            <a:r>
              <a:rPr lang="en-US" baseline="30000" dirty="0">
                <a:solidFill>
                  <a:srgbClr val="009CC8"/>
                </a:solidFill>
              </a:rPr>
              <a:t>st</a:t>
            </a:r>
            <a:r>
              <a:rPr lang="en-US" dirty="0">
                <a:solidFill>
                  <a:srgbClr val="009CC8"/>
                </a:solidFill>
              </a:rPr>
              <a:t> draft, lecture on reporting and measurement</a:t>
            </a:r>
          </a:p>
          <a:p>
            <a:r>
              <a:rPr lang="en-US" dirty="0">
                <a:solidFill>
                  <a:srgbClr val="009CC8"/>
                </a:solidFill>
              </a:rPr>
              <a:t>Apr 17 – Easter Break – no classes</a:t>
            </a:r>
          </a:p>
          <a:p>
            <a:r>
              <a:rPr lang="en-US" dirty="0">
                <a:solidFill>
                  <a:srgbClr val="009CC8"/>
                </a:solidFill>
              </a:rPr>
              <a:t>Apr 22 – Work on Project in class</a:t>
            </a:r>
          </a:p>
          <a:p>
            <a:r>
              <a:rPr lang="en-US" dirty="0">
                <a:solidFill>
                  <a:srgbClr val="009CC8"/>
                </a:solidFill>
              </a:rPr>
              <a:t>Apr 24 – Quiz #3</a:t>
            </a:r>
          </a:p>
          <a:p>
            <a:r>
              <a:rPr lang="en-US" dirty="0">
                <a:solidFill>
                  <a:srgbClr val="009CC8"/>
                </a:solidFill>
              </a:rPr>
              <a:t>Apr 29 – 2</a:t>
            </a:r>
            <a:r>
              <a:rPr lang="en-US" baseline="30000" dirty="0">
                <a:solidFill>
                  <a:srgbClr val="009CC8"/>
                </a:solidFill>
              </a:rPr>
              <a:t>nd</a:t>
            </a:r>
            <a:r>
              <a:rPr lang="en-US" dirty="0">
                <a:solidFill>
                  <a:srgbClr val="009CC8"/>
                </a:solidFill>
              </a:rPr>
              <a:t> draft (</a:t>
            </a:r>
            <a:r>
              <a:rPr lang="en-US" u="sng" dirty="0">
                <a:solidFill>
                  <a:srgbClr val="FF0000"/>
                </a:solidFill>
              </a:rPr>
              <a:t>new date</a:t>
            </a:r>
            <a:r>
              <a:rPr lang="en-US" dirty="0">
                <a:solidFill>
                  <a:srgbClr val="009CC8"/>
                </a:solidFill>
              </a:rPr>
              <a:t>!)</a:t>
            </a:r>
          </a:p>
          <a:p>
            <a:pPr lvl="1"/>
            <a:r>
              <a:rPr lang="en-US" dirty="0">
                <a:solidFill>
                  <a:srgbClr val="009CC8"/>
                </a:solidFill>
              </a:rPr>
              <a:t>Discussion with Burke, Inc. is cancelled!</a:t>
            </a:r>
          </a:p>
          <a:p>
            <a:r>
              <a:rPr lang="en-US" dirty="0">
                <a:solidFill>
                  <a:srgbClr val="009CC8"/>
                </a:solidFill>
              </a:rPr>
              <a:t>Apr 30 – GABP Cincinnati Reds game and tour</a:t>
            </a:r>
          </a:p>
          <a:p>
            <a:r>
              <a:rPr lang="en-US" dirty="0">
                <a:solidFill>
                  <a:srgbClr val="009CC8"/>
                </a:solidFill>
              </a:rPr>
              <a:t>May 1 – Wrap up Project!</a:t>
            </a:r>
          </a:p>
          <a:p>
            <a:r>
              <a:rPr lang="en-US" dirty="0">
                <a:solidFill>
                  <a:srgbClr val="009CC8"/>
                </a:solidFill>
              </a:rPr>
              <a:t>May 6 – Presentation to Cincinnati Reds</a:t>
            </a:r>
          </a:p>
        </p:txBody>
      </p:sp>
    </p:spTree>
    <p:extLst>
      <p:ext uri="{BB962C8B-B14F-4D97-AF65-F5344CB8AC3E}">
        <p14:creationId xmlns:p14="http://schemas.microsoft.com/office/powerpoint/2010/main" val="71619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33538"/>
            <a:ext cx="830580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662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819400" y="3980315"/>
            <a:ext cx="7391400" cy="14478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2500" i="1"/>
              <a:t>Decreased by increasing sample size</a:t>
            </a:r>
          </a:p>
          <a:p>
            <a:pPr lvl="1"/>
            <a:r>
              <a:rPr lang="en-US" altLang="en-US" sz="2500" i="1"/>
              <a:t>Can be estimated (assuming probability sample)</a:t>
            </a:r>
          </a:p>
          <a:p>
            <a:pPr lvl="1"/>
            <a:r>
              <a:rPr lang="en-US" altLang="en-US" sz="2500" i="1"/>
              <a:t>Usually less troublesome than other kinds of error</a:t>
            </a:r>
            <a:endParaRPr lang="en-US" altLang="en-US" sz="2500" i="1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38400" y="1770505"/>
            <a:ext cx="7391400" cy="22098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The difference between results obtained from a sample and results that would have been obtained had information been gathered from or about every member of the population.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Error</a:t>
            </a:r>
            <a:r>
              <a:rPr lang="en-US" dirty="0">
                <a:highlight>
                  <a:srgbClr val="FFFF00"/>
                </a:highlight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20690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US" altLang="en-US" sz="4300" b="1" i="1" dirty="0">
                <a:solidFill>
                  <a:schemeClr val="accent2"/>
                </a:solidFill>
              </a:rPr>
              <a:t>HOWEVER</a:t>
            </a:r>
            <a:r>
              <a:rPr lang="en-US" altLang="en-US" dirty="0"/>
              <a:t>, sampling error usually isn’t the biggest problem – it’s all the other things that contribute error to a project.</a:t>
            </a:r>
          </a:p>
          <a:p>
            <a:pPr eaLnBrk="1" hangingPunct="1">
              <a:buFont typeface="Arial" pitchFamily="34" charset="0"/>
              <a:buNone/>
            </a:pPr>
            <a:endParaRPr lang="en-US" altLang="en-US" sz="800" dirty="0"/>
          </a:p>
          <a:p>
            <a:pPr eaLnBrk="1" hangingPunct="1">
              <a:buFont typeface="Arial" pitchFamily="34" charset="0"/>
              <a:buNone/>
            </a:pPr>
            <a:r>
              <a:rPr lang="en-US" altLang="en-US" dirty="0"/>
              <a:t>	</a:t>
            </a:r>
            <a:r>
              <a:rPr lang="en-US" altLang="en-US" b="1" i="1" dirty="0">
                <a:solidFill>
                  <a:schemeClr val="tx2"/>
                </a:solidFill>
              </a:rPr>
              <a:t>And these other sources of error can’t be accounted for statistically…</a:t>
            </a:r>
          </a:p>
        </p:txBody>
      </p:sp>
    </p:spTree>
    <p:extLst>
      <p:ext uri="{BB962C8B-B14F-4D97-AF65-F5344CB8AC3E}">
        <p14:creationId xmlns:p14="http://schemas.microsoft.com/office/powerpoint/2010/main" val="149112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00400" y="3733800"/>
            <a:ext cx="6096000" cy="990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/>
          <p:cNvSpPr txBox="1">
            <a:spLocks/>
          </p:cNvSpPr>
          <p:nvPr/>
        </p:nvSpPr>
        <p:spPr>
          <a:xfrm>
            <a:off x="1143000" y="1264020"/>
            <a:ext cx="9049870" cy="269838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NONCOVERAGE ERROR</a:t>
            </a:r>
            <a:r>
              <a:rPr lang="en-US" sz="4800" dirty="0">
                <a:highlight>
                  <a:srgbClr val="FFFF00"/>
                </a:highlight>
              </a:rPr>
              <a:t> *</a:t>
            </a:r>
            <a:endParaRPr lang="en-US" sz="36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dirty="0"/>
              <a:t>Error that arises because of failure to include qualified elements of the defined population in the sampling frame.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52800" y="3733800"/>
            <a:ext cx="6248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i="1" dirty="0"/>
              <a:t>- noncoverage error is essentially a sampling     frame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7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Non-response error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124200" y="3657600"/>
            <a:ext cx="7391400" cy="1335088"/>
          </a:xfrm>
        </p:spPr>
        <p:txBody>
          <a:bodyPr>
            <a:normAutofit/>
          </a:bodyPr>
          <a:lstStyle/>
          <a:p>
            <a:pPr lvl="1" eaLnBrk="1" hangingPunct="1"/>
            <a:r>
              <a:rPr lang="en-US" altLang="en-US" sz="2400" dirty="0"/>
              <a:t>This is a </a:t>
            </a:r>
            <a:r>
              <a:rPr lang="en-US" altLang="en-US" sz="2400" b="1" i="1" dirty="0">
                <a:solidFill>
                  <a:schemeClr val="tx2"/>
                </a:solidFill>
              </a:rPr>
              <a:t>potential problem</a:t>
            </a:r>
            <a:r>
              <a:rPr lang="en-US" altLang="en-US" sz="2400" dirty="0">
                <a:solidFill>
                  <a:schemeClr val="tx2"/>
                </a:solidFill>
              </a:rPr>
              <a:t> </a:t>
            </a:r>
            <a:r>
              <a:rPr lang="en-US" altLang="en-US" sz="2400" dirty="0"/>
              <a:t>that only occurs when those who respond are systematically different in some important way from those who don’t respond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57401" y="1981200"/>
            <a:ext cx="7906215" cy="22098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Error from failing to obtain information from some elements of the population that were selected and designated for the sample.</a:t>
            </a:r>
          </a:p>
        </p:txBody>
      </p:sp>
    </p:spTree>
    <p:extLst>
      <p:ext uri="{BB962C8B-B14F-4D97-AF65-F5344CB8AC3E}">
        <p14:creationId xmlns:p14="http://schemas.microsoft.com/office/powerpoint/2010/main" val="157266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2286000"/>
            <a:ext cx="8748568" cy="4191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800" dirty="0"/>
              <a:t>Suppose that a university wanted to assess the success of its graduates, based on their annual salaries, five years after graduation.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9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Which graduates are more likely to return a survey?</a:t>
            </a:r>
            <a:endParaRPr lang="en-US" altLang="en-US" sz="2800" b="1" i="1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Which graduates are less likely to return a survey? </a:t>
            </a:r>
            <a:endParaRPr lang="en-US" altLang="en-US" sz="2800" b="1" i="1" dirty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6" y="1"/>
            <a:ext cx="2600325" cy="1736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005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The Primary Sources of Nonresponse Error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altLang="en-US" sz="4400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2"/>
                </a:solidFill>
              </a:rPr>
              <a:t>Refusals</a:t>
            </a:r>
          </a:p>
          <a:p>
            <a:pPr eaLnBrk="1" hangingPunct="1"/>
            <a:endParaRPr lang="en-US" altLang="en-US" sz="700" dirty="0"/>
          </a:p>
          <a:p>
            <a:pPr eaLnBrk="1" hangingPunct="1"/>
            <a:r>
              <a:rPr lang="en-US" altLang="en-US" b="1" dirty="0">
                <a:solidFill>
                  <a:schemeClr val="tx2"/>
                </a:solidFill>
              </a:rPr>
              <a:t>Not-at-Homes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03247" y="3581400"/>
            <a:ext cx="73914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is better to work hard at generating responses from a smaller sampling pool than to start with a much larger sampling pool and ignore potential nonresponse error, even if the resulting sample size is smaller.</a:t>
            </a:r>
          </a:p>
          <a:p>
            <a:endParaRPr lang="en-US" sz="800" dirty="0"/>
          </a:p>
          <a:p>
            <a:r>
              <a:rPr lang="en-US" sz="2000" dirty="0"/>
              <a:t>Pay attention to the response rates delivered by different online panel companies. The completion rate is not the same thing as the overall response rate!</a:t>
            </a:r>
          </a:p>
        </p:txBody>
      </p:sp>
    </p:spTree>
    <p:extLst>
      <p:ext uri="{BB962C8B-B14F-4D97-AF65-F5344CB8AC3E}">
        <p14:creationId xmlns:p14="http://schemas.microsoft.com/office/powerpoint/2010/main" val="65671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Three Methods for Diagnosing Nonresponse Error</a:t>
            </a:r>
            <a:r>
              <a:rPr lang="en-US" sz="4000" dirty="0">
                <a:highlight>
                  <a:srgbClr val="FFFF00"/>
                </a:highlight>
              </a:rPr>
              <a:t> *</a:t>
            </a:r>
            <a:endParaRPr lang="en-US" altLang="en-US" sz="4000" dirty="0"/>
          </a:p>
        </p:txBody>
      </p:sp>
      <p:sp>
        <p:nvSpPr>
          <p:cNvPr id="69635" name="Rectangle 4"/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9720073" cy="3713584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rgbClr val="FFFFFF"/>
              </a:buClr>
              <a:buFontTx/>
              <a:buNone/>
            </a:pPr>
            <a:r>
              <a:rPr lang="en-US" altLang="en-US" sz="3200" dirty="0"/>
              <a:t>(1) Contact a sample of nonrespondents</a:t>
            </a:r>
          </a:p>
          <a:p>
            <a:pPr eaLnBrk="1" hangingPunct="1">
              <a:lnSpc>
                <a:spcPct val="90000"/>
              </a:lnSpc>
              <a:buClr>
                <a:srgbClr val="FFFFFF"/>
              </a:buClr>
              <a:buFontTx/>
              <a:buNone/>
            </a:pPr>
            <a:endParaRPr lang="en-US" altLang="en-US" sz="3200" dirty="0"/>
          </a:p>
          <a:p>
            <a:pPr eaLnBrk="1" hangingPunct="1">
              <a:lnSpc>
                <a:spcPct val="90000"/>
              </a:lnSpc>
              <a:buClr>
                <a:srgbClr val="FFFFFF"/>
              </a:buClr>
              <a:buFontTx/>
              <a:buNone/>
            </a:pPr>
            <a:r>
              <a:rPr lang="en-US" altLang="en-US" sz="3200" dirty="0"/>
              <a:t>(2) Compare respondent demographics against known demographics of population</a:t>
            </a:r>
          </a:p>
          <a:p>
            <a:pPr eaLnBrk="1" hangingPunct="1">
              <a:lnSpc>
                <a:spcPct val="90000"/>
              </a:lnSpc>
              <a:buClr>
                <a:srgbClr val="FFFFFF"/>
              </a:buClr>
              <a:buFontTx/>
              <a:buNone/>
            </a:pPr>
            <a:endParaRPr lang="en-US" altLang="en-US" sz="3200" dirty="0"/>
          </a:p>
          <a:p>
            <a:pPr eaLnBrk="1" hangingPunct="1">
              <a:lnSpc>
                <a:spcPct val="90000"/>
              </a:lnSpc>
              <a:buClr>
                <a:srgbClr val="FFFFFF"/>
              </a:buClr>
              <a:buFontTx/>
              <a:buNone/>
            </a:pPr>
            <a:r>
              <a:rPr lang="en-US" altLang="en-US" sz="3200" dirty="0"/>
              <a:t>(3) Conduct an analysis of late responders vs. early responders</a:t>
            </a:r>
          </a:p>
        </p:txBody>
      </p:sp>
    </p:spTree>
    <p:extLst>
      <p:ext uri="{BB962C8B-B14F-4D97-AF65-F5344CB8AC3E}">
        <p14:creationId xmlns:p14="http://schemas.microsoft.com/office/powerpoint/2010/main" val="304972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286000" y="1981200"/>
            <a:ext cx="7696200" cy="26670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RESPONSE ERROR</a:t>
            </a:r>
            <a:r>
              <a:rPr lang="en-US" sz="4800" dirty="0">
                <a:highlight>
                  <a:srgbClr val="FFFF00"/>
                </a:highlight>
              </a:rPr>
              <a:t> *</a:t>
            </a:r>
            <a:endParaRPr lang="en-US" sz="3600" b="1" dirty="0"/>
          </a:p>
          <a:p>
            <a:pPr marL="457200" lvl="1" indent="0">
              <a:buNone/>
            </a:pPr>
            <a:r>
              <a:rPr lang="en-US" dirty="0"/>
              <a:t>Error that occurs when an individual provides an inaccurate response, consciously or subconsciously, to a survey item.</a:t>
            </a:r>
          </a:p>
        </p:txBody>
      </p:sp>
    </p:spTree>
    <p:extLst>
      <p:ext uri="{BB962C8B-B14F-4D97-AF65-F5344CB8AC3E}">
        <p14:creationId xmlns:p14="http://schemas.microsoft.com/office/powerpoint/2010/main" val="2404870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Key Considerations with Response Error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sz="4400" dirty="0"/>
          </a:p>
        </p:txBody>
      </p:sp>
      <p:sp>
        <p:nvSpPr>
          <p:cNvPr id="7168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/>
              <a:t>Does the respondent understand the question?</a:t>
            </a:r>
          </a:p>
          <a:p>
            <a:pPr eaLnBrk="1" hangingPunct="1">
              <a:lnSpc>
                <a:spcPct val="90000"/>
              </a:lnSpc>
            </a:pPr>
            <a:endParaRPr lang="en-US" altLang="en-US" sz="7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/>
              <a:t>Does the respondent know the answer to the question?</a:t>
            </a:r>
          </a:p>
          <a:p>
            <a:pPr eaLnBrk="1" hangingPunct="1">
              <a:lnSpc>
                <a:spcPct val="90000"/>
              </a:lnSpc>
            </a:pPr>
            <a:endParaRPr lang="en-US" altLang="en-US" sz="7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/>
              <a:t>Is the respondent willing to provide the true answer to the question?</a:t>
            </a:r>
          </a:p>
          <a:p>
            <a:pPr eaLnBrk="1" hangingPunct="1">
              <a:lnSpc>
                <a:spcPct val="90000"/>
              </a:lnSpc>
            </a:pPr>
            <a:endParaRPr lang="en-US" altLang="en-US" sz="7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/>
              <a:t>Is the wording of the question or the situation in which it is asked likely to bias the response?</a:t>
            </a:r>
          </a:p>
        </p:txBody>
      </p:sp>
      <p:sp>
        <p:nvSpPr>
          <p:cNvPr id="195587" name="Text Box 3"/>
          <p:cNvSpPr txBox="1">
            <a:spLocks noChangeArrowheads="1"/>
          </p:cNvSpPr>
          <p:nvPr/>
        </p:nvSpPr>
        <p:spPr bwMode="auto">
          <a:xfrm>
            <a:off x="7620000" y="5412838"/>
            <a:ext cx="2535382" cy="2978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81633" tIns="40816" rIns="81633" bIns="40816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 dirty="0"/>
              <a:t>Source: </a:t>
            </a:r>
            <a:r>
              <a:rPr lang="en-US" sz="1400" dirty="0"/>
              <a:t>Weiers (1988)</a:t>
            </a:r>
          </a:p>
        </p:txBody>
      </p:sp>
    </p:spTree>
    <p:extLst>
      <p:ext uri="{BB962C8B-B14F-4D97-AF65-F5344CB8AC3E}">
        <p14:creationId xmlns:p14="http://schemas.microsoft.com/office/powerpoint/2010/main" val="968384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Error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3810000"/>
            <a:ext cx="10024872" cy="28194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Design your survey in such a way to help you minimize office error: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Label all items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Be consistent with numbering (reverse coding)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Minimize use of open ended questions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ALWAYS save an unedited version of your data</a:t>
            </a:r>
          </a:p>
          <a:p>
            <a:endParaRPr lang="en-US" sz="2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423532" y="1752600"/>
            <a:ext cx="7391400" cy="1752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OFFICE ERROR</a:t>
            </a:r>
          </a:p>
          <a:p>
            <a:pPr marL="457200" lvl="1" indent="0">
              <a:buNone/>
            </a:pPr>
            <a:r>
              <a:rPr lang="en-US" dirty="0"/>
              <a:t>Error due to data editing, coding, or analysis errors.</a:t>
            </a:r>
          </a:p>
        </p:txBody>
      </p:sp>
    </p:spTree>
    <p:extLst>
      <p:ext uri="{BB962C8B-B14F-4D97-AF65-F5344CB8AC3E}">
        <p14:creationId xmlns:p14="http://schemas.microsoft.com/office/powerpoint/2010/main" val="216740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Total Error is the Key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altLang="en-US" dirty="0"/>
          </a:p>
        </p:txBody>
      </p:sp>
      <p:sp>
        <p:nvSpPr>
          <p:cNvPr id="73731" name="Rectangle 4"/>
          <p:cNvSpPr>
            <a:spLocks noGrp="1" noChangeArrowheads="1"/>
          </p:cNvSpPr>
          <p:nvPr>
            <p:ph idx="4294967295"/>
          </p:nvPr>
        </p:nvSpPr>
        <p:spPr>
          <a:xfrm>
            <a:off x="1524000" y="2209800"/>
            <a:ext cx="9982200" cy="4406900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hlink"/>
              </a:buClr>
              <a:buSzPct val="135000"/>
              <a:buFont typeface="Arial" pitchFamily="34" charset="0"/>
              <a:buNone/>
            </a:pPr>
            <a:r>
              <a:rPr lang="en-US" altLang="en-US" sz="2800" dirty="0"/>
              <a:t>	</a:t>
            </a:r>
            <a:r>
              <a:rPr lang="en-US" altLang="en-US" sz="3200" dirty="0"/>
              <a:t>The goal is to decrease overall error, not any one source of error.</a:t>
            </a:r>
          </a:p>
          <a:p>
            <a:pPr lvl="1" algn="ctr" eaLnBrk="1" hangingPunct="1">
              <a:buFontTx/>
              <a:buNone/>
            </a:pPr>
            <a:endParaRPr lang="en-US" altLang="en-US" sz="2400" dirty="0">
              <a:solidFill>
                <a:schemeClr val="tx2"/>
              </a:solidFill>
            </a:endParaRPr>
          </a:p>
          <a:p>
            <a:pPr lvl="1" algn="ctr" eaLnBrk="1" hangingPunct="1"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</a:rPr>
              <a:t>			      Sampling Error</a:t>
            </a:r>
          </a:p>
          <a:p>
            <a:pPr lvl="1" algn="ctr" eaLnBrk="1" hangingPunct="1"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</a:rPr>
              <a:t>				  Non-coverage Error</a:t>
            </a:r>
          </a:p>
          <a:p>
            <a:pPr lvl="1" algn="ctr" eaLnBrk="1" hangingPunct="1"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</a:rPr>
              <a:t>				  Non-response Error</a:t>
            </a:r>
          </a:p>
          <a:p>
            <a:pPr lvl="1" algn="ctr" eaLnBrk="1" hangingPunct="1"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</a:rPr>
              <a:t>			      Response Error</a:t>
            </a:r>
          </a:p>
          <a:p>
            <a:pPr lvl="1" algn="ctr" eaLnBrk="1" hangingPunct="1">
              <a:buFontTx/>
              <a:buNone/>
            </a:pPr>
            <a:r>
              <a:rPr lang="en-US" altLang="en-US" sz="3200" dirty="0">
                <a:solidFill>
                  <a:schemeClr val="tx2"/>
                </a:solidFill>
              </a:rPr>
              <a:t>			  Office Error</a:t>
            </a:r>
          </a:p>
        </p:txBody>
      </p:sp>
      <p:pic>
        <p:nvPicPr>
          <p:cNvPr id="73732" name="Picture 5" descr="C:\Documents and Settings\tomb\Local Settings\Temporary Internet Files\Content.IE5\ZW2SCFG5\MCj0411244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05200"/>
            <a:ext cx="2554432" cy="2321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235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408815" y="2133590"/>
            <a:ext cx="7391400" cy="22098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RESPONSE RATE</a:t>
            </a:r>
            <a:r>
              <a:rPr lang="en-US" sz="4800" dirty="0">
                <a:highlight>
                  <a:srgbClr val="FFFF00"/>
                </a:highlight>
              </a:rPr>
              <a:t> *</a:t>
            </a:r>
            <a:endParaRPr lang="en-US" sz="3600" b="1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dirty="0"/>
              <a:t>The number of completed interviews with responding units divided by the number of eligible responding units in the sample.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response rate</a:t>
            </a:r>
          </a:p>
        </p:txBody>
      </p:sp>
    </p:spTree>
    <p:extLst>
      <p:ext uri="{BB962C8B-B14F-4D97-AF65-F5344CB8AC3E}">
        <p14:creationId xmlns:p14="http://schemas.microsoft.com/office/powerpoint/2010/main" val="93725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formula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3124200"/>
            <a:ext cx="10037677" cy="121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76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and Mail surveys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48000"/>
            <a:ext cx="1031099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110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048000"/>
            <a:ext cx="10042452" cy="1604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Telephone surveys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723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ChangeArrowheads="1"/>
          </p:cNvSpPr>
          <p:nvPr/>
        </p:nvSpPr>
        <p:spPr bwMode="auto">
          <a:xfrm>
            <a:off x="2667000" y="799744"/>
            <a:ext cx="6823364" cy="178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8" tIns="45714" rIns="91428" bIns="45714"/>
          <a:lstStyle/>
          <a:p>
            <a:pPr marL="342991" indent="-342991" algn="ctr" defTabSz="914172">
              <a:spcBef>
                <a:spcPct val="20000"/>
              </a:spcBef>
              <a:defRPr/>
            </a:pPr>
            <a:r>
              <a:rPr lang="en-US" sz="3200" b="1" dirty="0">
                <a:solidFill>
                  <a:schemeClr val="tx2"/>
                </a:solidFill>
              </a:rPr>
              <a:t>Mail Surveys, Online Surveys, and Telephone Interviews                               (With Eligibility Requirement)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982" y="2812470"/>
            <a:ext cx="8153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096" y="4078867"/>
            <a:ext cx="81534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2108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2269794" y="2084832"/>
            <a:ext cx="8001000" cy="403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81638" tIns="40819" rIns="81638" bIns="40819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574594" y="1676400"/>
            <a:ext cx="7391400" cy="3962400"/>
          </a:xfrm>
        </p:spPr>
        <p:txBody>
          <a:bodyPr vert="horz" lIns="92069" tIns="46035" rIns="92069" bIns="46035" rtlCol="0">
            <a:noAutofit/>
          </a:bodyPr>
          <a:lstStyle/>
          <a:p>
            <a:pPr marL="306141" indent="-306141">
              <a:buNone/>
            </a:pPr>
            <a:endParaRPr lang="en-US" altLang="en-US" sz="2400" dirty="0"/>
          </a:p>
          <a:p>
            <a:pPr marL="306141" indent="-306141">
              <a:buNone/>
            </a:pPr>
            <a:r>
              <a:rPr lang="en-US" altLang="en-US" sz="2400" dirty="0"/>
              <a:t>	</a:t>
            </a:r>
            <a:r>
              <a:rPr lang="en-US" altLang="en-US" sz="2800" dirty="0"/>
              <a:t>You’ve conducted an online survey, attempting to contact 500 people; the 500 sample elements have been classified as follows:</a:t>
            </a:r>
          </a:p>
          <a:p>
            <a:pPr marL="306141" indent="-306141">
              <a:buNone/>
            </a:pPr>
            <a:r>
              <a:rPr lang="en-US" altLang="en-US" sz="2800" dirty="0"/>
              <a:t>		completed surveys:		           250</a:t>
            </a:r>
          </a:p>
          <a:p>
            <a:pPr marL="306141" indent="-306141">
              <a:buNone/>
            </a:pPr>
            <a:r>
              <a:rPr lang="en-US" altLang="en-US" sz="2800" dirty="0"/>
              <a:t>		refusals:				200</a:t>
            </a:r>
          </a:p>
          <a:p>
            <a:pPr marL="306141" indent="-306141">
              <a:buNone/>
            </a:pPr>
            <a:r>
              <a:rPr lang="en-US" altLang="en-US" sz="2800" dirty="0"/>
              <a:t>		ineligibles:				  50</a:t>
            </a:r>
          </a:p>
          <a:p>
            <a:pPr marL="306141" indent="-306141">
              <a:buNone/>
            </a:pPr>
            <a:endParaRPr lang="en-US" altLang="en-US" sz="2800" dirty="0"/>
          </a:p>
          <a:p>
            <a:pPr marL="306141" indent="-306141" algn="ctr">
              <a:buNone/>
            </a:pPr>
            <a:r>
              <a:rPr lang="en-US" altLang="en-US" sz="2400" b="1" i="1" dirty="0"/>
              <a:t>What was your response rate?</a:t>
            </a:r>
          </a:p>
        </p:txBody>
      </p:sp>
    </p:spTree>
    <p:extLst>
      <p:ext uri="{BB962C8B-B14F-4D97-AF65-F5344CB8AC3E}">
        <p14:creationId xmlns:p14="http://schemas.microsoft.com/office/powerpoint/2010/main" val="280722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2514601" y="3962400"/>
            <a:ext cx="6996545" cy="1926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81638" tIns="40819" rIns="81638" bIns="40819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2514600" y="1897566"/>
            <a:ext cx="6996545" cy="1926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81638" tIns="40819" rIns="81638" bIns="40819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9876" name="Rectangle 4"/>
          <p:cNvSpPr>
            <a:spLocks noGrp="1" noChangeArrowheads="1"/>
          </p:cNvSpPr>
          <p:nvPr>
            <p:ph idx="1"/>
          </p:nvPr>
        </p:nvSpPr>
        <p:spPr>
          <a:xfrm>
            <a:off x="2362200" y="1828800"/>
            <a:ext cx="7391400" cy="3962400"/>
          </a:xfrm>
        </p:spPr>
        <p:txBody>
          <a:bodyPr vert="horz" lIns="92069" tIns="46035" rIns="92069" bIns="46035" rtlCol="0">
            <a:normAutofit lnSpcReduction="10000"/>
          </a:bodyPr>
          <a:lstStyle/>
          <a:p>
            <a:pPr marL="306141" indent="-306141">
              <a:buNone/>
            </a:pPr>
            <a:endParaRPr lang="en-US" altLang="en-US" sz="2900" dirty="0"/>
          </a:p>
          <a:p>
            <a:pPr marL="306141" indent="-306141" algn="ctr">
              <a:buNone/>
            </a:pPr>
            <a:r>
              <a:rPr lang="en-US" altLang="en-US" sz="2900" dirty="0"/>
              <a:t>250</a:t>
            </a:r>
          </a:p>
          <a:p>
            <a:pPr marL="306141" indent="-306141" algn="ctr">
              <a:buNone/>
            </a:pPr>
            <a:r>
              <a:rPr lang="en-US" altLang="en-US" sz="2900" dirty="0"/>
              <a:t>E % = ---------------- = 83%</a:t>
            </a:r>
          </a:p>
          <a:p>
            <a:pPr marL="306141" indent="-306141" algn="ctr">
              <a:buNone/>
            </a:pPr>
            <a:r>
              <a:rPr lang="en-US" altLang="en-US" sz="2900" dirty="0"/>
              <a:t>250 + 50</a:t>
            </a:r>
          </a:p>
          <a:p>
            <a:pPr marL="306141" indent="-306141" algn="ctr">
              <a:buNone/>
            </a:pPr>
            <a:endParaRPr lang="en-US" altLang="en-US" sz="2900" dirty="0"/>
          </a:p>
          <a:p>
            <a:pPr marL="306141" indent="-306141" algn="ctr">
              <a:buNone/>
            </a:pPr>
            <a:r>
              <a:rPr lang="en-US" altLang="en-US" sz="2900" dirty="0"/>
              <a:t>250</a:t>
            </a:r>
          </a:p>
          <a:p>
            <a:pPr marL="306141" indent="-306141" algn="ctr">
              <a:buNone/>
            </a:pPr>
            <a:r>
              <a:rPr lang="en-US" altLang="en-US" sz="2900" dirty="0"/>
              <a:t>RR  = ---------------------------------- = 60%</a:t>
            </a:r>
          </a:p>
          <a:p>
            <a:pPr marL="306141" indent="-306141" algn="ctr">
              <a:buNone/>
            </a:pPr>
            <a:r>
              <a:rPr lang="en-US" altLang="en-US" sz="2900" dirty="0"/>
              <a:t>250 + [.83] [200]</a:t>
            </a:r>
            <a:endParaRPr lang="en-US" altLang="en-US" sz="3600" dirty="0"/>
          </a:p>
          <a:p>
            <a:pPr marL="306141" indent="-306141">
              <a:buNone/>
            </a:pP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2734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28" tIns="45714" rIns="91428" bIns="45714" rtlCol="0" anchor="ctr">
            <a:normAutofit/>
          </a:bodyPr>
          <a:lstStyle/>
          <a:p>
            <a:pPr eaLnBrk="1" hangingPunct="1"/>
            <a:r>
              <a:rPr lang="en-US" altLang="en-US" dirty="0"/>
              <a:t>Improving Response Rates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altLang="en-US" dirty="0"/>
          </a:p>
        </p:txBody>
      </p:sp>
      <p:sp>
        <p:nvSpPr>
          <p:cNvPr id="8089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 response rate on a project serves as an indicator of the overall quality of a data collection effort. It also provides insight into the likely influence of nonresponse error on the project.</a:t>
            </a:r>
          </a:p>
          <a:p>
            <a:pPr eaLnBrk="1" hangingPunct="1"/>
            <a:r>
              <a:rPr lang="en-US" altLang="en-US" sz="2800" dirty="0"/>
              <a:t>Researchers must strive to obtain the highest response rates possible in a given situation.</a:t>
            </a:r>
          </a:p>
        </p:txBody>
      </p:sp>
    </p:spTree>
    <p:extLst>
      <p:ext uri="{BB962C8B-B14F-4D97-AF65-F5344CB8AC3E}">
        <p14:creationId xmlns:p14="http://schemas.microsoft.com/office/powerpoint/2010/main" val="3773048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828800" y="207935"/>
            <a:ext cx="7959148" cy="1143461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dirty="0"/>
              <a:t>Improving Response Rates</a:t>
            </a:r>
            <a:r>
              <a:rPr lang="en-US" dirty="0">
                <a:highlight>
                  <a:srgbClr val="FFFF00"/>
                </a:highlight>
              </a:rPr>
              <a:t> *</a:t>
            </a:r>
            <a:endParaRPr lang="en-US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28305"/>
            <a:ext cx="9144000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44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04870"/>
            <a:ext cx="91440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0220"/>
            <a:ext cx="9144000" cy="465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52600" y="161409"/>
            <a:ext cx="7959148" cy="1143461"/>
          </a:xfrm>
          <a:prstGeom prst="rect">
            <a:avLst/>
          </a:prstGeom>
          <a:noFill/>
        </p:spPr>
        <p:txBody>
          <a:bodyPr lIns="91428" tIns="45714" rIns="91428" bIns="45714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dirty="0"/>
              <a:t>Improving Response Rates</a:t>
            </a:r>
          </a:p>
        </p:txBody>
      </p:sp>
    </p:spTree>
    <p:extLst>
      <p:ext uri="{BB962C8B-B14F-4D97-AF65-F5344CB8AC3E}">
        <p14:creationId xmlns:p14="http://schemas.microsoft.com/office/powerpoint/2010/main" val="420486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Improving Response Rates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Respondent interest in topic</a:t>
            </a:r>
          </a:p>
          <a:p>
            <a:pPr eaLnBrk="1" hangingPunct="1"/>
            <a:r>
              <a:rPr lang="en-US" altLang="en-US" sz="2800" dirty="0"/>
              <a:t>Survey length</a:t>
            </a:r>
          </a:p>
          <a:p>
            <a:r>
              <a:rPr lang="en-US" altLang="en-US" sz="2800" dirty="0"/>
              <a:t>Guarantee of confidentiality or anonymity</a:t>
            </a:r>
          </a:p>
          <a:p>
            <a:pPr eaLnBrk="1" hangingPunct="1"/>
            <a:r>
              <a:rPr lang="en-US" altLang="en-US" sz="2800" dirty="0"/>
              <a:t>Interviewer characteristics and training</a:t>
            </a:r>
          </a:p>
          <a:p>
            <a:pPr eaLnBrk="1" hangingPunct="1"/>
            <a:r>
              <a:rPr lang="en-US" altLang="en-US" sz="2800" dirty="0"/>
              <a:t>Personalization</a:t>
            </a:r>
          </a:p>
          <a:p>
            <a:pPr eaLnBrk="1" hangingPunct="1"/>
            <a:r>
              <a:rPr lang="en-US" altLang="en-US" sz="2800" dirty="0"/>
              <a:t>Response incentives</a:t>
            </a:r>
          </a:p>
          <a:p>
            <a:pPr eaLnBrk="1" hangingPunct="1"/>
            <a:r>
              <a:rPr lang="en-US" altLang="en-US" sz="2800" dirty="0"/>
              <a:t>Follow-up surveys</a:t>
            </a:r>
          </a:p>
        </p:txBody>
      </p:sp>
    </p:spTree>
    <p:extLst>
      <p:ext uri="{BB962C8B-B14F-4D97-AF65-F5344CB8AC3E}">
        <p14:creationId xmlns:p14="http://schemas.microsoft.com/office/powerpoint/2010/main" val="2070970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U_PPTtemplate2" id="{0469F02D-B852-2749-917C-AD4BF6465C21}" vid="{F25CEA40-8609-7F4F-BE1D-8B08452F0A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xu-powerpoint-template3</Template>
  <TotalTime>1521</TotalTime>
  <Words>868</Words>
  <Application>Microsoft Office PowerPoint</Application>
  <PresentationFormat>Widescreen</PresentationFormat>
  <Paragraphs>117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Response Rates and Errors</vt:lpstr>
      <vt:lpstr>Student Learning Objectives</vt:lpstr>
      <vt:lpstr>But first … some important dates ahead</vt:lpstr>
      <vt:lpstr>PowerPoint Presentation</vt:lpstr>
      <vt:lpstr>Sampling Error*</vt:lpstr>
      <vt:lpstr>PowerPoint Presentation</vt:lpstr>
      <vt:lpstr>PowerPoint Presentation</vt:lpstr>
      <vt:lpstr>Non-response error *</vt:lpstr>
      <vt:lpstr>PowerPoint Presentation</vt:lpstr>
      <vt:lpstr>The Primary Sources of Nonresponse Error *</vt:lpstr>
      <vt:lpstr>Three Methods for Diagnosing Nonresponse Error *</vt:lpstr>
      <vt:lpstr>PowerPoint Presentation</vt:lpstr>
      <vt:lpstr>Key Considerations with Response Error *</vt:lpstr>
      <vt:lpstr>Office Error *</vt:lpstr>
      <vt:lpstr>Total Error is the Key *</vt:lpstr>
      <vt:lpstr>Calculating response rate</vt:lpstr>
      <vt:lpstr>General formula *</vt:lpstr>
      <vt:lpstr>Online and Mail surveys *</vt:lpstr>
      <vt:lpstr>Telephone surveys *</vt:lpstr>
      <vt:lpstr>PowerPoint Presentation</vt:lpstr>
      <vt:lpstr>Example</vt:lpstr>
      <vt:lpstr>PowerPoint Presentation</vt:lpstr>
      <vt:lpstr>Improving Response Rates *</vt:lpstr>
      <vt:lpstr>PowerPoint Presentation</vt:lpstr>
      <vt:lpstr>PowerPoint Presentation</vt:lpstr>
      <vt:lpstr>Improving Response Rates</vt:lpstr>
      <vt:lpstr>PowerPoint Presentation</vt:lpstr>
    </vt:vector>
  </TitlesOfParts>
  <Company>Xavier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Strategy</dc:title>
  <dc:creator>Beck, Scott</dc:creator>
  <cp:lastModifiedBy>Beck, Scott</cp:lastModifiedBy>
  <cp:revision>98</cp:revision>
  <cp:lastPrinted>2020-08-26T16:29:50Z</cp:lastPrinted>
  <dcterms:created xsi:type="dcterms:W3CDTF">2020-06-29T15:54:52Z</dcterms:created>
  <dcterms:modified xsi:type="dcterms:W3CDTF">2025-04-10T12:08:14Z</dcterms:modified>
</cp:coreProperties>
</file>