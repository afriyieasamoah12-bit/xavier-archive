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1"/>
  </p:notesMasterIdLst>
  <p:sldIdLst>
    <p:sldId id="258" r:id="rId2"/>
    <p:sldId id="308" r:id="rId3"/>
    <p:sldId id="305" r:id="rId4"/>
    <p:sldId id="306" r:id="rId5"/>
    <p:sldId id="307" r:id="rId6"/>
    <p:sldId id="315" r:id="rId7"/>
    <p:sldId id="259" r:id="rId8"/>
    <p:sldId id="262" r:id="rId9"/>
    <p:sldId id="260" r:id="rId10"/>
    <p:sldId id="261" r:id="rId11"/>
    <p:sldId id="263" r:id="rId12"/>
    <p:sldId id="264" r:id="rId13"/>
    <p:sldId id="309" r:id="rId14"/>
    <p:sldId id="310" r:id="rId15"/>
    <p:sldId id="311" r:id="rId16"/>
    <p:sldId id="347" r:id="rId17"/>
    <p:sldId id="312" r:id="rId18"/>
    <p:sldId id="313" r:id="rId19"/>
    <p:sldId id="31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34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660"/>
  </p:normalViewPr>
  <p:slideViewPr>
    <p:cSldViewPr>
      <p:cViewPr varScale="1">
        <p:scale>
          <a:sx n="107" d="100"/>
          <a:sy n="107" d="100"/>
        </p:scale>
        <p:origin x="1758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072B2-F8AE-43B3-BD97-E2EC9CC51E7D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3D468-6EF5-4C49-8DB3-DF1611BCF8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62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40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20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8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612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27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308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72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172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367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188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20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687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945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19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07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40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917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145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283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2680-4024-43EA-8035-0614013E83A5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51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BF49-3A07-40BA-9BBA-E663501D39AF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04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4DEB-9D1E-49BA-B43C-B835B8D7A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83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30CA-7FFF-4306-9214-7B758090288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14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C3F6-74B7-44C1-9CBE-95E3AA052BE3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97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EBAD-1B65-499B-B30B-B30DBA97BFCE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54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7F1-3B8E-4FFB-9779-E9FD233CD721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62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8BDF-3186-48AB-8767-941C758F90F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56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CC83-C368-4FB2-9508-81CA2D369CA6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07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CF0F-F8B5-4897-93C2-FDDACFCAAC7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84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AEFB-17CE-4D83-986F-0AF580007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1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E39B6-0C38-40E8-86A4-436A675CD9C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2/16/2026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1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ulwaris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143000"/>
            <a:ext cx="8458200" cy="50292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C2340"/>
                </a:solidFill>
              </a:rPr>
              <a:t>NEGOTIATION AND CONFLICT MANAGEMENT</a:t>
            </a:r>
            <a:br>
              <a:rPr lang="en-US" sz="2800" b="1" dirty="0">
                <a:solidFill>
                  <a:srgbClr val="0C2340"/>
                </a:solidFill>
              </a:rPr>
            </a:br>
            <a:br>
              <a:rPr lang="en-US" sz="2800" dirty="0">
                <a:solidFill>
                  <a:srgbClr val="0C2340"/>
                </a:solidFill>
              </a:rPr>
            </a:br>
            <a:r>
              <a:rPr lang="en-US" sz="2800" dirty="0">
                <a:solidFill>
                  <a:srgbClr val="0C2340"/>
                </a:solidFill>
              </a:rPr>
              <a:t>Distributive Negotiation</a:t>
            </a:r>
            <a:endParaRPr lang="en-US" dirty="0">
              <a:solidFill>
                <a:srgbClr val="0C234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53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Distributive Negotiation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In reality, a </a:t>
            </a:r>
            <a:r>
              <a:rPr lang="en-US" sz="2400" u="sng" dirty="0">
                <a:solidFill>
                  <a:srgbClr val="0C2340"/>
                </a:solidFill>
              </a:rPr>
              <a:t>perfect</a:t>
            </a:r>
            <a:r>
              <a:rPr lang="en-US" sz="2400" dirty="0">
                <a:solidFill>
                  <a:srgbClr val="0C2340"/>
                </a:solidFill>
              </a:rPr>
              <a:t> “Win-Win” negotiation is very rare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Resources need to be split among parties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Because of the long-term expectations in many business negotiations, the goal can be to “win” the negotiation, but make the other party feel as though they have won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Consider negotiation as a game of chess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you make certain moves, you can expect the other party to make appropriate moves in response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2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83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Fundamental Distributive Concepts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1101001"/>
            <a:ext cx="85953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Assess and improve your BATNA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Nothing will improve your position more than a great BATNA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Know your reservation point…but do not reveal it unless:*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 time constraint is about to force you from the table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 have a great BATNA and will be happy with any agreement in excess of your reservation point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 not lie about your reservation point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Research and estimate the other party’s </a:t>
            </a:r>
            <a:r>
              <a:rPr lang="en-US" sz="2400" dirty="0" err="1">
                <a:solidFill>
                  <a:srgbClr val="0C2340"/>
                </a:solidFill>
              </a:rPr>
              <a:t>BATNA</a:t>
            </a:r>
            <a:r>
              <a:rPr lang="en-US" sz="2400" dirty="0">
                <a:solidFill>
                  <a:srgbClr val="0C2340"/>
                </a:solidFill>
              </a:rPr>
              <a:t> and reservation point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Be careful of misleading information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Clarify and adjust notes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3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45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Fundamental Distributive Concepts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" y="1089164"/>
            <a:ext cx="8839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Set high, but realistic, aspirations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Your first offer is an important </a:t>
            </a:r>
            <a:r>
              <a:rPr lang="en-US" sz="2400" u="sng" dirty="0">
                <a:solidFill>
                  <a:srgbClr val="0C2340"/>
                </a:solidFill>
              </a:rPr>
              <a:t>anchor point</a:t>
            </a:r>
            <a:r>
              <a:rPr lang="en-US" sz="2400" dirty="0">
                <a:solidFill>
                  <a:srgbClr val="0C2340"/>
                </a:solidFill>
              </a:rPr>
              <a:t> 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Try to make it at the positive edge of the bargaining zone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0C2340"/>
                </a:solidFill>
              </a:rPr>
              <a:t>Focus on your target, not your reservation point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0C2340"/>
                </a:solidFill>
              </a:rPr>
              <a:t>When knowledgeable</a:t>
            </a:r>
            <a:r>
              <a:rPr lang="en-US" sz="2400" dirty="0">
                <a:solidFill>
                  <a:srgbClr val="0C2340"/>
                </a:solidFill>
              </a:rPr>
              <a:t>, make the first offer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Set a strong anchor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Creates potential for concessions (no repeated concessions)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Preferrable to not set a range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setting a range, know where to set it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lower value will become the anchor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0C2340"/>
                </a:solidFill>
              </a:rPr>
              <a:t>Re-anchor</a:t>
            </a:r>
            <a:r>
              <a:rPr lang="en-US" sz="2400" dirty="0">
                <a:solidFill>
                  <a:srgbClr val="0C2340"/>
                </a:solidFill>
              </a:rPr>
              <a:t> if you do not make the first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 not accept the first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Stick to what you know and do not forget your target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4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5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Fundamental Distributive Concepts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 not fall for an “even-split” trick (anchors and values)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…but use the trick if you can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An even-split between opposing reservation points can be even </a:t>
            </a:r>
            <a:r>
              <a:rPr lang="en-US" sz="2400" u="sng" dirty="0">
                <a:solidFill>
                  <a:srgbClr val="0C2340"/>
                </a:solidFill>
              </a:rPr>
              <a:t>only if the issue is equally valued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An even-split between two current offers is likely not even in value to each party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ACCEFA94-5CD2-4BBE-B998-1771DA270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76"/>
          <a:stretch/>
        </p:blipFill>
        <p:spPr bwMode="auto">
          <a:xfrm>
            <a:off x="3402020" y="3581400"/>
            <a:ext cx="2312980" cy="233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528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Fundamental Distributive Concepts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Plan your concessions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Expect to make concessions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Know your issues and the relative value of each issue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Start small and do not repeat before the other party responds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Make gradual concessions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Principled offers and concessions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Provide a rational reason for your offers (and giving ground)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Doing so changes the perception from a victory for the other party or a reckless retreat, to a reasoned and calculated readjustment of position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37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Common Methods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Factual argument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Although emotional appeal may work in some circumstances, objective facts usually have more influence, especially in business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Try to provide insightful and well articulated arguments that go beyond what the other party may have considered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you provide information the other party does not possess, they likely will need to reassess the situation and change their position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Examples: valuation data in the Blue Buggy negotiation, appraisal prices in Sugar Bowl negotiation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7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16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Common Methods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1109879"/>
            <a:ext cx="85953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use of props (e.g., brochures, documents, videos)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Provide facts to support your position or a history of similar negotiation outcomes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Props are respected because they are something people can hold that present the facts you have verbally expressed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Props remain even when the words spoken are gone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Props demonstrate you are prepared and you know what you are talking about (authority)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Silence and patience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People fear silence. The other party often will talk more and disclose information or offer concessions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Speak when you have something important to say, and then remain quiet (particularly when making an offer)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Tennis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8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6" name="Picture 2" descr="30k+ Tennis Ball Pictures | Download Free Images on Unsplash">
            <a:extLst>
              <a:ext uri="{FF2B5EF4-FFF2-40B4-BE49-F238E27FC236}">
                <a16:creationId xmlns:a16="http://schemas.microsoft.com/office/drawing/2014/main" id="{71BDB4DC-9851-41F5-BFC5-69FF97EA5D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88745" y="5883275"/>
            <a:ext cx="806824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23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Common Methods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C2340"/>
                </a:solidFill>
              </a:rPr>
              <a:t>Threats and promises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C2340"/>
                </a:solidFill>
              </a:rPr>
              <a:t>Using a </a:t>
            </a:r>
            <a:r>
              <a:rPr lang="en-US" sz="2200" b="1" dirty="0">
                <a:solidFill>
                  <a:srgbClr val="0C2340"/>
                </a:solidFill>
              </a:rPr>
              <a:t>threat</a:t>
            </a:r>
            <a:r>
              <a:rPr lang="en-US" sz="2200" dirty="0">
                <a:solidFill>
                  <a:srgbClr val="0C2340"/>
                </a:solidFill>
              </a:rPr>
              <a:t> shows the other party there will be consequences for their unwillingness to accept a mutual agreement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C2340"/>
                </a:solidFill>
              </a:rPr>
              <a:t>Threats should be appropriate in size (or they will be dismissed)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C2340"/>
                </a:solidFill>
              </a:rPr>
              <a:t>Never issue a threat unless you are willing to follow through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C2340"/>
                </a:solidFill>
              </a:rPr>
              <a:t>Consider if your threat will prompt a larger counter-threat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C2340"/>
                </a:solidFill>
              </a:rPr>
              <a:t>Will following-through cost you more in the long-term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0C234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C2340"/>
                </a:solidFill>
              </a:rPr>
              <a:t>Promises</a:t>
            </a:r>
            <a:r>
              <a:rPr lang="en-US" sz="2200" dirty="0">
                <a:solidFill>
                  <a:srgbClr val="0C2340"/>
                </a:solidFill>
              </a:rPr>
              <a:t> offer affirmation that you will be willing to change position simultaneously with the other party (split-the-difference)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u="sng" dirty="0">
                <a:solidFill>
                  <a:srgbClr val="0C2340"/>
                </a:solidFill>
              </a:rPr>
              <a:t>Promises are generally more effective</a:t>
            </a:r>
            <a:r>
              <a:rPr lang="en-US" sz="2200" dirty="0">
                <a:solidFill>
                  <a:srgbClr val="0C2340"/>
                </a:solidFill>
              </a:rPr>
              <a:t>. People do not like to be threatened and threats often disrupt the negotiation process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C2340"/>
                </a:solidFill>
              </a:rPr>
              <a:t>The framing of arguments is critical to success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9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2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Common Methods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Limited authority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Allows you an ‘out’ to regroup if necessary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Creates a psychological commitment from the other party and allows you to renegotiate terms based on the higher authority’s demands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the other party has limited authority, </a:t>
            </a:r>
            <a:r>
              <a:rPr lang="en-US" sz="2400" i="1" dirty="0">
                <a:solidFill>
                  <a:srgbClr val="0C2340"/>
                </a:solidFill>
              </a:rPr>
              <a:t>so do you</a:t>
            </a:r>
            <a:endParaRPr lang="en-US" sz="2400" dirty="0">
              <a:solidFill>
                <a:srgbClr val="0C234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Never trade information with someone who has no authority (different from limited authority)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10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074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235707"/>
            <a:ext cx="3166361" cy="237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51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Other (not so recommended) Methods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" y="1143000"/>
            <a:ext cx="8763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0C2340"/>
                </a:solidFill>
                <a:hlinkClick r:id="rId3"/>
              </a:rPr>
              <a:t>Boulwareism</a:t>
            </a:r>
            <a:endParaRPr lang="en-US" sz="2400" dirty="0">
              <a:solidFill>
                <a:srgbClr val="0C234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Take-it-or-leave-it offers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Risky, as people are often offended by this type of tactic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 not instantly reject. The offer may actually be in your favor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Faked anger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Be careful, faking anger may offend the other party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Reacting to anger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Reciprocal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Offended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Listen carefully if the other party is truly angry, they may disclose important information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11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22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Other (not so recommended) Methods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Uproar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use of shocking/extreme threats/outcomes (e.g., laying off half of a workforce if employees do not accept a pay cut)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Two questions when faced with this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>
                <a:solidFill>
                  <a:srgbClr val="0C2340"/>
                </a:solidFill>
              </a:rPr>
              <a:t>What is the likelihood of the consequences?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>
                <a:solidFill>
                  <a:srgbClr val="0C2340"/>
                </a:solidFill>
              </a:rPr>
              <a:t>What happens to the other party if the consequences occur?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Determine if you can call their bluff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Reverse psychology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Good to use if the other party is purely out to make you lose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 may be able to trick a novice negotiator to give you what you want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0C2340"/>
                </a:solidFill>
              </a:rPr>
              <a:t>Be careful</a:t>
            </a:r>
            <a:r>
              <a:rPr lang="en-US" sz="2400" dirty="0">
                <a:solidFill>
                  <a:srgbClr val="0C2340"/>
                </a:solidFill>
              </a:rPr>
              <a:t>, as you may end up getting what you don’t want</a:t>
            </a:r>
          </a:p>
          <a:p>
            <a:pPr lvl="1"/>
            <a:endParaRPr lang="en-US" sz="24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12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6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Controlling the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It may seem counterintuitive, but the less you know the other party, the more you should ask for in an initial offer (reasonably close to the ZOPA)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They may give you more than you expect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 can build a relationship by offering concessions from your aggressive initial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Very common in some cultures (e.g., parts of the Middle East)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As you make small concessions, the other party feels as though it is winning, even though you are still near your target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13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93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Controlling the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Never say yes to the first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other party will think: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“I could have done better”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“Something must be wrong”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price paid can be less important than thinking they won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 can almost always do better than the initial offer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“Flinch”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Act with surprise at the other party’s offers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People often respond to visual cues more than audible cues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 flinch may show the other party they have gone too far, even if they haven’t, and they may instantly make a concession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14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0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Controlling the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Use the “reluctant participator” technique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Feign walking away or never beginning the negotiation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Say something similar to “I probably shouldn’t negotiate this, but I really like you. What is the lowest/ highest price you can do? I can take it to my boss and tell him/her why we can work together.”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6" name="Picture 2" descr="What people do not understand about favors? | by Loreta Bahchevanova |  Medium">
            <a:extLst>
              <a:ext uri="{FF2B5EF4-FFF2-40B4-BE49-F238E27FC236}">
                <a16:creationId xmlns:a16="http://schemas.microsoft.com/office/drawing/2014/main" id="{8D513FAB-FF0F-41CC-8A58-BEB04C57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0"/>
            <a:ext cx="4533900" cy="243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33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Controlling the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Vise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Say “You’ll have to do better than that.”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Then shut-up and await their response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other party then needs to make an instant concession to continue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Works much better when you have the superior </a:t>
            </a:r>
            <a:r>
              <a:rPr lang="en-US" sz="2400" dirty="0" err="1">
                <a:solidFill>
                  <a:srgbClr val="0C2340"/>
                </a:solidFill>
              </a:rPr>
              <a:t>BATNA</a:t>
            </a:r>
            <a:endParaRPr lang="en-US" sz="2400" dirty="0">
              <a:solidFill>
                <a:srgbClr val="0C234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you are faced with that statement respond “How much better do I have to do?”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It forces the other party provide a price point while you reevaluate your options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2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Controlling the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Set difficult individual issues aside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there is a disagreement on an issue that isn’t moving forward, set it aside and work on other issues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Build momentum on easy issues and then return to the difficult one with the hope that the positive agreements will influence the difficult issue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Beware the nibbler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When you have seemingly made an agreement the other party may try to “nibble” away at the agreement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 not let the other party get free concessions because you are ready to seal the deal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Remain focused through the completion of the negotiation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17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25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0C2340"/>
                </a:solidFill>
              </a:rPr>
              <a:t>Controlling the Interaction</a:t>
            </a:r>
            <a:endParaRPr lang="en-US" sz="3200" dirty="0">
              <a:solidFill>
                <a:srgbClr val="0C234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Be a tugboat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Use time to help you breakdown the other party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People often get antsy and want to come to an agreement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Tugboat – slowly move them to your perspective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Don’t forget your most powerful weapon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ability to walk away and use your BATNA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second you lose the ability to walk away, you lose the negotiation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 not forget your BATNA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18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2" descr="Tugboat Technology">
            <a:extLst>
              <a:ext uri="{FF2B5EF4-FFF2-40B4-BE49-F238E27FC236}">
                <a16:creationId xmlns:a16="http://schemas.microsoft.com/office/drawing/2014/main" id="{33B780DE-4F67-431E-B5A8-95061DF1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743200"/>
            <a:ext cx="3002279" cy="180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10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" y="1188720"/>
            <a:ext cx="8595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There are numerous strategies that can be used to improve distributive results in a negotiation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Effectiveness depends on context and level of comfort employing the strategy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Always remember to “increase the pie” with integrative strategies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Gain more of an overall increased “pie” with distributive strategies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19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AutoShape 2" descr="http://www.sweetsweetcornerbakery.com/image/double_chocolate_cupcakes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9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su slide">
  <a:themeElements>
    <a:clrScheme name="Custom 1">
      <a:dk1>
        <a:srgbClr val="632423"/>
      </a:dk1>
      <a:lt1>
        <a:sysClr val="window" lastClr="FFFFFF"/>
      </a:lt1>
      <a:dk2>
        <a:srgbClr val="632423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1541</Words>
  <Application>Microsoft Office PowerPoint</Application>
  <PresentationFormat>On-screen Show (4:3)</PresentationFormat>
  <Paragraphs>212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fsu slide</vt:lpstr>
      <vt:lpstr>NEGOTIATION AND CONFLICT MANAGEMENT  Distributive Negotiation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2023-10-12T14:39:50Z</dcterms:created>
  <dcterms:modified xsi:type="dcterms:W3CDTF">2026-02-16T21:50:43Z</dcterms:modified>
</cp:coreProperties>
</file>