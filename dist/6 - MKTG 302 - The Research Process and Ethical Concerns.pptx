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256" r:id="rId2"/>
    <p:sldId id="433" r:id="rId3"/>
    <p:sldId id="426" r:id="rId4"/>
    <p:sldId id="375" r:id="rId5"/>
    <p:sldId id="377" r:id="rId6"/>
    <p:sldId id="376" r:id="rId7"/>
    <p:sldId id="427" r:id="rId8"/>
    <p:sldId id="428" r:id="rId9"/>
    <p:sldId id="429" r:id="rId10"/>
    <p:sldId id="378" r:id="rId11"/>
    <p:sldId id="379" r:id="rId12"/>
    <p:sldId id="430" r:id="rId13"/>
    <p:sldId id="431" r:id="rId14"/>
    <p:sldId id="432" r:id="rId15"/>
    <p:sldId id="380" r:id="rId16"/>
    <p:sldId id="381" r:id="rId17"/>
    <p:sldId id="382" r:id="rId18"/>
    <p:sldId id="383" r:id="rId19"/>
    <p:sldId id="384" r:id="rId20"/>
    <p:sldId id="385" r:id="rId21"/>
    <p:sldId id="266" r:id="rId22"/>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p:restoredTop sz="94890"/>
  </p:normalViewPr>
  <p:slideViewPr>
    <p:cSldViewPr snapToGrid="0" snapToObjects="1" showGuides="1">
      <p:cViewPr varScale="1">
        <p:scale>
          <a:sx n="62" d="100"/>
          <a:sy n="62" d="100"/>
        </p:scale>
        <p:origin x="68" y="2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2/13/2025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2/13/2025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2</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1629197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3</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256667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274987-1DBC-4145-8515-1DC001AFF5FA}" type="slidenum">
              <a:rPr lang="en-US" smtClean="0"/>
              <a:pPr>
                <a:defRPr/>
              </a:pPr>
              <a:t>5</a:t>
            </a:fld>
            <a:endParaRPr lang="en-US"/>
          </a:p>
        </p:txBody>
      </p:sp>
    </p:spTree>
    <p:extLst>
      <p:ext uri="{BB962C8B-B14F-4D97-AF65-F5344CB8AC3E}">
        <p14:creationId xmlns:p14="http://schemas.microsoft.com/office/powerpoint/2010/main" val="3195256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21</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formpl.us/blog/what-are-ethical-practices-in-market-research"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formpl.us/blog/what-are-ethical-practices-in-market-research"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formpl.us/blog/what-are-ethical-practices-in-market-research"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forbes.com/sites/gregorymcneal/2014/06/28/facebook-manipulated-user-news-feeds-to-create-emotional-contagion/?sh=78c61f2e39dc"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The Research Process and Ethical Concerns</a:t>
            </a: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302-01</a:t>
            </a:r>
          </a:p>
          <a:p>
            <a:r>
              <a:rPr lang="en-US" b="1" dirty="0">
                <a:solidFill>
                  <a:srgbClr val="009CC8"/>
                </a:solidFill>
              </a:rPr>
              <a:t>Spring Semester, 2025</a:t>
            </a:r>
          </a:p>
          <a:p>
            <a:r>
              <a:rPr lang="en-US" b="1" dirty="0">
                <a:solidFill>
                  <a:srgbClr val="009CC8"/>
                </a:solidFill>
              </a:rPr>
              <a:t>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2</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Quiz on Tuesday</a:t>
            </a:r>
          </a:p>
        </p:txBody>
      </p:sp>
      <p:sp>
        <p:nvSpPr>
          <p:cNvPr id="15365" name="Rectangle 20"/>
          <p:cNvSpPr>
            <a:spLocks noChangeArrowheads="1"/>
          </p:cNvSpPr>
          <p:nvPr/>
        </p:nvSpPr>
        <p:spPr bwMode="auto">
          <a:xfrm>
            <a:off x="802739" y="1216402"/>
            <a:ext cx="8111067" cy="4885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kumimoji="0" lang="en-US" sz="2400" b="0" i="0" u="none" strike="noStrike" kern="1200" cap="none" spc="0" normalizeH="0" baseline="0" noProof="0" dirty="0">
                <a:ln>
                  <a:noFill/>
                </a:ln>
                <a:solidFill>
                  <a:schemeClr val="accent5"/>
                </a:solidFill>
                <a:effectLst/>
                <a:uLnTx/>
                <a:uFillTx/>
                <a:latin typeface="Calibri" panose="020F0502020204030204"/>
                <a:ea typeface="+mn-ea"/>
                <a:cs typeface="+mn-cs"/>
              </a:rPr>
              <a:t>Here are some considerations:</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dirty="0">
                <a:solidFill>
                  <a:schemeClr val="accent5"/>
                </a:solidFill>
                <a:latin typeface="Calibri" panose="020F0502020204030204"/>
              </a:rPr>
              <a:t>Quiz will not be in the classroom.</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dirty="0">
                <a:solidFill>
                  <a:schemeClr val="accent5"/>
                </a:solidFill>
                <a:latin typeface="Calibri" panose="020F0502020204030204"/>
              </a:rPr>
              <a:t>Canvas will be used along with Lockdown Browser.</a:t>
            </a:r>
          </a:p>
          <a:p>
            <a:pPr marL="914400" lvl="1" indent="-457200">
              <a:buFont typeface="Arial" pitchFamily="34" charset="0"/>
              <a:buChar char="•"/>
              <a:defRPr/>
            </a:pPr>
            <a:r>
              <a:rPr lang="en-US" sz="2000" dirty="0">
                <a:solidFill>
                  <a:schemeClr val="accent5"/>
                </a:solidFill>
                <a:latin typeface="Calibri" panose="020F0502020204030204"/>
              </a:rPr>
              <a:t>Be sure to test for Lockdown Browser.</a:t>
            </a:r>
          </a:p>
          <a:p>
            <a:pPr marL="457200" indent="-457200">
              <a:buFont typeface="Arial" pitchFamily="34" charset="0"/>
              <a:buChar char="•"/>
              <a:defRPr/>
            </a:pPr>
            <a:r>
              <a:rPr lang="en-US" sz="2000" dirty="0">
                <a:solidFill>
                  <a:schemeClr val="accent5"/>
                </a:solidFill>
                <a:latin typeface="Calibri" panose="020F0502020204030204"/>
              </a:rPr>
              <a:t>Decks 1-4 only (no laddering and nothing from today)</a:t>
            </a:r>
          </a:p>
          <a:p>
            <a:pPr marL="914400" lvl="1" indent="-457200">
              <a:buFont typeface="Arial" pitchFamily="34" charset="0"/>
              <a:buChar char="•"/>
              <a:defRPr/>
            </a:pPr>
            <a:r>
              <a:rPr lang="en-US" sz="2000" dirty="0">
                <a:solidFill>
                  <a:schemeClr val="accent5"/>
                </a:solidFill>
                <a:latin typeface="Calibri" panose="020F0502020204030204"/>
              </a:rPr>
              <a:t>75 minutes allotted</a:t>
            </a:r>
          </a:p>
          <a:p>
            <a:pPr marL="914400" lvl="1" indent="-457200">
              <a:buFont typeface="Arial" pitchFamily="34" charset="0"/>
              <a:buChar char="•"/>
              <a:defRPr/>
            </a:pPr>
            <a:r>
              <a:rPr lang="en-US" sz="2000" dirty="0">
                <a:solidFill>
                  <a:schemeClr val="accent5"/>
                </a:solidFill>
                <a:latin typeface="Calibri" panose="020F0502020204030204"/>
              </a:rPr>
              <a:t>Quiz opens at 12:00 am on Tuesday morning and is due at 5:00 pm Tuesday afternoon.</a:t>
            </a:r>
          </a:p>
          <a:p>
            <a:pPr lvl="1">
              <a:defRPr/>
            </a:pPr>
            <a:endParaRPr lang="en-US" sz="2000" dirty="0">
              <a:solidFill>
                <a:schemeClr val="accent5"/>
              </a:solidFill>
              <a:latin typeface="Calibri" panose="020F0502020204030204"/>
            </a:endParaRPr>
          </a:p>
          <a:p>
            <a:r>
              <a:rPr lang="en-US" sz="1600" dirty="0">
                <a:solidFill>
                  <a:schemeClr val="accent5"/>
                </a:solidFill>
              </a:rPr>
              <a:t>1.  Define Marketing Research (10 pts) - be precise and use the definition we discussed in class and that's in </a:t>
            </a:r>
            <a:r>
              <a:rPr lang="en-US" sz="1600" dirty="0" err="1">
                <a:solidFill>
                  <a:schemeClr val="accent5"/>
                </a:solidFill>
              </a:rPr>
              <a:t>Powerpoint</a:t>
            </a:r>
            <a:r>
              <a:rPr lang="en-US" sz="1600" dirty="0">
                <a:solidFill>
                  <a:schemeClr val="accent5"/>
                </a:solidFill>
              </a:rPr>
              <a:t> Deck #1.</a:t>
            </a:r>
          </a:p>
          <a:p>
            <a:r>
              <a:rPr lang="en-US" sz="1600" dirty="0">
                <a:solidFill>
                  <a:schemeClr val="accent5"/>
                </a:solidFill>
              </a:rPr>
              <a:t>2.  Answer 3 Short Answer Questions (10 pts </a:t>
            </a:r>
            <a:r>
              <a:rPr lang="en-US" sz="1600" dirty="0" err="1">
                <a:solidFill>
                  <a:schemeClr val="accent5"/>
                </a:solidFill>
              </a:rPr>
              <a:t>ea</a:t>
            </a:r>
            <a:r>
              <a:rPr lang="en-US" sz="1600" dirty="0">
                <a:solidFill>
                  <a:schemeClr val="accent5"/>
                </a:solidFill>
              </a:rPr>
              <a:t>) - randomized</a:t>
            </a:r>
          </a:p>
          <a:p>
            <a:r>
              <a:rPr lang="en-US" sz="1600" dirty="0">
                <a:solidFill>
                  <a:schemeClr val="accent5"/>
                </a:solidFill>
              </a:rPr>
              <a:t>3.  Answer 10 </a:t>
            </a:r>
            <a:r>
              <a:rPr lang="en-US" sz="1600" dirty="0" err="1">
                <a:solidFill>
                  <a:schemeClr val="accent5"/>
                </a:solidFill>
              </a:rPr>
              <a:t>Mult</a:t>
            </a:r>
            <a:r>
              <a:rPr lang="en-US" sz="1600" dirty="0">
                <a:solidFill>
                  <a:schemeClr val="accent5"/>
                </a:solidFill>
              </a:rPr>
              <a:t> Choice, T/F, Fill in the Blank (5 pts </a:t>
            </a:r>
            <a:r>
              <a:rPr lang="en-US" sz="1600" dirty="0" err="1">
                <a:solidFill>
                  <a:schemeClr val="accent5"/>
                </a:solidFill>
              </a:rPr>
              <a:t>ea</a:t>
            </a:r>
            <a:r>
              <a:rPr lang="en-US" sz="1600" dirty="0">
                <a:solidFill>
                  <a:schemeClr val="accent5"/>
                </a:solidFill>
              </a:rPr>
              <a:t>) - randomized</a:t>
            </a:r>
          </a:p>
          <a:p>
            <a:r>
              <a:rPr lang="en-US" sz="1600" dirty="0">
                <a:solidFill>
                  <a:schemeClr val="accent5"/>
                </a:solidFill>
              </a:rPr>
              <a:t>4.  Critical Thinking/Application (10 pts) - based on Client Briefing from Cincinnati Reds.</a:t>
            </a:r>
          </a:p>
          <a:p>
            <a:r>
              <a:rPr lang="en-US" sz="2000" dirty="0"/>
              <a:t> </a:t>
            </a:r>
          </a:p>
          <a:p>
            <a:pPr marL="914400" lvl="1" indent="-457200">
              <a:buFont typeface="Arial" pitchFamily="34" charset="0"/>
              <a:buChar char="•"/>
              <a:defRPr/>
            </a:pPr>
            <a:endParaRPr lang="en-US" sz="2000" dirty="0">
              <a:solidFill>
                <a:schemeClr val="accent5"/>
              </a:solidFill>
              <a:latin typeface="Calibri" panose="020F0502020204030204"/>
            </a:endParaRPr>
          </a:p>
          <a:p>
            <a:pPr marL="914400" lvl="1" indent="-457200">
              <a:buFont typeface="Arial" pitchFamily="34" charset="0"/>
              <a:buChar char="•"/>
              <a:defRPr/>
            </a:pPr>
            <a:endParaRPr lang="en-US" sz="2000" dirty="0">
              <a:solidFill>
                <a:schemeClr val="accent5"/>
              </a:solidFill>
              <a:latin typeface="Calibri" panose="020F0502020204030204"/>
            </a:endParaRPr>
          </a:p>
          <a:p>
            <a:pPr marL="914400" lvl="1" indent="-457200">
              <a:buFont typeface="Arial" pitchFamily="34" charset="0"/>
              <a:buChar char="•"/>
              <a:defRPr/>
            </a:pPr>
            <a:endParaRPr lang="en-US" sz="2000" dirty="0">
              <a:solidFill>
                <a:schemeClr val="accent5"/>
              </a:solidFill>
              <a:latin typeface="Calibri" panose="020F0502020204030204"/>
            </a:endParaRP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accent5"/>
              </a:solidFill>
              <a:effectLst/>
              <a:uLnTx/>
              <a:uFillTx/>
              <a:latin typeface="Calibri" panose="020F0502020204030204"/>
            </a:endParaRPr>
          </a:p>
        </p:txBody>
      </p:sp>
    </p:spTree>
    <p:extLst>
      <p:ext uri="{BB962C8B-B14F-4D97-AF65-F5344CB8AC3E}">
        <p14:creationId xmlns:p14="http://schemas.microsoft.com/office/powerpoint/2010/main" val="732309307"/>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3</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Student Learning Objectives</a:t>
            </a:r>
          </a:p>
        </p:txBody>
      </p:sp>
      <p:sp>
        <p:nvSpPr>
          <p:cNvPr id="15365" name="Rectangle 20"/>
          <p:cNvSpPr>
            <a:spLocks noChangeArrowheads="1"/>
          </p:cNvSpPr>
          <p:nvPr/>
        </p:nvSpPr>
        <p:spPr bwMode="auto">
          <a:xfrm>
            <a:off x="802739" y="1216402"/>
            <a:ext cx="8111067" cy="3840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kumimoji="0" lang="en-US" sz="3600" b="0" i="0" u="none" strike="noStrike" kern="1200" cap="none" spc="0" normalizeH="0" baseline="0" noProof="0" dirty="0">
                <a:ln>
                  <a:noFill/>
                </a:ln>
                <a:solidFill>
                  <a:schemeClr val="accent5"/>
                </a:solidFill>
                <a:effectLst/>
                <a:uLnTx/>
                <a:uFillTx/>
                <a:latin typeface="Calibri" panose="020F0502020204030204"/>
                <a:ea typeface="+mn-ea"/>
                <a:cs typeface="+mn-cs"/>
              </a:rPr>
              <a:t>By the end of this module you will be able to:</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Highlight the main difference 	between the utility, justice, and 	rights approaches to ethical 	reasoning, and</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Describe types of research that should be avoided.</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75202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12866" y="0"/>
            <a:ext cx="9720072" cy="1499616"/>
          </a:xfrm>
        </p:spPr>
        <p:txBody>
          <a:bodyPr>
            <a:normAutofit/>
          </a:bodyPr>
          <a:lstStyle/>
          <a:p>
            <a:r>
              <a:rPr lang="en-US" sz="4000" dirty="0">
                <a:latin typeface="+mn-lt"/>
              </a:rPr>
              <a:t>The Marketing Research Process</a:t>
            </a:r>
          </a:p>
        </p:txBody>
      </p:sp>
      <p:sp>
        <p:nvSpPr>
          <p:cNvPr id="3" name="Slide Number Placeholder 2"/>
          <p:cNvSpPr>
            <a:spLocks noGrp="1"/>
          </p:cNvSpPr>
          <p:nvPr>
            <p:ph type="sldNum" sz="quarter" idx="12"/>
          </p:nvPr>
        </p:nvSpPr>
        <p:spPr/>
        <p:txBody>
          <a:bodyPr/>
          <a:lstStyle/>
          <a:p>
            <a:pPr>
              <a:defRPr/>
            </a:pPr>
            <a:fld id="{00846090-C2D1-43F3-9AE7-50928F494A56}" type="slidenum">
              <a:rPr lang="en-US" smtClean="0"/>
              <a:pPr>
                <a:defRPr/>
              </a:pPr>
              <a:t>4</a:t>
            </a:fld>
            <a:endParaRPr lang="en-US"/>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1" y="984896"/>
            <a:ext cx="9144001" cy="587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0568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17261" y="0"/>
            <a:ext cx="9720072" cy="1499616"/>
          </a:xfrm>
        </p:spPr>
        <p:txBody>
          <a:bodyPr>
            <a:normAutofit/>
          </a:bodyPr>
          <a:lstStyle/>
          <a:p>
            <a:r>
              <a:rPr lang="en-US" sz="4000" dirty="0">
                <a:latin typeface="+mn-lt"/>
              </a:rPr>
              <a:t>The Marketing Research Process</a:t>
            </a:r>
          </a:p>
        </p:txBody>
      </p:sp>
      <p:sp>
        <p:nvSpPr>
          <p:cNvPr id="3" name="Slide Number Placeholder 2"/>
          <p:cNvSpPr>
            <a:spLocks noGrp="1"/>
          </p:cNvSpPr>
          <p:nvPr>
            <p:ph type="sldNum" sz="quarter" idx="12"/>
          </p:nvPr>
        </p:nvSpPr>
        <p:spPr/>
        <p:txBody>
          <a:bodyPr/>
          <a:lstStyle/>
          <a:p>
            <a:pPr>
              <a:defRPr/>
            </a:pPr>
            <a:fld id="{00846090-C2D1-43F3-9AE7-50928F494A56}" type="slidenum">
              <a:rPr lang="en-US" smtClean="0"/>
              <a:pPr>
                <a:defRPr/>
              </a:pPr>
              <a:t>5</a:t>
            </a:fld>
            <a:endParaRPr lang="en-US"/>
          </a:p>
        </p:txBody>
      </p:sp>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1" y="984896"/>
            <a:ext cx="9144001" cy="587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Oval 1"/>
          <p:cNvSpPr/>
          <p:nvPr/>
        </p:nvSpPr>
        <p:spPr>
          <a:xfrm>
            <a:off x="2207568" y="1340768"/>
            <a:ext cx="7632848" cy="100811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55399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57" y="647463"/>
            <a:ext cx="8534400" cy="896144"/>
          </a:xfrm>
        </p:spPr>
        <p:txBody>
          <a:bodyPr>
            <a:normAutofit/>
          </a:bodyPr>
          <a:lstStyle/>
          <a:p>
            <a:r>
              <a:rPr lang="en-US" sz="4000" dirty="0">
                <a:latin typeface="+mn-lt"/>
              </a:rPr>
              <a:t>Stage One: Problem Definition</a:t>
            </a:r>
          </a:p>
        </p:txBody>
      </p:sp>
      <p:sp>
        <p:nvSpPr>
          <p:cNvPr id="3" name="Content Placeholder 2"/>
          <p:cNvSpPr>
            <a:spLocks noGrp="1"/>
          </p:cNvSpPr>
          <p:nvPr>
            <p:ph idx="1"/>
          </p:nvPr>
        </p:nvSpPr>
        <p:spPr>
          <a:xfrm>
            <a:off x="1995239" y="2060848"/>
            <a:ext cx="8375848" cy="4349080"/>
          </a:xfrm>
        </p:spPr>
        <p:txBody>
          <a:bodyPr>
            <a:noAutofit/>
          </a:bodyPr>
          <a:lstStyle/>
          <a:p>
            <a:r>
              <a:rPr lang="en-US" sz="2800" dirty="0"/>
              <a:t>Some key questions:</a:t>
            </a:r>
          </a:p>
          <a:p>
            <a:pPr lvl="1"/>
            <a:r>
              <a:rPr lang="en-US" sz="2800" dirty="0"/>
              <a:t>What is the purpose of the study?</a:t>
            </a:r>
          </a:p>
          <a:p>
            <a:pPr lvl="1"/>
            <a:r>
              <a:rPr lang="en-US" sz="2800" dirty="0"/>
              <a:t>Is additional background information necessary?</a:t>
            </a:r>
          </a:p>
          <a:p>
            <a:pPr lvl="1"/>
            <a:r>
              <a:rPr lang="en-US" sz="2800" dirty="0"/>
              <a:t>What is the source of the problem?</a:t>
            </a:r>
          </a:p>
          <a:p>
            <a:pPr lvl="1"/>
            <a:r>
              <a:rPr lang="en-US" sz="2800" dirty="0"/>
              <a:t>Is the research discovery- or strategy-oriented?</a:t>
            </a:r>
          </a:p>
          <a:p>
            <a:pPr lvl="1"/>
            <a:r>
              <a:rPr lang="en-US" sz="2800" dirty="0"/>
              <a:t>What information is needed to make the decision?</a:t>
            </a:r>
          </a:p>
          <a:p>
            <a:pPr lvl="1"/>
            <a:r>
              <a:rPr lang="en-US" sz="2800" dirty="0"/>
              <a:t>How much is already known?</a:t>
            </a:r>
          </a:p>
          <a:p>
            <a:pPr lvl="1"/>
            <a:r>
              <a:rPr lang="en-US" sz="2800" dirty="0"/>
              <a:t>Can a hypothesis be formulated?</a:t>
            </a:r>
          </a:p>
        </p:txBody>
      </p:sp>
    </p:spTree>
    <p:extLst>
      <p:ext uri="{BB962C8B-B14F-4D97-AF65-F5344CB8AC3E}">
        <p14:creationId xmlns:p14="http://schemas.microsoft.com/office/powerpoint/2010/main" val="27924775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57" y="647463"/>
            <a:ext cx="8534400" cy="896144"/>
          </a:xfrm>
        </p:spPr>
        <p:txBody>
          <a:bodyPr>
            <a:normAutofit/>
          </a:bodyPr>
          <a:lstStyle/>
          <a:p>
            <a:r>
              <a:rPr lang="en-US" sz="4000" dirty="0">
                <a:latin typeface="+mn-lt"/>
              </a:rPr>
              <a:t>Stage Two: Data Collection</a:t>
            </a:r>
          </a:p>
        </p:txBody>
      </p:sp>
      <p:sp>
        <p:nvSpPr>
          <p:cNvPr id="3" name="Content Placeholder 2"/>
          <p:cNvSpPr>
            <a:spLocks noGrp="1"/>
          </p:cNvSpPr>
          <p:nvPr>
            <p:ph idx="1"/>
          </p:nvPr>
        </p:nvSpPr>
        <p:spPr>
          <a:xfrm>
            <a:off x="1444733" y="1407705"/>
            <a:ext cx="8375848" cy="4349080"/>
          </a:xfrm>
        </p:spPr>
        <p:txBody>
          <a:bodyPr>
            <a:noAutofit/>
          </a:bodyPr>
          <a:lstStyle/>
          <a:p>
            <a:r>
              <a:rPr lang="en-US" sz="2800" dirty="0"/>
              <a:t>Some key questions:</a:t>
            </a:r>
          </a:p>
          <a:p>
            <a:pPr lvl="1"/>
            <a:r>
              <a:rPr lang="en-US" sz="2800" dirty="0"/>
              <a:t>Can existing data be retrieved from internal sources?</a:t>
            </a:r>
          </a:p>
          <a:p>
            <a:pPr lvl="1"/>
            <a:r>
              <a:rPr lang="en-US" sz="2800" dirty="0"/>
              <a:t>Can existing data be retrieved from external sources?</a:t>
            </a:r>
          </a:p>
          <a:p>
            <a:pPr lvl="1"/>
            <a:r>
              <a:rPr lang="en-US" sz="2800" dirty="0"/>
              <a:t>What is to be measured? How?</a:t>
            </a:r>
          </a:p>
          <a:p>
            <a:pPr lvl="1"/>
            <a:r>
              <a:rPr lang="en-US" sz="2800" dirty="0"/>
              <a:t>What is the source of the data to be collected?</a:t>
            </a:r>
          </a:p>
          <a:p>
            <a:pPr lvl="1"/>
            <a:r>
              <a:rPr lang="en-US" sz="2800" dirty="0"/>
              <a:t>How should questionnaires be administered?</a:t>
            </a:r>
          </a:p>
          <a:p>
            <a:pPr lvl="1"/>
            <a:r>
              <a:rPr lang="en-US" sz="2800" dirty="0"/>
              <a:t>Should structured or unstructured items be used?</a:t>
            </a:r>
          </a:p>
          <a:p>
            <a:pPr lvl="1"/>
            <a:r>
              <a:rPr lang="en-US" sz="2800" dirty="0"/>
              <a:t>Should the purpose of the study be made known?</a:t>
            </a:r>
          </a:p>
          <a:p>
            <a:pPr lvl="1"/>
            <a:r>
              <a:rPr lang="en-US" sz="2800" dirty="0"/>
              <a:t>What specific behaviors should be recorded?</a:t>
            </a:r>
          </a:p>
          <a:p>
            <a:pPr lvl="1"/>
            <a:endParaRPr lang="en-US" sz="2800" dirty="0"/>
          </a:p>
        </p:txBody>
      </p:sp>
    </p:spTree>
    <p:extLst>
      <p:ext uri="{BB962C8B-B14F-4D97-AF65-F5344CB8AC3E}">
        <p14:creationId xmlns:p14="http://schemas.microsoft.com/office/powerpoint/2010/main" val="14973083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57" y="647463"/>
            <a:ext cx="8534400" cy="896144"/>
          </a:xfrm>
        </p:spPr>
        <p:txBody>
          <a:bodyPr>
            <a:normAutofit/>
          </a:bodyPr>
          <a:lstStyle/>
          <a:p>
            <a:r>
              <a:rPr lang="en-US" sz="4000" dirty="0">
                <a:latin typeface="+mn-lt"/>
              </a:rPr>
              <a:t>Stage Three: Data Analysis</a:t>
            </a:r>
          </a:p>
        </p:txBody>
      </p:sp>
      <p:sp>
        <p:nvSpPr>
          <p:cNvPr id="3" name="Content Placeholder 2"/>
          <p:cNvSpPr>
            <a:spLocks noGrp="1"/>
          </p:cNvSpPr>
          <p:nvPr>
            <p:ph idx="1"/>
          </p:nvPr>
        </p:nvSpPr>
        <p:spPr>
          <a:xfrm>
            <a:off x="1444733" y="1407705"/>
            <a:ext cx="8375848" cy="4349080"/>
          </a:xfrm>
        </p:spPr>
        <p:txBody>
          <a:bodyPr>
            <a:noAutofit/>
          </a:bodyPr>
          <a:lstStyle/>
          <a:p>
            <a:r>
              <a:rPr lang="en-US" sz="2800" dirty="0"/>
              <a:t>Some key questions:</a:t>
            </a:r>
          </a:p>
          <a:p>
            <a:pPr lvl="1"/>
            <a:r>
              <a:rPr lang="en-US" sz="2800" dirty="0"/>
              <a:t>Who will handle the editing of the data?</a:t>
            </a:r>
          </a:p>
          <a:p>
            <a:pPr lvl="1"/>
            <a:r>
              <a:rPr lang="en-US" sz="2800" dirty="0"/>
              <a:t>How will the data be coded?</a:t>
            </a:r>
          </a:p>
          <a:p>
            <a:pPr lvl="1"/>
            <a:r>
              <a:rPr lang="en-US" sz="2800" dirty="0"/>
              <a:t>What analysis techniques will be used?</a:t>
            </a:r>
          </a:p>
          <a:p>
            <a:pPr lvl="1"/>
            <a:endParaRPr lang="en-US" sz="2800" dirty="0"/>
          </a:p>
        </p:txBody>
      </p:sp>
    </p:spTree>
    <p:extLst>
      <p:ext uri="{BB962C8B-B14F-4D97-AF65-F5344CB8AC3E}">
        <p14:creationId xmlns:p14="http://schemas.microsoft.com/office/powerpoint/2010/main" val="335275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57" y="647463"/>
            <a:ext cx="8534400" cy="896144"/>
          </a:xfrm>
        </p:spPr>
        <p:txBody>
          <a:bodyPr>
            <a:normAutofit/>
          </a:bodyPr>
          <a:lstStyle/>
          <a:p>
            <a:r>
              <a:rPr lang="en-US" sz="4000" dirty="0">
                <a:latin typeface="+mn-lt"/>
              </a:rPr>
              <a:t>Stage Four: Information Reporting</a:t>
            </a:r>
          </a:p>
        </p:txBody>
      </p:sp>
      <p:sp>
        <p:nvSpPr>
          <p:cNvPr id="3" name="Content Placeholder 2"/>
          <p:cNvSpPr>
            <a:spLocks noGrp="1"/>
          </p:cNvSpPr>
          <p:nvPr>
            <p:ph idx="1"/>
          </p:nvPr>
        </p:nvSpPr>
        <p:spPr>
          <a:xfrm>
            <a:off x="1444733" y="1407705"/>
            <a:ext cx="8375848" cy="4349080"/>
          </a:xfrm>
        </p:spPr>
        <p:txBody>
          <a:bodyPr>
            <a:noAutofit/>
          </a:bodyPr>
          <a:lstStyle/>
          <a:p>
            <a:r>
              <a:rPr lang="en-US" sz="2800" dirty="0"/>
              <a:t>Some key questions:</a:t>
            </a:r>
          </a:p>
          <a:p>
            <a:pPr lvl="1"/>
            <a:r>
              <a:rPr lang="en-US" sz="2800" dirty="0"/>
              <a:t>Who will read the report?</a:t>
            </a:r>
          </a:p>
          <a:p>
            <a:pPr lvl="1"/>
            <a:r>
              <a:rPr lang="en-US" sz="2800" dirty="0"/>
              <a:t>What is their technical level of sophistication?</a:t>
            </a:r>
          </a:p>
          <a:p>
            <a:pPr lvl="1"/>
            <a:r>
              <a:rPr lang="en-US" sz="2800" dirty="0"/>
              <a:t>What is their involvement with the project?</a:t>
            </a:r>
          </a:p>
          <a:p>
            <a:pPr lvl="1"/>
            <a:r>
              <a:rPr lang="en-US" sz="2800" dirty="0"/>
              <a:t>Are managerial recommendations called for?</a:t>
            </a:r>
          </a:p>
          <a:p>
            <a:pPr lvl="1"/>
            <a:r>
              <a:rPr lang="en-US" sz="2800" dirty="0"/>
              <a:t>What will be the format of the written report?</a:t>
            </a:r>
          </a:p>
          <a:p>
            <a:pPr lvl="1"/>
            <a:r>
              <a:rPr lang="en-US" sz="2800" dirty="0"/>
              <a:t>Is an oral report necessary?</a:t>
            </a:r>
          </a:p>
          <a:p>
            <a:pPr lvl="1"/>
            <a:r>
              <a:rPr lang="en-US" sz="2800" dirty="0"/>
              <a:t>How should the oral report be structured?</a:t>
            </a:r>
          </a:p>
          <a:p>
            <a:pPr lvl="1"/>
            <a:endParaRPr lang="en-US" sz="2800" dirty="0"/>
          </a:p>
        </p:txBody>
      </p:sp>
    </p:spTree>
    <p:extLst>
      <p:ext uri="{BB962C8B-B14F-4D97-AF65-F5344CB8AC3E}">
        <p14:creationId xmlns:p14="http://schemas.microsoft.com/office/powerpoint/2010/main" val="34868143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lovelandk\AppData\Local\Microsoft\Windows\Temporary Internet Files\Content.IE5\G4YUPFZX\MC90041278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96883" y="4797152"/>
            <a:ext cx="1083779" cy="16476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000" dirty="0">
                <a:latin typeface="+mn-lt"/>
              </a:rPr>
              <a:t>Gathering Marketing Intelligence</a:t>
            </a:r>
            <a:endParaRPr lang="en-US" sz="4000" dirty="0">
              <a:highlight>
                <a:srgbClr val="FFFF00"/>
              </a:highlight>
              <a:latin typeface="+mn-lt"/>
            </a:endParaRPr>
          </a:p>
        </p:txBody>
      </p:sp>
      <p:sp>
        <p:nvSpPr>
          <p:cNvPr id="4" name="Content Placeholder 3"/>
          <p:cNvSpPr>
            <a:spLocks noGrp="1"/>
          </p:cNvSpPr>
          <p:nvPr>
            <p:ph idx="1"/>
          </p:nvPr>
        </p:nvSpPr>
        <p:spPr>
          <a:xfrm>
            <a:off x="1603536" y="2084832"/>
            <a:ext cx="8918448" cy="4572000"/>
          </a:xfrm>
        </p:spPr>
        <p:txBody>
          <a:bodyPr>
            <a:normAutofit/>
          </a:bodyPr>
          <a:lstStyle/>
          <a:p>
            <a:r>
              <a:rPr lang="en-US" sz="4000" b="1" dirty="0"/>
              <a:t>The Project Approach</a:t>
            </a:r>
          </a:p>
          <a:p>
            <a:pPr lvl="1"/>
            <a:r>
              <a:rPr lang="en-US" sz="2800" dirty="0"/>
              <a:t>collecting data to address specific problems</a:t>
            </a:r>
          </a:p>
          <a:p>
            <a:pPr lvl="1"/>
            <a:endParaRPr lang="en-US" sz="2000" dirty="0"/>
          </a:p>
          <a:p>
            <a:endParaRPr lang="en-US" sz="2400" dirty="0"/>
          </a:p>
          <a:p>
            <a:r>
              <a:rPr lang="en-US" sz="4000" b="1" dirty="0"/>
              <a:t>The Systems Approach</a:t>
            </a:r>
          </a:p>
          <a:p>
            <a:pPr lvl="1"/>
            <a:r>
              <a:rPr lang="en-US" sz="2800" dirty="0"/>
              <a:t>Putting systems in place to provide marketing intelligence on an ongoing basis </a:t>
            </a:r>
          </a:p>
          <a:p>
            <a:pPr lvl="1"/>
            <a:endParaRPr lang="en-US" sz="3200" b="1" dirty="0"/>
          </a:p>
          <a:p>
            <a:endParaRPr lang="en-US" sz="2400" dirty="0"/>
          </a:p>
          <a:p>
            <a:pPr marL="274320" lvl="1" indent="0">
              <a:buNone/>
            </a:pPr>
            <a:endParaRPr lang="en-US" sz="2000" dirty="0"/>
          </a:p>
        </p:txBody>
      </p:sp>
      <p:pic>
        <p:nvPicPr>
          <p:cNvPr id="1026" name="Picture 2" descr="C:\Users\lovelandk\AppData\Local\Microsoft\Windows\Temporary Internet Files\Content.IE5\FHO37JKF\MC900391164[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28248" y="2249492"/>
            <a:ext cx="1152128" cy="1078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80638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4000" dirty="0">
                <a:latin typeface="+mn-lt"/>
              </a:rPr>
              <a:t>Marketing Research Ethics</a:t>
            </a:r>
          </a:p>
        </p:txBody>
      </p:sp>
      <p:sp>
        <p:nvSpPr>
          <p:cNvPr id="35843" name="Rectangle 3"/>
          <p:cNvSpPr>
            <a:spLocks noGrp="1" noChangeArrowheads="1"/>
          </p:cNvSpPr>
          <p:nvPr>
            <p:ph idx="1"/>
          </p:nvPr>
        </p:nvSpPr>
        <p:spPr/>
        <p:txBody>
          <a:bodyPr>
            <a:normAutofit/>
          </a:bodyPr>
          <a:lstStyle/>
          <a:p>
            <a:pPr eaLnBrk="1" hangingPunct="1"/>
            <a:endParaRPr lang="en-US" altLang="en-US" sz="2800" dirty="0"/>
          </a:p>
          <a:p>
            <a:pPr eaLnBrk="1" hangingPunct="1"/>
            <a:r>
              <a:rPr lang="en-US" altLang="en-US" sz="2800" b="1" dirty="0"/>
              <a:t>Marketing ethics</a:t>
            </a:r>
            <a:r>
              <a:rPr lang="en-US" altLang="en-US" sz="2800" dirty="0"/>
              <a:t>:</a:t>
            </a:r>
          </a:p>
          <a:p>
            <a:pPr lvl="1" eaLnBrk="1" hangingPunct="1"/>
            <a:r>
              <a:rPr lang="en-US" altLang="en-US" sz="2400" dirty="0"/>
              <a:t>The principles, values, and standards of conduct followed by marketers.</a:t>
            </a:r>
          </a:p>
          <a:p>
            <a:pPr marL="457200" lvl="1" indent="0" algn="ctr">
              <a:buNone/>
            </a:pPr>
            <a:endParaRPr lang="en-US" altLang="en-US" sz="2400" dirty="0"/>
          </a:p>
          <a:p>
            <a:pPr marL="457200" lvl="1" indent="0" algn="ctr">
              <a:buNone/>
            </a:pPr>
            <a:r>
              <a:rPr lang="en-US" altLang="en-US" sz="4400" b="1" i="1" dirty="0">
                <a:solidFill>
                  <a:schemeClr val="tx2">
                    <a:lumMod val="75000"/>
                  </a:schemeClr>
                </a:solidFill>
              </a:rPr>
              <a:t>WHY DO ETHICS MATTER?</a:t>
            </a:r>
          </a:p>
        </p:txBody>
      </p:sp>
    </p:spTree>
    <p:extLst>
      <p:ext uri="{BB962C8B-B14F-4D97-AF65-F5344CB8AC3E}">
        <p14:creationId xmlns:p14="http://schemas.microsoft.com/office/powerpoint/2010/main" val="15840685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843">
                                            <p:txEl>
                                              <p:pRg st="4" end="4"/>
                                            </p:txEl>
                                          </p:spTgt>
                                        </p:tgtEl>
                                        <p:attrNameLst>
                                          <p:attrName>style.visibility</p:attrName>
                                        </p:attrNameLst>
                                      </p:cBhvr>
                                      <p:to>
                                        <p:strVal val="visible"/>
                                      </p:to>
                                    </p:set>
                                    <p:animEffect transition="in" filter="fade">
                                      <p:cBhvr>
                                        <p:cTn id="7" dur="1000"/>
                                        <p:tgtEl>
                                          <p:spTgt spid="35843">
                                            <p:txEl>
                                              <p:pRg st="4" end="4"/>
                                            </p:txEl>
                                          </p:spTgt>
                                        </p:tgtEl>
                                      </p:cBhvr>
                                    </p:animEffect>
                                    <p:anim calcmode="lin" valueType="num">
                                      <p:cBhvr>
                                        <p:cTn id="8" dur="1000" fill="hold"/>
                                        <p:tgtEl>
                                          <p:spTgt spid="3584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584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4000" dirty="0">
                <a:latin typeface="+mn-lt"/>
              </a:rPr>
              <a:t>What Are Ethical Research Practices?</a:t>
            </a:r>
          </a:p>
        </p:txBody>
      </p:sp>
      <p:sp>
        <p:nvSpPr>
          <p:cNvPr id="35843" name="Rectangle 3"/>
          <p:cNvSpPr>
            <a:spLocks noGrp="1" noChangeArrowheads="1"/>
          </p:cNvSpPr>
          <p:nvPr>
            <p:ph idx="1"/>
          </p:nvPr>
        </p:nvSpPr>
        <p:spPr>
          <a:xfrm>
            <a:off x="838200" y="1825625"/>
            <a:ext cx="8874967" cy="4351338"/>
          </a:xfrm>
        </p:spPr>
        <p:txBody>
          <a:bodyPr>
            <a:normAutofit lnSpcReduction="10000"/>
          </a:bodyPr>
          <a:lstStyle/>
          <a:p>
            <a:pPr eaLnBrk="1" hangingPunct="1"/>
            <a:endParaRPr lang="en-US" altLang="en-US" sz="2800" dirty="0"/>
          </a:p>
          <a:p>
            <a:pPr eaLnBrk="1" hangingPunct="1"/>
            <a:r>
              <a:rPr lang="en-US" altLang="en-US" sz="2800" b="1" dirty="0"/>
              <a:t>Ethical Research Practices</a:t>
            </a:r>
            <a:r>
              <a:rPr lang="en-US" altLang="en-US" sz="2800" dirty="0"/>
              <a:t>:</a:t>
            </a:r>
          </a:p>
          <a:p>
            <a:pPr lvl="1"/>
            <a:r>
              <a:rPr lang="en-US" altLang="en-US" dirty="0"/>
              <a:t>Ethical research practices are the rules and regulations that govern the way in which a research study is conducted. </a:t>
            </a:r>
          </a:p>
          <a:p>
            <a:pPr lvl="1"/>
            <a:r>
              <a:rPr lang="en-US" altLang="en-US" dirty="0"/>
              <a:t>The rules and regulations are designed to protect the rights of the participants in the study, as well as other people who may be affected by the results of a study. </a:t>
            </a:r>
          </a:p>
          <a:p>
            <a:pPr lvl="1"/>
            <a:r>
              <a:rPr lang="en-US" altLang="en-US" dirty="0"/>
              <a:t>It is important to remember that ethical research practices are not just about protecting participants’ personal information.</a:t>
            </a:r>
          </a:p>
          <a:p>
            <a:pPr lvl="2"/>
            <a:r>
              <a:rPr lang="en-US" altLang="en-US" dirty="0"/>
              <a:t>They also involve protecting the integrity of the research process itself by adhering to standards of good practice and ethics as outlined by experts in the field.</a:t>
            </a:r>
          </a:p>
        </p:txBody>
      </p:sp>
      <p:sp>
        <p:nvSpPr>
          <p:cNvPr id="2" name="TextBox 1">
            <a:extLst>
              <a:ext uri="{FF2B5EF4-FFF2-40B4-BE49-F238E27FC236}">
                <a16:creationId xmlns:a16="http://schemas.microsoft.com/office/drawing/2014/main" id="{987DC122-B709-45A1-B37F-1A2AF50AF78C}"/>
              </a:ext>
            </a:extLst>
          </p:cNvPr>
          <p:cNvSpPr txBox="1"/>
          <p:nvPr/>
        </p:nvSpPr>
        <p:spPr>
          <a:xfrm>
            <a:off x="1129004" y="6298163"/>
            <a:ext cx="2545249" cy="276999"/>
          </a:xfrm>
          <a:prstGeom prst="rect">
            <a:avLst/>
          </a:prstGeom>
          <a:noFill/>
        </p:spPr>
        <p:txBody>
          <a:bodyPr wrap="none" rtlCol="0">
            <a:spAutoFit/>
          </a:bodyPr>
          <a:lstStyle/>
          <a:p>
            <a:r>
              <a:rPr lang="en-US" sz="1200" dirty="0"/>
              <a:t>Source: </a:t>
            </a:r>
            <a:r>
              <a:rPr lang="en-US" sz="1200" dirty="0">
                <a:hlinkClick r:id="rId2"/>
              </a:rPr>
              <a:t>Formplus Marketing Research</a:t>
            </a:r>
            <a:endParaRPr lang="en-US" sz="1200" dirty="0"/>
          </a:p>
        </p:txBody>
      </p:sp>
    </p:spTree>
    <p:extLst>
      <p:ext uri="{BB962C8B-B14F-4D97-AF65-F5344CB8AC3E}">
        <p14:creationId xmlns:p14="http://schemas.microsoft.com/office/powerpoint/2010/main" val="211379169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4000" dirty="0">
                <a:latin typeface="+mn-lt"/>
              </a:rPr>
              <a:t>Ethics for our Participants</a:t>
            </a:r>
          </a:p>
        </p:txBody>
      </p:sp>
      <p:sp>
        <p:nvSpPr>
          <p:cNvPr id="35843" name="Rectangle 3"/>
          <p:cNvSpPr>
            <a:spLocks noGrp="1" noChangeArrowheads="1"/>
          </p:cNvSpPr>
          <p:nvPr>
            <p:ph idx="1"/>
          </p:nvPr>
        </p:nvSpPr>
        <p:spPr>
          <a:xfrm>
            <a:off x="838200" y="1825625"/>
            <a:ext cx="8874967" cy="4351338"/>
          </a:xfrm>
        </p:spPr>
        <p:txBody>
          <a:bodyPr>
            <a:normAutofit/>
          </a:bodyPr>
          <a:lstStyle/>
          <a:p>
            <a:pPr eaLnBrk="1" hangingPunct="1"/>
            <a:endParaRPr lang="en-US" altLang="en-US" sz="2800" dirty="0"/>
          </a:p>
          <a:p>
            <a:pPr eaLnBrk="1" hangingPunct="1"/>
            <a:r>
              <a:rPr lang="en-US" altLang="en-US" sz="2800" b="1" dirty="0"/>
              <a:t>Ethics of Participants: </a:t>
            </a:r>
            <a:endParaRPr lang="en-US" altLang="en-US" sz="2800" dirty="0"/>
          </a:p>
          <a:p>
            <a:pPr lvl="1"/>
            <a:r>
              <a:rPr lang="en-US" altLang="en-US" dirty="0"/>
              <a:t>You should never ask them questions they don’t want to answer or ask them to give up their privacy by sharing personal information with you. </a:t>
            </a:r>
          </a:p>
          <a:p>
            <a:pPr lvl="1"/>
            <a:r>
              <a:rPr lang="en-US" altLang="en-US" dirty="0"/>
              <a:t>You should also never promise rewards or gifts in exchange for their participation in your project.</a:t>
            </a:r>
          </a:p>
          <a:p>
            <a:pPr lvl="1"/>
            <a:r>
              <a:rPr lang="en-US" altLang="en-US" dirty="0"/>
              <a:t>It’s important to remember that people who participate in market research may feel less comfortable sharing their opinions than those who don’t participate. </a:t>
            </a:r>
          </a:p>
          <a:p>
            <a:pPr lvl="1"/>
            <a:endParaRPr lang="en-US" altLang="en-US" dirty="0"/>
          </a:p>
          <a:p>
            <a:pPr lvl="1"/>
            <a:endParaRPr lang="en-US" altLang="en-US" dirty="0"/>
          </a:p>
        </p:txBody>
      </p:sp>
      <p:sp>
        <p:nvSpPr>
          <p:cNvPr id="5" name="TextBox 4">
            <a:extLst>
              <a:ext uri="{FF2B5EF4-FFF2-40B4-BE49-F238E27FC236}">
                <a16:creationId xmlns:a16="http://schemas.microsoft.com/office/drawing/2014/main" id="{66E60371-745C-46FA-B498-00C53B4B0DEF}"/>
              </a:ext>
            </a:extLst>
          </p:cNvPr>
          <p:cNvSpPr txBox="1"/>
          <p:nvPr/>
        </p:nvSpPr>
        <p:spPr>
          <a:xfrm>
            <a:off x="1129004" y="6298163"/>
            <a:ext cx="2545249" cy="276999"/>
          </a:xfrm>
          <a:prstGeom prst="rect">
            <a:avLst/>
          </a:prstGeom>
          <a:noFill/>
        </p:spPr>
        <p:txBody>
          <a:bodyPr wrap="none" rtlCol="0">
            <a:spAutoFit/>
          </a:bodyPr>
          <a:lstStyle/>
          <a:p>
            <a:r>
              <a:rPr lang="en-US" sz="1200" dirty="0"/>
              <a:t>Source: </a:t>
            </a:r>
            <a:r>
              <a:rPr lang="en-US" sz="1200" dirty="0">
                <a:hlinkClick r:id="rId2"/>
              </a:rPr>
              <a:t>Formplus Marketing Research</a:t>
            </a:r>
            <a:endParaRPr lang="en-US" sz="1200" dirty="0"/>
          </a:p>
        </p:txBody>
      </p:sp>
    </p:spTree>
    <p:extLst>
      <p:ext uri="{BB962C8B-B14F-4D97-AF65-F5344CB8AC3E}">
        <p14:creationId xmlns:p14="http://schemas.microsoft.com/office/powerpoint/2010/main" val="389174859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4000" dirty="0">
                <a:latin typeface="+mn-lt"/>
              </a:rPr>
              <a:t>The Principles of Ethical Research</a:t>
            </a:r>
          </a:p>
        </p:txBody>
      </p:sp>
      <p:sp>
        <p:nvSpPr>
          <p:cNvPr id="35843" name="Rectangle 3"/>
          <p:cNvSpPr>
            <a:spLocks noGrp="1" noChangeArrowheads="1"/>
          </p:cNvSpPr>
          <p:nvPr>
            <p:ph idx="1"/>
          </p:nvPr>
        </p:nvSpPr>
        <p:spPr>
          <a:xfrm>
            <a:off x="838200" y="1825625"/>
            <a:ext cx="8874967" cy="4351338"/>
          </a:xfrm>
        </p:spPr>
        <p:txBody>
          <a:bodyPr>
            <a:normAutofit/>
          </a:bodyPr>
          <a:lstStyle/>
          <a:p>
            <a:pPr eaLnBrk="1" hangingPunct="1"/>
            <a:r>
              <a:rPr lang="en-US" altLang="en-US" sz="2800" b="1" dirty="0"/>
              <a:t>Principles of Ethical Research</a:t>
            </a:r>
            <a:endParaRPr lang="en-US" altLang="en-US" sz="2800" dirty="0"/>
          </a:p>
          <a:p>
            <a:pPr lvl="1"/>
            <a:r>
              <a:rPr lang="en-US" altLang="en-US" dirty="0"/>
              <a:t>Respect for persons</a:t>
            </a:r>
          </a:p>
          <a:p>
            <a:pPr lvl="1"/>
            <a:r>
              <a:rPr lang="en-US" altLang="en-US" dirty="0"/>
              <a:t>Informed consent</a:t>
            </a:r>
          </a:p>
          <a:p>
            <a:pPr lvl="1"/>
            <a:r>
              <a:rPr lang="en-US" altLang="en-US" dirty="0"/>
              <a:t>Integrity</a:t>
            </a:r>
          </a:p>
          <a:p>
            <a:pPr lvl="1"/>
            <a:r>
              <a:rPr lang="en-US" altLang="en-US" dirty="0"/>
              <a:t>Beneficence and non-maleficence</a:t>
            </a:r>
          </a:p>
          <a:p>
            <a:pPr lvl="1"/>
            <a:r>
              <a:rPr lang="en-US" altLang="en-US" dirty="0"/>
              <a:t>Conflict of Interest</a:t>
            </a:r>
          </a:p>
          <a:p>
            <a:pPr lvl="1"/>
            <a:r>
              <a:rPr lang="en-US" altLang="en-US" dirty="0"/>
              <a:t>Confidentiality</a:t>
            </a:r>
          </a:p>
          <a:p>
            <a:pPr lvl="1"/>
            <a:r>
              <a:rPr lang="en-US" altLang="en-US" dirty="0"/>
              <a:t>Data protection</a:t>
            </a:r>
          </a:p>
          <a:p>
            <a:pPr lvl="1"/>
            <a:r>
              <a:rPr lang="en-US" altLang="en-US" dirty="0"/>
              <a:t>Justice</a:t>
            </a:r>
          </a:p>
          <a:p>
            <a:pPr lvl="1"/>
            <a:endParaRPr lang="en-US" altLang="en-US" dirty="0"/>
          </a:p>
          <a:p>
            <a:pPr lvl="1"/>
            <a:endParaRPr lang="en-US" altLang="en-US" dirty="0"/>
          </a:p>
        </p:txBody>
      </p:sp>
      <p:sp>
        <p:nvSpPr>
          <p:cNvPr id="5" name="TextBox 4">
            <a:extLst>
              <a:ext uri="{FF2B5EF4-FFF2-40B4-BE49-F238E27FC236}">
                <a16:creationId xmlns:a16="http://schemas.microsoft.com/office/drawing/2014/main" id="{396C7D94-104D-4232-861C-245A5AE0AA02}"/>
              </a:ext>
            </a:extLst>
          </p:cNvPr>
          <p:cNvSpPr txBox="1"/>
          <p:nvPr/>
        </p:nvSpPr>
        <p:spPr>
          <a:xfrm>
            <a:off x="1129004" y="6298163"/>
            <a:ext cx="2545249" cy="276999"/>
          </a:xfrm>
          <a:prstGeom prst="rect">
            <a:avLst/>
          </a:prstGeom>
          <a:noFill/>
        </p:spPr>
        <p:txBody>
          <a:bodyPr wrap="none" rtlCol="0">
            <a:spAutoFit/>
          </a:bodyPr>
          <a:lstStyle/>
          <a:p>
            <a:r>
              <a:rPr lang="en-US" sz="1200" dirty="0"/>
              <a:t>Source: </a:t>
            </a:r>
            <a:r>
              <a:rPr lang="en-US" sz="1200" dirty="0">
                <a:hlinkClick r:id="rId2"/>
              </a:rPr>
              <a:t>Formplus Marketing Research</a:t>
            </a:r>
            <a:endParaRPr lang="en-US" sz="1200" dirty="0"/>
          </a:p>
        </p:txBody>
      </p:sp>
    </p:spTree>
    <p:extLst>
      <p:ext uri="{BB962C8B-B14F-4D97-AF65-F5344CB8AC3E}">
        <p14:creationId xmlns:p14="http://schemas.microsoft.com/office/powerpoint/2010/main" val="169952851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1055440" y="815664"/>
            <a:ext cx="7917110" cy="864096"/>
          </a:xfrm>
        </p:spPr>
        <p:txBody>
          <a:bodyPr vert="horz" lIns="92069" tIns="46035" rIns="92069" bIns="46035" rtlCol="0" anchor="ctr">
            <a:normAutofit fontScale="90000"/>
          </a:bodyPr>
          <a:lstStyle/>
          <a:p>
            <a:pPr>
              <a:defRPr/>
            </a:pPr>
            <a:r>
              <a:rPr lang="en-US" dirty="0">
                <a:latin typeface="+mn-lt"/>
              </a:rPr>
              <a:t>Three Methods of Ethical Reasoning</a:t>
            </a:r>
          </a:p>
        </p:txBody>
      </p:sp>
      <p:pic>
        <p:nvPicPr>
          <p:cNvPr id="368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3" y="1871133"/>
            <a:ext cx="80676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882827" y="4221089"/>
            <a:ext cx="6248400" cy="461665"/>
          </a:xfrm>
          <a:prstGeom prst="rect">
            <a:avLst/>
          </a:prstGeom>
          <a:noFill/>
        </p:spPr>
        <p:txBody>
          <a:bodyPr wrap="square" rtlCol="0">
            <a:spAutoFit/>
          </a:bodyPr>
          <a:lstStyle/>
          <a:p>
            <a:r>
              <a:rPr lang="en-US" sz="1200" b="1" dirty="0"/>
              <a:t>Source</a:t>
            </a:r>
            <a:r>
              <a:rPr lang="en-US" sz="1200" dirty="0"/>
              <a:t>: Adapted from Anne T. Lawrence and James Weber, </a:t>
            </a:r>
            <a:r>
              <a:rPr lang="en-US" sz="1200" i="1" dirty="0"/>
              <a:t>Business and Society: Stakeholders, Ethics, Public Policy</a:t>
            </a:r>
            <a:r>
              <a:rPr lang="en-US" sz="1200" dirty="0"/>
              <a:t>, 12</a:t>
            </a:r>
            <a:r>
              <a:rPr lang="en-US" sz="1200" baseline="30000" dirty="0"/>
              <a:t>th</a:t>
            </a:r>
            <a:r>
              <a:rPr lang="en-US" sz="1200" dirty="0"/>
              <a:t> ed. (New York: McGraw-Hill Irwin, 2008), p. 106.</a:t>
            </a:r>
          </a:p>
        </p:txBody>
      </p:sp>
      <p:sp>
        <p:nvSpPr>
          <p:cNvPr id="3" name="TextBox 2"/>
          <p:cNvSpPr txBox="1"/>
          <p:nvPr/>
        </p:nvSpPr>
        <p:spPr>
          <a:xfrm>
            <a:off x="2351585" y="4682754"/>
            <a:ext cx="7779643" cy="1692771"/>
          </a:xfrm>
          <a:prstGeom prst="rect">
            <a:avLst/>
          </a:prstGeom>
          <a:noFill/>
        </p:spPr>
        <p:txBody>
          <a:bodyPr wrap="square" rtlCol="0">
            <a:spAutoFit/>
          </a:bodyPr>
          <a:lstStyle/>
          <a:p>
            <a:r>
              <a:rPr lang="en-US" sz="2000" dirty="0"/>
              <a:t>Rights:</a:t>
            </a:r>
          </a:p>
          <a:p>
            <a:pPr marL="457200" indent="-457200">
              <a:buFont typeface="+mj-lt"/>
              <a:buAutoNum type="arabicPeriod"/>
            </a:pPr>
            <a:r>
              <a:rPr lang="en-US" sz="2000" dirty="0"/>
              <a:t>Safe</a:t>
            </a:r>
          </a:p>
          <a:p>
            <a:pPr marL="457200" indent="-457200">
              <a:buFont typeface="+mj-lt"/>
              <a:buAutoNum type="arabicPeriod"/>
            </a:pPr>
            <a:r>
              <a:rPr lang="en-US" sz="2000" dirty="0"/>
              <a:t>Informed</a:t>
            </a:r>
          </a:p>
          <a:p>
            <a:pPr marL="457200" indent="-457200">
              <a:buFont typeface="+mj-lt"/>
              <a:buAutoNum type="arabicPeriod"/>
            </a:pPr>
            <a:r>
              <a:rPr lang="en-US" sz="2000" dirty="0"/>
              <a:t>Choose</a:t>
            </a:r>
          </a:p>
          <a:p>
            <a:pPr marL="457200" indent="-457200">
              <a:buFont typeface="+mj-lt"/>
              <a:buAutoNum type="arabicPeriod"/>
            </a:pPr>
            <a:r>
              <a:rPr lang="en-US" sz="2000" dirty="0"/>
              <a:t>Heard </a:t>
            </a:r>
          </a:p>
        </p:txBody>
      </p:sp>
    </p:spTree>
    <p:extLst>
      <p:ext uri="{BB962C8B-B14F-4D97-AF65-F5344CB8AC3E}">
        <p14:creationId xmlns:p14="http://schemas.microsoft.com/office/powerpoint/2010/main" val="34685751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9416" y="1582147"/>
            <a:ext cx="9289032" cy="4896544"/>
          </a:xfrm>
          <a:prstGeom prst="rect">
            <a:avLst/>
          </a:prstGeom>
          <a:solidFill>
            <a:srgbClr val="D2975C"/>
          </a:solidFill>
          <a:ln>
            <a:noFill/>
          </a:ln>
          <a:effectLst>
            <a:outerShdw blurRad="431800" dist="419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1424" y="845460"/>
            <a:ext cx="7391400" cy="868362"/>
          </a:xfrm>
        </p:spPr>
        <p:txBody>
          <a:bodyPr>
            <a:normAutofit/>
          </a:bodyPr>
          <a:lstStyle/>
          <a:p>
            <a:r>
              <a:rPr lang="en-US" sz="4000" dirty="0">
                <a:latin typeface="+mn-lt"/>
              </a:rPr>
              <a:t>Ethics at the Grocery Store…</a:t>
            </a:r>
          </a:p>
        </p:txBody>
      </p:sp>
      <p:sp>
        <p:nvSpPr>
          <p:cNvPr id="3" name="Content Placeholder 2"/>
          <p:cNvSpPr>
            <a:spLocks noGrp="1"/>
          </p:cNvSpPr>
          <p:nvPr>
            <p:ph idx="1"/>
          </p:nvPr>
        </p:nvSpPr>
        <p:spPr>
          <a:xfrm>
            <a:off x="1127448" y="1762167"/>
            <a:ext cx="8712968" cy="4536504"/>
          </a:xfrm>
        </p:spPr>
        <p:txBody>
          <a:bodyPr>
            <a:noAutofit/>
          </a:bodyPr>
          <a:lstStyle/>
          <a:p>
            <a:pPr marL="0" indent="0" algn="just">
              <a:buNone/>
            </a:pPr>
            <a:r>
              <a:rPr lang="en-US" sz="2400" dirty="0"/>
              <a:t>     You have been hired to help a large producer of vegetables understand how consumers shop for produce in grocery stores. The company is considering different methods of displaying nutritional content, because managers believe that if more people understood the nutritional value of their products  they would make better decisions about what they eat. You have decided to use observational research—you will observe shoppers without their knowledge so that they won’t change their shopping behaviors.</a:t>
            </a:r>
          </a:p>
          <a:p>
            <a:pPr marL="0" indent="0">
              <a:buNone/>
            </a:pPr>
            <a:endParaRPr lang="en-US" sz="1050" dirty="0"/>
          </a:p>
          <a:p>
            <a:r>
              <a:rPr lang="en-US" sz="2400" b="1" i="1" dirty="0"/>
              <a:t>Was the use of disguise ethical using the </a:t>
            </a:r>
            <a:r>
              <a:rPr lang="en-US" sz="2400" b="1" i="1" u="sng" dirty="0"/>
              <a:t>utility</a:t>
            </a:r>
            <a:r>
              <a:rPr lang="en-US" sz="2400" b="1" i="1" dirty="0"/>
              <a:t> approach?</a:t>
            </a:r>
          </a:p>
          <a:p>
            <a:r>
              <a:rPr lang="en-US" sz="2400" b="1" i="1" dirty="0"/>
              <a:t>Was the use of disguise ethical using the </a:t>
            </a:r>
            <a:r>
              <a:rPr lang="en-US" sz="2400" b="1" i="1" u="sng" dirty="0"/>
              <a:t>justice</a:t>
            </a:r>
            <a:r>
              <a:rPr lang="en-US" sz="2400" b="1" i="1" dirty="0"/>
              <a:t> approach?</a:t>
            </a:r>
          </a:p>
          <a:p>
            <a:r>
              <a:rPr lang="en-US" sz="2400" b="1" i="1" dirty="0"/>
              <a:t>Was the use of disguise ethical using the </a:t>
            </a:r>
            <a:r>
              <a:rPr lang="en-US" sz="2400" b="1" i="1" u="sng" dirty="0"/>
              <a:t>rights</a:t>
            </a:r>
            <a:r>
              <a:rPr lang="en-US" sz="2400" b="1" i="1" dirty="0"/>
              <a:t> approach?</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68056646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Marketing Research Ethics in the News</a:t>
            </a:r>
          </a:p>
        </p:txBody>
      </p:sp>
      <p:sp>
        <p:nvSpPr>
          <p:cNvPr id="4" name="Content Placeholder 3"/>
          <p:cNvSpPr>
            <a:spLocks noGrp="1"/>
          </p:cNvSpPr>
          <p:nvPr>
            <p:ph idx="1"/>
          </p:nvPr>
        </p:nvSpPr>
        <p:spPr/>
        <p:txBody>
          <a:bodyPr>
            <a:normAutofit/>
          </a:bodyPr>
          <a:lstStyle/>
          <a:p>
            <a:r>
              <a:rPr lang="en-US" sz="2800" dirty="0">
                <a:hlinkClick r:id="rId2"/>
              </a:rPr>
              <a:t>Facebook study </a:t>
            </a:r>
            <a:r>
              <a:rPr lang="en-US" sz="2800" dirty="0"/>
              <a:t>on emotional contagion</a:t>
            </a:r>
          </a:p>
          <a:p>
            <a:pPr lvl="1"/>
            <a:r>
              <a:rPr lang="en-US" sz="2400" dirty="0"/>
              <a:t>Why do you think users were so upset?</a:t>
            </a:r>
          </a:p>
          <a:p>
            <a:pPr lvl="2"/>
            <a:r>
              <a:rPr lang="en-US" sz="1800" dirty="0"/>
              <a:t>Is the use of this type of data better or worse than Facebook selling your information to marketers?</a:t>
            </a:r>
          </a:p>
          <a:p>
            <a:pPr lvl="1"/>
            <a:r>
              <a:rPr lang="en-US" sz="2400" dirty="0"/>
              <a:t>Do you think this study represents an ethical violation?</a:t>
            </a:r>
          </a:p>
          <a:p>
            <a:pPr lvl="1"/>
            <a:r>
              <a:rPr lang="en-US" sz="2400" dirty="0"/>
              <a:t>What about the claim that since all users agree to the “Data Use Policy” Facebook has met the standards of “informed consent”?</a:t>
            </a:r>
          </a:p>
          <a:p>
            <a:pPr lvl="1"/>
            <a:r>
              <a:rPr lang="en-US" sz="2400" dirty="0"/>
              <a:t>Did the study tell us anything important?  Does that justify the methods?</a:t>
            </a:r>
          </a:p>
        </p:txBody>
      </p:sp>
    </p:spTree>
    <p:extLst>
      <p:ext uri="{BB962C8B-B14F-4D97-AF65-F5344CB8AC3E}">
        <p14:creationId xmlns:p14="http://schemas.microsoft.com/office/powerpoint/2010/main" val="2321490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587" y="1109906"/>
            <a:ext cx="9144001"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960516" y="0"/>
            <a:ext cx="9720072" cy="1499616"/>
          </a:xfrm>
        </p:spPr>
        <p:txBody>
          <a:bodyPr>
            <a:normAutofit/>
          </a:bodyPr>
          <a:lstStyle/>
          <a:p>
            <a:r>
              <a:rPr lang="en-US" sz="4000" dirty="0">
                <a:latin typeface="+mn-lt"/>
              </a:rPr>
              <a:t>Some good advice…</a:t>
            </a:r>
          </a:p>
        </p:txBody>
      </p:sp>
    </p:spTree>
    <p:extLst>
      <p:ext uri="{BB962C8B-B14F-4D97-AF65-F5344CB8AC3E}">
        <p14:creationId xmlns:p14="http://schemas.microsoft.com/office/powerpoint/2010/main" val="22139278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024128" y="881278"/>
            <a:ext cx="8147248" cy="933673"/>
          </a:xfrm>
          <a:noFill/>
        </p:spPr>
        <p:txBody>
          <a:bodyPr vert="horz" lIns="92069" tIns="46035" rIns="92069" bIns="46035" rtlCol="0" anchor="ctr">
            <a:normAutofit/>
          </a:bodyPr>
          <a:lstStyle/>
          <a:p>
            <a:pPr eaLnBrk="1" hangingPunct="1"/>
            <a:r>
              <a:rPr lang="en-US" altLang="en-US" sz="4000" dirty="0">
                <a:latin typeface="+mn-lt"/>
              </a:rPr>
              <a:t>Research Respondent Rights</a:t>
            </a:r>
          </a:p>
        </p:txBody>
      </p:sp>
      <p:sp>
        <p:nvSpPr>
          <p:cNvPr id="40963" name="Rectangle 3"/>
          <p:cNvSpPr>
            <a:spLocks noGrp="1" noChangeArrowheads="1"/>
          </p:cNvSpPr>
          <p:nvPr>
            <p:ph idx="1"/>
          </p:nvPr>
        </p:nvSpPr>
        <p:spPr/>
        <p:txBody>
          <a:bodyPr vert="horz" lIns="92069" tIns="46035" rIns="92069" bIns="46035" rtlCol="0">
            <a:normAutofit/>
          </a:bodyPr>
          <a:lstStyle/>
          <a:p>
            <a:pPr algn="ctr" eaLnBrk="1" hangingPunct="1">
              <a:buFontTx/>
              <a:buNone/>
            </a:pPr>
            <a:endParaRPr lang="en-US" altLang="en-US" dirty="0"/>
          </a:p>
          <a:p>
            <a:pPr algn="ctr" eaLnBrk="1" hangingPunct="1">
              <a:buFontTx/>
              <a:buNone/>
            </a:pPr>
            <a:r>
              <a:rPr lang="en-US" altLang="en-US" dirty="0"/>
              <a:t>right to choose</a:t>
            </a:r>
          </a:p>
          <a:p>
            <a:pPr algn="ctr" eaLnBrk="1" hangingPunct="1">
              <a:buFontTx/>
              <a:buNone/>
            </a:pPr>
            <a:r>
              <a:rPr lang="en-US" altLang="en-US" dirty="0"/>
              <a:t>right to safety</a:t>
            </a:r>
          </a:p>
          <a:p>
            <a:pPr algn="ctr" eaLnBrk="1" hangingPunct="1">
              <a:buFontTx/>
              <a:buNone/>
            </a:pPr>
            <a:r>
              <a:rPr lang="en-US" altLang="en-US" dirty="0"/>
              <a:t>right to be informed</a:t>
            </a:r>
          </a:p>
          <a:p>
            <a:pPr algn="ctr" eaLnBrk="1" hangingPunct="1">
              <a:buFontTx/>
              <a:buNone/>
            </a:pPr>
            <a:r>
              <a:rPr lang="en-US" altLang="en-US" dirty="0"/>
              <a:t>right to be heard</a:t>
            </a:r>
          </a:p>
        </p:txBody>
      </p:sp>
      <p:sp>
        <p:nvSpPr>
          <p:cNvPr id="2" name="TextBox 1"/>
          <p:cNvSpPr txBox="1"/>
          <p:nvPr/>
        </p:nvSpPr>
        <p:spPr>
          <a:xfrm>
            <a:off x="2855640" y="4725144"/>
            <a:ext cx="6552728" cy="1200329"/>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2400" dirty="0"/>
              <a:t>Back to the Facebook study example. How might the researchers have designed the study differently to address these rights?</a:t>
            </a:r>
          </a:p>
        </p:txBody>
      </p:sp>
    </p:spTree>
    <p:extLst>
      <p:ext uri="{BB962C8B-B14F-4D97-AF65-F5344CB8AC3E}">
        <p14:creationId xmlns:p14="http://schemas.microsoft.com/office/powerpoint/2010/main" val="784781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Research to Avoid</a:t>
            </a:r>
          </a:p>
        </p:txBody>
      </p:sp>
      <p:sp>
        <p:nvSpPr>
          <p:cNvPr id="4" name="Content Placeholder 3"/>
          <p:cNvSpPr>
            <a:spLocks noGrp="1"/>
          </p:cNvSpPr>
          <p:nvPr>
            <p:ph idx="1"/>
          </p:nvPr>
        </p:nvSpPr>
        <p:spPr>
          <a:xfrm>
            <a:off x="912161" y="1690688"/>
            <a:ext cx="8670378" cy="4023360"/>
          </a:xfrm>
        </p:spPr>
        <p:txBody>
          <a:bodyPr>
            <a:noAutofit/>
          </a:bodyPr>
          <a:lstStyle/>
          <a:p>
            <a:pPr>
              <a:lnSpc>
                <a:spcPct val="90000"/>
              </a:lnSpc>
            </a:pPr>
            <a:r>
              <a:rPr lang="en-US" altLang="en-US" sz="2800" dirty="0"/>
              <a:t>Research that is unethical </a:t>
            </a:r>
          </a:p>
          <a:p>
            <a:pPr lvl="1">
              <a:lnSpc>
                <a:spcPct val="90000"/>
              </a:lnSpc>
            </a:pPr>
            <a:r>
              <a:rPr lang="en-US" altLang="en-US" sz="2400" dirty="0"/>
              <a:t>(e.g., competitive intelligence that goes too far; falsifying data; </a:t>
            </a:r>
            <a:r>
              <a:rPr lang="en-US" altLang="en-US" sz="2400" b="1" u="sng" dirty="0"/>
              <a:t>advocacy research</a:t>
            </a:r>
            <a:r>
              <a:rPr lang="en-US" altLang="en-US" sz="2400" dirty="0"/>
              <a:t>)</a:t>
            </a:r>
          </a:p>
          <a:p>
            <a:pPr>
              <a:lnSpc>
                <a:spcPct val="90000"/>
              </a:lnSpc>
            </a:pPr>
            <a:r>
              <a:rPr lang="en-US" altLang="en-US" sz="2800" dirty="0"/>
              <a:t>Research  for which the results will not be used               </a:t>
            </a:r>
          </a:p>
          <a:p>
            <a:pPr lvl="1">
              <a:lnSpc>
                <a:spcPct val="90000"/>
              </a:lnSpc>
            </a:pPr>
            <a:r>
              <a:rPr lang="en-US" altLang="en-US" sz="2400" dirty="0"/>
              <a:t>(e.g., “I know better” managers)</a:t>
            </a:r>
          </a:p>
          <a:p>
            <a:pPr>
              <a:lnSpc>
                <a:spcPct val="90000"/>
              </a:lnSpc>
            </a:pPr>
            <a:r>
              <a:rPr lang="en-US" altLang="en-US" sz="2800" dirty="0"/>
              <a:t>If the manager specifies what the results should be</a:t>
            </a:r>
          </a:p>
          <a:p>
            <a:pPr>
              <a:lnSpc>
                <a:spcPct val="90000"/>
              </a:lnSpc>
            </a:pPr>
            <a:r>
              <a:rPr lang="en-US" altLang="en-US" sz="2800" dirty="0"/>
              <a:t>If you’re tempted to take short cuts: “death wish” research</a:t>
            </a:r>
          </a:p>
          <a:p>
            <a:pPr>
              <a:lnSpc>
                <a:spcPct val="90000"/>
              </a:lnSpc>
            </a:pPr>
            <a:r>
              <a:rPr lang="en-US" altLang="en-US" sz="2800" dirty="0"/>
              <a:t>Research for which the costs outweigh the potential benefits (and “costs” go beyond money)</a:t>
            </a:r>
          </a:p>
          <a:p>
            <a:endParaRPr lang="en-US" sz="2400" dirty="0"/>
          </a:p>
        </p:txBody>
      </p:sp>
    </p:spTree>
    <p:extLst>
      <p:ext uri="{BB962C8B-B14F-4D97-AF65-F5344CB8AC3E}">
        <p14:creationId xmlns:p14="http://schemas.microsoft.com/office/powerpoint/2010/main" val="862261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1249</TotalTime>
  <Words>1132</Words>
  <Application>Microsoft Office PowerPoint</Application>
  <PresentationFormat>Widescreen</PresentationFormat>
  <Paragraphs>146</Paragraphs>
  <Slides>21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The Research Process and Ethical Concerns</vt:lpstr>
      <vt:lpstr>Quiz on Tuesday</vt:lpstr>
      <vt:lpstr>Student Learning Objectives</vt:lpstr>
      <vt:lpstr>The Marketing Research Process</vt:lpstr>
      <vt:lpstr>The Marketing Research Process</vt:lpstr>
      <vt:lpstr>Stage One: Problem Definition</vt:lpstr>
      <vt:lpstr>Stage Two: Data Collection</vt:lpstr>
      <vt:lpstr>Stage Three: Data Analysis</vt:lpstr>
      <vt:lpstr>Stage Four: Information Reporting</vt:lpstr>
      <vt:lpstr>Gathering Marketing Intelligence</vt:lpstr>
      <vt:lpstr>Marketing Research Ethics</vt:lpstr>
      <vt:lpstr>What Are Ethical Research Practices?</vt:lpstr>
      <vt:lpstr>Ethics for our Participants</vt:lpstr>
      <vt:lpstr>The Principles of Ethical Research</vt:lpstr>
      <vt:lpstr>Three Methods of Ethical Reasoning</vt:lpstr>
      <vt:lpstr>Ethics at the Grocery Store…</vt:lpstr>
      <vt:lpstr>Marketing Research Ethics in the News</vt:lpstr>
      <vt:lpstr>Some good advice…</vt:lpstr>
      <vt:lpstr>Research Respondent Rights</vt:lpstr>
      <vt:lpstr>Research to Avoid</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58</cp:revision>
  <cp:lastPrinted>2020-08-26T16:29:50Z</cp:lastPrinted>
  <dcterms:created xsi:type="dcterms:W3CDTF">2020-06-29T15:54:52Z</dcterms:created>
  <dcterms:modified xsi:type="dcterms:W3CDTF">2025-02-13T14:46:40Z</dcterms:modified>
</cp:coreProperties>
</file>