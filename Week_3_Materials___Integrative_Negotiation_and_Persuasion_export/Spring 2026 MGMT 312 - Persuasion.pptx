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0"/>
  </p:notesMasterIdLst>
  <p:sldIdLst>
    <p:sldId id="2038" r:id="rId2"/>
    <p:sldId id="2025" r:id="rId3"/>
    <p:sldId id="2035" r:id="rId4"/>
    <p:sldId id="2033" r:id="rId5"/>
    <p:sldId id="327" r:id="rId6"/>
    <p:sldId id="328" r:id="rId7"/>
    <p:sldId id="2013" r:id="rId8"/>
    <p:sldId id="202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7"/>
    <a:srgbClr val="FF2857"/>
    <a:srgbClr val="9EA2A2"/>
    <a:srgbClr val="000000"/>
    <a:srgbClr val="632423"/>
    <a:srgbClr val="C89E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6374" autoAdjust="0"/>
  </p:normalViewPr>
  <p:slideViewPr>
    <p:cSldViewPr>
      <p:cViewPr varScale="1">
        <p:scale>
          <a:sx n="116" d="100"/>
          <a:sy n="116" d="100"/>
        </p:scale>
        <p:origin x="1440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072B2-F8AE-43B3-BD97-E2EC9CC51E7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3D468-6EF5-4C49-8DB3-DF1611BCF8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62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40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63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2680-4024-43EA-8035-0614013E83A5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51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  <a:lvl2pPr marL="742950" indent="-28575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BF49-3A07-40BA-9BBA-E663501D39AF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04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4DEB-9D1E-49BA-B43C-B835B8D7A747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83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30CA-7FFF-4306-9214-7B7580902882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14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C3F6-74B7-44C1-9CBE-95E3AA052BE3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97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EBAD-1B65-499B-B30B-B30DBA97BFCE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54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7F1-3B8E-4FFB-9779-E9FD233CD721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62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8BDF-3186-48AB-8767-941C758F90F9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56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CC83-C368-4FB2-9508-81CA2D369CA6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07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CF0F-F8B5-4897-93C2-FDDACFCAAC72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84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AEFB-17CE-4D83-986F-0AF580007747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1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E39B6-0C38-40E8-86A4-436A675CD9C9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1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cFdCzN7RYbw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8458200" cy="50292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C2340"/>
                </a:solidFill>
              </a:rPr>
              <a:t>NEGOTIATION AND CONFLICT MANAGEMENT</a:t>
            </a:r>
            <a:br>
              <a:rPr lang="en-US" sz="2800" b="1" dirty="0">
                <a:solidFill>
                  <a:srgbClr val="0C2340"/>
                </a:solidFill>
              </a:rPr>
            </a:br>
            <a:br>
              <a:rPr lang="en-US" sz="2800" dirty="0">
                <a:solidFill>
                  <a:srgbClr val="0C2340"/>
                </a:solidFill>
              </a:rPr>
            </a:br>
            <a:r>
              <a:rPr lang="en-US" sz="2800" dirty="0">
                <a:solidFill>
                  <a:srgbClr val="0C2340"/>
                </a:solidFill>
              </a:rPr>
              <a:t>Persuasion Intro</a:t>
            </a:r>
            <a:endParaRPr lang="en-US" dirty="0">
              <a:solidFill>
                <a:srgbClr val="0C234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33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535"/>
            <a:ext cx="8229600" cy="9144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solidFill>
                  <a:srgbClr val="002857"/>
                </a:solidFill>
              </a:rPr>
              <a:t>Persuasion 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990D5-ED42-46F1-B6C0-0BD2A8DD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2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pic>
        <p:nvPicPr>
          <p:cNvPr id="7" name="Picture 2" descr="credibility concept map">
            <a:extLst>
              <a:ext uri="{FF2B5EF4-FFF2-40B4-BE49-F238E27FC236}">
                <a16:creationId xmlns:a16="http://schemas.microsoft.com/office/drawing/2014/main" id="{9E028311-C619-4B79-99B2-D959F0192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80160"/>
            <a:ext cx="8686800" cy="477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659595-E132-47D2-89C6-DEC7E988EEE8}"/>
              </a:ext>
            </a:extLst>
          </p:cNvPr>
          <p:cNvSpPr txBox="1"/>
          <p:nvPr/>
        </p:nvSpPr>
        <p:spPr>
          <a:xfrm>
            <a:off x="6324600" y="6352144"/>
            <a:ext cx="204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Matthews, P. (2013)</a:t>
            </a:r>
          </a:p>
        </p:txBody>
      </p:sp>
    </p:spTree>
    <p:extLst>
      <p:ext uri="{BB962C8B-B14F-4D97-AF65-F5344CB8AC3E}">
        <p14:creationId xmlns:p14="http://schemas.microsoft.com/office/powerpoint/2010/main" val="252819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6992"/>
            <a:ext cx="8229600" cy="9144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solidFill>
                  <a:srgbClr val="002857"/>
                </a:solidFill>
              </a:rPr>
              <a:t>Basic Persuasion 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990D5-ED42-46F1-B6C0-0BD2A8DD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3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CA22CF-452F-43C6-9A1C-B32DF7B3C4D7}"/>
              </a:ext>
            </a:extLst>
          </p:cNvPr>
          <p:cNvSpPr/>
          <p:nvPr/>
        </p:nvSpPr>
        <p:spPr>
          <a:xfrm>
            <a:off x="7391400" y="1157112"/>
            <a:ext cx="1447800" cy="5212073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Ask/ Call to Action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BBABE1-F17B-44A5-899E-17BDA5F5C9ED}"/>
              </a:ext>
            </a:extLst>
          </p:cNvPr>
          <p:cNvSpPr/>
          <p:nvPr/>
        </p:nvSpPr>
        <p:spPr>
          <a:xfrm>
            <a:off x="2636520" y="353455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Support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BD1D0F-D3C4-41D2-8F6A-9747C4A81A8F}"/>
              </a:ext>
            </a:extLst>
          </p:cNvPr>
          <p:cNvSpPr/>
          <p:nvPr/>
        </p:nvSpPr>
        <p:spPr>
          <a:xfrm>
            <a:off x="2636520" y="527191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Support 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EE7D48-FABB-48FC-B0C4-CB83527E7233}"/>
              </a:ext>
            </a:extLst>
          </p:cNvPr>
          <p:cNvSpPr/>
          <p:nvPr/>
        </p:nvSpPr>
        <p:spPr>
          <a:xfrm>
            <a:off x="5013960" y="353455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E37DD3-FA03-4FEC-8FBF-8DDC62772336}"/>
              </a:ext>
            </a:extLst>
          </p:cNvPr>
          <p:cNvSpPr/>
          <p:nvPr/>
        </p:nvSpPr>
        <p:spPr>
          <a:xfrm>
            <a:off x="5013960" y="582055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06260C-9104-4953-8B48-27BD1D5B11C7}"/>
              </a:ext>
            </a:extLst>
          </p:cNvPr>
          <p:cNvSpPr/>
          <p:nvPr/>
        </p:nvSpPr>
        <p:spPr>
          <a:xfrm>
            <a:off x="2636520" y="179719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Support 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3FACAC-88FA-455F-A581-9D73C9445784}"/>
              </a:ext>
            </a:extLst>
          </p:cNvPr>
          <p:cNvSpPr/>
          <p:nvPr/>
        </p:nvSpPr>
        <p:spPr>
          <a:xfrm>
            <a:off x="259080" y="353455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Argument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39F4056-9192-41AA-B234-8BE7A2071F21}"/>
              </a:ext>
            </a:extLst>
          </p:cNvPr>
          <p:cNvSpPr/>
          <p:nvPr/>
        </p:nvSpPr>
        <p:spPr>
          <a:xfrm>
            <a:off x="5013960" y="124855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F49BDC6-47F7-4257-A211-E7685E054EE8}"/>
              </a:ext>
            </a:extLst>
          </p:cNvPr>
          <p:cNvSpPr/>
          <p:nvPr/>
        </p:nvSpPr>
        <p:spPr>
          <a:xfrm>
            <a:off x="5013960" y="179719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C258677-9FF2-4E4D-91FD-73ABC2249810}"/>
              </a:ext>
            </a:extLst>
          </p:cNvPr>
          <p:cNvSpPr/>
          <p:nvPr/>
        </p:nvSpPr>
        <p:spPr>
          <a:xfrm>
            <a:off x="5013960" y="234583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BCC85B0-D030-41E1-867B-3CB43060CFDB}"/>
              </a:ext>
            </a:extLst>
          </p:cNvPr>
          <p:cNvSpPr/>
          <p:nvPr/>
        </p:nvSpPr>
        <p:spPr>
          <a:xfrm>
            <a:off x="5013960" y="298591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935B8B-007A-4DDF-AC6E-68102C578601}"/>
              </a:ext>
            </a:extLst>
          </p:cNvPr>
          <p:cNvSpPr/>
          <p:nvPr/>
        </p:nvSpPr>
        <p:spPr>
          <a:xfrm>
            <a:off x="5013960" y="353455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4F0CCBD-2F3F-4E81-84FC-418399DAC224}"/>
              </a:ext>
            </a:extLst>
          </p:cNvPr>
          <p:cNvSpPr/>
          <p:nvPr/>
        </p:nvSpPr>
        <p:spPr>
          <a:xfrm>
            <a:off x="5013960" y="408319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27A3C2A-FCBD-4952-B792-209DEA799695}"/>
              </a:ext>
            </a:extLst>
          </p:cNvPr>
          <p:cNvSpPr/>
          <p:nvPr/>
        </p:nvSpPr>
        <p:spPr>
          <a:xfrm>
            <a:off x="5013960" y="472327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E2D2E7A-E809-491E-A41C-D49287519556}"/>
              </a:ext>
            </a:extLst>
          </p:cNvPr>
          <p:cNvSpPr/>
          <p:nvPr/>
        </p:nvSpPr>
        <p:spPr>
          <a:xfrm>
            <a:off x="5013960" y="5271913"/>
            <a:ext cx="1828800" cy="457200"/>
          </a:xfrm>
          <a:prstGeom prst="roundRect">
            <a:avLst/>
          </a:prstGeom>
          <a:solidFill>
            <a:srgbClr val="0028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Evidence/Explain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C7FC4-BD3A-4A84-B7CB-8779F7C574E1}"/>
              </a:ext>
            </a:extLst>
          </p:cNvPr>
          <p:cNvSpPr/>
          <p:nvPr/>
        </p:nvSpPr>
        <p:spPr>
          <a:xfrm>
            <a:off x="2545080" y="1157113"/>
            <a:ext cx="4389120" cy="1737360"/>
          </a:xfrm>
          <a:prstGeom prst="roundRect">
            <a:avLst/>
          </a:prstGeom>
          <a:noFill/>
          <a:ln w="31750">
            <a:solidFill>
              <a:srgbClr val="002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79F0D91-5A17-453D-9AD6-75112A7D9306}"/>
              </a:ext>
            </a:extLst>
          </p:cNvPr>
          <p:cNvSpPr/>
          <p:nvPr/>
        </p:nvSpPr>
        <p:spPr>
          <a:xfrm>
            <a:off x="2545080" y="2894473"/>
            <a:ext cx="4389120" cy="1737360"/>
          </a:xfrm>
          <a:prstGeom prst="roundRect">
            <a:avLst/>
          </a:prstGeom>
          <a:noFill/>
          <a:ln w="31750">
            <a:solidFill>
              <a:srgbClr val="002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E57D8D2-0F2E-43C5-B84A-F5316B5DDFB3}"/>
              </a:ext>
            </a:extLst>
          </p:cNvPr>
          <p:cNvSpPr/>
          <p:nvPr/>
        </p:nvSpPr>
        <p:spPr>
          <a:xfrm>
            <a:off x="2545080" y="4631833"/>
            <a:ext cx="4389120" cy="1737360"/>
          </a:xfrm>
          <a:prstGeom prst="roundRect">
            <a:avLst/>
          </a:prstGeom>
          <a:noFill/>
          <a:ln w="31750">
            <a:solidFill>
              <a:srgbClr val="0028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52097E-C857-4111-995D-5B1E4E638F9B}"/>
              </a:ext>
            </a:extLst>
          </p:cNvPr>
          <p:cNvCxnSpPr>
            <a:cxnSpLocks/>
            <a:stCxn id="19" idx="3"/>
            <a:endCxn id="36" idx="1"/>
          </p:cNvCxnSpPr>
          <p:nvPr/>
        </p:nvCxnSpPr>
        <p:spPr>
          <a:xfrm>
            <a:off x="2087880" y="3763153"/>
            <a:ext cx="457200" cy="0"/>
          </a:xfrm>
          <a:prstGeom prst="line">
            <a:avLst/>
          </a:prstGeom>
          <a:ln w="31750">
            <a:solidFill>
              <a:srgbClr val="002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7A53D19-FA71-467B-9818-782F71C30738}"/>
              </a:ext>
            </a:extLst>
          </p:cNvPr>
          <p:cNvCxnSpPr>
            <a:cxnSpLocks/>
            <a:stCxn id="19" idx="3"/>
            <a:endCxn id="4" idx="1"/>
          </p:cNvCxnSpPr>
          <p:nvPr/>
        </p:nvCxnSpPr>
        <p:spPr>
          <a:xfrm flipV="1">
            <a:off x="2087880" y="2025793"/>
            <a:ext cx="457200" cy="1737360"/>
          </a:xfrm>
          <a:prstGeom prst="line">
            <a:avLst/>
          </a:prstGeom>
          <a:ln w="31750">
            <a:solidFill>
              <a:srgbClr val="002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0221E4B-E588-4663-8FFD-344D91C66ED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934200" y="2025793"/>
            <a:ext cx="457200" cy="0"/>
          </a:xfrm>
          <a:prstGeom prst="line">
            <a:avLst/>
          </a:prstGeom>
          <a:ln w="31750">
            <a:solidFill>
              <a:srgbClr val="002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1E2F17-37F6-4FC1-9D7B-0BA32956CE31}"/>
              </a:ext>
            </a:extLst>
          </p:cNvPr>
          <p:cNvCxnSpPr>
            <a:cxnSpLocks/>
            <a:stCxn id="36" idx="3"/>
            <a:endCxn id="3" idx="1"/>
          </p:cNvCxnSpPr>
          <p:nvPr/>
        </p:nvCxnSpPr>
        <p:spPr>
          <a:xfrm flipV="1">
            <a:off x="6934200" y="3763149"/>
            <a:ext cx="457200" cy="4"/>
          </a:xfrm>
          <a:prstGeom prst="line">
            <a:avLst/>
          </a:prstGeom>
          <a:ln w="31750">
            <a:solidFill>
              <a:srgbClr val="002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55085B3-578E-4B9F-BCB4-FAFA29D9B5AD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6934200" y="5500512"/>
            <a:ext cx="457200" cy="1"/>
          </a:xfrm>
          <a:prstGeom prst="line">
            <a:avLst/>
          </a:prstGeom>
          <a:ln w="31750">
            <a:solidFill>
              <a:srgbClr val="002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698A8B-CC4D-40F5-9251-DF3ABCE64C61}"/>
              </a:ext>
            </a:extLst>
          </p:cNvPr>
          <p:cNvCxnSpPr>
            <a:cxnSpLocks/>
            <a:stCxn id="19" idx="3"/>
            <a:endCxn id="37" idx="1"/>
          </p:cNvCxnSpPr>
          <p:nvPr/>
        </p:nvCxnSpPr>
        <p:spPr>
          <a:xfrm>
            <a:off x="2087880" y="3763153"/>
            <a:ext cx="457200" cy="1737360"/>
          </a:xfrm>
          <a:prstGeom prst="line">
            <a:avLst/>
          </a:prstGeom>
          <a:ln w="31750">
            <a:solidFill>
              <a:srgbClr val="002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29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599"/>
            <a:ext cx="8229600" cy="9144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solidFill>
                  <a:srgbClr val="002857"/>
                </a:solidFill>
              </a:rPr>
              <a:t>Components of a Persuasive Message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990D5-ED42-46F1-B6C0-0BD2A8DD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4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8F2CF-FF22-4325-B8CA-A4F1EB2C3A64}"/>
              </a:ext>
            </a:extLst>
          </p:cNvPr>
          <p:cNvSpPr txBox="1"/>
          <p:nvPr/>
        </p:nvSpPr>
        <p:spPr>
          <a:xfrm>
            <a:off x="228599" y="1142999"/>
            <a:ext cx="86868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There are several interrelated components to persuasive messages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Gain attention (argument)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Raise a need (argument)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Deliver a solution (argument)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Provide a rationale (support)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Validate the views, preferences, and concerns of others (support)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Give counterpoints (optional) (support)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Call to action (conclusion/call to action)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2857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The key is knowing how to communicate each of these components to the specific audience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Analyzing your </a:t>
            </a:r>
            <a:r>
              <a:rPr lang="en-US" sz="2000" b="1" dirty="0">
                <a:solidFill>
                  <a:srgbClr val="002857"/>
                </a:solidFill>
              </a:rPr>
              <a:t>audience</a:t>
            </a:r>
            <a:r>
              <a:rPr lang="en-US" sz="2000" dirty="0">
                <a:solidFill>
                  <a:srgbClr val="002857"/>
                </a:solidFill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Gathering the right </a:t>
            </a:r>
            <a:r>
              <a:rPr lang="en-US" sz="2000" b="1" dirty="0">
                <a:solidFill>
                  <a:srgbClr val="002857"/>
                </a:solidFill>
              </a:rPr>
              <a:t>information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857"/>
                </a:solidFill>
              </a:rPr>
              <a:t>Developing a </a:t>
            </a:r>
            <a:r>
              <a:rPr lang="en-US" sz="2000" b="1" dirty="0">
                <a:solidFill>
                  <a:srgbClr val="002857"/>
                </a:solidFill>
              </a:rPr>
              <a:t>message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2857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2857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28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45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87669" y="457200"/>
            <a:ext cx="5768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Introduction to Persuasion Tactics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43000"/>
            <a:ext cx="8686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Two primary ways people are persuaded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Rational and logic-based tactics (central route)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Direct and information based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Psychological and emotion-based power (peripheral route)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Auto-response based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These often interact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1026" name="Picture 2" descr="Image result for power in negoti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638800" y="3429000"/>
            <a:ext cx="2057399" cy="238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65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09304" y="457200"/>
            <a:ext cx="5725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Rational and Logic-Based Tactics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43000"/>
            <a:ext cx="8686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Agenda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Issues/topics are often initially addressed one at a time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One party usually introduces each new issue to be discussed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If you can gain control of the order in which issues are discussed, you can introduce them in an order that benefits you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Try to prevent the other party from taking complete control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Offer to take turns introducing issues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Use contrast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Introduce several unattractive options prior to a final (relatively) attractive option that benefits you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The other party may believe the (relatively) attractive deal is the best they can do after seeing all of the previous options</a:t>
            </a:r>
          </a:p>
        </p:txBody>
      </p:sp>
    </p:spTree>
    <p:extLst>
      <p:ext uri="{BB962C8B-B14F-4D97-AF65-F5344CB8AC3E}">
        <p14:creationId xmlns:p14="http://schemas.microsoft.com/office/powerpoint/2010/main" val="410952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5774" y="457200"/>
            <a:ext cx="6932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Psychological and Emotion-Based Tactic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43000"/>
            <a:ext cx="8686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Consistency (foot in the door)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People like to maintain consistency in their actions and beliefs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By getting the other party to like you and agree to a small request, you can create a psychological commitment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Small and easy agreements can lead to a larger agreement due to the desire to remain consistent</a:t>
            </a:r>
          </a:p>
        </p:txBody>
      </p:sp>
      <p:pic>
        <p:nvPicPr>
          <p:cNvPr id="2050" name="Picture 2" descr="Foot in the Door Phenomenon. Foot in the Door is the antithesis of… | by  Wesley Chang | Psychology Secrets for Marketing | Medium">
            <a:extLst>
              <a:ext uri="{FF2B5EF4-FFF2-40B4-BE49-F238E27FC236}">
                <a16:creationId xmlns:a16="http://schemas.microsoft.com/office/drawing/2014/main" id="{9D3D6C76-16D0-4092-937F-752E7E822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68" y="3657600"/>
            <a:ext cx="5695864" cy="192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7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1359" y="457200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Six Principles of Persuasion</a:t>
            </a:r>
          </a:p>
        </p:txBody>
      </p:sp>
      <p:pic>
        <p:nvPicPr>
          <p:cNvPr id="3074" name="Picture 2" descr="The 6 Principles of Persuasion in Marketing [Infographic] - Venngage">
            <a:hlinkClick r:id="rId2"/>
            <a:extLst>
              <a:ext uri="{FF2B5EF4-FFF2-40B4-BE49-F238E27FC236}">
                <a16:creationId xmlns:a16="http://schemas.microsoft.com/office/drawing/2014/main" id="{CD42547B-E9B3-4793-9783-7EC936843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81200"/>
            <a:ext cx="6858000" cy="370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166657"/>
      </p:ext>
    </p:extLst>
  </p:cSld>
  <p:clrMapOvr>
    <a:masterClrMapping/>
  </p:clrMapOvr>
</p:sld>
</file>

<file path=ppt/theme/theme1.xml><?xml version="1.0" encoding="utf-8"?>
<a:theme xmlns:a="http://schemas.openxmlformats.org/drawingml/2006/main" name="fsu slide">
  <a:themeElements>
    <a:clrScheme name="Custom 1">
      <a:dk1>
        <a:srgbClr val="0C2340"/>
      </a:dk1>
      <a:lt1>
        <a:sysClr val="window" lastClr="FFFFFF"/>
      </a:lt1>
      <a:dk2>
        <a:srgbClr val="0C2340"/>
      </a:dk2>
      <a:lt2>
        <a:srgbClr val="9EA2A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Xavier PowerPoin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On-screen Show (4:3)</PresentationFormat>
  <Paragraphs>70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fsu slide</vt:lpstr>
      <vt:lpstr>NEGOTIATION AND CONFLICT MANAGEMENT  Persuasion Intro</vt:lpstr>
      <vt:lpstr>Persuasion Map</vt:lpstr>
      <vt:lpstr>Basic Persuasion Map</vt:lpstr>
      <vt:lpstr>Components of a Persuasive Message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2023-10-15T23:49:37Z</dcterms:created>
  <dcterms:modified xsi:type="dcterms:W3CDTF">2026-01-28T15:19:46Z</dcterms:modified>
</cp:coreProperties>
</file>