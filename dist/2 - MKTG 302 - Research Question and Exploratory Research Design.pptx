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256" r:id="rId2"/>
    <p:sldId id="272" r:id="rId3"/>
    <p:sldId id="426" r:id="rId4"/>
    <p:sldId id="429" r:id="rId5"/>
    <p:sldId id="386" r:id="rId6"/>
    <p:sldId id="387" r:id="rId7"/>
    <p:sldId id="388" r:id="rId8"/>
    <p:sldId id="389" r:id="rId9"/>
    <p:sldId id="390" r:id="rId10"/>
    <p:sldId id="391" r:id="rId11"/>
    <p:sldId id="392" r:id="rId12"/>
    <p:sldId id="393" r:id="rId13"/>
    <p:sldId id="394" r:id="rId14"/>
    <p:sldId id="395" r:id="rId15"/>
    <p:sldId id="396" r:id="rId16"/>
    <p:sldId id="397" r:id="rId17"/>
    <p:sldId id="398" r:id="rId18"/>
    <p:sldId id="399" r:id="rId19"/>
    <p:sldId id="400" r:id="rId20"/>
    <p:sldId id="425"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416" r:id="rId34"/>
    <p:sldId id="417" r:id="rId35"/>
    <p:sldId id="418" r:id="rId36"/>
    <p:sldId id="419" r:id="rId37"/>
    <p:sldId id="420" r:id="rId38"/>
    <p:sldId id="421" r:id="rId39"/>
    <p:sldId id="422" r:id="rId40"/>
    <p:sldId id="423" r:id="rId41"/>
    <p:sldId id="266" r:id="rId42"/>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68"/>
    <p:restoredTop sz="94890"/>
  </p:normalViewPr>
  <p:slideViewPr>
    <p:cSldViewPr snapToGrid="0" snapToObjects="1" showGuides="1">
      <p:cViewPr varScale="1">
        <p:scale>
          <a:sx n="103" d="100"/>
          <a:sy n="103" d="100"/>
        </p:scale>
        <p:origin x="114" y="19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1/16/2025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1/16/2025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2</a:t>
            </a:fld>
            <a:endParaRPr lang="en-US"/>
          </a:p>
        </p:txBody>
      </p:sp>
    </p:spTree>
    <p:extLst>
      <p:ext uri="{BB962C8B-B14F-4D97-AF65-F5344CB8AC3E}">
        <p14:creationId xmlns:p14="http://schemas.microsoft.com/office/powerpoint/2010/main" val="2046674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r>
              <a:rPr lang="en-US" altLang="en-US">
                <a:solidFill>
                  <a:srgbClr val="000000"/>
                </a:solidFill>
                <a:latin typeface="Arial" pitchFamily="34" charset="0"/>
              </a:rPr>
              <a:t>Chapter 9 Decision Support Systems and Marketing Research</a:t>
            </a:r>
          </a:p>
        </p:txBody>
      </p:sp>
      <p:sp>
        <p:nvSpPr>
          <p:cNvPr id="10445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0873" indent="-287332">
              <a:spcBef>
                <a:spcPct val="30000"/>
              </a:spcBef>
              <a:defRPr sz="1200">
                <a:solidFill>
                  <a:schemeClr val="tx1"/>
                </a:solidFill>
                <a:latin typeface="Calibri" pitchFamily="34" charset="0"/>
              </a:defRPr>
            </a:lvl2pPr>
            <a:lvl3pPr marL="1154090" indent="-230183">
              <a:spcBef>
                <a:spcPct val="30000"/>
              </a:spcBef>
              <a:defRPr sz="1200">
                <a:solidFill>
                  <a:schemeClr val="tx1"/>
                </a:solidFill>
                <a:latin typeface="Calibri" pitchFamily="34" charset="0"/>
              </a:defRPr>
            </a:lvl3pPr>
            <a:lvl4pPr marL="1617630" indent="-230183">
              <a:spcBef>
                <a:spcPct val="30000"/>
              </a:spcBef>
              <a:defRPr sz="1200">
                <a:solidFill>
                  <a:schemeClr val="tx1"/>
                </a:solidFill>
                <a:latin typeface="Calibri" pitchFamily="34" charset="0"/>
              </a:defRPr>
            </a:lvl4pPr>
            <a:lvl5pPr marL="2079584" indent="-230183">
              <a:spcBef>
                <a:spcPct val="30000"/>
              </a:spcBef>
              <a:defRPr sz="1200">
                <a:solidFill>
                  <a:schemeClr val="tx1"/>
                </a:solidFill>
                <a:latin typeface="Calibri" pitchFamily="34" charset="0"/>
              </a:defRPr>
            </a:lvl5pPr>
            <a:lvl6pPr marL="2536775" indent="-230183" defTabSz="457191" eaLnBrk="0" fontAlgn="base" hangingPunct="0">
              <a:spcBef>
                <a:spcPct val="30000"/>
              </a:spcBef>
              <a:spcAft>
                <a:spcPct val="0"/>
              </a:spcAft>
              <a:defRPr sz="1200">
                <a:solidFill>
                  <a:schemeClr val="tx1"/>
                </a:solidFill>
                <a:latin typeface="Calibri" pitchFamily="34" charset="0"/>
              </a:defRPr>
            </a:lvl6pPr>
            <a:lvl7pPr marL="2993965" indent="-230183" defTabSz="457191" eaLnBrk="0" fontAlgn="base" hangingPunct="0">
              <a:spcBef>
                <a:spcPct val="30000"/>
              </a:spcBef>
              <a:spcAft>
                <a:spcPct val="0"/>
              </a:spcAft>
              <a:defRPr sz="1200">
                <a:solidFill>
                  <a:schemeClr val="tx1"/>
                </a:solidFill>
                <a:latin typeface="Calibri" pitchFamily="34" charset="0"/>
              </a:defRPr>
            </a:lvl7pPr>
            <a:lvl8pPr marL="3451157" indent="-230183" defTabSz="457191" eaLnBrk="0" fontAlgn="base" hangingPunct="0">
              <a:spcBef>
                <a:spcPct val="30000"/>
              </a:spcBef>
              <a:spcAft>
                <a:spcPct val="0"/>
              </a:spcAft>
              <a:defRPr sz="1200">
                <a:solidFill>
                  <a:schemeClr val="tx1"/>
                </a:solidFill>
                <a:latin typeface="Calibri" pitchFamily="34" charset="0"/>
              </a:defRPr>
            </a:lvl8pPr>
            <a:lvl9pPr marL="3908347" indent="-230183" defTabSz="457191" eaLnBrk="0" fontAlgn="base" hangingPunct="0">
              <a:spcBef>
                <a:spcPct val="30000"/>
              </a:spcBef>
              <a:spcAft>
                <a:spcPct val="0"/>
              </a:spcAft>
              <a:defRPr sz="1200">
                <a:solidFill>
                  <a:schemeClr val="tx1"/>
                </a:solidFill>
                <a:latin typeface="Calibri" pitchFamily="34" charset="0"/>
              </a:defRPr>
            </a:lvl9pPr>
          </a:lstStyle>
          <a:p>
            <a:pPr defTabSz="924458">
              <a:spcBef>
                <a:spcPct val="0"/>
              </a:spcBef>
              <a:defRPr/>
            </a:pPr>
            <a:fld id="{53437379-86BC-4FA2-914B-4322BE7105B6}" type="slidenum">
              <a:rPr lang="en-US" altLang="en-US">
                <a:solidFill>
                  <a:srgbClr val="000000"/>
                </a:solidFill>
                <a:latin typeface="Arial" pitchFamily="34" charset="0"/>
              </a:rPr>
              <a:pPr defTabSz="924458">
                <a:spcBef>
                  <a:spcPct val="0"/>
                </a:spcBef>
                <a:defRPr/>
              </a:pPr>
              <a:t>3</a:t>
            </a:fld>
            <a:endParaRPr lang="en-US" altLang="en-US">
              <a:solidFill>
                <a:srgbClr val="000000"/>
              </a:solidFill>
              <a:latin typeface="Arial" pitchFamily="34" charset="0"/>
            </a:endParaRPr>
          </a:p>
        </p:txBody>
      </p:sp>
      <p:sp>
        <p:nvSpPr>
          <p:cNvPr id="104452" name="Rectangle 2"/>
          <p:cNvSpPr>
            <a:spLocks noGrp="1" noRot="1" noChangeAspect="1" noChangeArrowheads="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30183" indent="-230183"/>
            <a:endParaRPr lang="en-US" altLang="en-US"/>
          </a:p>
        </p:txBody>
      </p:sp>
    </p:spTree>
    <p:extLst>
      <p:ext uri="{BB962C8B-B14F-4D97-AF65-F5344CB8AC3E}">
        <p14:creationId xmlns:p14="http://schemas.microsoft.com/office/powerpoint/2010/main" val="256667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31BC6F6-044A-4E88-982E-2ED4DA45F7C3}" type="slidenum">
              <a:rPr lang="en-US" altLang="en-US" smtClean="0"/>
              <a:pPr eaLnBrk="1" hangingPunct="1"/>
              <a:t>7</a:t>
            </a:fld>
            <a:endParaRPr lang="en-US" altLang="en-US"/>
          </a:p>
        </p:txBody>
      </p:sp>
      <p:sp>
        <p:nvSpPr>
          <p:cNvPr id="80899" name="Rectangle 2"/>
          <p:cNvSpPr>
            <a:spLocks noGrp="1" noRot="1" noChangeAspect="1" noChangeArrowheads="1" noTextEdit="1"/>
          </p:cNvSpPr>
          <p:nvPr>
            <p:ph type="sldImg"/>
          </p:nvPr>
        </p:nvSpPr>
        <p:spPr>
          <a:xfrm>
            <a:off x="384175" y="685800"/>
            <a:ext cx="6091238" cy="3427413"/>
          </a:xfrm>
          <a:ln w="12700" cap="flat">
            <a:solidFill>
              <a:schemeClr val="tx1"/>
            </a:solidFill>
          </a:ln>
        </p:spPr>
      </p:sp>
      <p:sp>
        <p:nvSpPr>
          <p:cNvPr id="80900"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altLang="en-US"/>
          </a:p>
        </p:txBody>
      </p:sp>
    </p:spTree>
    <p:extLst>
      <p:ext uri="{BB962C8B-B14F-4D97-AF65-F5344CB8AC3E}">
        <p14:creationId xmlns:p14="http://schemas.microsoft.com/office/powerpoint/2010/main" val="2318141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2B088BA-3F91-4539-8845-101DB0CD39C3}" type="slidenum">
              <a:rPr lang="en-US" altLang="en-US" smtClean="0"/>
              <a:pPr eaLnBrk="1" hangingPunct="1"/>
              <a:t>8</a:t>
            </a:fld>
            <a:endParaRPr lang="en-US" altLang="en-US"/>
          </a:p>
        </p:txBody>
      </p:sp>
      <p:sp>
        <p:nvSpPr>
          <p:cNvPr id="79875" name="Rectangle 2"/>
          <p:cNvSpPr>
            <a:spLocks noGrp="1" noRot="1" noChangeAspect="1" noChangeArrowheads="1" noTextEdit="1"/>
          </p:cNvSpPr>
          <p:nvPr>
            <p:ph type="sldImg"/>
          </p:nvPr>
        </p:nvSpPr>
        <p:spPr>
          <a:xfrm>
            <a:off x="384175" y="685800"/>
            <a:ext cx="6091238" cy="3427413"/>
          </a:xfrm>
          <a:ln w="12700" cap="flat">
            <a:solidFill>
              <a:schemeClr val="tx1"/>
            </a:solidFill>
          </a:ln>
        </p:spPr>
      </p:sp>
      <p:sp>
        <p:nvSpPr>
          <p:cNvPr id="79876"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altLang="en-US"/>
          </a:p>
        </p:txBody>
      </p:sp>
    </p:spTree>
    <p:extLst>
      <p:ext uri="{BB962C8B-B14F-4D97-AF65-F5344CB8AC3E}">
        <p14:creationId xmlns:p14="http://schemas.microsoft.com/office/powerpoint/2010/main" val="71328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654050" y="1162050"/>
            <a:ext cx="5575300" cy="3136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Lucida Grande" charset="0"/>
              </a:defRPr>
            </a:lvl1pPr>
            <a:lvl2pPr marL="751122" indent="-288893" eaLnBrk="0" hangingPunct="0">
              <a:defRPr>
                <a:solidFill>
                  <a:schemeClr val="tx1"/>
                </a:solidFill>
                <a:latin typeface="Lucida Grande" charset="0"/>
              </a:defRPr>
            </a:lvl2pPr>
            <a:lvl3pPr marL="1155573" indent="-231115" eaLnBrk="0" hangingPunct="0">
              <a:defRPr>
                <a:solidFill>
                  <a:schemeClr val="tx1"/>
                </a:solidFill>
                <a:latin typeface="Lucida Grande" charset="0"/>
              </a:defRPr>
            </a:lvl3pPr>
            <a:lvl4pPr marL="1617802" indent="-231115" eaLnBrk="0" hangingPunct="0">
              <a:defRPr>
                <a:solidFill>
                  <a:schemeClr val="tx1"/>
                </a:solidFill>
                <a:latin typeface="Lucida Grande" charset="0"/>
              </a:defRPr>
            </a:lvl4pPr>
            <a:lvl5pPr marL="2080031" indent="-231115" eaLnBrk="0" hangingPunct="0">
              <a:defRPr>
                <a:solidFill>
                  <a:schemeClr val="tx1"/>
                </a:solidFill>
                <a:latin typeface="Lucida Grande" charset="0"/>
              </a:defRPr>
            </a:lvl5pPr>
            <a:lvl6pPr marL="2542261" indent="-231115" defTabSz="462229" eaLnBrk="0" fontAlgn="base" hangingPunct="0">
              <a:spcBef>
                <a:spcPct val="0"/>
              </a:spcBef>
              <a:spcAft>
                <a:spcPct val="0"/>
              </a:spcAft>
              <a:defRPr>
                <a:solidFill>
                  <a:schemeClr val="tx1"/>
                </a:solidFill>
                <a:latin typeface="Lucida Grande" charset="0"/>
              </a:defRPr>
            </a:lvl6pPr>
            <a:lvl7pPr marL="3004490" indent="-231115" defTabSz="462229" eaLnBrk="0" fontAlgn="base" hangingPunct="0">
              <a:spcBef>
                <a:spcPct val="0"/>
              </a:spcBef>
              <a:spcAft>
                <a:spcPct val="0"/>
              </a:spcAft>
              <a:defRPr>
                <a:solidFill>
                  <a:schemeClr val="tx1"/>
                </a:solidFill>
                <a:latin typeface="Lucida Grande" charset="0"/>
              </a:defRPr>
            </a:lvl7pPr>
            <a:lvl8pPr marL="3466719" indent="-231115" defTabSz="462229" eaLnBrk="0" fontAlgn="base" hangingPunct="0">
              <a:spcBef>
                <a:spcPct val="0"/>
              </a:spcBef>
              <a:spcAft>
                <a:spcPct val="0"/>
              </a:spcAft>
              <a:defRPr>
                <a:solidFill>
                  <a:schemeClr val="tx1"/>
                </a:solidFill>
                <a:latin typeface="Lucida Grande" charset="0"/>
              </a:defRPr>
            </a:lvl8pPr>
            <a:lvl9pPr marL="3928948" indent="-231115" defTabSz="462229" eaLnBrk="0" fontAlgn="base" hangingPunct="0">
              <a:spcBef>
                <a:spcPct val="0"/>
              </a:spcBef>
              <a:spcAft>
                <a:spcPct val="0"/>
              </a:spcAft>
              <a:defRPr>
                <a:solidFill>
                  <a:schemeClr val="tx1"/>
                </a:solidFill>
                <a:latin typeface="Lucida Grande" charset="0"/>
              </a:defRPr>
            </a:lvl9pPr>
          </a:lstStyle>
          <a:p>
            <a:pPr eaLnBrk="1" hangingPunct="1"/>
            <a:fld id="{37057141-39D2-4A84-AD8B-35261CCDFFEF}" type="slidenum">
              <a:rPr lang="en-US" altLang="en-US" smtClean="0"/>
              <a:pPr eaLnBrk="1" hangingPunct="1"/>
              <a:t>20</a:t>
            </a:fld>
            <a:endParaRPr lang="en-US" altLang="en-US"/>
          </a:p>
        </p:txBody>
      </p:sp>
    </p:spTree>
    <p:extLst>
      <p:ext uri="{BB962C8B-B14F-4D97-AF65-F5344CB8AC3E}">
        <p14:creationId xmlns:p14="http://schemas.microsoft.com/office/powerpoint/2010/main" val="1153409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itchFamily="34" charset="0"/>
              </a:defRPr>
            </a:lvl1pPr>
            <a:lvl2pPr marL="742950" indent="-285750" eaLnBrk="0" hangingPunct="0">
              <a:spcBef>
                <a:spcPct val="30000"/>
              </a:spcBef>
              <a:defRPr sz="1200">
                <a:solidFill>
                  <a:schemeClr val="tx1"/>
                </a:solidFill>
                <a:latin typeface="Arial" pitchFamily="34" charset="0"/>
              </a:defRPr>
            </a:lvl2pPr>
            <a:lvl3pPr marL="1143000" indent="-228600" eaLnBrk="0" hangingPunct="0">
              <a:spcBef>
                <a:spcPct val="30000"/>
              </a:spcBef>
              <a:defRPr sz="1200">
                <a:solidFill>
                  <a:schemeClr val="tx1"/>
                </a:solidFill>
                <a:latin typeface="Arial" pitchFamily="34" charset="0"/>
              </a:defRPr>
            </a:lvl3pPr>
            <a:lvl4pPr marL="1600200" indent="-228600" eaLnBrk="0" hangingPunct="0">
              <a:spcBef>
                <a:spcPct val="30000"/>
              </a:spcBef>
              <a:defRPr sz="1200">
                <a:solidFill>
                  <a:schemeClr val="tx1"/>
                </a:solidFill>
                <a:latin typeface="Arial" pitchFamily="34" charset="0"/>
              </a:defRPr>
            </a:lvl4pPr>
            <a:lvl5pPr marL="2057400" indent="-228600" eaLnBrk="0" hangingPunct="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57FF025A-5B3A-4A88-A81E-CAD8E04EB9D6}" type="slidenum">
              <a:rPr lang="en-US" altLang="en-US" smtClean="0"/>
              <a:pPr eaLnBrk="1" hangingPunct="1">
                <a:spcBef>
                  <a:spcPct val="0"/>
                </a:spcBef>
              </a:pPr>
              <a:t>25</a:t>
            </a:fld>
            <a:endParaRPr lang="en-US" altLang="en-US"/>
          </a:p>
        </p:txBody>
      </p:sp>
      <p:sp>
        <p:nvSpPr>
          <p:cNvPr id="83971" name="Rectangle 2"/>
          <p:cNvSpPr>
            <a:spLocks noGrp="1" noRot="1" noChangeAspect="1" noChangeArrowheads="1" noTextEdit="1"/>
          </p:cNvSpPr>
          <p:nvPr>
            <p:ph type="sldImg"/>
          </p:nvPr>
        </p:nvSpPr>
        <p:spPr>
          <a:xfrm>
            <a:off x="384175" y="685800"/>
            <a:ext cx="6091238" cy="3427413"/>
          </a:xfrm>
          <a:ln w="12700" cap="flat">
            <a:solidFill>
              <a:schemeClr val="tx1"/>
            </a:solidFill>
          </a:ln>
        </p:spPr>
      </p:sp>
      <p:sp>
        <p:nvSpPr>
          <p:cNvPr id="83972"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altLang="en-US"/>
          </a:p>
        </p:txBody>
      </p:sp>
    </p:spTree>
    <p:extLst>
      <p:ext uri="{BB962C8B-B14F-4D97-AF65-F5344CB8AC3E}">
        <p14:creationId xmlns:p14="http://schemas.microsoft.com/office/powerpoint/2010/main" val="212727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41</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1219200" y="1600201"/>
            <a:ext cx="10668000" cy="4525963"/>
          </a:xfrm>
        </p:spPr>
        <p:txBody>
          <a:bodyPr/>
          <a:lstStyle/>
          <a:p>
            <a:pPr lvl="0"/>
            <a:endParaRPr lang="en-US" noProof="0"/>
          </a:p>
        </p:txBody>
      </p:sp>
      <p:sp>
        <p:nvSpPr>
          <p:cNvPr id="4" name="Date Placeholder 3"/>
          <p:cNvSpPr>
            <a:spLocks noGrp="1"/>
          </p:cNvSpPr>
          <p:nvPr>
            <p:ph type="dt" sz="half" idx="10"/>
          </p:nvPr>
        </p:nvSpPr>
        <p:spPr>
          <a:xfrm>
            <a:off x="609600" y="6245225"/>
            <a:ext cx="2844800" cy="476250"/>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7620000" y="6248400"/>
            <a:ext cx="3556000" cy="476250"/>
          </a:xfrm>
          <a:prstGeom prst="rect">
            <a:avLst/>
          </a:prstGeom>
        </p:spPr>
        <p:txBody>
          <a:bodyPr/>
          <a:lstStyle>
            <a:lvl1pPr>
              <a:defRPr/>
            </a:lvl1pPr>
          </a:lstStyle>
          <a:p>
            <a:pPr>
              <a:defRPr/>
            </a:pPr>
            <a:r>
              <a:rPr lang="en-US"/>
              <a:t>© Tom J. Brown, 2007</a:t>
            </a:r>
          </a:p>
          <a:p>
            <a:pPr>
              <a:defRPr/>
            </a:pPr>
            <a:r>
              <a:rPr lang="en-US"/>
              <a:t>Basic Marketing Research</a:t>
            </a:r>
          </a:p>
        </p:txBody>
      </p:sp>
      <p:sp>
        <p:nvSpPr>
          <p:cNvPr id="6" name="Slide Number Placeholder 5"/>
          <p:cNvSpPr>
            <a:spLocks noGrp="1"/>
          </p:cNvSpPr>
          <p:nvPr>
            <p:ph type="sldNum" sz="quarter" idx="12"/>
          </p:nvPr>
        </p:nvSpPr>
        <p:spPr>
          <a:xfrm>
            <a:off x="8737600" y="6245225"/>
            <a:ext cx="2844800" cy="476250"/>
          </a:xfrm>
          <a:prstGeom prst="rect">
            <a:avLst/>
          </a:prstGeom>
        </p:spPr>
        <p:txBody>
          <a:bodyPr/>
          <a:lstStyle>
            <a:lvl1pPr>
              <a:defRPr/>
            </a:lvl1pPr>
          </a:lstStyle>
          <a:p>
            <a:pPr>
              <a:defRPr/>
            </a:pPr>
            <a:fld id="{C0CFF008-3F94-4517-9F4A-366CE7DFF250}" type="slidenum">
              <a:rPr lang="en-US"/>
              <a:pPr>
                <a:defRPr/>
              </a:pPr>
              <a:t>‹#›</a:t>
            </a:fld>
            <a:endParaRPr lang="en-US"/>
          </a:p>
        </p:txBody>
      </p:sp>
    </p:spTree>
    <p:extLst>
      <p:ext uri="{BB962C8B-B14F-4D97-AF65-F5344CB8AC3E}">
        <p14:creationId xmlns:p14="http://schemas.microsoft.com/office/powerpoint/2010/main" val="149046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www.reds.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ghMYzo0rgrw"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youtube.com/watch?v=QkfFdQ1yaq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1LJnbxmqV9w"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yz_iar5sKDU" TargetMode="External"/><Relationship Id="rId2" Type="http://schemas.openxmlformats.org/officeDocument/2006/relationships/hyperlink" Target="https://www.youtube.com/watch?v=0gR1zu7i0-E"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http://www.youtube.com/watch?v=RBhpGHFVWfY"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bloomberg.com/quote/8167146Z:US" TargetMode="External"/><Relationship Id="rId2" Type="http://schemas.openxmlformats.org/officeDocument/2006/relationships/hyperlink" Target="https://www.bloomberg.com/news/articles/2016-09-08/nfl-s-cleveland-browns-are-on-a-cash-making-data-mining-mission" TargetMode="External"/><Relationship Id="rId1" Type="http://schemas.openxmlformats.org/officeDocument/2006/relationships/slideLayout" Target="../slideLayouts/slideLayout2.xml"/><Relationship Id="rId4" Type="http://schemas.openxmlformats.org/officeDocument/2006/relationships/hyperlink" Target="https://www.bloomberg.com/quote/ARMK:U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cM0ooaUgVBg" TargetMode="External"/><Relationship Id="rId2" Type="http://schemas.openxmlformats.org/officeDocument/2006/relationships/hyperlink" Target="https://www.youtube.com/watch?v=ltIfJF5PyqA" TargetMode="External"/><Relationship Id="rId1" Type="http://schemas.openxmlformats.org/officeDocument/2006/relationships/slideLayout" Target="../slideLayouts/slideLayout6.xml"/><Relationship Id="rId4" Type="http://schemas.openxmlformats.org/officeDocument/2006/relationships/image" Target="../media/image5.emf"/></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www.youtube.com/watch?v=JK4EDuaBisU"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The Research Question &amp; </a:t>
            </a:r>
            <a:br>
              <a:rPr lang="en-US" b="1" dirty="0">
                <a:solidFill>
                  <a:srgbClr val="001541"/>
                </a:solidFill>
              </a:rPr>
            </a:br>
            <a:r>
              <a:rPr lang="en-US" b="1" dirty="0">
                <a:solidFill>
                  <a:srgbClr val="001541"/>
                </a:solidFill>
              </a:rPr>
              <a:t>Exploratory, Descriptive, and Causal Research Designs</a:t>
            </a: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302-01</a:t>
            </a:r>
          </a:p>
          <a:p>
            <a:r>
              <a:rPr lang="en-US" b="1" dirty="0">
                <a:solidFill>
                  <a:srgbClr val="009CC8"/>
                </a:solidFill>
              </a:rPr>
              <a:t>Spring Semester, 2025</a:t>
            </a:r>
          </a:p>
          <a:p>
            <a:r>
              <a:rPr lang="en-US" b="1" dirty="0">
                <a:solidFill>
                  <a:srgbClr val="009CC8"/>
                </a:solidFill>
              </a:rPr>
              <a:t>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Click to add title</a:t>
            </a:r>
          </a:p>
        </p:txBody>
      </p:sp>
      <p:sp>
        <p:nvSpPr>
          <p:cNvPr id="3" name="Content Placeholder 2"/>
          <p:cNvSpPr>
            <a:spLocks noGrp="1"/>
          </p:cNvSpPr>
          <p:nvPr>
            <p:ph idx="1"/>
          </p:nvPr>
        </p:nvSpPr>
        <p:spPr>
          <a:xfrm>
            <a:off x="598716" y="2130425"/>
            <a:ext cx="9154885" cy="4351338"/>
          </a:xfrm>
        </p:spPr>
        <p:txBody>
          <a:bodyPr/>
          <a:lstStyle/>
          <a:p>
            <a:r>
              <a:rPr lang="en-US" dirty="0">
                <a:solidFill>
                  <a:srgbClr val="009CC8"/>
                </a:solidFill>
              </a:rPr>
              <a:t>Click to add text</a:t>
            </a:r>
          </a:p>
        </p:txBody>
      </p:sp>
    </p:spTree>
    <p:extLst>
      <p:ext uri="{BB962C8B-B14F-4D97-AF65-F5344CB8AC3E}">
        <p14:creationId xmlns:p14="http://schemas.microsoft.com/office/powerpoint/2010/main" val="100819799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itchFamily="34" charset="0"/>
              <a:buChar char="•"/>
              <a:defRPr sz="3200">
                <a:solidFill>
                  <a:schemeClr val="tx1"/>
                </a:solidFill>
                <a:latin typeface="Calibri" pitchFamily="34" charset="0"/>
                <a:ea typeface="Geneva"/>
                <a:cs typeface="Geneva"/>
              </a:defRPr>
            </a:lvl1pPr>
            <a:lvl2pPr marL="742950" indent="-285750">
              <a:spcBef>
                <a:spcPct val="20000"/>
              </a:spcBef>
              <a:buFont typeface="Arial" pitchFamily="34" charset="0"/>
              <a:buChar char="–"/>
              <a:defRPr sz="2800">
                <a:solidFill>
                  <a:schemeClr val="tx1"/>
                </a:solidFill>
                <a:latin typeface="Calibri" pitchFamily="34" charset="0"/>
                <a:ea typeface="Geneva"/>
                <a:cs typeface="Geneva"/>
              </a:defRPr>
            </a:lvl2pPr>
            <a:lvl3pPr marL="1143000" indent="-228600">
              <a:spcBef>
                <a:spcPct val="20000"/>
              </a:spcBef>
              <a:buFont typeface="Arial" pitchFamily="34" charset="0"/>
              <a:buChar char="•"/>
              <a:defRPr sz="2400">
                <a:solidFill>
                  <a:schemeClr val="tx1"/>
                </a:solidFill>
                <a:latin typeface="Calibri" pitchFamily="34" charset="0"/>
                <a:ea typeface="Geneva"/>
                <a:cs typeface="Geneva"/>
              </a:defRPr>
            </a:lvl3pPr>
            <a:lvl4pPr marL="1600200" indent="-228600">
              <a:spcBef>
                <a:spcPct val="20000"/>
              </a:spcBef>
              <a:buFont typeface="Arial" pitchFamily="34" charset="0"/>
              <a:buChar char="–"/>
              <a:defRPr sz="2000">
                <a:solidFill>
                  <a:schemeClr val="tx1"/>
                </a:solidFill>
                <a:latin typeface="Calibri" pitchFamily="34" charset="0"/>
                <a:ea typeface="Geneva"/>
                <a:cs typeface="Geneva"/>
              </a:defRPr>
            </a:lvl4pPr>
            <a:lvl5pPr marL="2057400" indent="-228600">
              <a:spcBef>
                <a:spcPct val="20000"/>
              </a:spcBef>
              <a:buFont typeface="Arial" pitchFamily="34" charset="0"/>
              <a:buChar char="»"/>
              <a:defRPr sz="2000">
                <a:solidFill>
                  <a:schemeClr val="tx1"/>
                </a:solidFill>
                <a:latin typeface="Calibri" pitchFamily="34" charset="0"/>
                <a:ea typeface="Geneva"/>
                <a:cs typeface="Geneva"/>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Geneva"/>
                <a:cs typeface="Geneva"/>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2AE86FE-CC4A-4BDD-8E7B-D334D15973BB}" type="slidenum">
              <a:rPr kumimoji="0" lang="en-US" altLang="en-US" sz="1400" b="0" i="0" u="none" strike="noStrike" kern="1200" cap="none" spc="0" normalizeH="0" baseline="0" noProof="0" smtClean="0">
                <a:ln>
                  <a:noFill/>
                </a:ln>
                <a:solidFill>
                  <a:prstClr val="white"/>
                </a:solidFill>
                <a:effectLst/>
                <a:uLnTx/>
                <a:uFillTx/>
                <a:latin typeface="Arial" pitchFamily="34" charset="0"/>
              </a:rPr>
              <a:pPr marL="0" marR="0" lvl="0" indent="0" algn="r" defTabSz="914400" rtl="0" eaLnBrk="1" fontAlgn="auto" latinLnBrk="0" hangingPunct="1">
                <a:lnSpc>
                  <a:spcPct val="100000"/>
                </a:lnSpc>
                <a:spcBef>
                  <a:spcPct val="0"/>
                </a:spcBef>
                <a:spcAft>
                  <a:spcPts val="0"/>
                </a:spcAft>
                <a:buClrTx/>
                <a:buSzTx/>
                <a:buFontTx/>
                <a:buNone/>
                <a:tabLst/>
                <a:defRPr/>
              </a:pPr>
              <a:t>3</a:t>
            </a:fld>
            <a:endParaRPr kumimoji="0" lang="en-US" altLang="en-US" sz="1400" b="0" i="0" u="none" strike="noStrike" kern="1200" cap="none" spc="0" normalizeH="0" baseline="0" noProof="0">
              <a:ln>
                <a:noFill/>
              </a:ln>
              <a:solidFill>
                <a:prstClr val="white"/>
              </a:solidFill>
              <a:effectLst/>
              <a:uLnTx/>
              <a:uFillTx/>
              <a:latin typeface="Arial" pitchFamily="34" charset="0"/>
            </a:endParaRPr>
          </a:p>
        </p:txBody>
      </p:sp>
      <p:sp>
        <p:nvSpPr>
          <p:cNvPr id="68611" name="Rectangle 2"/>
          <p:cNvSpPr>
            <a:spLocks noGrp="1" noChangeArrowheads="1"/>
          </p:cNvSpPr>
          <p:nvPr>
            <p:ph type="title" idx="4294967295"/>
          </p:nvPr>
        </p:nvSpPr>
        <p:spPr>
          <a:xfrm>
            <a:off x="243773" y="199460"/>
            <a:ext cx="9229000" cy="762000"/>
          </a:xfrm>
        </p:spPr>
        <p:txBody>
          <a:bodyPr>
            <a:noAutofit/>
          </a:bodyPr>
          <a:lstStyle/>
          <a:p>
            <a:pPr eaLnBrk="1" hangingPunct="1"/>
            <a:r>
              <a:rPr lang="en-US" altLang="en-US" sz="4000" dirty="0">
                <a:latin typeface="+mn-lt"/>
                <a:ea typeface="Geneva"/>
                <a:cs typeface="Geneva"/>
              </a:rPr>
              <a:t>Student Learning Objectives</a:t>
            </a:r>
          </a:p>
        </p:txBody>
      </p:sp>
      <p:sp>
        <p:nvSpPr>
          <p:cNvPr id="15365" name="Rectangle 20"/>
          <p:cNvSpPr>
            <a:spLocks noChangeArrowheads="1"/>
          </p:cNvSpPr>
          <p:nvPr/>
        </p:nvSpPr>
        <p:spPr bwMode="auto">
          <a:xfrm>
            <a:off x="802739" y="1216402"/>
            <a:ext cx="8111067"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kumimoji="0" lang="en-US" sz="3600" b="0" i="0" u="none" strike="noStrike" kern="1200" cap="none" spc="0" normalizeH="0" baseline="0" noProof="0" dirty="0">
                <a:ln>
                  <a:noFill/>
                </a:ln>
                <a:solidFill>
                  <a:schemeClr val="accent5"/>
                </a:solidFill>
                <a:effectLst/>
                <a:uLnTx/>
                <a:uFillTx/>
                <a:latin typeface="Calibri" panose="020F0502020204030204"/>
                <a:ea typeface="+mn-ea"/>
                <a:cs typeface="+mn-cs"/>
              </a:rPr>
              <a:t>By the end of this module you will be able to:</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rPr>
              <a:t>Identify key steps in problem formation,</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Be better prepared to meet with clients and get to the critical questions faster,</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Identify the 3 types of Research Design, and</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solidFill>
                  <a:schemeClr val="accent5"/>
                </a:solidFill>
                <a:latin typeface="Calibri" panose="020F0502020204030204"/>
              </a:rPr>
              <a:t>Understand and define hypotheses and experiments.</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accent5"/>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75202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Today:</a:t>
            </a:r>
          </a:p>
        </p:txBody>
      </p:sp>
      <p:sp>
        <p:nvSpPr>
          <p:cNvPr id="3" name="Content Placeholder 2"/>
          <p:cNvSpPr>
            <a:spLocks noGrp="1"/>
          </p:cNvSpPr>
          <p:nvPr>
            <p:ph idx="1"/>
          </p:nvPr>
        </p:nvSpPr>
        <p:spPr/>
        <p:txBody>
          <a:bodyPr/>
          <a:lstStyle/>
          <a:p>
            <a:r>
              <a:rPr lang="en-US" dirty="0"/>
              <a:t>Think about the your client – </a:t>
            </a:r>
            <a:r>
              <a:rPr lang="en-US" dirty="0">
                <a:hlinkClick r:id="rId2"/>
              </a:rPr>
              <a:t>The Cincinnati Reds</a:t>
            </a:r>
            <a:endParaRPr lang="en-US" dirty="0"/>
          </a:p>
          <a:p>
            <a:r>
              <a:rPr lang="en-US" dirty="0"/>
              <a:t>Who is their customer base?</a:t>
            </a:r>
          </a:p>
          <a:p>
            <a:r>
              <a:rPr lang="en-US" dirty="0"/>
              <a:t>What are their interests?</a:t>
            </a:r>
          </a:p>
          <a:p>
            <a:endParaRPr lang="en-US" dirty="0"/>
          </a:p>
          <a:p>
            <a:r>
              <a:rPr lang="en-US" dirty="0"/>
              <a:t>Coordinate as a team where you are getting your information</a:t>
            </a:r>
          </a:p>
          <a:p>
            <a:r>
              <a:rPr lang="en-US" dirty="0"/>
              <a:t>Maybe start brain storming how / what you will record</a:t>
            </a:r>
          </a:p>
        </p:txBody>
      </p:sp>
      <p:sp>
        <p:nvSpPr>
          <p:cNvPr id="4" name="Slide Number Placeholder 3"/>
          <p:cNvSpPr>
            <a:spLocks noGrp="1"/>
          </p:cNvSpPr>
          <p:nvPr>
            <p:ph type="sldNum" sz="quarter" idx="12"/>
          </p:nvPr>
        </p:nvSpPr>
        <p:spPr/>
        <p:txBody>
          <a:bodyPr/>
          <a:lstStyle/>
          <a:p>
            <a:pPr>
              <a:defRPr/>
            </a:pPr>
            <a:fld id="{D4DE1CDE-57C6-41F6-A40F-5BC58517E948}" type="slidenum">
              <a:rPr lang="en-US" smtClean="0"/>
              <a:pPr>
                <a:defRPr/>
              </a:pPr>
              <a:t>4</a:t>
            </a:fld>
            <a:endParaRPr lang="en-US"/>
          </a:p>
        </p:txBody>
      </p:sp>
    </p:spTree>
    <p:extLst>
      <p:ext uri="{BB962C8B-B14F-4D97-AF65-F5344CB8AC3E}">
        <p14:creationId xmlns:p14="http://schemas.microsoft.com/office/powerpoint/2010/main" val="8758165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Key Steps in Problem Formulation</a:t>
            </a:r>
          </a:p>
        </p:txBody>
      </p:sp>
      <p:sp>
        <p:nvSpPr>
          <p:cNvPr id="3" name="Content Placeholder 2"/>
          <p:cNvSpPr>
            <a:spLocks noGrp="1"/>
          </p:cNvSpPr>
          <p:nvPr>
            <p:ph idx="1"/>
          </p:nvPr>
        </p:nvSpPr>
        <p:spPr/>
        <p:txBody>
          <a:bodyPr/>
          <a:lstStyle/>
          <a:p>
            <a:r>
              <a:rPr lang="en-US" sz="2400" b="1" dirty="0">
                <a:solidFill>
                  <a:schemeClr val="hlink"/>
                </a:solidFill>
              </a:rPr>
              <a:t>Step One:</a:t>
            </a:r>
            <a:r>
              <a:rPr lang="en-US" sz="2400" dirty="0"/>
              <a:t> Meet with Client</a:t>
            </a:r>
          </a:p>
          <a:p>
            <a:r>
              <a:rPr lang="en-US" sz="2400" b="1" dirty="0">
                <a:solidFill>
                  <a:schemeClr val="hlink"/>
                </a:solidFill>
              </a:rPr>
              <a:t>Step Two:</a:t>
            </a:r>
            <a:r>
              <a:rPr lang="en-US" sz="2400" dirty="0"/>
              <a:t> Clarify Problem / Opportunity</a:t>
            </a:r>
          </a:p>
          <a:p>
            <a:r>
              <a:rPr lang="en-US" sz="2400" b="1" dirty="0">
                <a:solidFill>
                  <a:schemeClr val="hlink"/>
                </a:solidFill>
              </a:rPr>
              <a:t>Step Three:</a:t>
            </a:r>
            <a:r>
              <a:rPr lang="en-US" sz="2400" dirty="0"/>
              <a:t> State Manager’s Decision Problem</a:t>
            </a:r>
          </a:p>
          <a:p>
            <a:r>
              <a:rPr lang="en-US" sz="2400" b="1" dirty="0">
                <a:solidFill>
                  <a:schemeClr val="hlink"/>
                </a:solidFill>
              </a:rPr>
              <a:t>Step Four:</a:t>
            </a:r>
            <a:r>
              <a:rPr lang="en-US" sz="2400" dirty="0"/>
              <a:t> Develop Full Range of Possible Research Problems</a:t>
            </a:r>
          </a:p>
          <a:p>
            <a:r>
              <a:rPr lang="en-US" sz="2400" b="1" dirty="0">
                <a:solidFill>
                  <a:schemeClr val="hlink"/>
                </a:solidFill>
              </a:rPr>
              <a:t>Step Five:</a:t>
            </a:r>
            <a:r>
              <a:rPr lang="en-US" sz="2400" dirty="0"/>
              <a:t> Select Research Problem(s)</a:t>
            </a:r>
          </a:p>
          <a:p>
            <a:r>
              <a:rPr lang="en-US" sz="2400" b="1" dirty="0">
                <a:solidFill>
                  <a:schemeClr val="hlink"/>
                </a:solidFill>
              </a:rPr>
              <a:t>Step Six:</a:t>
            </a:r>
            <a:r>
              <a:rPr lang="en-US" sz="2400" dirty="0"/>
              <a:t> Prepare Research Request Agreement</a:t>
            </a:r>
          </a:p>
          <a:p>
            <a:endParaRPr lang="en-US" sz="2400" dirty="0"/>
          </a:p>
          <a:p>
            <a:endParaRPr lang="en-US" dirty="0"/>
          </a:p>
        </p:txBody>
      </p:sp>
    </p:spTree>
    <p:extLst>
      <p:ext uri="{BB962C8B-B14F-4D97-AF65-F5344CB8AC3E}">
        <p14:creationId xmlns:p14="http://schemas.microsoft.com/office/powerpoint/2010/main" val="271974828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pPr eaLnBrk="1" hangingPunct="1"/>
            <a:r>
              <a:rPr lang="en-US" altLang="en-US" sz="4000" dirty="0">
                <a:latin typeface="+mn-lt"/>
              </a:rPr>
              <a:t>Step One: Meet with Client (</a:t>
            </a:r>
            <a:r>
              <a:rPr lang="en-US" altLang="en-US" sz="4000" i="1" dirty="0">
                <a:latin typeface="+mn-lt"/>
              </a:rPr>
              <a:t>Client Briefing</a:t>
            </a:r>
            <a:r>
              <a:rPr lang="en-US" altLang="en-US" sz="4000" dirty="0">
                <a:latin typeface="+mn-lt"/>
              </a:rPr>
              <a:t>)</a:t>
            </a:r>
          </a:p>
        </p:txBody>
      </p:sp>
      <p:sp>
        <p:nvSpPr>
          <p:cNvPr id="16387" name="Rectangle 3"/>
          <p:cNvSpPr>
            <a:spLocks noGrp="1" noChangeArrowheads="1"/>
          </p:cNvSpPr>
          <p:nvPr>
            <p:ph idx="1"/>
          </p:nvPr>
        </p:nvSpPr>
        <p:spPr>
          <a:xfrm>
            <a:off x="2438400" y="1600200"/>
            <a:ext cx="8001000" cy="4800600"/>
          </a:xfrm>
        </p:spPr>
        <p:txBody>
          <a:bodyPr/>
          <a:lstStyle/>
          <a:p>
            <a:pPr eaLnBrk="1" hangingPunct="1">
              <a:lnSpc>
                <a:spcPct val="90000"/>
              </a:lnSpc>
            </a:pPr>
            <a:r>
              <a:rPr lang="en-US" altLang="en-US" sz="2400" dirty="0"/>
              <a:t>What is the problem or opportunity you’re facing?</a:t>
            </a:r>
          </a:p>
          <a:p>
            <a:pPr eaLnBrk="1" hangingPunct="1">
              <a:lnSpc>
                <a:spcPct val="90000"/>
              </a:lnSpc>
            </a:pPr>
            <a:r>
              <a:rPr lang="en-US" altLang="en-US" sz="2400" dirty="0"/>
              <a:t>What caused you to notice the problem?</a:t>
            </a:r>
          </a:p>
          <a:p>
            <a:pPr eaLnBrk="1" hangingPunct="1">
              <a:lnSpc>
                <a:spcPct val="90000"/>
              </a:lnSpc>
            </a:pPr>
            <a:r>
              <a:rPr lang="en-US" altLang="en-US" sz="2400" dirty="0"/>
              <a:t>Why do you think this situation has occurred?</a:t>
            </a:r>
          </a:p>
          <a:p>
            <a:pPr eaLnBrk="1" hangingPunct="1">
              <a:lnSpc>
                <a:spcPct val="90000"/>
              </a:lnSpc>
            </a:pPr>
            <a:r>
              <a:rPr lang="en-US" altLang="en-US" sz="2400" dirty="0"/>
              <a:t>What is likely to happen if nothing changes in the next 12 months?</a:t>
            </a:r>
          </a:p>
          <a:p>
            <a:pPr eaLnBrk="1" hangingPunct="1">
              <a:lnSpc>
                <a:spcPct val="90000"/>
              </a:lnSpc>
            </a:pPr>
            <a:r>
              <a:rPr lang="en-US" altLang="en-US" sz="2400" dirty="0"/>
              <a:t>Is it likely to be an ongoing problem?</a:t>
            </a:r>
          </a:p>
          <a:p>
            <a:pPr eaLnBrk="1" hangingPunct="1">
              <a:lnSpc>
                <a:spcPct val="90000"/>
              </a:lnSpc>
            </a:pPr>
            <a:r>
              <a:rPr lang="en-US" altLang="en-US" sz="2400" dirty="0"/>
              <a:t>What do you hope to accomplish using marketing research?</a:t>
            </a:r>
          </a:p>
          <a:p>
            <a:pPr eaLnBrk="1" hangingPunct="1">
              <a:lnSpc>
                <a:spcPct val="90000"/>
              </a:lnSpc>
            </a:pPr>
            <a:r>
              <a:rPr lang="en-US" altLang="en-US" sz="2400" dirty="0"/>
              <a:t>What actions will you take depending upon the answers?</a:t>
            </a:r>
          </a:p>
          <a:p>
            <a:pPr eaLnBrk="1" hangingPunct="1">
              <a:lnSpc>
                <a:spcPct val="90000"/>
              </a:lnSpc>
            </a:pPr>
            <a:r>
              <a:rPr lang="en-US" altLang="en-US" sz="2400" i="1" dirty="0"/>
              <a:t>Why? Why? Why? Why? Why?</a:t>
            </a:r>
          </a:p>
        </p:txBody>
      </p:sp>
    </p:spTree>
    <p:extLst>
      <p:ext uri="{BB962C8B-B14F-4D97-AF65-F5344CB8AC3E}">
        <p14:creationId xmlns:p14="http://schemas.microsoft.com/office/powerpoint/2010/main" val="221296925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title"/>
          </p:nvPr>
        </p:nvSpPr>
        <p:spPr>
          <a:xfrm>
            <a:off x="1055440" y="692696"/>
            <a:ext cx="9649072" cy="1143000"/>
          </a:xfrm>
          <a:noFill/>
        </p:spPr>
        <p:txBody>
          <a:bodyPr>
            <a:normAutofit fontScale="90000"/>
          </a:bodyPr>
          <a:lstStyle/>
          <a:p>
            <a:pPr eaLnBrk="1" hangingPunct="1"/>
            <a:r>
              <a:rPr lang="en-US" altLang="en-US" dirty="0">
                <a:latin typeface="+mn-lt"/>
              </a:rPr>
              <a:t>Step Two:</a:t>
            </a:r>
            <a:br>
              <a:rPr lang="en-US" altLang="en-US" dirty="0">
                <a:latin typeface="+mn-lt"/>
              </a:rPr>
            </a:br>
            <a:r>
              <a:rPr lang="en-US" altLang="en-US" dirty="0">
                <a:latin typeface="+mn-lt"/>
              </a:rPr>
              <a:t>Clarify the </a:t>
            </a:r>
            <a:r>
              <a:rPr lang="en-US" altLang="en-US" dirty="0">
                <a:latin typeface="+mn-lt"/>
                <a:hlinkClick r:id="rId3"/>
              </a:rPr>
              <a:t>Problem</a:t>
            </a:r>
            <a:r>
              <a:rPr lang="en-US" altLang="en-US" dirty="0">
                <a:latin typeface="+mn-lt"/>
              </a:rPr>
              <a:t>/ </a:t>
            </a:r>
            <a:r>
              <a:rPr lang="en-US" altLang="en-US" dirty="0">
                <a:latin typeface="+mn-lt"/>
                <a:hlinkClick r:id="rId4"/>
              </a:rPr>
              <a:t>Opportunity</a:t>
            </a:r>
            <a:endParaRPr lang="en-US" altLang="en-US" dirty="0">
              <a:latin typeface="+mn-lt"/>
            </a:endParaRPr>
          </a:p>
        </p:txBody>
      </p:sp>
      <p:sp>
        <p:nvSpPr>
          <p:cNvPr id="19459" name="Rectangle 3"/>
          <p:cNvSpPr>
            <a:spLocks noGrp="1" noChangeArrowheads="1"/>
          </p:cNvSpPr>
          <p:nvPr>
            <p:ph idx="1"/>
          </p:nvPr>
        </p:nvSpPr>
        <p:spPr>
          <a:xfrm>
            <a:off x="1559496" y="2204864"/>
            <a:ext cx="9217024" cy="2743200"/>
          </a:xfrm>
        </p:spPr>
        <p:txBody>
          <a:bodyPr vert="horz" lIns="92069" tIns="46035" rIns="92069" bIns="46035" rtlCol="0">
            <a:noAutofit/>
          </a:bodyPr>
          <a:lstStyle/>
          <a:p>
            <a:pPr eaLnBrk="1" hangingPunct="1">
              <a:lnSpc>
                <a:spcPct val="90000"/>
              </a:lnSpc>
              <a:buClr>
                <a:schemeClr val="accent2"/>
              </a:buClr>
              <a:buSzPct val="75000"/>
              <a:buFont typeface="Arial" panose="020B0604020202020204" pitchFamily="34" charset="0"/>
              <a:buChar char="•"/>
            </a:pPr>
            <a:r>
              <a:rPr lang="en-US" altLang="en-US" sz="2800" dirty="0"/>
              <a:t>One of the most important things that a researcher provides a client is a set of “new eyes.”</a:t>
            </a:r>
          </a:p>
          <a:p>
            <a:pPr eaLnBrk="1" hangingPunct="1">
              <a:lnSpc>
                <a:spcPct val="90000"/>
              </a:lnSpc>
              <a:buClr>
                <a:schemeClr val="accent2"/>
              </a:buClr>
              <a:buSzPct val="75000"/>
              <a:buFont typeface="Arial" panose="020B0604020202020204" pitchFamily="34" charset="0"/>
              <a:buChar char="•"/>
            </a:pPr>
            <a:endParaRPr lang="en-US" altLang="en-US" sz="2800" dirty="0"/>
          </a:p>
          <a:p>
            <a:pPr eaLnBrk="1" hangingPunct="1">
              <a:lnSpc>
                <a:spcPct val="90000"/>
              </a:lnSpc>
              <a:buClr>
                <a:schemeClr val="accent2"/>
              </a:buClr>
              <a:buSzPct val="75000"/>
              <a:buFont typeface="Arial" panose="020B0604020202020204" pitchFamily="34" charset="0"/>
              <a:buChar char="•"/>
            </a:pPr>
            <a:r>
              <a:rPr lang="en-US" altLang="en-US" sz="2800" dirty="0"/>
              <a:t>Formulating the </a:t>
            </a:r>
            <a:r>
              <a:rPr lang="en-US" altLang="en-US" sz="2800" i="1" dirty="0"/>
              <a:t>true </a:t>
            </a:r>
            <a:r>
              <a:rPr lang="en-US" altLang="en-US" sz="2800" dirty="0"/>
              <a:t>problem or opportunity is often difficult unless you can break away from “normal” thinking and question assumptions.</a:t>
            </a:r>
          </a:p>
          <a:p>
            <a:pPr eaLnBrk="1" hangingPunct="1">
              <a:lnSpc>
                <a:spcPct val="90000"/>
              </a:lnSpc>
              <a:buFont typeface="Arial" panose="020B0604020202020204" pitchFamily="34" charset="0"/>
              <a:buChar char="•"/>
            </a:pPr>
            <a:endParaRPr lang="en-US" altLang="en-US" sz="3200" dirty="0"/>
          </a:p>
          <a:p>
            <a:pPr algn="ctr" eaLnBrk="1" hangingPunct="1">
              <a:lnSpc>
                <a:spcPct val="90000"/>
              </a:lnSpc>
              <a:buFont typeface="Arial" panose="020B0604020202020204" pitchFamily="34" charset="0"/>
              <a:buChar char="•"/>
            </a:pPr>
            <a:endParaRPr lang="en-US" altLang="en-US" sz="3200" dirty="0"/>
          </a:p>
        </p:txBody>
      </p:sp>
    </p:spTree>
    <p:extLst>
      <p:ext uri="{BB962C8B-B14F-4D97-AF65-F5344CB8AC3E}">
        <p14:creationId xmlns:p14="http://schemas.microsoft.com/office/powerpoint/2010/main" val="4359185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983432" y="660400"/>
            <a:ext cx="8568952" cy="1143000"/>
          </a:xfrm>
        </p:spPr>
        <p:txBody>
          <a:bodyPr vert="horz" lIns="92069" tIns="46035" rIns="92069" bIns="46035" rtlCol="0" anchor="ctr">
            <a:noAutofit/>
          </a:bodyPr>
          <a:lstStyle/>
          <a:p>
            <a:pPr eaLnBrk="1" hangingPunct="1">
              <a:defRPr/>
            </a:pPr>
            <a:r>
              <a:rPr lang="en-US" sz="4000" dirty="0">
                <a:latin typeface="+mn-lt"/>
              </a:rPr>
              <a:t>Sources of Problems/Opportunities</a:t>
            </a:r>
          </a:p>
        </p:txBody>
      </p:sp>
      <p:sp>
        <p:nvSpPr>
          <p:cNvPr id="18435" name="Rectangle 3"/>
          <p:cNvSpPr>
            <a:spLocks noGrp="1" noChangeArrowheads="1"/>
          </p:cNvSpPr>
          <p:nvPr>
            <p:ph idx="1"/>
          </p:nvPr>
        </p:nvSpPr>
        <p:spPr>
          <a:xfrm>
            <a:off x="1991544" y="1803400"/>
            <a:ext cx="8640960" cy="4896544"/>
          </a:xfrm>
        </p:spPr>
        <p:txBody>
          <a:bodyPr vert="horz" lIns="92069" tIns="46035" rIns="92069" bIns="46035" rtlCol="0">
            <a:noAutofit/>
          </a:bodyPr>
          <a:lstStyle/>
          <a:p>
            <a:pPr lvl="1" eaLnBrk="1" hangingPunct="1">
              <a:lnSpc>
                <a:spcPct val="90000"/>
              </a:lnSpc>
              <a:buFont typeface="Wingdings" pitchFamily="2" charset="2"/>
              <a:buNone/>
            </a:pPr>
            <a:r>
              <a:rPr lang="en-US" altLang="en-US" sz="3600" dirty="0"/>
              <a:t>unplanned changes in the environment, serendipity</a:t>
            </a:r>
          </a:p>
          <a:p>
            <a:pPr lvl="1" eaLnBrk="1" hangingPunct="1">
              <a:lnSpc>
                <a:spcPct val="90000"/>
              </a:lnSpc>
              <a:buClr>
                <a:schemeClr val="accent2"/>
              </a:buClr>
              <a:buFont typeface="Monotype Sorts" pitchFamily="2" charset="2"/>
              <a:buChar char="l"/>
            </a:pPr>
            <a:r>
              <a:rPr lang="en-US" altLang="en-US" sz="2800" dirty="0"/>
              <a:t>what has happened? (discovery)</a:t>
            </a:r>
          </a:p>
          <a:p>
            <a:pPr lvl="1" eaLnBrk="1" hangingPunct="1">
              <a:lnSpc>
                <a:spcPct val="90000"/>
              </a:lnSpc>
              <a:buClr>
                <a:schemeClr val="accent2"/>
              </a:buClr>
              <a:buFont typeface="Monotype Sorts" pitchFamily="2" charset="2"/>
              <a:buChar char="l"/>
            </a:pPr>
            <a:r>
              <a:rPr lang="en-US" altLang="en-US" sz="2800" dirty="0"/>
              <a:t>why has it happened? (discovery)</a:t>
            </a:r>
          </a:p>
          <a:p>
            <a:pPr lvl="1" eaLnBrk="1" hangingPunct="1">
              <a:lnSpc>
                <a:spcPct val="90000"/>
              </a:lnSpc>
              <a:buClr>
                <a:schemeClr val="accent2"/>
              </a:buClr>
              <a:buFont typeface="Monotype Sorts" pitchFamily="2" charset="2"/>
              <a:buChar char="l"/>
            </a:pPr>
            <a:r>
              <a:rPr lang="en-US" altLang="en-US" sz="2800" dirty="0"/>
              <a:t>what should we do about the problem or opportunity? (</a:t>
            </a:r>
            <a:r>
              <a:rPr lang="en-US" altLang="en-US" sz="2800" dirty="0">
                <a:hlinkClick r:id="rId3"/>
              </a:rPr>
              <a:t>strategy</a:t>
            </a:r>
            <a:r>
              <a:rPr lang="en-US" altLang="en-US" sz="2800" dirty="0"/>
              <a:t>)</a:t>
            </a:r>
          </a:p>
          <a:p>
            <a:pPr lvl="1" eaLnBrk="1" hangingPunct="1">
              <a:lnSpc>
                <a:spcPct val="90000"/>
              </a:lnSpc>
              <a:buClr>
                <a:schemeClr val="accent2"/>
              </a:buClr>
              <a:buFont typeface="Wingdings" pitchFamily="2" charset="2"/>
              <a:buNone/>
            </a:pPr>
            <a:endParaRPr lang="en-US" altLang="en-US" sz="1000" dirty="0"/>
          </a:p>
          <a:p>
            <a:pPr lvl="1" eaLnBrk="1" hangingPunct="1">
              <a:lnSpc>
                <a:spcPct val="90000"/>
              </a:lnSpc>
              <a:buClr>
                <a:schemeClr val="accent2"/>
              </a:buClr>
              <a:buFont typeface="Wingdings" pitchFamily="2" charset="2"/>
              <a:buNone/>
            </a:pPr>
            <a:r>
              <a:rPr lang="en-US" altLang="en-US" sz="3600" dirty="0"/>
              <a:t>planned changes</a:t>
            </a:r>
          </a:p>
          <a:p>
            <a:pPr lvl="1" eaLnBrk="1" hangingPunct="1">
              <a:lnSpc>
                <a:spcPct val="90000"/>
              </a:lnSpc>
              <a:buClr>
                <a:schemeClr val="accent2"/>
              </a:buClr>
              <a:buFont typeface="Monotype Sorts" pitchFamily="2" charset="2"/>
              <a:buChar char="l"/>
            </a:pPr>
            <a:r>
              <a:rPr lang="en-US" altLang="en-US" sz="2800" dirty="0"/>
              <a:t>what can happen? (discovery)</a:t>
            </a:r>
          </a:p>
          <a:p>
            <a:pPr lvl="1" eaLnBrk="1" hangingPunct="1">
              <a:lnSpc>
                <a:spcPct val="90000"/>
              </a:lnSpc>
              <a:buClr>
                <a:schemeClr val="accent2"/>
              </a:buClr>
              <a:buFont typeface="Monotype Sorts" pitchFamily="2" charset="2"/>
              <a:buChar char="l"/>
            </a:pPr>
            <a:r>
              <a:rPr lang="en-US" altLang="en-US" sz="2800" dirty="0"/>
              <a:t>why could it happen? (discovery)</a:t>
            </a:r>
          </a:p>
          <a:p>
            <a:pPr lvl="1" eaLnBrk="1" hangingPunct="1">
              <a:lnSpc>
                <a:spcPct val="90000"/>
              </a:lnSpc>
              <a:buClr>
                <a:schemeClr val="accent2"/>
              </a:buClr>
              <a:buFont typeface="Monotype Sorts" pitchFamily="2" charset="2"/>
              <a:buChar char="l"/>
            </a:pPr>
            <a:r>
              <a:rPr lang="en-US" altLang="en-US" sz="2800" dirty="0"/>
              <a:t>how should we implement the change? (strategy)</a:t>
            </a:r>
          </a:p>
        </p:txBody>
      </p:sp>
    </p:spTree>
    <p:extLst>
      <p:ext uri="{BB962C8B-B14F-4D97-AF65-F5344CB8AC3E}">
        <p14:creationId xmlns:p14="http://schemas.microsoft.com/office/powerpoint/2010/main" val="13793396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5680" y="4293096"/>
            <a:ext cx="5741894" cy="17526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Rectangle 2"/>
          <p:cNvSpPr>
            <a:spLocks noGrp="1" noChangeArrowheads="1"/>
          </p:cNvSpPr>
          <p:nvPr>
            <p:ph type="title"/>
          </p:nvPr>
        </p:nvSpPr>
        <p:spPr>
          <a:xfrm>
            <a:off x="1055440" y="689502"/>
            <a:ext cx="8534400" cy="1143000"/>
          </a:xfrm>
        </p:spPr>
        <p:txBody>
          <a:bodyPr>
            <a:noAutofit/>
          </a:bodyPr>
          <a:lstStyle/>
          <a:p>
            <a:pPr eaLnBrk="1" hangingPunct="1"/>
            <a:r>
              <a:rPr lang="en-US" altLang="en-US" sz="5400" dirty="0">
                <a:latin typeface="+mn-lt"/>
              </a:rPr>
              <a:t>Step Three:</a:t>
            </a:r>
            <a:br>
              <a:rPr lang="en-US" altLang="en-US" sz="5400" dirty="0">
                <a:latin typeface="+mn-lt"/>
              </a:rPr>
            </a:br>
            <a:r>
              <a:rPr lang="en-US" altLang="en-US" sz="4000" dirty="0">
                <a:latin typeface="+mn-lt"/>
              </a:rPr>
              <a:t>State the Manager’s Decision Problem</a:t>
            </a:r>
          </a:p>
        </p:txBody>
      </p:sp>
      <p:sp>
        <p:nvSpPr>
          <p:cNvPr id="123907" name="Rectangle 3"/>
          <p:cNvSpPr>
            <a:spLocks noGrp="1" noChangeArrowheads="1"/>
          </p:cNvSpPr>
          <p:nvPr>
            <p:ph idx="1"/>
          </p:nvPr>
        </p:nvSpPr>
        <p:spPr>
          <a:xfrm>
            <a:off x="3205912" y="4365104"/>
            <a:ext cx="5741894" cy="1900518"/>
          </a:xfrm>
        </p:spPr>
        <p:txBody>
          <a:bodyPr>
            <a:normAutofit lnSpcReduction="10000"/>
          </a:bodyPr>
          <a:lstStyle/>
          <a:p>
            <a:pPr lvl="1" eaLnBrk="1" hangingPunct="1">
              <a:defRPr/>
            </a:pPr>
            <a:r>
              <a:rPr lang="en-US" sz="2800" dirty="0"/>
              <a:t>A </a:t>
            </a:r>
            <a:r>
              <a:rPr lang="en-US" sz="3200" dirty="0"/>
              <a:t>well-stated</a:t>
            </a:r>
            <a:r>
              <a:rPr lang="en-US" sz="2800" dirty="0"/>
              <a:t> </a:t>
            </a:r>
            <a:r>
              <a:rPr lang="en-US" sz="3200" dirty="0"/>
              <a:t>decision</a:t>
            </a:r>
            <a:r>
              <a:rPr lang="en-US" sz="2800" dirty="0"/>
              <a:t> problem…</a:t>
            </a:r>
          </a:p>
          <a:p>
            <a:pPr lvl="2" eaLnBrk="1" hangingPunct="1">
              <a:buClr>
                <a:schemeClr val="accent2"/>
              </a:buClr>
              <a:buFont typeface="Wingdings" pitchFamily="2" charset="2"/>
              <a:buChar char="ü"/>
              <a:defRPr/>
            </a:pPr>
            <a:r>
              <a:rPr lang="en-US" sz="2000" dirty="0"/>
              <a:t>takes the manager’s perspective</a:t>
            </a:r>
          </a:p>
          <a:p>
            <a:pPr lvl="2" eaLnBrk="1" hangingPunct="1">
              <a:buClr>
                <a:schemeClr val="accent2"/>
              </a:buClr>
              <a:buFont typeface="Wingdings" pitchFamily="2" charset="2"/>
              <a:buChar char="ü"/>
              <a:defRPr/>
            </a:pPr>
            <a:r>
              <a:rPr lang="en-US" sz="2000" dirty="0"/>
              <a:t>is as simple as possible</a:t>
            </a:r>
          </a:p>
          <a:p>
            <a:pPr lvl="2" eaLnBrk="1" hangingPunct="1">
              <a:buClr>
                <a:schemeClr val="accent2"/>
              </a:buClr>
              <a:buFont typeface="Wingdings" pitchFamily="2" charset="2"/>
              <a:buChar char="ü"/>
              <a:defRPr/>
            </a:pPr>
            <a:r>
              <a:rPr lang="en-US" sz="2000" dirty="0"/>
              <a:t>is stated in the form of a question</a:t>
            </a:r>
          </a:p>
        </p:txBody>
      </p:sp>
      <p:sp>
        <p:nvSpPr>
          <p:cNvPr id="4" name="Content Placeholder 2"/>
          <p:cNvSpPr txBox="1">
            <a:spLocks/>
          </p:cNvSpPr>
          <p:nvPr/>
        </p:nvSpPr>
        <p:spPr>
          <a:xfrm>
            <a:off x="1981200" y="22717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DECISION PROBLEM</a:t>
            </a:r>
          </a:p>
          <a:p>
            <a:pPr marL="457200" lvl="1" indent="0">
              <a:buNone/>
            </a:pPr>
            <a:r>
              <a:rPr lang="en-US" dirty="0"/>
              <a:t>The problem facing the decision maker for which the research is intended to provide answers.</a:t>
            </a:r>
          </a:p>
        </p:txBody>
      </p:sp>
    </p:spTree>
    <p:extLst>
      <p:ext uri="{BB962C8B-B14F-4D97-AF65-F5344CB8AC3E}">
        <p14:creationId xmlns:p14="http://schemas.microsoft.com/office/powerpoint/2010/main" val="343452867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2810435" y="9906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DISCOVERY-ORIENTED            DECISION PROBLEM</a:t>
            </a:r>
          </a:p>
          <a:p>
            <a:pPr marL="457200" lvl="1" indent="0">
              <a:buNone/>
            </a:pPr>
            <a:r>
              <a:rPr lang="en-US" dirty="0"/>
              <a:t>A decision problem that typically seeks to answer </a:t>
            </a:r>
            <a:r>
              <a:rPr lang="en-US" b="1" dirty="0">
                <a:solidFill>
                  <a:srgbClr val="C00000"/>
                </a:solidFill>
              </a:rPr>
              <a:t>informational </a:t>
            </a:r>
            <a:r>
              <a:rPr lang="en-US" dirty="0"/>
              <a:t>questions about a problem/opportunity. The focus is generally on </a:t>
            </a:r>
            <a:r>
              <a:rPr lang="en-US" b="1" dirty="0">
                <a:solidFill>
                  <a:srgbClr val="C00000"/>
                </a:solidFill>
              </a:rPr>
              <a:t>generating useful </a:t>
            </a:r>
            <a:r>
              <a:rPr lang="en-US" b="1" u="sng" dirty="0">
                <a:solidFill>
                  <a:srgbClr val="C00000"/>
                </a:solidFill>
              </a:rPr>
              <a:t>information</a:t>
            </a:r>
            <a:r>
              <a:rPr lang="en-US" b="1" dirty="0">
                <a:solidFill>
                  <a:srgbClr val="C00000"/>
                </a:solidFill>
              </a:rPr>
              <a:t>.</a:t>
            </a:r>
          </a:p>
        </p:txBody>
      </p:sp>
      <p:sp>
        <p:nvSpPr>
          <p:cNvPr id="2" name="TextBox 1"/>
          <p:cNvSpPr txBox="1"/>
          <p:nvPr/>
        </p:nvSpPr>
        <p:spPr>
          <a:xfrm>
            <a:off x="2362200" y="4724401"/>
            <a:ext cx="7391400"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3600" dirty="0"/>
              <a:t>E.g. Why has restaurant traffic dropped?</a:t>
            </a:r>
          </a:p>
        </p:txBody>
      </p:sp>
    </p:spTree>
    <p:extLst>
      <p:ext uri="{BB962C8B-B14F-4D97-AF65-F5344CB8AC3E}">
        <p14:creationId xmlns:p14="http://schemas.microsoft.com/office/powerpoint/2010/main" val="13114436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810435" y="9906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STRATEGY-ORIENTED              DECISION PROBLEM</a:t>
            </a:r>
          </a:p>
          <a:p>
            <a:pPr marL="457200" lvl="1" indent="0">
              <a:buNone/>
            </a:pPr>
            <a:r>
              <a:rPr lang="en-US" dirty="0"/>
              <a:t>A decision problem that typically seeks to answer </a:t>
            </a:r>
            <a:r>
              <a:rPr lang="en-US" b="1" dirty="0">
                <a:solidFill>
                  <a:srgbClr val="C00000"/>
                </a:solidFill>
              </a:rPr>
              <a:t>how</a:t>
            </a:r>
            <a:r>
              <a:rPr lang="en-US" dirty="0"/>
              <a:t> questions about a problem/opportunity. The focus is generally on </a:t>
            </a:r>
            <a:r>
              <a:rPr lang="en-US" b="1" dirty="0">
                <a:solidFill>
                  <a:srgbClr val="C00000"/>
                </a:solidFill>
              </a:rPr>
              <a:t>selecting alternative courses of </a:t>
            </a:r>
            <a:r>
              <a:rPr lang="en-US" b="1" u="sng" dirty="0">
                <a:solidFill>
                  <a:srgbClr val="C00000"/>
                </a:solidFill>
              </a:rPr>
              <a:t>action</a:t>
            </a:r>
            <a:r>
              <a:rPr lang="en-US" dirty="0"/>
              <a:t>.</a:t>
            </a:r>
          </a:p>
        </p:txBody>
      </p:sp>
      <p:sp>
        <p:nvSpPr>
          <p:cNvPr id="3" name="TextBox 2"/>
          <p:cNvSpPr txBox="1"/>
          <p:nvPr/>
        </p:nvSpPr>
        <p:spPr>
          <a:xfrm>
            <a:off x="2209800" y="4724401"/>
            <a:ext cx="7992035"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3600" dirty="0"/>
              <a:t>E.g. How can we increase restaurant traffic?</a:t>
            </a:r>
          </a:p>
        </p:txBody>
      </p:sp>
    </p:spTree>
    <p:extLst>
      <p:ext uri="{BB962C8B-B14F-4D97-AF65-F5344CB8AC3E}">
        <p14:creationId xmlns:p14="http://schemas.microsoft.com/office/powerpoint/2010/main" val="257914754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Brief Exercise</a:t>
            </a:r>
          </a:p>
        </p:txBody>
      </p:sp>
      <p:sp>
        <p:nvSpPr>
          <p:cNvPr id="3" name="Content Placeholder 2"/>
          <p:cNvSpPr>
            <a:spLocks noGrp="1"/>
          </p:cNvSpPr>
          <p:nvPr>
            <p:ph idx="1"/>
          </p:nvPr>
        </p:nvSpPr>
        <p:spPr/>
        <p:txBody>
          <a:bodyPr>
            <a:normAutofit/>
          </a:bodyPr>
          <a:lstStyle/>
          <a:p>
            <a:r>
              <a:rPr lang="en-US" sz="2400" dirty="0"/>
              <a:t>Xavier University would like to accelerate our MBA growth rate.</a:t>
            </a:r>
          </a:p>
          <a:p>
            <a:endParaRPr lang="en-US" sz="2400" dirty="0"/>
          </a:p>
          <a:p>
            <a:r>
              <a:rPr lang="en-US" sz="2400" dirty="0"/>
              <a:t>Come up with a possible discovery-oriented decision problem </a:t>
            </a:r>
          </a:p>
          <a:p>
            <a:endParaRPr lang="en-US" sz="2400" dirty="0"/>
          </a:p>
          <a:p>
            <a:r>
              <a:rPr lang="en-US" sz="2400" dirty="0"/>
              <a:t>Come up with a possible strategy-oriented decision problem</a:t>
            </a:r>
          </a:p>
        </p:txBody>
      </p:sp>
    </p:spTree>
    <p:extLst>
      <p:ext uri="{BB962C8B-B14F-4D97-AF65-F5344CB8AC3E}">
        <p14:creationId xmlns:p14="http://schemas.microsoft.com/office/powerpoint/2010/main" val="31392611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23720" y="681576"/>
            <a:ext cx="7924800" cy="1143000"/>
          </a:xfrm>
        </p:spPr>
        <p:txBody>
          <a:bodyPr>
            <a:noAutofit/>
          </a:bodyPr>
          <a:lstStyle/>
          <a:p>
            <a:pPr eaLnBrk="1" hangingPunct="1"/>
            <a:r>
              <a:rPr lang="en-US" altLang="en-US" sz="5400" dirty="0">
                <a:latin typeface="+mn-lt"/>
              </a:rPr>
              <a:t>Step Four:</a:t>
            </a:r>
            <a:br>
              <a:rPr lang="en-US" altLang="en-US" sz="5400" dirty="0">
                <a:latin typeface="+mn-lt"/>
              </a:rPr>
            </a:br>
            <a:r>
              <a:rPr lang="en-US" altLang="en-US" sz="4000" dirty="0">
                <a:latin typeface="+mn-lt"/>
              </a:rPr>
              <a:t>Develop Possible Research Problems</a:t>
            </a:r>
          </a:p>
        </p:txBody>
      </p:sp>
      <p:sp>
        <p:nvSpPr>
          <p:cNvPr id="22531" name="Rectangle 3"/>
          <p:cNvSpPr>
            <a:spLocks noGrp="1" noChangeArrowheads="1"/>
          </p:cNvSpPr>
          <p:nvPr>
            <p:ph idx="1"/>
          </p:nvPr>
        </p:nvSpPr>
        <p:spPr>
          <a:xfrm>
            <a:off x="2324100" y="4149080"/>
            <a:ext cx="7620000" cy="3276600"/>
          </a:xfrm>
        </p:spPr>
        <p:txBody>
          <a:bodyPr/>
          <a:lstStyle/>
          <a:p>
            <a:pPr lvl="1" eaLnBrk="1" hangingPunct="1">
              <a:buClr>
                <a:schemeClr val="accent2">
                  <a:lumMod val="75000"/>
                </a:schemeClr>
              </a:buClr>
              <a:buSzPct val="200000"/>
              <a:buFont typeface="Arial" panose="020B0604020202020204" pitchFamily="34" charset="0"/>
              <a:buChar char="•"/>
            </a:pPr>
            <a:r>
              <a:rPr lang="en-US" altLang="en-US" sz="2400" i="1" dirty="0"/>
              <a:t>Investigate current customer satisfaction.</a:t>
            </a:r>
          </a:p>
          <a:p>
            <a:pPr lvl="1" eaLnBrk="1" hangingPunct="1">
              <a:buClr>
                <a:schemeClr val="accent2">
                  <a:lumMod val="75000"/>
                </a:schemeClr>
              </a:buClr>
              <a:buSzPct val="200000"/>
              <a:buFont typeface="Arial" panose="020B0604020202020204" pitchFamily="34" charset="0"/>
              <a:buChar char="•"/>
            </a:pPr>
            <a:r>
              <a:rPr lang="en-US" altLang="en-US" sz="2400" i="1" dirty="0"/>
              <a:t>Assess target market perceptions.</a:t>
            </a:r>
          </a:p>
          <a:p>
            <a:pPr lvl="1" eaLnBrk="1" hangingPunct="1">
              <a:buClr>
                <a:schemeClr val="accent2">
                  <a:lumMod val="75000"/>
                </a:schemeClr>
              </a:buClr>
              <a:buSzPct val="200000"/>
              <a:buFont typeface="Arial" panose="020B0604020202020204" pitchFamily="34" charset="0"/>
              <a:buChar char="•"/>
            </a:pPr>
            <a:r>
              <a:rPr lang="en-US" altLang="en-US" sz="2400" i="1" dirty="0"/>
              <a:t>Determine target market awareness.</a:t>
            </a:r>
          </a:p>
        </p:txBody>
      </p:sp>
      <p:sp>
        <p:nvSpPr>
          <p:cNvPr id="4" name="Content Placeholder 2"/>
          <p:cNvSpPr txBox="1">
            <a:spLocks/>
          </p:cNvSpPr>
          <p:nvPr/>
        </p:nvSpPr>
        <p:spPr>
          <a:xfrm>
            <a:off x="1559496" y="2204864"/>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RESEARCH PROBLEM</a:t>
            </a:r>
          </a:p>
          <a:p>
            <a:pPr marL="457200" lvl="1" indent="0">
              <a:buNone/>
            </a:pPr>
            <a:r>
              <a:rPr lang="en-US" dirty="0"/>
              <a:t>A restatement of the decision problem in research terms.</a:t>
            </a:r>
          </a:p>
        </p:txBody>
      </p:sp>
    </p:spTree>
    <p:extLst>
      <p:ext uri="{BB962C8B-B14F-4D97-AF65-F5344CB8AC3E}">
        <p14:creationId xmlns:p14="http://schemas.microsoft.com/office/powerpoint/2010/main" val="19873504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2351584" y="2564904"/>
            <a:ext cx="6912768" cy="1728192"/>
          </a:xfrm>
        </p:spPr>
        <p:style>
          <a:lnRef idx="1">
            <a:schemeClr val="accent4"/>
          </a:lnRef>
          <a:fillRef idx="3">
            <a:schemeClr val="accent4"/>
          </a:fillRef>
          <a:effectRef idx="2">
            <a:schemeClr val="accent4"/>
          </a:effectRef>
          <a:fontRef idx="minor">
            <a:schemeClr val="lt1"/>
          </a:fontRef>
        </p:style>
        <p:txBody>
          <a:bodyPr>
            <a:noAutofit/>
          </a:bodyPr>
          <a:lstStyle/>
          <a:p>
            <a:pPr marL="0" indent="0" algn="ctr">
              <a:buNone/>
            </a:pPr>
            <a:r>
              <a:rPr lang="en-US" altLang="en-US" sz="3600" dirty="0"/>
              <a:t>There will often be MANY research problems associated with a single manager’s decision problem.</a:t>
            </a:r>
          </a:p>
        </p:txBody>
      </p:sp>
    </p:spTree>
    <p:extLst>
      <p:ext uri="{BB962C8B-B14F-4D97-AF65-F5344CB8AC3E}">
        <p14:creationId xmlns:p14="http://schemas.microsoft.com/office/powerpoint/2010/main" val="285593097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9456" y="-22820"/>
            <a:ext cx="11009312" cy="6880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1498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latin typeface="+mn-lt"/>
              </a:rPr>
              <a:t>Application</a:t>
            </a:r>
          </a:p>
        </p:txBody>
      </p:sp>
      <p:sp>
        <p:nvSpPr>
          <p:cNvPr id="6" name="TextBox 5"/>
          <p:cNvSpPr txBox="1"/>
          <p:nvPr/>
        </p:nvSpPr>
        <p:spPr>
          <a:xfrm>
            <a:off x="2819400" y="2362201"/>
            <a:ext cx="6858000" cy="2062103"/>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3200" dirty="0"/>
              <a:t>Go back to the decision problems we came up with a few minutes ago.  What are some possible corresponding research problems?</a:t>
            </a:r>
          </a:p>
        </p:txBody>
      </p:sp>
    </p:spTree>
    <p:extLst>
      <p:ext uri="{BB962C8B-B14F-4D97-AF65-F5344CB8AC3E}">
        <p14:creationId xmlns:p14="http://schemas.microsoft.com/office/powerpoint/2010/main" val="276575275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1424" y="692696"/>
            <a:ext cx="8763000" cy="1143000"/>
          </a:xfrm>
        </p:spPr>
        <p:txBody>
          <a:bodyPr>
            <a:noAutofit/>
          </a:bodyPr>
          <a:lstStyle/>
          <a:p>
            <a:pPr eaLnBrk="1" hangingPunct="1"/>
            <a:r>
              <a:rPr lang="en-US" altLang="en-US" sz="5400" dirty="0">
                <a:latin typeface="+mn-lt"/>
              </a:rPr>
              <a:t>Step Five:</a:t>
            </a:r>
            <a:br>
              <a:rPr lang="en-US" altLang="en-US" sz="5400" dirty="0">
                <a:latin typeface="+mn-lt"/>
              </a:rPr>
            </a:br>
            <a:r>
              <a:rPr lang="en-US" altLang="en-US" sz="4000" dirty="0">
                <a:latin typeface="+mn-lt"/>
              </a:rPr>
              <a:t>Select the Research Problem(s) to be Addressed</a:t>
            </a:r>
          </a:p>
        </p:txBody>
      </p:sp>
      <p:sp>
        <p:nvSpPr>
          <p:cNvPr id="25603" name="Rectangle 3"/>
          <p:cNvSpPr>
            <a:spLocks noGrp="1" noChangeArrowheads="1"/>
          </p:cNvSpPr>
          <p:nvPr>
            <p:ph idx="1"/>
          </p:nvPr>
        </p:nvSpPr>
        <p:spPr>
          <a:xfrm>
            <a:off x="2362200" y="2564904"/>
            <a:ext cx="7391400" cy="3962400"/>
          </a:xfrm>
        </p:spPr>
        <p:txBody>
          <a:bodyPr/>
          <a:lstStyle/>
          <a:p>
            <a:pPr marL="0" indent="0">
              <a:buNone/>
            </a:pPr>
            <a:r>
              <a:rPr lang="en-US" altLang="en-US" sz="2800" dirty="0"/>
              <a:t>Researchers normally can’t do everything. It is better to address one or two research problems fully than to try to do too many things at once.</a:t>
            </a:r>
          </a:p>
          <a:p>
            <a:pPr eaLnBrk="1" hangingPunct="1"/>
            <a:endParaRPr lang="en-US" altLang="en-US" sz="2800" dirty="0"/>
          </a:p>
          <a:p>
            <a:pPr eaLnBrk="1" hangingPunct="1"/>
            <a:r>
              <a:rPr lang="en-US" altLang="en-US" sz="2800" dirty="0"/>
              <a:t>Trade-off: </a:t>
            </a:r>
            <a:r>
              <a:rPr lang="en-US" altLang="en-US" sz="2800" i="1" dirty="0"/>
              <a:t>Value of the information to be obtained vs. the costs of obtaining it</a:t>
            </a:r>
            <a:r>
              <a:rPr lang="en-US" altLang="en-US" sz="2800" dirty="0"/>
              <a:t>.</a:t>
            </a:r>
          </a:p>
        </p:txBody>
      </p:sp>
    </p:spTree>
    <p:extLst>
      <p:ext uri="{BB962C8B-B14F-4D97-AF65-F5344CB8AC3E}">
        <p14:creationId xmlns:p14="http://schemas.microsoft.com/office/powerpoint/2010/main" val="31473414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1055440" y="764704"/>
            <a:ext cx="7620000" cy="1143000"/>
          </a:xfrm>
          <a:noFill/>
        </p:spPr>
        <p:txBody>
          <a:bodyPr>
            <a:noAutofit/>
          </a:bodyPr>
          <a:lstStyle/>
          <a:p>
            <a:pPr eaLnBrk="1" hangingPunct="1"/>
            <a:r>
              <a:rPr lang="en-US" altLang="en-US" sz="5400" dirty="0">
                <a:latin typeface="+mn-lt"/>
              </a:rPr>
              <a:t>Step Six:</a:t>
            </a:r>
            <a:br>
              <a:rPr lang="en-US" altLang="en-US" sz="5400" dirty="0">
                <a:latin typeface="+mn-lt"/>
              </a:rPr>
            </a:br>
            <a:r>
              <a:rPr lang="en-US" altLang="en-US" sz="4000" dirty="0">
                <a:latin typeface="+mn-lt"/>
              </a:rPr>
              <a:t>Prepare Research Request Agreement</a:t>
            </a:r>
          </a:p>
        </p:txBody>
      </p:sp>
      <p:sp>
        <p:nvSpPr>
          <p:cNvPr id="7" name="Content Placeholder 2"/>
          <p:cNvSpPr txBox="1">
            <a:spLocks/>
          </p:cNvSpPr>
          <p:nvPr/>
        </p:nvSpPr>
        <p:spPr>
          <a:xfrm>
            <a:off x="2207568" y="2636912"/>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RESEARCH REQUEST AGREEMENT </a:t>
            </a:r>
            <a:r>
              <a:rPr lang="en-US" sz="2400" b="1" dirty="0">
                <a:solidFill>
                  <a:schemeClr val="tx2"/>
                </a:solidFill>
              </a:rPr>
              <a:t>(see book for example)</a:t>
            </a:r>
            <a:endParaRPr lang="en-US" sz="3600" b="1" dirty="0">
              <a:solidFill>
                <a:schemeClr val="tx2"/>
              </a:solidFill>
            </a:endParaRPr>
          </a:p>
          <a:p>
            <a:pPr marL="457200" lvl="1" indent="0">
              <a:buNone/>
            </a:pPr>
            <a:r>
              <a:rPr lang="en-US" dirty="0"/>
              <a:t>A document prepared by the researcher after meeting with the decision maker that summarizes the problem and the information that is needed to address it.</a:t>
            </a:r>
          </a:p>
        </p:txBody>
      </p:sp>
    </p:spTree>
    <p:extLst>
      <p:ext uri="{BB962C8B-B14F-4D97-AF65-F5344CB8AC3E}">
        <p14:creationId xmlns:p14="http://schemas.microsoft.com/office/powerpoint/2010/main" val="232145133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4294967295"/>
          </p:nvPr>
        </p:nvSpPr>
        <p:spPr>
          <a:xfrm>
            <a:off x="4295800" y="3645024"/>
            <a:ext cx="6400800" cy="1371600"/>
          </a:xfrm>
        </p:spPr>
        <p:txBody>
          <a:bodyPr>
            <a:normAutofit lnSpcReduction="10000"/>
          </a:bodyPr>
          <a:lstStyle/>
          <a:p>
            <a:pPr lvl="1" eaLnBrk="1" hangingPunct="1">
              <a:buSzPct val="199000"/>
              <a:buFont typeface="Arial" panose="020B0604020202020204" pitchFamily="34" charset="0"/>
              <a:buChar char="•"/>
            </a:pPr>
            <a:r>
              <a:rPr lang="en-US" altLang="en-US" sz="2400" dirty="0"/>
              <a:t>The research proposal differs from the research request agreement because it includes the proposed research method and is much more detailed.</a:t>
            </a:r>
          </a:p>
        </p:txBody>
      </p:sp>
      <p:sp>
        <p:nvSpPr>
          <p:cNvPr id="5" name="Content Placeholder 2"/>
          <p:cNvSpPr txBox="1">
            <a:spLocks/>
          </p:cNvSpPr>
          <p:nvPr/>
        </p:nvSpPr>
        <p:spPr>
          <a:xfrm>
            <a:off x="1600200" y="1340768"/>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RESEARCH PROPOSAL</a:t>
            </a:r>
          </a:p>
          <a:p>
            <a:pPr marL="457200" lvl="1" indent="0">
              <a:buNone/>
            </a:pPr>
            <a:r>
              <a:rPr lang="en-US" dirty="0"/>
              <a:t>A written statement that describes the marketing problem, the purpose of the study, and a detailed outline of the research methodology.</a:t>
            </a:r>
          </a:p>
        </p:txBody>
      </p:sp>
    </p:spTree>
    <p:extLst>
      <p:ext uri="{BB962C8B-B14F-4D97-AF65-F5344CB8AC3E}">
        <p14:creationId xmlns:p14="http://schemas.microsoft.com/office/powerpoint/2010/main" val="14954589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ctrTitle"/>
          </p:nvPr>
        </p:nvSpPr>
        <p:spPr/>
        <p:txBody>
          <a:bodyPr/>
          <a:lstStyle/>
          <a:p>
            <a:r>
              <a:rPr lang="en-US" altLang="en-US" dirty="0">
                <a:latin typeface="+mn-lt"/>
                <a:ea typeface="Geneva"/>
                <a:cs typeface="Geneva"/>
              </a:rPr>
              <a:t>Exploratory, Descriptive, and Causal Research Designs</a:t>
            </a:r>
          </a:p>
        </p:txBody>
      </p:sp>
    </p:spTree>
    <p:extLst>
      <p:ext uri="{BB962C8B-B14F-4D97-AF65-F5344CB8AC3E}">
        <p14:creationId xmlns:p14="http://schemas.microsoft.com/office/powerpoint/2010/main" val="159059510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mn-lt"/>
              </a:rPr>
              <a:t>Quick</a:t>
            </a:r>
            <a:r>
              <a:rPr lang="en-US" dirty="0"/>
              <a:t> Definitions</a:t>
            </a:r>
          </a:p>
        </p:txBody>
      </p:sp>
      <p:sp>
        <p:nvSpPr>
          <p:cNvPr id="3" name="Content Placeholder 2"/>
          <p:cNvSpPr>
            <a:spLocks noGrp="1"/>
          </p:cNvSpPr>
          <p:nvPr>
            <p:ph idx="1"/>
          </p:nvPr>
        </p:nvSpPr>
        <p:spPr/>
        <p:txBody>
          <a:bodyPr>
            <a:normAutofit/>
          </a:bodyPr>
          <a:lstStyle/>
          <a:p>
            <a:r>
              <a:rPr lang="en-US" sz="2800" dirty="0"/>
              <a:t>Exploratory: Insights and Ideas</a:t>
            </a:r>
          </a:p>
          <a:p>
            <a:endParaRPr lang="en-US" sz="2800" dirty="0"/>
          </a:p>
          <a:p>
            <a:r>
              <a:rPr lang="en-US" sz="2800" dirty="0"/>
              <a:t>Descriptive: Quantify, measure, predict, establish relationships</a:t>
            </a:r>
          </a:p>
          <a:p>
            <a:endParaRPr lang="en-US" sz="2800" dirty="0"/>
          </a:p>
          <a:p>
            <a:r>
              <a:rPr lang="en-US" sz="2800" dirty="0"/>
              <a:t>Causal: Establish cause and effect relationships</a:t>
            </a:r>
          </a:p>
        </p:txBody>
      </p:sp>
    </p:spTree>
    <p:extLst>
      <p:ext uri="{BB962C8B-B14F-4D97-AF65-F5344CB8AC3E}">
        <p14:creationId xmlns:p14="http://schemas.microsoft.com/office/powerpoint/2010/main" val="20521498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Relationships</a:t>
            </a:r>
            <a:r>
              <a:rPr lang="en-US" dirty="0"/>
              <a:t> Among Research Designs</a:t>
            </a:r>
          </a:p>
        </p:txBody>
      </p:sp>
      <p:sp>
        <p:nvSpPr>
          <p:cNvPr id="4" name="TextBox 3">
            <a:hlinkClick r:id="rId2"/>
          </p:cNvPr>
          <p:cNvSpPr txBox="1"/>
          <p:nvPr/>
        </p:nvSpPr>
        <p:spPr>
          <a:xfrm>
            <a:off x="2362200" y="3505201"/>
            <a:ext cx="1981200" cy="830997"/>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400" dirty="0"/>
              <a:t>Exploratory Research</a:t>
            </a:r>
          </a:p>
        </p:txBody>
      </p:sp>
      <p:sp>
        <p:nvSpPr>
          <p:cNvPr id="5" name="TextBox 4"/>
          <p:cNvSpPr txBox="1"/>
          <p:nvPr/>
        </p:nvSpPr>
        <p:spPr>
          <a:xfrm>
            <a:off x="6324600" y="4800601"/>
            <a:ext cx="1981200" cy="830997"/>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400" dirty="0"/>
              <a:t>Causal Research</a:t>
            </a:r>
          </a:p>
        </p:txBody>
      </p:sp>
      <p:sp>
        <p:nvSpPr>
          <p:cNvPr id="6" name="TextBox 5">
            <a:hlinkClick r:id="rId3"/>
          </p:cNvPr>
          <p:cNvSpPr txBox="1"/>
          <p:nvPr/>
        </p:nvSpPr>
        <p:spPr>
          <a:xfrm>
            <a:off x="6324600" y="2286001"/>
            <a:ext cx="1981200" cy="830997"/>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400" dirty="0"/>
              <a:t>Descriptive Research</a:t>
            </a:r>
          </a:p>
        </p:txBody>
      </p:sp>
      <p:cxnSp>
        <p:nvCxnSpPr>
          <p:cNvPr id="8" name="Elbow Connector 7"/>
          <p:cNvCxnSpPr>
            <a:stCxn id="4" idx="0"/>
            <a:endCxn id="6" idx="1"/>
          </p:cNvCxnSpPr>
          <p:nvPr/>
        </p:nvCxnSpPr>
        <p:spPr>
          <a:xfrm rot="5400000" flipH="1" flipV="1">
            <a:off x="4459711" y="1640310"/>
            <a:ext cx="803701" cy="2926080"/>
          </a:xfrm>
          <a:prstGeom prst="bentConnector2">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p:cNvCxnSpPr/>
          <p:nvPr/>
        </p:nvCxnSpPr>
        <p:spPr>
          <a:xfrm>
            <a:off x="7772400" y="3131402"/>
            <a:ext cx="0" cy="1669198"/>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14" name="Elbow Connector 13"/>
          <p:cNvCxnSpPr/>
          <p:nvPr/>
        </p:nvCxnSpPr>
        <p:spPr>
          <a:xfrm rot="10800000" flipV="1">
            <a:off x="4343400" y="3116996"/>
            <a:ext cx="2438400" cy="609601"/>
          </a:xfrm>
          <a:prstGeom prst="bentConnector3">
            <a:avLst>
              <a:gd name="adj1" fmla="val -136"/>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7" name="Elbow Connector 16"/>
          <p:cNvCxnSpPr/>
          <p:nvPr/>
        </p:nvCxnSpPr>
        <p:spPr>
          <a:xfrm rot="10800000">
            <a:off x="4343402" y="4114802"/>
            <a:ext cx="2514601" cy="644101"/>
          </a:xfrm>
          <a:prstGeom prst="bentConnector3">
            <a:avLst>
              <a:gd name="adj1" fmla="val 2569"/>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4" name="Elbow Connector 23"/>
          <p:cNvCxnSpPr>
            <a:stCxn id="4" idx="2"/>
            <a:endCxn id="5" idx="1"/>
          </p:cNvCxnSpPr>
          <p:nvPr/>
        </p:nvCxnSpPr>
        <p:spPr>
          <a:xfrm rot="16200000" flipH="1">
            <a:off x="4398749" y="3290248"/>
            <a:ext cx="879902" cy="2971800"/>
          </a:xfrm>
          <a:prstGeom prst="bentConnector2">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8" name="Elbow Connector 27"/>
          <p:cNvCxnSpPr>
            <a:stCxn id="5" idx="3"/>
          </p:cNvCxnSpPr>
          <p:nvPr/>
        </p:nvCxnSpPr>
        <p:spPr>
          <a:xfrm flipV="1">
            <a:off x="8305801" y="2728791"/>
            <a:ext cx="914401" cy="2487308"/>
          </a:xfrm>
          <a:prstGeom prst="bentConnector2">
            <a:avLst/>
          </a:prstGeom>
        </p:spPr>
        <p:style>
          <a:lnRef idx="2">
            <a:schemeClr val="accent4"/>
          </a:lnRef>
          <a:fillRef idx="0">
            <a:schemeClr val="accent4"/>
          </a:fillRef>
          <a:effectRef idx="1">
            <a:schemeClr val="accent4"/>
          </a:effectRef>
          <a:fontRef idx="minor">
            <a:schemeClr val="tx1"/>
          </a:fontRef>
        </p:style>
      </p:cxnSp>
      <p:cxnSp>
        <p:nvCxnSpPr>
          <p:cNvPr id="30" name="Straight Arrow Connector 29"/>
          <p:cNvCxnSpPr>
            <a:endCxn id="6" idx="3"/>
          </p:cNvCxnSpPr>
          <p:nvPr/>
        </p:nvCxnSpPr>
        <p:spPr>
          <a:xfrm flipH="1" flipV="1">
            <a:off x="8305801" y="2701499"/>
            <a:ext cx="914399" cy="2084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9367746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z="4000" dirty="0">
                <a:latin typeface="+mn-lt"/>
              </a:rPr>
              <a:t>Exploratory</a:t>
            </a:r>
            <a:r>
              <a:rPr lang="en-US" altLang="en-US" dirty="0"/>
              <a:t> Research</a:t>
            </a:r>
          </a:p>
        </p:txBody>
      </p:sp>
      <p:sp>
        <p:nvSpPr>
          <p:cNvPr id="38915" name="Rectangle 3"/>
          <p:cNvSpPr>
            <a:spLocks noGrp="1" noChangeArrowheads="1"/>
          </p:cNvSpPr>
          <p:nvPr>
            <p:ph idx="1"/>
          </p:nvPr>
        </p:nvSpPr>
        <p:spPr>
          <a:xfrm>
            <a:off x="2292096" y="2286000"/>
            <a:ext cx="8071104" cy="4023360"/>
          </a:xfrm>
        </p:spPr>
        <p:txBody>
          <a:bodyPr>
            <a:normAutofit/>
          </a:bodyPr>
          <a:lstStyle/>
          <a:p>
            <a:pPr eaLnBrk="1" hangingPunct="1"/>
            <a:r>
              <a:rPr lang="en-US" altLang="en-US" sz="2800" dirty="0"/>
              <a:t>Research conducted to gain </a:t>
            </a:r>
            <a:r>
              <a:rPr lang="en-US" altLang="en-US" sz="2800" b="1" u="sng" dirty="0"/>
              <a:t>ideas and insights </a:t>
            </a:r>
            <a:r>
              <a:rPr lang="en-US" altLang="en-US" sz="2800" dirty="0"/>
              <a:t>to better define the problem or opportunity confronting a manager. </a:t>
            </a:r>
          </a:p>
          <a:p>
            <a:pPr eaLnBrk="1" hangingPunct="1"/>
            <a:endParaRPr lang="en-US" altLang="en-US" sz="2800" dirty="0"/>
          </a:p>
          <a:p>
            <a:pPr eaLnBrk="1" hangingPunct="1"/>
            <a:r>
              <a:rPr lang="en-US" altLang="en-US" sz="2800" b="1" dirty="0"/>
              <a:t>NOT to test hypotheses</a:t>
            </a:r>
          </a:p>
          <a:p>
            <a:pPr eaLnBrk="1" hangingPunct="1">
              <a:buFontTx/>
              <a:buNone/>
            </a:pPr>
            <a:endParaRPr lang="en-US" altLang="en-US" sz="3600" dirty="0"/>
          </a:p>
        </p:txBody>
      </p:sp>
    </p:spTree>
    <p:extLst>
      <p:ext uri="{BB962C8B-B14F-4D97-AF65-F5344CB8AC3E}">
        <p14:creationId xmlns:p14="http://schemas.microsoft.com/office/powerpoint/2010/main" val="36988668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895600" y="3437985"/>
            <a:ext cx="7420535" cy="2429415"/>
          </a:xfrm>
          <a:prstGeom prst="rect">
            <a:avLst/>
          </a:prstGeom>
          <a:solidFill>
            <a:schemeClr val="accent1">
              <a:lumMod val="20000"/>
              <a:lumOff val="80000"/>
            </a:schemeClr>
          </a:solidFill>
          <a:ln w="0">
            <a:solidFill>
              <a:schemeClr val="tx1"/>
            </a:solidFill>
            <a:miter lim="800000"/>
            <a:headEnd/>
            <a:tailEnd/>
          </a:ln>
          <a:effectLst>
            <a:outerShdw blurRad="50800" dist="38100" dir="8100000" sx="101000" sy="101000" algn="tr" rotWithShape="0">
              <a:prstClr val="black">
                <a:alpha val="40000"/>
              </a:prstClr>
            </a:outerShdw>
          </a:effectLst>
        </p:spPr>
        <p:txBody>
          <a:bodyPr wrap="none" anchor="ctr"/>
          <a:lstStyle/>
          <a:p>
            <a:pPr>
              <a:defRPr/>
            </a:pPr>
            <a:endParaRPr lang="en-US"/>
          </a:p>
        </p:txBody>
      </p:sp>
      <p:sp>
        <p:nvSpPr>
          <p:cNvPr id="2" name="Content Placeholder 2"/>
          <p:cNvSpPr txBox="1">
            <a:spLocks/>
          </p:cNvSpPr>
          <p:nvPr/>
        </p:nvSpPr>
        <p:spPr>
          <a:xfrm>
            <a:off x="2810435" y="9906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HYPOTHESIS</a:t>
            </a:r>
          </a:p>
          <a:p>
            <a:pPr marL="457200" lvl="1" indent="0">
              <a:buNone/>
            </a:pPr>
            <a:r>
              <a:rPr lang="en-US" dirty="0"/>
              <a:t>A statement that specifies how two or more measurable variables are related.</a:t>
            </a:r>
          </a:p>
        </p:txBody>
      </p:sp>
      <p:sp>
        <p:nvSpPr>
          <p:cNvPr id="3" name="Rectangle 3"/>
          <p:cNvSpPr txBox="1">
            <a:spLocks noChangeArrowheads="1"/>
          </p:cNvSpPr>
          <p:nvPr/>
        </p:nvSpPr>
        <p:spPr>
          <a:xfrm>
            <a:off x="2696135" y="2895600"/>
            <a:ext cx="7620000" cy="2667000"/>
          </a:xfrm>
          <a:prstGeom prst="rect">
            <a:avLst/>
          </a:prstGeom>
        </p:spPr>
        <p:txBody>
          <a:bodyPr lIns="92069" tIns="46035" rIns="92069" bIns="46035"/>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altLang="en-US" sz="2800" b="1" i="1" dirty="0">
                <a:solidFill>
                  <a:schemeClr val="tx2"/>
                </a:solidFill>
              </a:rPr>
              <a:t>	</a:t>
            </a:r>
            <a:r>
              <a:rPr lang="en-US" altLang="en-US" sz="2400" dirty="0"/>
              <a:t>Some examples:</a:t>
            </a:r>
          </a:p>
          <a:p>
            <a:pPr>
              <a:buFontTx/>
              <a:buNone/>
            </a:pPr>
            <a:r>
              <a:rPr lang="en-US" altLang="en-US" sz="2400" b="1" dirty="0"/>
              <a:t>	</a:t>
            </a:r>
            <a:r>
              <a:rPr lang="en-US" altLang="en-US" sz="2200" b="1" i="1" dirty="0"/>
              <a:t>(H1):  </a:t>
            </a:r>
            <a:r>
              <a:rPr lang="en-US" altLang="en-US" sz="2200" i="1" dirty="0"/>
              <a:t>Women are more likely than men to make impulse purchases of our brand.</a:t>
            </a:r>
          </a:p>
          <a:p>
            <a:pPr>
              <a:buFontTx/>
              <a:buNone/>
            </a:pPr>
            <a:r>
              <a:rPr lang="en-US" altLang="en-US" sz="2200" b="1" i="1" dirty="0"/>
              <a:t>	(H2):</a:t>
            </a:r>
            <a:r>
              <a:rPr lang="en-US" altLang="en-US" sz="2200" i="1" dirty="0"/>
              <a:t>  Decreasing price by 10% will increase unit sales by 30%.</a:t>
            </a:r>
          </a:p>
          <a:p>
            <a:pPr>
              <a:buFontTx/>
              <a:buNone/>
            </a:pPr>
            <a:r>
              <a:rPr lang="en-US" altLang="en-US" sz="2200" b="1" i="1" dirty="0"/>
              <a:t>	(H3):  </a:t>
            </a:r>
            <a:r>
              <a:rPr lang="en-US" altLang="en-US" sz="2200" i="1" dirty="0"/>
              <a:t>Adoption of our new product will be greater in Northern states than in Southern States.</a:t>
            </a:r>
          </a:p>
        </p:txBody>
      </p:sp>
    </p:spTree>
    <p:extLst>
      <p:ext uri="{BB962C8B-B14F-4D97-AF65-F5344CB8AC3E}">
        <p14:creationId xmlns:p14="http://schemas.microsoft.com/office/powerpoint/2010/main" val="169094483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p:spPr>
        <p:txBody>
          <a:bodyPr vert="horz" lIns="92069" tIns="46035" rIns="92069" bIns="46035" rtlCol="0" anchor="ctr">
            <a:normAutofit/>
          </a:bodyPr>
          <a:lstStyle/>
          <a:p>
            <a:pPr eaLnBrk="1" hangingPunct="1"/>
            <a:r>
              <a:rPr lang="en-US" altLang="en-US" sz="4000" dirty="0">
                <a:latin typeface="+mn-lt"/>
              </a:rPr>
              <a:t>Why</a:t>
            </a:r>
            <a:r>
              <a:rPr lang="en-US" altLang="en-US" sz="4800" dirty="0"/>
              <a:t> conduct exploratory research?</a:t>
            </a:r>
            <a:r>
              <a:rPr lang="en-US" altLang="en-US" sz="4800" dirty="0">
                <a:highlight>
                  <a:srgbClr val="FFFF00"/>
                </a:highlight>
                <a:latin typeface="+mn-lt"/>
              </a:rPr>
              <a:t> </a:t>
            </a:r>
            <a:endParaRPr lang="en-US" altLang="en-US" sz="4800" dirty="0"/>
          </a:p>
        </p:txBody>
      </p:sp>
      <p:sp>
        <p:nvSpPr>
          <p:cNvPr id="44035" name="Rectangle 3"/>
          <p:cNvSpPr>
            <a:spLocks noGrp="1" noChangeArrowheads="1"/>
          </p:cNvSpPr>
          <p:nvPr>
            <p:ph idx="1"/>
          </p:nvPr>
        </p:nvSpPr>
        <p:spPr>
          <a:xfrm>
            <a:off x="1676400" y="2438400"/>
            <a:ext cx="8037576" cy="4270248"/>
          </a:xfrm>
        </p:spPr>
        <p:txBody>
          <a:bodyPr vert="horz" lIns="92069" tIns="46035" rIns="92069" bIns="46035" rtlCol="0">
            <a:normAutofit/>
          </a:bodyPr>
          <a:lstStyle/>
          <a:p>
            <a:pPr>
              <a:buSzPct val="115000"/>
            </a:pPr>
            <a:r>
              <a:rPr lang="en-US" altLang="en-US" sz="2800" dirty="0"/>
              <a:t>Develop hypotheses</a:t>
            </a:r>
          </a:p>
          <a:p>
            <a:pPr eaLnBrk="1" hangingPunct="1">
              <a:buSzPct val="115000"/>
            </a:pPr>
            <a:r>
              <a:rPr lang="en-US" altLang="en-US" sz="2800" dirty="0"/>
              <a:t>Better formulate the manager’s decision problem</a:t>
            </a:r>
          </a:p>
          <a:p>
            <a:pPr eaLnBrk="1" hangingPunct="1">
              <a:buSzPct val="115000"/>
            </a:pPr>
            <a:r>
              <a:rPr lang="en-US" altLang="en-US" sz="2800" dirty="0"/>
              <a:t>Increase researcher’s familiarity with the problem</a:t>
            </a:r>
          </a:p>
          <a:p>
            <a:pPr eaLnBrk="1" hangingPunct="1">
              <a:buSzPct val="115000"/>
            </a:pPr>
            <a:r>
              <a:rPr lang="en-US" altLang="en-US" sz="2800" dirty="0"/>
              <a:t>Clarify concepts</a:t>
            </a:r>
          </a:p>
        </p:txBody>
      </p:sp>
    </p:spTree>
    <p:extLst>
      <p:ext uri="{BB962C8B-B14F-4D97-AF65-F5344CB8AC3E}">
        <p14:creationId xmlns:p14="http://schemas.microsoft.com/office/powerpoint/2010/main" val="14858554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056554" y="914400"/>
            <a:ext cx="7391400" cy="762000"/>
          </a:xfrm>
        </p:spPr>
        <p:txBody>
          <a:bodyPr>
            <a:normAutofit/>
          </a:bodyPr>
          <a:lstStyle/>
          <a:p>
            <a:pPr eaLnBrk="1" hangingPunct="1"/>
            <a:r>
              <a:rPr lang="en-US" altLang="en-US" sz="4000" dirty="0">
                <a:latin typeface="+mn-lt"/>
              </a:rPr>
              <a:t>Exploratory Research</a:t>
            </a:r>
          </a:p>
        </p:txBody>
      </p:sp>
      <p:sp>
        <p:nvSpPr>
          <p:cNvPr id="45059" name="Rectangle 3"/>
          <p:cNvSpPr>
            <a:spLocks noGrp="1" noChangeArrowheads="1"/>
          </p:cNvSpPr>
          <p:nvPr>
            <p:ph idx="1"/>
          </p:nvPr>
        </p:nvSpPr>
        <p:spPr/>
        <p:txBody>
          <a:bodyPr>
            <a:normAutofit/>
          </a:bodyPr>
          <a:lstStyle/>
          <a:p>
            <a:pPr eaLnBrk="1" hangingPunct="1"/>
            <a:r>
              <a:rPr lang="en-US" altLang="en-US" sz="2800" dirty="0"/>
              <a:t>Small scale</a:t>
            </a:r>
          </a:p>
          <a:p>
            <a:pPr eaLnBrk="1" hangingPunct="1"/>
            <a:endParaRPr lang="en-US" altLang="en-US" sz="2800" dirty="0"/>
          </a:p>
          <a:p>
            <a:pPr eaLnBrk="1" hangingPunct="1"/>
            <a:r>
              <a:rPr lang="en-US" altLang="en-US" sz="2800" dirty="0"/>
              <a:t>Flexible</a:t>
            </a:r>
          </a:p>
          <a:p>
            <a:pPr eaLnBrk="1" hangingPunct="1"/>
            <a:endParaRPr lang="en-US" altLang="en-US" sz="2800" dirty="0"/>
          </a:p>
          <a:p>
            <a:pPr algn="ctr" eaLnBrk="1" hangingPunct="1">
              <a:buFontTx/>
              <a:buNone/>
            </a:pPr>
            <a:r>
              <a:rPr lang="en-US" altLang="en-US" sz="2800" b="1" i="1" dirty="0">
                <a:solidFill>
                  <a:schemeClr val="tx2"/>
                </a:solidFill>
              </a:rPr>
              <a:t>Anything (reasonable) goes!</a:t>
            </a:r>
          </a:p>
        </p:txBody>
      </p:sp>
    </p:spTree>
    <p:extLst>
      <p:ext uri="{BB962C8B-B14F-4D97-AF65-F5344CB8AC3E}">
        <p14:creationId xmlns:p14="http://schemas.microsoft.com/office/powerpoint/2010/main" val="282785743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04800"/>
            <a:ext cx="799623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438874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p:spPr>
        <p:txBody>
          <a:bodyPr vert="horz" lIns="92069" tIns="46035" rIns="92069" bIns="46035" rtlCol="0" anchor="ctr">
            <a:normAutofit/>
          </a:bodyPr>
          <a:lstStyle/>
          <a:p>
            <a:pPr eaLnBrk="1" hangingPunct="1"/>
            <a:r>
              <a:rPr lang="en-US" altLang="en-US" sz="4000" dirty="0">
                <a:latin typeface="+mn-lt"/>
              </a:rPr>
              <a:t>Literature Search</a:t>
            </a:r>
            <a:endParaRPr lang="en-US" altLang="en-US" sz="4000" dirty="0">
              <a:highlight>
                <a:srgbClr val="FFFF00"/>
              </a:highlight>
              <a:latin typeface="+mn-lt"/>
            </a:endParaRPr>
          </a:p>
        </p:txBody>
      </p:sp>
      <p:sp>
        <p:nvSpPr>
          <p:cNvPr id="47107" name="Rectangle 3"/>
          <p:cNvSpPr>
            <a:spLocks noGrp="1" noChangeArrowheads="1"/>
          </p:cNvSpPr>
          <p:nvPr>
            <p:ph idx="1"/>
          </p:nvPr>
        </p:nvSpPr>
        <p:spPr>
          <a:xfrm>
            <a:off x="2286000" y="1828800"/>
            <a:ext cx="7620000" cy="3962400"/>
          </a:xfrm>
        </p:spPr>
        <p:txBody>
          <a:bodyPr>
            <a:normAutofit/>
          </a:bodyPr>
          <a:lstStyle/>
          <a:p>
            <a:pPr eaLnBrk="1" hangingPunct="1"/>
            <a:r>
              <a:rPr lang="en-US" altLang="en-US" sz="2800" dirty="0"/>
              <a:t>A search of statistics, trade journal articles, other articles, magazines, newspapers, books and/or online sources for data or insight into the problem at hand.</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1" y="3657601"/>
            <a:ext cx="3005511"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07505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vert="horz" lIns="92069" tIns="46035" rIns="92069" bIns="46035" rtlCol="0" anchor="ctr">
            <a:normAutofit/>
          </a:bodyPr>
          <a:lstStyle/>
          <a:p>
            <a:pPr eaLnBrk="1" hangingPunct="1"/>
            <a:r>
              <a:rPr lang="en-US" altLang="en-US" sz="4000" dirty="0">
                <a:latin typeface="+mn-lt"/>
              </a:rPr>
              <a:t>Depth Interviews</a:t>
            </a:r>
          </a:p>
        </p:txBody>
      </p:sp>
      <p:sp>
        <p:nvSpPr>
          <p:cNvPr id="48131" name="Rectangle 3"/>
          <p:cNvSpPr>
            <a:spLocks noGrp="1" noChangeArrowheads="1"/>
          </p:cNvSpPr>
          <p:nvPr>
            <p:ph idx="1"/>
          </p:nvPr>
        </p:nvSpPr>
        <p:spPr/>
        <p:txBody>
          <a:bodyPr vert="horz" lIns="92069" tIns="46035" rIns="92069" bIns="46035" rtlCol="0">
            <a:normAutofit/>
          </a:bodyPr>
          <a:lstStyle/>
          <a:p>
            <a:pPr eaLnBrk="1" hangingPunct="1"/>
            <a:r>
              <a:rPr lang="en-US" altLang="en-US" sz="2800" dirty="0"/>
              <a:t>Interviews with people knowledgeable about the general subject being investigated (</a:t>
            </a:r>
            <a:r>
              <a:rPr lang="en-US" altLang="en-US" sz="2800" i="1" dirty="0"/>
              <a:t>subject matter experts</a:t>
            </a:r>
            <a:r>
              <a:rPr lang="en-US" altLang="en-US" sz="2800" dirty="0"/>
              <a:t>).</a:t>
            </a:r>
          </a:p>
          <a:p>
            <a:pPr eaLnBrk="1" hangingPunct="1"/>
            <a:endParaRPr lang="en-US" altLang="en-US" sz="800" dirty="0"/>
          </a:p>
          <a:p>
            <a:pPr eaLnBrk="1" hangingPunct="1"/>
            <a:r>
              <a:rPr lang="en-US" altLang="en-US" sz="2800" i="1" dirty="0">
                <a:solidFill>
                  <a:schemeClr val="tx2"/>
                </a:solidFill>
              </a:rPr>
              <a:t>Some possibilities:</a:t>
            </a:r>
          </a:p>
          <a:p>
            <a:pPr lvl="1" eaLnBrk="1" hangingPunct="1"/>
            <a:r>
              <a:rPr lang="en-US" altLang="en-US" sz="2400" dirty="0"/>
              <a:t>those who work with it (e.g., employees, consultants)</a:t>
            </a:r>
          </a:p>
          <a:p>
            <a:pPr lvl="1" eaLnBrk="1" hangingPunct="1"/>
            <a:r>
              <a:rPr lang="en-US" altLang="en-US" sz="2400" dirty="0"/>
              <a:t>those who study it (e.g., researchers, analysts)</a:t>
            </a:r>
          </a:p>
          <a:p>
            <a:pPr lvl="1" eaLnBrk="1" hangingPunct="1"/>
            <a:r>
              <a:rPr lang="en-US" altLang="en-US" sz="2400" dirty="0"/>
              <a:t>those who live it (e.g., consumers)</a:t>
            </a:r>
          </a:p>
          <a:p>
            <a:pPr lvl="1" eaLnBrk="1" hangingPunct="1">
              <a:buFont typeface="Wingdings" pitchFamily="2" charset="2"/>
              <a:buNone/>
            </a:pPr>
            <a:endParaRPr lang="en-US" altLang="en-US" sz="2400" dirty="0"/>
          </a:p>
        </p:txBody>
      </p:sp>
    </p:spTree>
    <p:extLst>
      <p:ext uri="{BB962C8B-B14F-4D97-AF65-F5344CB8AC3E}">
        <p14:creationId xmlns:p14="http://schemas.microsoft.com/office/powerpoint/2010/main" val="184823408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vert="horz" lIns="92069" tIns="46035" rIns="92069" bIns="46035" rtlCol="0" anchor="ctr">
            <a:normAutofit/>
          </a:bodyPr>
          <a:lstStyle/>
          <a:p>
            <a:pPr eaLnBrk="1" hangingPunct="1"/>
            <a:r>
              <a:rPr lang="en-US" altLang="en-US" sz="4000" dirty="0">
                <a:latin typeface="+mn-lt"/>
              </a:rPr>
              <a:t>Focus Group</a:t>
            </a:r>
          </a:p>
        </p:txBody>
      </p:sp>
      <p:sp>
        <p:nvSpPr>
          <p:cNvPr id="49155" name="Rectangle 3"/>
          <p:cNvSpPr>
            <a:spLocks noGrp="1" noChangeArrowheads="1"/>
          </p:cNvSpPr>
          <p:nvPr>
            <p:ph idx="1"/>
          </p:nvPr>
        </p:nvSpPr>
        <p:spPr>
          <a:xfrm>
            <a:off x="1024128" y="2286000"/>
            <a:ext cx="9720073" cy="1600200"/>
          </a:xfrm>
        </p:spPr>
        <p:txBody>
          <a:bodyPr vert="horz" lIns="92069" tIns="46035" rIns="92069" bIns="46035" rtlCol="0">
            <a:normAutofit/>
          </a:bodyPr>
          <a:lstStyle/>
          <a:p>
            <a:pPr eaLnBrk="1" hangingPunct="1"/>
            <a:r>
              <a:rPr lang="en-US" altLang="en-US" sz="2800" dirty="0"/>
              <a:t>An interview conducted among a small number of individuals simultaneously; the interview relies more on group discussion than on directed questions to generate data.</a:t>
            </a:r>
          </a:p>
          <a:p>
            <a:pPr eaLnBrk="1" hangingPunct="1">
              <a:buFontTx/>
              <a:buNone/>
            </a:pPr>
            <a:endParaRPr lang="en-US" altLang="en-US" sz="2800" dirty="0"/>
          </a:p>
          <a:p>
            <a:pPr algn="ctr" eaLnBrk="1" hangingPunct="1">
              <a:buFontTx/>
              <a:buNone/>
            </a:pPr>
            <a:endParaRPr lang="en-US" altLang="en-US" sz="2800" dirty="0"/>
          </a:p>
        </p:txBody>
      </p:sp>
      <p:sp>
        <p:nvSpPr>
          <p:cNvPr id="2" name="TextBox 1"/>
          <p:cNvSpPr txBox="1"/>
          <p:nvPr/>
        </p:nvSpPr>
        <p:spPr>
          <a:xfrm>
            <a:off x="1905000" y="4495800"/>
            <a:ext cx="7315200" cy="107721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3200" dirty="0"/>
              <a:t>Have any of you ever participated in a focus group? What was it like?</a:t>
            </a:r>
          </a:p>
        </p:txBody>
      </p:sp>
    </p:spTree>
    <p:extLst>
      <p:ext uri="{BB962C8B-B14F-4D97-AF65-F5344CB8AC3E}">
        <p14:creationId xmlns:p14="http://schemas.microsoft.com/office/powerpoint/2010/main" val="16159625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143000" y="838200"/>
            <a:ext cx="8229600" cy="914400"/>
          </a:xfrm>
        </p:spPr>
        <p:txBody>
          <a:bodyPr>
            <a:normAutofit/>
          </a:bodyPr>
          <a:lstStyle/>
          <a:p>
            <a:pPr eaLnBrk="1" hangingPunct="1"/>
            <a:r>
              <a:rPr lang="en-US" altLang="en-US" sz="4000" dirty="0">
                <a:latin typeface="+mn-lt"/>
              </a:rPr>
              <a:t>Characteristics of Focus Groups</a:t>
            </a:r>
          </a:p>
        </p:txBody>
      </p:sp>
      <p:sp>
        <p:nvSpPr>
          <p:cNvPr id="50179" name="Rectangle 3"/>
          <p:cNvSpPr>
            <a:spLocks noGrp="1" noChangeArrowheads="1"/>
          </p:cNvSpPr>
          <p:nvPr>
            <p:ph idx="1"/>
          </p:nvPr>
        </p:nvSpPr>
        <p:spPr>
          <a:xfrm>
            <a:off x="2057400" y="1981200"/>
            <a:ext cx="8196072" cy="4495800"/>
          </a:xfrm>
        </p:spPr>
        <p:txBody>
          <a:bodyPr>
            <a:normAutofit/>
          </a:bodyPr>
          <a:lstStyle/>
          <a:p>
            <a:pPr eaLnBrk="1" hangingPunct="1"/>
            <a:r>
              <a:rPr lang="en-US" altLang="en-US" sz="2400" dirty="0"/>
              <a:t>Typically 8 – 12 people</a:t>
            </a:r>
          </a:p>
          <a:p>
            <a:pPr eaLnBrk="1" hangingPunct="1"/>
            <a:r>
              <a:rPr lang="en-US" altLang="en-US" sz="2400" dirty="0"/>
              <a:t>1.5 to 2 hours in length</a:t>
            </a:r>
          </a:p>
          <a:p>
            <a:r>
              <a:rPr lang="en-US" altLang="en-US" sz="2400" dirty="0"/>
              <a:t>Homogeneous within group; heterogeneity introduced across groups</a:t>
            </a:r>
          </a:p>
          <a:p>
            <a:r>
              <a:rPr lang="en-US" altLang="en-US" sz="2400" dirty="0"/>
              <a:t>Participants carefully screened</a:t>
            </a:r>
          </a:p>
          <a:p>
            <a:pPr eaLnBrk="1" hangingPunct="1"/>
            <a:r>
              <a:rPr lang="en-US" altLang="en-US" sz="2400" dirty="0"/>
              <a:t>Sessions recorded and transcribed</a:t>
            </a:r>
          </a:p>
          <a:p>
            <a:pPr eaLnBrk="1" hangingPunct="1"/>
            <a:endParaRPr lang="en-US" altLang="en-US" sz="2400" dirty="0"/>
          </a:p>
        </p:txBody>
      </p:sp>
    </p:spTree>
    <p:extLst>
      <p:ext uri="{BB962C8B-B14F-4D97-AF65-F5344CB8AC3E}">
        <p14:creationId xmlns:p14="http://schemas.microsoft.com/office/powerpoint/2010/main" val="320288409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514601" y="990601"/>
            <a:ext cx="7391405" cy="4011765"/>
            <a:chOff x="1286430" y="990600"/>
            <a:chExt cx="7391405" cy="4011765"/>
          </a:xfrm>
        </p:grpSpPr>
        <p:sp>
          <p:nvSpPr>
            <p:cNvPr id="2" name="Content Placeholder 2"/>
            <p:cNvSpPr txBox="1">
              <a:spLocks/>
            </p:cNvSpPr>
            <p:nvPr/>
          </p:nvSpPr>
          <p:spPr>
            <a:xfrm>
              <a:off x="1286435" y="9906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MODERATOR</a:t>
              </a:r>
            </a:p>
            <a:p>
              <a:pPr marL="457200" lvl="1" indent="0">
                <a:buNone/>
              </a:pPr>
              <a:r>
                <a:rPr lang="en-US" dirty="0"/>
                <a:t>The individual that meets with focus group participants and guides the session.</a:t>
              </a:r>
            </a:p>
            <a:p>
              <a:pPr marL="457200" lvl="1" indent="0">
                <a:buNone/>
              </a:pPr>
              <a:endParaRPr lang="en-US" dirty="0"/>
            </a:p>
            <a:p>
              <a:pPr marL="457200" lvl="1" indent="0">
                <a:buNone/>
              </a:pPr>
              <a:endParaRPr lang="en-US" dirty="0"/>
            </a:p>
          </p:txBody>
        </p:sp>
        <p:sp>
          <p:nvSpPr>
            <p:cNvPr id="3" name="Content Placeholder 2"/>
            <p:cNvSpPr txBox="1">
              <a:spLocks/>
            </p:cNvSpPr>
            <p:nvPr/>
          </p:nvSpPr>
          <p:spPr>
            <a:xfrm>
              <a:off x="1286430" y="2944965"/>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MODERATOR’S GUIDEBOOK</a:t>
              </a:r>
            </a:p>
            <a:p>
              <a:pPr marL="457200" lvl="1" indent="0">
                <a:buNone/>
              </a:pPr>
              <a:r>
                <a:rPr lang="en-US" dirty="0"/>
                <a:t>An ordered list of the general (and specific) issues to be addressed during a focus group; the issues normally should move from general to specific.</a:t>
              </a:r>
            </a:p>
            <a:p>
              <a:pPr marL="457200" lvl="1" indent="0">
                <a:buNone/>
              </a:pPr>
              <a:endParaRPr lang="en-US" dirty="0"/>
            </a:p>
            <a:p>
              <a:pPr marL="457200" lvl="1" indent="0">
                <a:buNone/>
              </a:pPr>
              <a:endParaRPr lang="en-US" dirty="0"/>
            </a:p>
          </p:txBody>
        </p:sp>
      </p:grpSp>
    </p:spTree>
    <p:extLst>
      <p:ext uri="{BB962C8B-B14F-4D97-AF65-F5344CB8AC3E}">
        <p14:creationId xmlns:p14="http://schemas.microsoft.com/office/powerpoint/2010/main" val="202784088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8514" y="1905000"/>
            <a:ext cx="5725886" cy="37338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98" name="Rectangle 2"/>
          <p:cNvSpPr>
            <a:spLocks noGrp="1" noChangeArrowheads="1"/>
          </p:cNvSpPr>
          <p:nvPr>
            <p:ph type="title"/>
          </p:nvPr>
        </p:nvSpPr>
        <p:spPr>
          <a:xfrm>
            <a:off x="678089" y="279919"/>
            <a:ext cx="7997825" cy="914400"/>
          </a:xfrm>
        </p:spPr>
        <p:txBody>
          <a:bodyPr>
            <a:normAutofit/>
          </a:bodyPr>
          <a:lstStyle/>
          <a:p>
            <a:pPr eaLnBrk="1" hangingPunct="1"/>
            <a:r>
              <a:rPr lang="en-US" altLang="en-US" sz="4000" dirty="0">
                <a:latin typeface="+mn-lt"/>
              </a:rPr>
              <a:t>Good Focus Group </a:t>
            </a:r>
            <a:r>
              <a:rPr lang="en-US" altLang="en-US" sz="4000" dirty="0">
                <a:latin typeface="+mn-lt"/>
                <a:hlinkClick r:id="rId2"/>
              </a:rPr>
              <a:t>Moderators </a:t>
            </a:r>
            <a:endParaRPr lang="en-US" altLang="en-US" sz="4000" dirty="0">
              <a:latin typeface="+mn-lt"/>
            </a:endParaRPr>
          </a:p>
        </p:txBody>
      </p:sp>
      <p:sp>
        <p:nvSpPr>
          <p:cNvPr id="55299" name="Rectangle 3"/>
          <p:cNvSpPr>
            <a:spLocks noGrp="1" noChangeArrowheads="1"/>
          </p:cNvSpPr>
          <p:nvPr>
            <p:ph idx="1"/>
          </p:nvPr>
        </p:nvSpPr>
        <p:spPr>
          <a:xfrm>
            <a:off x="2808514" y="1905000"/>
            <a:ext cx="5867400" cy="3733800"/>
          </a:xfrm>
        </p:spPr>
        <p:txBody>
          <a:bodyPr>
            <a:normAutofit/>
          </a:bodyPr>
          <a:lstStyle/>
          <a:p>
            <a:pPr eaLnBrk="1" hangingPunct="1"/>
            <a:r>
              <a:rPr lang="en-US" altLang="en-US" sz="2600" dirty="0"/>
              <a:t>Superior listening ability</a:t>
            </a:r>
          </a:p>
          <a:p>
            <a:pPr eaLnBrk="1" hangingPunct="1"/>
            <a:r>
              <a:rPr lang="en-US" altLang="en-US" sz="2600" dirty="0"/>
              <a:t>Excellent short-term auditory memory</a:t>
            </a:r>
          </a:p>
          <a:p>
            <a:pPr eaLnBrk="1" hangingPunct="1"/>
            <a:r>
              <a:rPr lang="en-US" altLang="en-US" sz="2600" dirty="0"/>
              <a:t>Well organized</a:t>
            </a:r>
          </a:p>
          <a:p>
            <a:pPr eaLnBrk="1" hangingPunct="1"/>
            <a:r>
              <a:rPr lang="en-US" altLang="en-US" sz="2600" dirty="0"/>
              <a:t>A quick learner</a:t>
            </a:r>
          </a:p>
          <a:p>
            <a:pPr eaLnBrk="1" hangingPunct="1"/>
            <a:r>
              <a:rPr lang="en-US" altLang="en-US" sz="2600" dirty="0"/>
              <a:t>High energy level</a:t>
            </a:r>
          </a:p>
          <a:p>
            <a:pPr eaLnBrk="1" hangingPunct="1"/>
            <a:r>
              <a:rPr lang="en-US" altLang="en-US" sz="2600" dirty="0"/>
              <a:t>Personable</a:t>
            </a:r>
          </a:p>
          <a:p>
            <a:pPr eaLnBrk="1" hangingPunct="1"/>
            <a:r>
              <a:rPr lang="en-US" altLang="en-US" sz="2600" dirty="0"/>
              <a:t>Well-above-average intelligence </a:t>
            </a:r>
          </a:p>
          <a:p>
            <a:pPr lvl="3" eaLnBrk="1" hangingPunct="1"/>
            <a:endParaRPr lang="en-US" altLang="en-US" sz="1400" dirty="0"/>
          </a:p>
        </p:txBody>
      </p:sp>
      <p:sp>
        <p:nvSpPr>
          <p:cNvPr id="55300" name="TextBox 5"/>
          <p:cNvSpPr txBox="1">
            <a:spLocks noChangeArrowheads="1"/>
          </p:cNvSpPr>
          <p:nvPr/>
        </p:nvSpPr>
        <p:spPr bwMode="auto">
          <a:xfrm>
            <a:off x="5105400" y="5643418"/>
            <a:ext cx="5334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marL="0" lvl="3" eaLnBrk="1" hangingPunct="1">
              <a:spcBef>
                <a:spcPct val="0"/>
              </a:spcBef>
              <a:buNone/>
            </a:pPr>
            <a:r>
              <a:rPr lang="en-US" altLang="en-US" sz="1200" b="1" dirty="0">
                <a:latin typeface="Arial" pitchFamily="34" charset="0"/>
              </a:rPr>
              <a:t>Source:</a:t>
            </a:r>
            <a:r>
              <a:rPr lang="en-US" altLang="en-US" sz="1200" dirty="0">
                <a:latin typeface="Arial" pitchFamily="34" charset="0"/>
              </a:rPr>
              <a:t> Thomas L. Greenbaum, </a:t>
            </a:r>
            <a:r>
              <a:rPr lang="en-US" altLang="en-US" sz="1200" i="1" dirty="0">
                <a:latin typeface="Arial" pitchFamily="34" charset="0"/>
              </a:rPr>
              <a:t>The Handbook for Focus Group Research</a:t>
            </a:r>
            <a:r>
              <a:rPr lang="en-US" altLang="en-US" sz="1200" dirty="0">
                <a:latin typeface="Arial" pitchFamily="34" charset="0"/>
              </a:rPr>
              <a:t>, 2</a:t>
            </a:r>
            <a:r>
              <a:rPr lang="en-US" altLang="en-US" sz="1200" baseline="30000" dirty="0">
                <a:latin typeface="Arial" pitchFamily="34" charset="0"/>
              </a:rPr>
              <a:t>nd</a:t>
            </a:r>
            <a:r>
              <a:rPr lang="en-US" altLang="en-US" sz="1200" dirty="0">
                <a:latin typeface="Arial" pitchFamily="34" charset="0"/>
              </a:rPr>
              <a:t> ed. (Thousand Oaks, Calif.: Sage Publications, 1997), pp.77-78.</a:t>
            </a:r>
          </a:p>
          <a:p>
            <a:pPr eaLnBrk="1" hangingPunct="1">
              <a:spcBef>
                <a:spcPct val="0"/>
              </a:spcBef>
              <a:buFontTx/>
              <a:buNone/>
            </a:pPr>
            <a:endParaRPr lang="en-US" altLang="en-US" sz="1800" dirty="0">
              <a:latin typeface="Arial" pitchFamily="34" charset="0"/>
            </a:endParaRPr>
          </a:p>
        </p:txBody>
      </p:sp>
    </p:spTree>
    <p:extLst>
      <p:ext uri="{BB962C8B-B14F-4D97-AF65-F5344CB8AC3E}">
        <p14:creationId xmlns:p14="http://schemas.microsoft.com/office/powerpoint/2010/main" val="9178715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ular Callout 7"/>
          <p:cNvSpPr/>
          <p:nvPr/>
        </p:nvSpPr>
        <p:spPr>
          <a:xfrm>
            <a:off x="5143500" y="4573905"/>
            <a:ext cx="3886200" cy="1569660"/>
          </a:xfrm>
          <a:prstGeom prst="wedgeRoundRectCallout">
            <a:avLst>
              <a:gd name="adj1" fmla="val 84864"/>
              <a:gd name="adj2" fmla="val 44318"/>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6323" name="Rectangle 2"/>
          <p:cNvSpPr>
            <a:spLocks noGrp="1" noChangeArrowheads="1"/>
          </p:cNvSpPr>
          <p:nvPr>
            <p:ph type="title"/>
          </p:nvPr>
        </p:nvSpPr>
        <p:spPr>
          <a:xfrm>
            <a:off x="642257" y="274335"/>
            <a:ext cx="8229600" cy="990600"/>
          </a:xfrm>
        </p:spPr>
        <p:txBody>
          <a:bodyPr>
            <a:normAutofit/>
          </a:bodyPr>
          <a:lstStyle/>
          <a:p>
            <a:pPr eaLnBrk="1" hangingPunct="1"/>
            <a:r>
              <a:rPr lang="en-US" altLang="en-US" sz="4000" dirty="0">
                <a:latin typeface="+mn-lt"/>
              </a:rPr>
              <a:t>The </a:t>
            </a:r>
            <a:r>
              <a:rPr lang="en-US" altLang="en-US" sz="4000" b="1" dirty="0">
                <a:solidFill>
                  <a:schemeClr val="tx2"/>
                </a:solidFill>
                <a:latin typeface="+mn-lt"/>
              </a:rPr>
              <a:t>Dark Side </a:t>
            </a:r>
            <a:r>
              <a:rPr lang="en-US" altLang="en-US" sz="4000" dirty="0">
                <a:latin typeface="+mn-lt"/>
              </a:rPr>
              <a:t>of Focus Groups</a:t>
            </a:r>
          </a:p>
        </p:txBody>
      </p:sp>
      <p:sp>
        <p:nvSpPr>
          <p:cNvPr id="56324" name="Rectangle 3"/>
          <p:cNvSpPr>
            <a:spLocks noGrp="1" noChangeArrowheads="1"/>
          </p:cNvSpPr>
          <p:nvPr>
            <p:ph idx="1"/>
          </p:nvPr>
        </p:nvSpPr>
        <p:spPr/>
        <p:txBody>
          <a:bodyPr/>
          <a:lstStyle/>
          <a:p>
            <a:pPr eaLnBrk="1" hangingPunct="1">
              <a:lnSpc>
                <a:spcPct val="90000"/>
              </a:lnSpc>
            </a:pPr>
            <a:r>
              <a:rPr lang="en-US" altLang="en-US" sz="2400" dirty="0"/>
              <a:t>It’s easy for managers see what they expect to see in focus group results.</a:t>
            </a:r>
          </a:p>
          <a:p>
            <a:pPr eaLnBrk="1" hangingPunct="1">
              <a:lnSpc>
                <a:spcPct val="90000"/>
              </a:lnSpc>
            </a:pPr>
            <a:r>
              <a:rPr lang="en-US" altLang="en-US" sz="2400" dirty="0"/>
              <a:t>Focus groups are only one form of </a:t>
            </a:r>
            <a:r>
              <a:rPr lang="en-US" altLang="en-US" sz="2400" b="1" i="1" dirty="0">
                <a:solidFill>
                  <a:schemeClr val="tx2"/>
                </a:solidFill>
              </a:rPr>
              <a:t>exploratory</a:t>
            </a:r>
            <a:r>
              <a:rPr lang="en-US" altLang="en-US" sz="2400" dirty="0"/>
              <a:t> research—they should not be expected to deliver final results or answers to decision problems—yet many managers seem to use them for that purpose.</a:t>
            </a:r>
          </a:p>
        </p:txBody>
      </p:sp>
      <p:sp>
        <p:nvSpPr>
          <p:cNvPr id="7" name="TextBox 6"/>
          <p:cNvSpPr txBox="1"/>
          <p:nvPr/>
        </p:nvSpPr>
        <p:spPr>
          <a:xfrm>
            <a:off x="5173518" y="4512975"/>
            <a:ext cx="3810000" cy="1569660"/>
          </a:xfrm>
          <a:prstGeom prst="rect">
            <a:avLst/>
          </a:prstGeom>
          <a:noFill/>
        </p:spPr>
        <p:txBody>
          <a:bodyPr>
            <a:spAutoFit/>
          </a:bodyPr>
          <a:lstStyle/>
          <a:p>
            <a:pPr>
              <a:defRPr/>
            </a:pPr>
            <a:r>
              <a:rPr lang="en-US" sz="2400" i="1" dirty="0">
                <a:solidFill>
                  <a:schemeClr val="tx2"/>
                </a:solidFill>
                <a:latin typeface="+mj-lt"/>
              </a:rPr>
              <a:t>“Focus groups: You get hooked on them and you’re afraid to make a move without them.”</a:t>
            </a:r>
          </a:p>
        </p:txBody>
      </p:sp>
    </p:spTree>
    <p:extLst>
      <p:ext uri="{BB962C8B-B14F-4D97-AF65-F5344CB8AC3E}">
        <p14:creationId xmlns:p14="http://schemas.microsoft.com/office/powerpoint/2010/main" val="52359125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mn-lt"/>
              </a:rPr>
              <a:t>Data Mining</a:t>
            </a:r>
          </a:p>
        </p:txBody>
      </p:sp>
      <p:sp>
        <p:nvSpPr>
          <p:cNvPr id="3" name="Content Placeholder 2"/>
          <p:cNvSpPr>
            <a:spLocks noGrp="1"/>
          </p:cNvSpPr>
          <p:nvPr>
            <p:ph idx="1"/>
          </p:nvPr>
        </p:nvSpPr>
        <p:spPr>
          <a:xfrm>
            <a:off x="1024128" y="1752600"/>
            <a:ext cx="10863072" cy="4724400"/>
          </a:xfrm>
        </p:spPr>
        <p:txBody>
          <a:bodyPr>
            <a:noAutofit/>
          </a:bodyPr>
          <a:lstStyle/>
          <a:p>
            <a:r>
              <a:rPr lang="en-US" sz="2800" dirty="0"/>
              <a:t>The use of powerful analytic technologies to quickly and thoroughly explore mountains of data to obtain useful information.</a:t>
            </a:r>
          </a:p>
          <a:p>
            <a:endParaRPr lang="en-US" sz="2800" dirty="0"/>
          </a:p>
          <a:p>
            <a:r>
              <a:rPr lang="en-US" sz="2800" dirty="0"/>
              <a:t>Although most forms of exploratory research are qualitative in nature, data mining involves </a:t>
            </a:r>
            <a:r>
              <a:rPr lang="en-US" sz="2800" dirty="0">
                <a:hlinkClick r:id="rId2"/>
              </a:rPr>
              <a:t>sophisticated quantitative analysis</a:t>
            </a:r>
            <a:r>
              <a:rPr lang="en-US" sz="2800" dirty="0"/>
              <a:t> of data held in a company’s databases.</a:t>
            </a:r>
          </a:p>
          <a:p>
            <a:pPr lvl="1"/>
            <a:r>
              <a:rPr lang="en-US" sz="2400" dirty="0"/>
              <a:t>“</a:t>
            </a:r>
            <a:r>
              <a:rPr lang="en-US" sz="2400" dirty="0" err="1"/>
              <a:t>YinzCam</a:t>
            </a:r>
            <a:r>
              <a:rPr lang="en-US" sz="2400" dirty="0"/>
              <a:t> took all of Cleveland’s separate data streams -- basic demographic information, ticket sales records from Ticketmaster, merchandise sales information from </a:t>
            </a:r>
            <a:r>
              <a:rPr lang="en-US" sz="2400" dirty="0">
                <a:hlinkClick r:id="rId3" tooltip="Company Overview"/>
              </a:rPr>
              <a:t>Fanatics</a:t>
            </a:r>
            <a:r>
              <a:rPr lang="en-US" sz="2400" dirty="0"/>
              <a:t>, and concessions data from </a:t>
            </a:r>
            <a:r>
              <a:rPr lang="en-US" sz="2400" dirty="0">
                <a:hlinkClick r:id="rId4" tooltip="Company Overview"/>
              </a:rPr>
              <a:t>Aramark</a:t>
            </a:r>
            <a:r>
              <a:rPr lang="en-US" sz="2400" dirty="0"/>
              <a:t>, among others -- and combined them into one program. The company, which also builds mobile apps for teams in all four major U.S. sports, gave Browns executives an easier look at what fans want and how to give it to them.”</a:t>
            </a:r>
          </a:p>
          <a:p>
            <a:endParaRPr lang="en-US" sz="2800" dirty="0"/>
          </a:p>
        </p:txBody>
      </p:sp>
    </p:spTree>
    <p:extLst>
      <p:ext uri="{BB962C8B-B14F-4D97-AF65-F5344CB8AC3E}">
        <p14:creationId xmlns:p14="http://schemas.microsoft.com/office/powerpoint/2010/main" val="394911323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Oval 2"/>
          <p:cNvSpPr>
            <a:spLocks noChangeArrowheads="1"/>
          </p:cNvSpPr>
          <p:nvPr/>
        </p:nvSpPr>
        <p:spPr bwMode="auto">
          <a:xfrm>
            <a:off x="2286000" y="4572000"/>
            <a:ext cx="7620000" cy="1600201"/>
          </a:xfrm>
          <a:prstGeom prst="ellipse">
            <a:avLst/>
          </a:prstGeom>
          <a:solidFill>
            <a:schemeClr val="accent2"/>
          </a:solidFill>
          <a:ln w="9525">
            <a:solidFill>
              <a:schemeClr val="tx1"/>
            </a:solidFill>
            <a:round/>
            <a:headEnd/>
            <a:tailEnd/>
          </a:ln>
        </p:spPr>
        <p:txBody>
          <a:bodyPr wrap="none" anchor="ct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pitchFamily="34" charset="0"/>
            </a:endParaRPr>
          </a:p>
        </p:txBody>
      </p:sp>
      <p:sp>
        <p:nvSpPr>
          <p:cNvPr id="58371" name="Rectangle 3"/>
          <p:cNvSpPr>
            <a:spLocks noGrp="1" noChangeArrowheads="1"/>
          </p:cNvSpPr>
          <p:nvPr>
            <p:ph type="title"/>
          </p:nvPr>
        </p:nvSpPr>
        <p:spPr>
          <a:xfrm>
            <a:off x="552061" y="412041"/>
            <a:ext cx="6858000" cy="838200"/>
          </a:xfrm>
          <a:noFill/>
        </p:spPr>
        <p:txBody>
          <a:bodyPr vert="horz" lIns="92069" tIns="46035" rIns="92069" bIns="46035" rtlCol="0" anchor="ctr">
            <a:normAutofit/>
          </a:bodyPr>
          <a:lstStyle/>
          <a:p>
            <a:pPr eaLnBrk="1" hangingPunct="1"/>
            <a:r>
              <a:rPr lang="en-US" altLang="en-US" sz="4000" dirty="0">
                <a:latin typeface="+mn-lt"/>
              </a:rPr>
              <a:t>Case Analyses</a:t>
            </a:r>
          </a:p>
        </p:txBody>
      </p:sp>
      <p:sp>
        <p:nvSpPr>
          <p:cNvPr id="58372" name="Rectangle 4"/>
          <p:cNvSpPr>
            <a:spLocks noGrp="1" noChangeArrowheads="1"/>
          </p:cNvSpPr>
          <p:nvPr>
            <p:ph idx="1"/>
          </p:nvPr>
        </p:nvSpPr>
        <p:spPr>
          <a:xfrm>
            <a:off x="1844040" y="2209800"/>
            <a:ext cx="8503920" cy="4949952"/>
          </a:xfrm>
        </p:spPr>
        <p:txBody>
          <a:bodyPr vert="horz" lIns="92069" tIns="46035" rIns="92069" bIns="46035" rtlCol="0">
            <a:normAutofit/>
          </a:bodyPr>
          <a:lstStyle/>
          <a:p>
            <a:pPr eaLnBrk="1" hangingPunct="1">
              <a:lnSpc>
                <a:spcPct val="90000"/>
              </a:lnSpc>
            </a:pPr>
            <a:r>
              <a:rPr lang="en-US" altLang="en-US" sz="2800" dirty="0"/>
              <a:t>Intensive study of selected examples of the phenomenon of interest.</a:t>
            </a:r>
          </a:p>
          <a:p>
            <a:pPr eaLnBrk="1" hangingPunct="1">
              <a:lnSpc>
                <a:spcPct val="90000"/>
              </a:lnSpc>
              <a:buFontTx/>
              <a:buNone/>
            </a:pPr>
            <a:r>
              <a:rPr lang="en-US" altLang="en-US" dirty="0"/>
              <a:t>  </a:t>
            </a:r>
          </a:p>
          <a:p>
            <a:pPr lvl="1" eaLnBrk="1" hangingPunct="1">
              <a:lnSpc>
                <a:spcPct val="90000"/>
              </a:lnSpc>
              <a:buFont typeface="Arial" pitchFamily="34" charset="0"/>
              <a:buNone/>
            </a:pPr>
            <a:r>
              <a:rPr lang="en-US" altLang="en-US" sz="2400" dirty="0"/>
              <a:t>	   Especially effective with cases reflecting...</a:t>
            </a:r>
          </a:p>
          <a:p>
            <a:pPr algn="ctr" eaLnBrk="1" hangingPunct="1">
              <a:lnSpc>
                <a:spcPct val="90000"/>
              </a:lnSpc>
              <a:buFontTx/>
              <a:buNone/>
            </a:pPr>
            <a:endParaRPr lang="en-US" altLang="en-US" sz="2400" b="1" i="1" dirty="0">
              <a:solidFill>
                <a:schemeClr val="bg1"/>
              </a:solidFill>
            </a:endParaRPr>
          </a:p>
          <a:p>
            <a:pPr algn="ctr" eaLnBrk="1" hangingPunct="1">
              <a:lnSpc>
                <a:spcPct val="90000"/>
              </a:lnSpc>
              <a:buFontTx/>
              <a:buNone/>
            </a:pPr>
            <a:r>
              <a:rPr lang="en-US" altLang="en-US" sz="2400" b="1" i="1" dirty="0">
                <a:solidFill>
                  <a:schemeClr val="bg1"/>
                </a:solidFill>
              </a:rPr>
              <a:t>...recent change</a:t>
            </a:r>
          </a:p>
          <a:p>
            <a:pPr algn="ctr" eaLnBrk="1" hangingPunct="1">
              <a:lnSpc>
                <a:spcPct val="90000"/>
              </a:lnSpc>
              <a:buFontTx/>
              <a:buNone/>
            </a:pPr>
            <a:r>
              <a:rPr lang="en-US" altLang="en-US" sz="2400" b="1" i="1" dirty="0">
                <a:solidFill>
                  <a:schemeClr val="bg1"/>
                </a:solidFill>
              </a:rPr>
              <a:t>...extremes of behavior</a:t>
            </a:r>
          </a:p>
          <a:p>
            <a:pPr algn="ctr" eaLnBrk="1" hangingPunct="1">
              <a:lnSpc>
                <a:spcPct val="90000"/>
              </a:lnSpc>
              <a:buFontTx/>
              <a:buNone/>
            </a:pPr>
            <a:r>
              <a:rPr lang="en-US" altLang="en-US" sz="2400" b="1" i="1" dirty="0">
                <a:solidFill>
                  <a:schemeClr val="bg1"/>
                </a:solidFill>
              </a:rPr>
              <a:t>...the “best” and “worst” situations</a:t>
            </a:r>
          </a:p>
          <a:p>
            <a:pPr algn="ctr" eaLnBrk="1" hangingPunct="1">
              <a:lnSpc>
                <a:spcPct val="90000"/>
              </a:lnSpc>
              <a:buFontTx/>
              <a:buNone/>
            </a:pPr>
            <a:endParaRPr lang="en-US" altLang="en-US" dirty="0"/>
          </a:p>
        </p:txBody>
      </p:sp>
    </p:spTree>
    <p:extLst>
      <p:ext uri="{BB962C8B-B14F-4D97-AF65-F5344CB8AC3E}">
        <p14:creationId xmlns:p14="http://schemas.microsoft.com/office/powerpoint/2010/main" val="322324135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478902" y="1581539"/>
            <a:ext cx="7534835" cy="22098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The detailed observation of consumers during their ordinary daily lives using direct observations, interviews, and </a:t>
            </a:r>
            <a:r>
              <a:rPr lang="en-US" dirty="0">
                <a:hlinkClick r:id="rId2"/>
              </a:rPr>
              <a:t>video </a:t>
            </a:r>
            <a:r>
              <a:rPr lang="en-US" dirty="0"/>
              <a:t>and audio </a:t>
            </a:r>
            <a:r>
              <a:rPr lang="en-US" dirty="0">
                <a:hlinkClick r:id="rId3"/>
              </a:rPr>
              <a:t>recordings</a:t>
            </a:r>
            <a:r>
              <a:rPr lang="en-US" dirty="0"/>
              <a:t>.</a:t>
            </a:r>
          </a:p>
          <a:p>
            <a:pPr marL="457200" lvl="1" indent="0">
              <a:buNone/>
            </a:pPr>
            <a:endParaRPr lang="en-US" dirty="0"/>
          </a:p>
          <a:p>
            <a:pPr marL="457200" lvl="1" indent="0">
              <a:buNone/>
            </a:pPr>
            <a:endParaRPr lang="en-US"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4196" y="3948405"/>
            <a:ext cx="3797981" cy="2478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r>
              <a:rPr lang="en-US" sz="4000" dirty="0">
                <a:latin typeface="+mn-lt"/>
              </a:rPr>
              <a:t>Ethnography</a:t>
            </a:r>
          </a:p>
        </p:txBody>
      </p:sp>
    </p:spTree>
    <p:extLst>
      <p:ext uri="{BB962C8B-B14F-4D97-AF65-F5344CB8AC3E}">
        <p14:creationId xmlns:p14="http://schemas.microsoft.com/office/powerpoint/2010/main" val="78838236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810435" y="1013000"/>
            <a:ext cx="7391400"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BENCHMARKING</a:t>
            </a:r>
          </a:p>
          <a:p>
            <a:pPr marL="457200" lvl="1" indent="0">
              <a:buNone/>
            </a:pPr>
            <a:r>
              <a:rPr lang="en-US" dirty="0"/>
              <a:t>Using organizations that excel at some function as sources of ideas for improvement.</a:t>
            </a:r>
          </a:p>
          <a:p>
            <a:pPr marL="457200" lvl="1" indent="0">
              <a:buNone/>
            </a:pPr>
            <a:endParaRPr lang="en-US" dirty="0"/>
          </a:p>
          <a:p>
            <a:pPr marL="457200" lvl="1"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599" y="3411246"/>
            <a:ext cx="3705133" cy="213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2"/>
          <p:cNvSpPr txBox="1">
            <a:spLocks/>
          </p:cNvSpPr>
          <p:nvPr/>
        </p:nvSpPr>
        <p:spPr>
          <a:xfrm>
            <a:off x="6400801" y="3411246"/>
            <a:ext cx="3572435" cy="205740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2400" i="1" dirty="0"/>
              <a:t>Companies have long used L.L. Bean as a benchmark for order fulfillment efficiency.</a:t>
            </a:r>
            <a:endParaRPr lang="en-US" dirty="0"/>
          </a:p>
          <a:p>
            <a:pPr marL="457200" lvl="1" indent="0">
              <a:buNone/>
            </a:pPr>
            <a:endParaRPr lang="en-US" dirty="0"/>
          </a:p>
        </p:txBody>
      </p:sp>
    </p:spTree>
    <p:extLst>
      <p:ext uri="{BB962C8B-B14F-4D97-AF65-F5344CB8AC3E}">
        <p14:creationId xmlns:p14="http://schemas.microsoft.com/office/powerpoint/2010/main" val="144617430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pPr eaLnBrk="1" hangingPunct="1"/>
            <a:r>
              <a:rPr lang="en-US" altLang="en-US" sz="4000" dirty="0">
                <a:latin typeface="+mn-lt"/>
              </a:rPr>
              <a:t>Projective Methods</a:t>
            </a:r>
          </a:p>
        </p:txBody>
      </p:sp>
      <p:sp>
        <p:nvSpPr>
          <p:cNvPr id="60419" name="Rectangle 3"/>
          <p:cNvSpPr>
            <a:spLocks noGrp="1" noChangeArrowheads="1"/>
          </p:cNvSpPr>
          <p:nvPr>
            <p:ph idx="1"/>
          </p:nvPr>
        </p:nvSpPr>
        <p:spPr/>
        <p:txBody>
          <a:bodyPr>
            <a:normAutofit/>
          </a:bodyPr>
          <a:lstStyle/>
          <a:p>
            <a:pPr eaLnBrk="1" hangingPunct="1"/>
            <a:r>
              <a:rPr lang="en-US" altLang="en-US" sz="2800" dirty="0"/>
              <a:t>Methods that encourage respondents to reveal their own feelings, thoughts, and behaviors by shifting the focus away from the individual through the use of </a:t>
            </a:r>
            <a:r>
              <a:rPr lang="en-US" altLang="en-US" sz="2800" dirty="0">
                <a:hlinkClick r:id="rId2"/>
              </a:rPr>
              <a:t>indirect tasks</a:t>
            </a:r>
            <a:r>
              <a:rPr lang="en-US" altLang="en-US" sz="2800" dirty="0"/>
              <a:t>.</a:t>
            </a:r>
          </a:p>
          <a:p>
            <a:pPr lvl="1"/>
            <a:r>
              <a:rPr lang="en-US" altLang="en-US" sz="2000" dirty="0"/>
              <a:t>Ideas???</a:t>
            </a:r>
          </a:p>
        </p:txBody>
      </p:sp>
    </p:spTree>
    <p:extLst>
      <p:ext uri="{BB962C8B-B14F-4D97-AF65-F5344CB8AC3E}">
        <p14:creationId xmlns:p14="http://schemas.microsoft.com/office/powerpoint/2010/main" val="148161138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914400" y="838200"/>
            <a:ext cx="8229600" cy="914400"/>
          </a:xfrm>
        </p:spPr>
        <p:txBody>
          <a:bodyPr>
            <a:normAutofit/>
          </a:bodyPr>
          <a:lstStyle/>
          <a:p>
            <a:pPr eaLnBrk="1" hangingPunct="1"/>
            <a:r>
              <a:rPr lang="en-US" altLang="en-US" sz="5400" dirty="0"/>
              <a:t>Types of Projective Methods</a:t>
            </a:r>
          </a:p>
        </p:txBody>
      </p:sp>
      <p:sp>
        <p:nvSpPr>
          <p:cNvPr id="61443" name="Rectangle 3"/>
          <p:cNvSpPr>
            <a:spLocks noGrp="1" noChangeArrowheads="1"/>
          </p:cNvSpPr>
          <p:nvPr>
            <p:ph idx="1"/>
          </p:nvPr>
        </p:nvSpPr>
        <p:spPr>
          <a:xfrm>
            <a:off x="2133600" y="2057400"/>
            <a:ext cx="8196072" cy="4572000"/>
          </a:xfrm>
        </p:spPr>
        <p:txBody>
          <a:bodyPr>
            <a:normAutofit/>
          </a:bodyPr>
          <a:lstStyle/>
          <a:p>
            <a:pPr eaLnBrk="1" hangingPunct="1"/>
            <a:r>
              <a:rPr lang="en-US" altLang="en-US" sz="3200" dirty="0"/>
              <a:t>Word association</a:t>
            </a:r>
          </a:p>
          <a:p>
            <a:pPr eaLnBrk="1" hangingPunct="1"/>
            <a:r>
              <a:rPr lang="en-US" altLang="en-US" sz="3200" dirty="0"/>
              <a:t>Sentence completion</a:t>
            </a:r>
          </a:p>
          <a:p>
            <a:pPr eaLnBrk="1" hangingPunct="1"/>
            <a:r>
              <a:rPr lang="en-US" altLang="en-US" sz="3200" dirty="0"/>
              <a:t>Storytelling</a:t>
            </a:r>
          </a:p>
          <a:p>
            <a:pPr eaLnBrk="1" hangingPunct="1"/>
            <a:r>
              <a:rPr lang="en-US" altLang="en-US" sz="3200" dirty="0"/>
              <a:t>Role playing</a:t>
            </a:r>
          </a:p>
          <a:p>
            <a:pPr eaLnBrk="1" hangingPunct="1"/>
            <a:r>
              <a:rPr lang="en-US" altLang="en-US" sz="3200" dirty="0"/>
              <a:t>Collage </a:t>
            </a:r>
          </a:p>
        </p:txBody>
      </p:sp>
    </p:spTree>
    <p:extLst>
      <p:ext uri="{BB962C8B-B14F-4D97-AF65-F5344CB8AC3E}">
        <p14:creationId xmlns:p14="http://schemas.microsoft.com/office/powerpoint/2010/main" val="385562927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1084</TotalTime>
  <Words>1558</Words>
  <Application>Microsoft Office PowerPoint</Application>
  <PresentationFormat>Widescreen</PresentationFormat>
  <Paragraphs>192</Paragraphs>
  <Slides>41</Slides>
  <Notes>8</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Lucida Grande</vt:lpstr>
      <vt:lpstr>Monotype Sorts</vt:lpstr>
      <vt:lpstr>Wingdings</vt:lpstr>
      <vt:lpstr>Office Theme</vt:lpstr>
      <vt:lpstr>The Research Question &amp;  Exploratory, Descriptive, and Causal Research Designs</vt:lpstr>
      <vt:lpstr>Click to add title</vt:lpstr>
      <vt:lpstr>Student Learning Objectives</vt:lpstr>
      <vt:lpstr>Today:</vt:lpstr>
      <vt:lpstr>Key Steps in Problem Formulation</vt:lpstr>
      <vt:lpstr>Step One: Meet with Client (Client Briefing)</vt:lpstr>
      <vt:lpstr>Step Two: Clarify the Problem/ Opportunity</vt:lpstr>
      <vt:lpstr>Sources of Problems/Opportunities</vt:lpstr>
      <vt:lpstr>Step Three: State the Manager’s Decision Problem</vt:lpstr>
      <vt:lpstr>PowerPoint Presentation</vt:lpstr>
      <vt:lpstr>PowerPoint Presentation</vt:lpstr>
      <vt:lpstr>Brief Exercise</vt:lpstr>
      <vt:lpstr>Step Four: Develop Possible Research Problems</vt:lpstr>
      <vt:lpstr>PowerPoint Presentation</vt:lpstr>
      <vt:lpstr>PowerPoint Presentation</vt:lpstr>
      <vt:lpstr>Application</vt:lpstr>
      <vt:lpstr>Step Five: Select the Research Problem(s) to be Addressed</vt:lpstr>
      <vt:lpstr>Step Six: Prepare Research Request Agreement</vt:lpstr>
      <vt:lpstr>PowerPoint Presentation</vt:lpstr>
      <vt:lpstr>Exploratory, Descriptive, and Causal Research Designs</vt:lpstr>
      <vt:lpstr>Quick Definitions</vt:lpstr>
      <vt:lpstr>Relationships Among Research Designs</vt:lpstr>
      <vt:lpstr>Exploratory Research</vt:lpstr>
      <vt:lpstr>PowerPoint Presentation</vt:lpstr>
      <vt:lpstr>Why conduct exploratory research? </vt:lpstr>
      <vt:lpstr>Exploratory Research</vt:lpstr>
      <vt:lpstr>PowerPoint Presentation</vt:lpstr>
      <vt:lpstr>Literature Search</vt:lpstr>
      <vt:lpstr>Depth Interviews</vt:lpstr>
      <vt:lpstr>Focus Group</vt:lpstr>
      <vt:lpstr>Characteristics of Focus Groups</vt:lpstr>
      <vt:lpstr>PowerPoint Presentation</vt:lpstr>
      <vt:lpstr>Good Focus Group Moderators </vt:lpstr>
      <vt:lpstr>The Dark Side of Focus Groups</vt:lpstr>
      <vt:lpstr>Data Mining</vt:lpstr>
      <vt:lpstr>Case Analyses</vt:lpstr>
      <vt:lpstr>Ethnography</vt:lpstr>
      <vt:lpstr>PowerPoint Presentation</vt:lpstr>
      <vt:lpstr>Projective Methods</vt:lpstr>
      <vt:lpstr>Types of Projective Methods</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62</cp:revision>
  <cp:lastPrinted>2020-08-26T16:29:50Z</cp:lastPrinted>
  <dcterms:created xsi:type="dcterms:W3CDTF">2020-06-29T15:54:52Z</dcterms:created>
  <dcterms:modified xsi:type="dcterms:W3CDTF">2025-01-16T13:04:37Z</dcterms:modified>
</cp:coreProperties>
</file>