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5"/>
  </p:notesMasterIdLst>
  <p:sldIdLst>
    <p:sldId id="256" r:id="rId2"/>
    <p:sldId id="324" r:id="rId3"/>
    <p:sldId id="334" r:id="rId4"/>
    <p:sldId id="333" r:id="rId5"/>
    <p:sldId id="325" r:id="rId6"/>
    <p:sldId id="327" r:id="rId7"/>
    <p:sldId id="326" r:id="rId8"/>
    <p:sldId id="328" r:id="rId9"/>
    <p:sldId id="329" r:id="rId10"/>
    <p:sldId id="330" r:id="rId11"/>
    <p:sldId id="331" r:id="rId12"/>
    <p:sldId id="332" r:id="rId13"/>
    <p:sldId id="33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857"/>
    <a:srgbClr val="A5A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873CA-4BC7-44B4-AA38-CD7D32507128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2B42A-BA3E-4A50-9F7A-183F50651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3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A03C2-EC49-4825-ADE6-B63AA87BD6BB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0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6CA18-63CE-4CEF-983C-56851B3E6C9F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8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422DE-91A1-4A1B-9029-241589A3BA37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72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EA9F8-47DE-4C17-8368-5AA06ACB131C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4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42038-C8AB-4E09-9A39-60D0D33CF2E1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8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A4309-56A7-4421-AA17-D845FCD5F898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21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60B9C-7BE7-4F40-B8FF-D1058DAB2822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81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F09B4-22B7-4668-8823-2D98EE6D507D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8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95696-845B-4B6C-962D-4CA71BC0B7D7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3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343FC-3C36-469E-9EEF-40E7873B12A2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71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A7444-9DE3-4856-9C4A-8182BF09F9A7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89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34428-EA26-4ED9-8F94-5573FD06C09A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20F4D5-8D15-41F8-AFA1-7F10284ED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57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indeed.com/career-advice/pay-salary/how-to-negotiate-salary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freakonomics.com/podcast/the-true-story-of-the-gender-pay-gap-a-new-freakonomics-radio-podcast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money.cnn.com/calculator/pf/cost-of-living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lassdoor.com/Salaries/index.htm" TargetMode="External"/><Relationship Id="rId7" Type="http://schemas.openxmlformats.org/officeDocument/2006/relationships/hyperlink" Target="h1bdata.info" TargetMode="External"/><Relationship Id="rId2" Type="http://schemas.openxmlformats.org/officeDocument/2006/relationships/hyperlink" Target="http://www.indeed.com/salary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levels.fyi" TargetMode="External"/><Relationship Id="rId5" Type="http://schemas.openxmlformats.org/officeDocument/2006/relationships/hyperlink" Target="http://www.payscale.com/" TargetMode="External"/><Relationship Id="rId4" Type="http://schemas.openxmlformats.org/officeDocument/2006/relationships/hyperlink" Target="http://www.salary.com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95682" y="2362200"/>
            <a:ext cx="6152646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rgbClr val="002857"/>
                </a:solidFill>
              </a:rPr>
              <a:t>MANAGEMENT 312:</a:t>
            </a:r>
          </a:p>
          <a:p>
            <a:pPr algn="ctr"/>
            <a:r>
              <a:rPr lang="en-US" sz="2800" b="1" dirty="0">
                <a:solidFill>
                  <a:srgbClr val="002857"/>
                </a:solidFill>
              </a:rPr>
              <a:t> Negotiation and Conflict Management</a:t>
            </a:r>
            <a:br>
              <a:rPr lang="en-US" sz="2800" b="1" dirty="0">
                <a:solidFill>
                  <a:srgbClr val="002857"/>
                </a:solidFill>
                <a:latin typeface="Times New Roman"/>
                <a:ea typeface="+mj-ea"/>
                <a:cs typeface="+mj-cs"/>
              </a:rPr>
            </a:br>
            <a:endParaRPr lang="en-US" sz="2800" b="1" dirty="0">
              <a:solidFill>
                <a:srgbClr val="002857"/>
              </a:solidFill>
              <a:latin typeface="Times New Roman"/>
              <a:ea typeface="+mj-ea"/>
              <a:cs typeface="+mj-cs"/>
            </a:endParaRPr>
          </a:p>
          <a:p>
            <a:pPr algn="ctr"/>
            <a:r>
              <a:rPr lang="en-US" sz="2800" dirty="0">
                <a:solidFill>
                  <a:srgbClr val="002857"/>
                </a:solidFill>
                <a:latin typeface="Times New Roman"/>
                <a:ea typeface="+mj-ea"/>
                <a:cs typeface="+mj-cs"/>
              </a:rPr>
              <a:t>Compensation Negotiation</a:t>
            </a:r>
            <a:endParaRPr lang="en-US" sz="3200" dirty="0">
              <a:solidFill>
                <a:srgbClr val="0028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826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73142" y="457200"/>
            <a:ext cx="4597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002857"/>
                </a:solidFill>
              </a:rPr>
              <a:t>Compensation Negotiation</a:t>
            </a:r>
            <a:endParaRPr lang="en-US" sz="3600" dirty="0">
              <a:solidFill>
                <a:srgbClr val="0028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6102" y="1219200"/>
            <a:ext cx="8686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In many cases, an in-person compensation negotiation will be similar to today’s simulation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Remember that it is not recommended to negotiate before you have an offer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Once an organization has extended you an offer they are psychologically committed to you</a:t>
            </a:r>
          </a:p>
        </p:txBody>
      </p:sp>
      <p:pic>
        <p:nvPicPr>
          <p:cNvPr id="1028" name="Picture 4" descr="Image result for salary negoti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34" y="3158192"/>
            <a:ext cx="3486150" cy="311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504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73142" y="457200"/>
            <a:ext cx="4597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002857"/>
                </a:solidFill>
              </a:rPr>
              <a:t>Compensation Negotiation</a:t>
            </a:r>
            <a:endParaRPr lang="en-US" sz="3600" dirty="0">
              <a:solidFill>
                <a:srgbClr val="0028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mage result for salary negotiation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60" y="1295400"/>
            <a:ext cx="8689298" cy="477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895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73142" y="457200"/>
            <a:ext cx="45977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002857"/>
                </a:solidFill>
              </a:rPr>
              <a:t>Compensation Negotiation</a:t>
            </a:r>
            <a:endParaRPr lang="en-US" sz="3600" dirty="0">
              <a:solidFill>
                <a:srgbClr val="0028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6102" y="1219200"/>
            <a:ext cx="8686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Most people do not negotiate the salary component of their compensation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This is particularly true of female candidates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Studies have shown that only females are much less likely to negotiation for salary, relative to other compensation benefits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Researchers believe this is a factor in the </a:t>
            </a:r>
            <a:r>
              <a:rPr lang="en-US" sz="2000" dirty="0">
                <a:hlinkClick r:id="rId2"/>
              </a:rPr>
              <a:t>gender-based wage gap</a:t>
            </a:r>
            <a:endParaRPr lang="en-US" sz="2000" dirty="0"/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Three primary reasons people do not negotiate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000" dirty="0"/>
              <a:t>Put too low of a price on their skills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000" dirty="0"/>
              <a:t>Afraid of appearing greedy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n-US" sz="2000" dirty="0"/>
              <a:t>Afraid of losing an offer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Compensation negotiations are among the most difficult type of negotiation because people often tie their self-worth to how much they make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Try to separate emotion from objective and rational goals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Be prepared for your compensation negotiation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Know what you want and have a plan of how to get it</a:t>
            </a:r>
          </a:p>
        </p:txBody>
      </p:sp>
    </p:spTree>
    <p:extLst>
      <p:ext uri="{BB962C8B-B14F-4D97-AF65-F5344CB8AC3E}">
        <p14:creationId xmlns:p14="http://schemas.microsoft.com/office/powerpoint/2010/main" val="419409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92482" y="457200"/>
            <a:ext cx="6159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>
                <a:solidFill>
                  <a:srgbClr val="002857"/>
                </a:solidFill>
              </a:rPr>
              <a:t>Compensation Negotiation Planning</a:t>
            </a:r>
            <a:endParaRPr lang="en-US" sz="3600" dirty="0">
              <a:solidFill>
                <a:srgbClr val="0028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6102" y="1219200"/>
            <a:ext cx="86868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Create a bargaining mix that will be used when you negotiate compensation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Where do you plan to live (be as specific as you can)?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How much do you anticipate needing to make in order to live comfortably (e.g., What will your expenses be? How much money do you want to save?)?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>
                <a:hlinkClick r:id="rId2"/>
              </a:rPr>
              <a:t>http://money.cnn.com/calculator/pf/cost-of-living/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What health benefits do you need?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What retirement benefits do you desire?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What additional benefits do you desire?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Plus more… </a:t>
            </a:r>
          </a:p>
          <a:p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>
                <a:solidFill>
                  <a:srgbClr val="FF0000"/>
                </a:solidFill>
              </a:rPr>
              <a:t>This is part of your semester project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3169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E3D8A-AE14-435C-8968-FDEA2BFEC965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62000" y="430128"/>
            <a:ext cx="7086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rgbClr val="002857"/>
                </a:solidFill>
                <a:latin typeface="Times New Roman" pitchFamily="18" charset="0"/>
                <a:cs typeface="Times New Roman" pitchFamily="18" charset="0"/>
              </a:rPr>
              <a:t>No company will offer all of the listed compensation factors, but most offer several and you should seek to know what is negotiable. Across several different negotiations, I have personally negotiated for items that bold when you review this slide in a slide show.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1729143"/>
            <a:ext cx="33528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Salary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Starting bonus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Annual bonus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Annual raise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Merit raise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Review process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Commissions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Profit sharing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Start date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Location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Health plans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Life and disability insurance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Retirement plans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Pension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Stock options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Vacation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Paid/ unpaid/ timing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Sick days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Personal days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800600" y="1729142"/>
            <a:ext cx="41148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Direct supervisor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Number of subordinates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Job assignment/ rotation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Travel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Relocation expenses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Home purchase assistance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Internal home loans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Maternity/ paternity leave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Flextime/ telecommuting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Education reimbursement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Skills training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Conferences/ professional meetings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Car allowance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Transportation reimbursement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Home office equipment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Technology/ patent rights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Spousal hire program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Childcare services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2857"/>
                </a:solidFill>
              </a:rPr>
              <a:t>Clothing reimbursement </a:t>
            </a:r>
          </a:p>
        </p:txBody>
      </p:sp>
    </p:spTree>
    <p:extLst>
      <p:ext uri="{BB962C8B-B14F-4D97-AF65-F5344CB8AC3E}">
        <p14:creationId xmlns:p14="http://schemas.microsoft.com/office/powerpoint/2010/main" val="202194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6" dur="indefinite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8" dur="indefinite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0" dur="indefinite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2" dur="indefinite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4" dur="indefinite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1617" y="457200"/>
            <a:ext cx="7080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What should I do for my real negotiation?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102" y="1219200"/>
            <a:ext cx="8686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As you should for all negotiations, plan!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Know who you will be negotiating with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Is it the final decision maker? (can they tell you yes or no?)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Determine your BATNA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If you have more than one job offer (or are considering grad school), then you have more power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Set your resistance point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Do not only base this on objective values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Seek to determine the organization's resistance point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Do your research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Ask the recruiter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Ask current employees (importance of network)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Set your aspiration point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Know what you are worth…!</a:t>
            </a:r>
          </a:p>
        </p:txBody>
      </p:sp>
    </p:spTree>
    <p:extLst>
      <p:ext uri="{BB962C8B-B14F-4D97-AF65-F5344CB8AC3E}">
        <p14:creationId xmlns:p14="http://schemas.microsoft.com/office/powerpoint/2010/main" val="160303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16177" y="457200"/>
            <a:ext cx="4911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Salary Comparison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102" y="1219200"/>
            <a:ext cx="86868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hlinkClick r:id="rId2"/>
              </a:rPr>
              <a:t>Indeed.com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hlinkClick r:id="rId3"/>
              </a:rPr>
              <a:t>Glassdoor.com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hlinkClick r:id="rId4"/>
              </a:rPr>
              <a:t>Salary.com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hlinkClick r:id="rId5"/>
              </a:rPr>
              <a:t>Payscale.com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 err="1">
                <a:effectLst/>
                <a:latin typeface="+mj-lt"/>
                <a:hlinkClick r:id="rId6" action="ppaction://hlinkfile"/>
              </a:rPr>
              <a:t>Levels.fyi</a:t>
            </a:r>
            <a:r>
              <a:rPr lang="en-US" sz="1800" dirty="0">
                <a:effectLst/>
                <a:latin typeface="+mj-lt"/>
                <a:hlinkClick r:id="rId6" action="ppaction://hlinkfile"/>
              </a:rPr>
              <a:t> </a:t>
            </a:r>
            <a:endParaRPr lang="en-US" sz="1800" dirty="0">
              <a:effectLst/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>
                <a:effectLst/>
                <a:latin typeface="+mj-lt"/>
                <a:hlinkClick r:id="rId7" action="ppaction://hlinkfile"/>
              </a:rPr>
              <a:t>h1bdata.info</a:t>
            </a:r>
            <a:endParaRPr lang="en-US" sz="1800" dirty="0">
              <a:effectLst/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Talk to as many people as possible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Learn what others have received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Use the career center and contacts with recent graduates</a:t>
            </a:r>
          </a:p>
        </p:txBody>
      </p:sp>
    </p:spTree>
    <p:extLst>
      <p:ext uri="{BB962C8B-B14F-4D97-AF65-F5344CB8AC3E}">
        <p14:creationId xmlns:p14="http://schemas.microsoft.com/office/powerpoint/2010/main" val="1120637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31617" y="457200"/>
            <a:ext cx="7080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What should I do for my real negotiation?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102" y="1219200"/>
            <a:ext cx="8686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Know what you want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u="sng" dirty="0"/>
              <a:t>Salary is only part of the package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Vacation, flexible location/hybrid, promotion process, laptop, etc.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Know what the company needs and wants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Demonstrate how you are exactly what they need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What other skills do you have that are beneficial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e.g., multilingual, cross cultural experience, other work experience, network connections, can build a website…etc.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Logroll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More issues than just salary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Some companies have less flexibility with salary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Value may differ on the issues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Learn what you can trade</a:t>
            </a:r>
          </a:p>
          <a:p>
            <a:pPr lvl="1"/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426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31415" y="457200"/>
            <a:ext cx="6681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When the Organization Makes an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102" y="1219200"/>
            <a:ext cx="8686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Expect an offer that is lower than their best offer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Most companies expect you to negotiate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When you receive an offer via email, respond promptly, thank the company, tell them you will review it right away and then wait at least one day before setting a time to discuss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This shows that you carefully considered and researched the offer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First, always reaffirm that you want to work for the organization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Try to discuss the offer in person (non-verbal cues)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If not, try video, or, if you must, the phone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If they tell you “an increase would affect our salary structure,” seek to answer: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What is the structure?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Where do I fall in it?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How do I move up the next salary band?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Does it require a position or title change?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Gather information for future negotiations (long-term perspective)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7099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4997" y="457200"/>
            <a:ext cx="6034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What if they ask how much I want?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102" y="1219200"/>
            <a:ext cx="8686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Companies often ask with the hope that you undervalue yourself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Clarify whether they are making you an offer, or gathering information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If offering the job, then state your request (be prepared)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Be aggressive, but have justification for why you state a value – plan!</a:t>
            </a:r>
          </a:p>
          <a:p>
            <a:pPr marL="1714500" lvl="3" indent="-342900">
              <a:buFont typeface="Wingdings" panose="05000000000000000000" pitchFamily="2" charset="2"/>
              <a:buChar char="§"/>
            </a:pPr>
            <a:r>
              <a:rPr lang="en-US" sz="2000" dirty="0"/>
              <a:t>Because of X, Y, and Z, I think $ is appropriate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1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If gathering information:</a:t>
            </a:r>
            <a:endParaRPr lang="en-US" sz="1000" dirty="0"/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Delay – tell them you would like to know more about the job and your role in the organization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Request industry average</a:t>
            </a:r>
          </a:p>
          <a:p>
            <a:pPr marL="1714500" lvl="3" indent="-342900">
              <a:buFont typeface="Wingdings" panose="05000000000000000000" pitchFamily="2" charset="2"/>
              <a:buChar char="§"/>
            </a:pPr>
            <a:r>
              <a:rPr lang="en-US" sz="2000" dirty="0"/>
              <a:t>Ask them to define industry average once they offer the job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If you are forced to give a range, make it tight</a:t>
            </a:r>
          </a:p>
          <a:p>
            <a:pPr marL="1714500" lvl="3" indent="-342900">
              <a:buFont typeface="Wingdings" panose="05000000000000000000" pitchFamily="2" charset="2"/>
              <a:buChar char="§"/>
            </a:pPr>
            <a:r>
              <a:rPr lang="en-US" sz="2000" dirty="0"/>
              <a:t>Low end within their range, but high can be beyond</a:t>
            </a:r>
          </a:p>
          <a:p>
            <a:pPr marL="1714500" lvl="3" indent="-342900">
              <a:buFont typeface="Wingdings" panose="05000000000000000000" pitchFamily="2" charset="2"/>
              <a:buChar char="§"/>
            </a:pPr>
            <a:r>
              <a:rPr lang="en-US" sz="2000" dirty="0"/>
              <a:t>Be ready to justify your worth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Tell them salary is important, but there are other benefits you care about as well</a:t>
            </a:r>
          </a:p>
        </p:txBody>
      </p:sp>
    </p:spTree>
    <p:extLst>
      <p:ext uri="{BB962C8B-B14F-4D97-AF65-F5344CB8AC3E}">
        <p14:creationId xmlns:p14="http://schemas.microsoft.com/office/powerpoint/2010/main" val="116675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05800" y="6324600"/>
            <a:ext cx="533400" cy="365125"/>
          </a:xfrm>
        </p:spPr>
        <p:txBody>
          <a:bodyPr/>
          <a:lstStyle/>
          <a:p>
            <a:fld id="{0720F4D5-8D15-41F8-AFA1-7F10284ED2CA}" type="slidenum">
              <a:rPr lang="en-US" smtClean="0">
                <a:solidFill>
                  <a:srgbClr val="A5ACA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dirty="0">
              <a:solidFill>
                <a:srgbClr val="A5ACA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55458" y="457200"/>
            <a:ext cx="38331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What should I not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102" y="1219200"/>
            <a:ext cx="8686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What bothers recruiters?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Candidates who focus exclusively on the base salary and not other benefits of the full package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1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Trying to start a bidding war between two companies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Shows that you are more concerned about money than about a relationship with the company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If you ask for more and they give it, you should be prepared to accept the job (burnt bridges)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1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Not basing your demands on relevant facts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/>
              <a:t>My friend makes more money at…</a:t>
            </a:r>
          </a:p>
        </p:txBody>
      </p:sp>
    </p:spTree>
    <p:extLst>
      <p:ext uri="{BB962C8B-B14F-4D97-AF65-F5344CB8AC3E}">
        <p14:creationId xmlns:p14="http://schemas.microsoft.com/office/powerpoint/2010/main" val="70333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509F-0D4A-EEF3-2791-C3238422A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/>
          </a:bodyPr>
          <a:lstStyle/>
          <a:p>
            <a:r>
              <a:rPr lang="en-US" sz="2800" dirty="0"/>
              <a:t>What your Recruiter/HM thinks about during </a:t>
            </a:r>
            <a:br>
              <a:rPr lang="en-US" sz="2800" dirty="0"/>
            </a:br>
            <a:r>
              <a:rPr lang="en-US" sz="2800" dirty="0"/>
              <a:t>the offer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607C5-ACEC-EDF9-0F31-617F6D213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13156"/>
            <a:ext cx="8686800" cy="4943194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Balancing your offer w/ internal equity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Easier to adjust stock and sign-on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What happens if there are significant equity gaps?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Intrinsic vs Extrinsic values of candidate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Validates throughout process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Value of the role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Niche vs broad skillset required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Market competition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Total compensation vs just base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Competitive intelligence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Ensuring they know your Yes in a counter offer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Pre-closing, future pacing, commitment bias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60332-303B-2856-5032-E8E9E2711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0F4D5-8D15-41F8-AFA1-7F10284ED2C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3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Xavier">
      <a:dk1>
        <a:srgbClr val="002857"/>
      </a:dk1>
      <a:lt1>
        <a:sysClr val="window" lastClr="FFFFFF"/>
      </a:lt1>
      <a:dk2>
        <a:srgbClr val="002857"/>
      </a:dk2>
      <a:lt2>
        <a:srgbClr val="A5ACAF"/>
      </a:lt2>
      <a:accent1>
        <a:srgbClr val="002857"/>
      </a:accent1>
      <a:accent2>
        <a:srgbClr val="A5ACAF"/>
      </a:accent2>
      <a:accent3>
        <a:srgbClr val="0099CC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Xavier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</Words>
  <Application>Microsoft Office PowerPoint</Application>
  <PresentationFormat>On-screen Show (4:3)</PresentationFormat>
  <Paragraphs>196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your Recruiter/HM thinks about during  the offer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2024-04-01T15:23:29Z</dcterms:created>
  <dcterms:modified xsi:type="dcterms:W3CDTF">2026-03-31T18:36:46Z</dcterms:modified>
</cp:coreProperties>
</file>