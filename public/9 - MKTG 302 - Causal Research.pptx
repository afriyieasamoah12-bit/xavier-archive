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2" r:id="rId3"/>
    <p:sldId id="539" r:id="rId4"/>
    <p:sldId id="501" r:id="rId5"/>
    <p:sldId id="521" r:id="rId6"/>
    <p:sldId id="522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40" r:id="rId18"/>
    <p:sldId id="534" r:id="rId19"/>
    <p:sldId id="535" r:id="rId20"/>
    <p:sldId id="536" r:id="rId21"/>
    <p:sldId id="538" r:id="rId22"/>
    <p:sldId id="266" r:id="rId23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CC8"/>
    <a:srgbClr val="001541"/>
    <a:srgbClr val="BD707B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4890"/>
  </p:normalViewPr>
  <p:slideViewPr>
    <p:cSldViewPr snapToGrid="0" snapToObjects="1" showGuides="1">
      <p:cViewPr varScale="1">
        <p:scale>
          <a:sx n="103" d="100"/>
          <a:sy n="103" d="100"/>
        </p:scale>
        <p:origin x="11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3FFF951-6D62-CB4E-866F-40E5C899BB8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134B82A-5292-FA40-A7FB-7C93D521E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6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63D65B7-7862-7F47-B99E-B3AB2843FF4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EA2CE63-AE64-8646-9F3E-7DE0B8E53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1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7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74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2A6831E-1B3E-4562-8836-0124CD0FC70E}" type="slidenum">
              <a:rPr lang="en-US" altLang="en-US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253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4D8A22C-B987-4D0B-99AA-15B4E4044B3F}" type="slidenum">
              <a:rPr lang="en-US" altLang="en-US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ln w="12700" cap="flat">
            <a:solidFill>
              <a:schemeClr val="tx1"/>
            </a:solidFill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066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54DDB71-465E-4F9E-9A1C-71F08CC6A75D}" type="slidenum">
              <a:rPr lang="en-US" altLang="en-US" smtClean="0"/>
              <a:pPr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ln w="12700" cap="flat">
            <a:solidFill>
              <a:schemeClr val="tx1"/>
            </a:solidFill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458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54DDB71-465E-4F9E-9A1C-71F08CC6A75D}" type="slidenum">
              <a:rPr lang="en-US" altLang="en-US" smtClean="0"/>
              <a:pPr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ln w="12700" cap="flat">
            <a:solidFill>
              <a:schemeClr val="tx1"/>
            </a:solidFill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016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did Study: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Centers for Disease Control and Prevention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did they ask: 37 percent of adults said they'd eaten fast food at least once over the past 24 hours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did they ask and when did they ask: Her team tracked data from in-person government surveys conducted with thousands of U.S. adults between 2013 and 2016. People were asked to recall what they'd eaten in the past 24 hours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B5CEA-1FD9-4143-A1D8-2F2E0C981E6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5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4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1190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74295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9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0456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53400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69288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53746" y="6356349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49643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DfbaZ9_XzQ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youtube.com/watch?v=8B271L3NtAw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iImi5k9Ge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cbsnews.com/news/alarming-number-of-americans-eat-fast-food-every-day/?ftag=CNM-00-10aac3a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072" y="969962"/>
            <a:ext cx="9144000" cy="2706687"/>
          </a:xfrm>
        </p:spPr>
        <p:txBody>
          <a:bodyPr/>
          <a:lstStyle/>
          <a:p>
            <a:r>
              <a:rPr lang="en-US" b="1" dirty="0">
                <a:solidFill>
                  <a:srgbClr val="001541"/>
                </a:solidFill>
              </a:rPr>
              <a:t>Causal Research</a:t>
            </a:r>
            <a:br>
              <a:rPr lang="en-US" b="1" dirty="0">
                <a:solidFill>
                  <a:srgbClr val="001541"/>
                </a:solidFill>
              </a:rPr>
            </a:br>
            <a:endParaRPr lang="en-US" b="1" dirty="0">
              <a:solidFill>
                <a:srgbClr val="001541"/>
              </a:solidFill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70857" y="374944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9CC8"/>
                </a:solidFill>
              </a:rPr>
              <a:t>MKTG 302-01</a:t>
            </a:r>
          </a:p>
          <a:p>
            <a:r>
              <a:rPr lang="en-US" b="1" dirty="0">
                <a:solidFill>
                  <a:srgbClr val="009CC8"/>
                </a:solidFill>
              </a:rPr>
              <a:t>Spring Semester, 2025</a:t>
            </a:r>
          </a:p>
          <a:p>
            <a:r>
              <a:rPr lang="en-US" b="1" dirty="0">
                <a:solidFill>
                  <a:srgbClr val="009CC8"/>
                </a:solidFill>
              </a:rPr>
              <a:t>Prof. Scott Beck</a:t>
            </a:r>
          </a:p>
        </p:txBody>
      </p:sp>
    </p:spTree>
    <p:extLst>
      <p:ext uri="{BB962C8B-B14F-4D97-AF65-F5344CB8AC3E}">
        <p14:creationId xmlns:p14="http://schemas.microsoft.com/office/powerpoint/2010/main" val="5185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6" y="2130425"/>
            <a:ext cx="9154885" cy="4351338"/>
          </a:xfrm>
        </p:spPr>
        <p:txBody>
          <a:bodyPr/>
          <a:lstStyle/>
          <a:p>
            <a:r>
              <a:rPr lang="en-US" dirty="0">
                <a:solidFill>
                  <a:srgbClr val="009CC8"/>
                </a:solidFill>
              </a:rPr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0819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Learning Objectives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able to define Causal Research.</a:t>
            </a:r>
          </a:p>
          <a:p>
            <a:r>
              <a:rPr lang="en-US" dirty="0"/>
              <a:t>Looking for causality in your data.</a:t>
            </a:r>
          </a:p>
          <a:p>
            <a:r>
              <a:rPr lang="en-US" dirty="0"/>
              <a:t>Incorporating another tool to review how to use this approach vs. descriptive and exploratory (not an “either-or”)</a:t>
            </a:r>
          </a:p>
        </p:txBody>
      </p:sp>
    </p:spTree>
    <p:extLst>
      <p:ext uri="{BB962C8B-B14F-4D97-AF65-F5344CB8AC3E}">
        <p14:creationId xmlns:p14="http://schemas.microsoft.com/office/powerpoint/2010/main" val="12011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Types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Exploratory</a:t>
            </a:r>
          </a:p>
          <a:p>
            <a:endParaRPr lang="en-US" sz="3200" dirty="0"/>
          </a:p>
          <a:p>
            <a:r>
              <a:rPr lang="en-US" sz="3200" dirty="0"/>
              <a:t>Descriptive</a:t>
            </a:r>
          </a:p>
          <a:p>
            <a:endParaRPr lang="en-US" sz="3200" dirty="0"/>
          </a:p>
          <a:p>
            <a:r>
              <a:rPr lang="en-US" sz="3200" dirty="0"/>
              <a:t>Causal</a:t>
            </a:r>
          </a:p>
        </p:txBody>
      </p:sp>
    </p:spTree>
    <p:extLst>
      <p:ext uri="{BB962C8B-B14F-4D97-AF65-F5344CB8AC3E}">
        <p14:creationId xmlns:p14="http://schemas.microsoft.com/office/powerpoint/2010/main" val="17111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857500" y="2209800"/>
            <a:ext cx="5181600" cy="381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683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Types of Primary Data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209800"/>
            <a:ext cx="7391400" cy="396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Exploratory Research </a:t>
            </a:r>
          </a:p>
          <a:p>
            <a:pPr marL="0" indent="0" algn="ctr">
              <a:buNone/>
            </a:pPr>
            <a:r>
              <a:rPr lang="en-US" sz="2800" dirty="0"/>
              <a:t>(</a:t>
            </a:r>
            <a:r>
              <a:rPr lang="en-US" sz="2800" i="1" dirty="0"/>
              <a:t>explore</a:t>
            </a:r>
            <a:r>
              <a:rPr lang="en-US" sz="2800" dirty="0"/>
              <a:t>)</a:t>
            </a:r>
            <a:endParaRPr lang="en-US" sz="2800" i="1" dirty="0"/>
          </a:p>
          <a:p>
            <a:pPr marL="0" indent="0" algn="ctr">
              <a:buNone/>
            </a:pPr>
            <a:endParaRPr lang="en-US" sz="800" dirty="0"/>
          </a:p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Descriptive Research </a:t>
            </a:r>
          </a:p>
          <a:p>
            <a:pPr marL="0" indent="0" algn="ctr">
              <a:buNone/>
            </a:pPr>
            <a:r>
              <a:rPr lang="en-US" sz="2800" dirty="0"/>
              <a:t>(</a:t>
            </a:r>
            <a:r>
              <a:rPr lang="en-US" sz="2800" i="1" dirty="0"/>
              <a:t>describe</a:t>
            </a:r>
            <a:r>
              <a:rPr lang="en-US" sz="2800" dirty="0"/>
              <a:t>)</a:t>
            </a:r>
          </a:p>
          <a:p>
            <a:pPr marL="0" indent="0" algn="ctr">
              <a:buNone/>
            </a:pPr>
            <a:endParaRPr lang="en-US" sz="800" dirty="0"/>
          </a:p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Causal Research </a:t>
            </a:r>
          </a:p>
          <a:p>
            <a:pPr marL="0" indent="0" algn="ctr">
              <a:buNone/>
            </a:pPr>
            <a:r>
              <a:rPr lang="en-US" sz="2800" dirty="0"/>
              <a:t>(</a:t>
            </a:r>
            <a:r>
              <a:rPr lang="en-US" sz="2800" i="1" dirty="0"/>
              <a:t>establish cause and effect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083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2810435" y="1371600"/>
            <a:ext cx="73914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EXPLORATORY RESEARCH</a:t>
            </a:r>
          </a:p>
          <a:p>
            <a:pPr marL="457200" lvl="1" indent="0">
              <a:buNone/>
            </a:pPr>
            <a:r>
              <a:rPr lang="en-US" dirty="0"/>
              <a:t>Research conducted to gain </a:t>
            </a:r>
            <a:r>
              <a:rPr lang="en-US" b="1" u="sng" dirty="0"/>
              <a:t>ideas and insights </a:t>
            </a:r>
            <a:r>
              <a:rPr lang="en-US" dirty="0"/>
              <a:t>to better define the problem or opportunity confronting a manager.</a:t>
            </a:r>
          </a:p>
        </p:txBody>
      </p:sp>
    </p:spTree>
    <p:extLst>
      <p:ext uri="{BB962C8B-B14F-4D97-AF65-F5344CB8AC3E}">
        <p14:creationId xmlns:p14="http://schemas.microsoft.com/office/powerpoint/2010/main" val="379750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2810435" y="1371600"/>
            <a:ext cx="73914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DESCRIPTIVE RESEARCH</a:t>
            </a:r>
          </a:p>
          <a:p>
            <a:pPr marL="457200" lvl="1" indent="0">
              <a:buNone/>
            </a:pPr>
            <a:r>
              <a:rPr lang="en-US" dirty="0"/>
              <a:t>Research in which the major emphasis is on </a:t>
            </a:r>
            <a:r>
              <a:rPr lang="en-US" b="1" u="sng" dirty="0"/>
              <a:t>describing characteristics </a:t>
            </a:r>
            <a:r>
              <a:rPr lang="en-US" dirty="0"/>
              <a:t>of a group or the </a:t>
            </a:r>
            <a:r>
              <a:rPr lang="en-US" b="1" u="sng" dirty="0"/>
              <a:t>extent to which variables are related.</a:t>
            </a:r>
          </a:p>
        </p:txBody>
      </p:sp>
    </p:spTree>
    <p:extLst>
      <p:ext uri="{BB962C8B-B14F-4D97-AF65-F5344CB8AC3E}">
        <p14:creationId xmlns:p14="http://schemas.microsoft.com/office/powerpoint/2010/main" val="51340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Data are Everywhere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common type of data</a:t>
            </a:r>
          </a:p>
          <a:p>
            <a:r>
              <a:rPr lang="en-US" dirty="0"/>
              <a:t>It is descriptive, does not prove cause and effect!</a:t>
            </a:r>
          </a:p>
          <a:p>
            <a:r>
              <a:rPr lang="en-US" dirty="0"/>
              <a:t>Be cautious when people claim causality!</a:t>
            </a:r>
          </a:p>
        </p:txBody>
      </p:sp>
      <p:pic>
        <p:nvPicPr>
          <p:cNvPr id="1026" name="Picture 2" descr="http://dilbert.com/dyn/str_strip/000000000/00000000/0000000/100000/40000/4000/200/144270/144270.strip.zoo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297680"/>
            <a:ext cx="6885774" cy="214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50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295400" y="1371600"/>
            <a:ext cx="8906435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CAUSAL RESEARCH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sz="44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sz="3600" dirty="0"/>
              <a:t>Type of research in which the major emphasis is on determining </a:t>
            </a:r>
            <a:r>
              <a:rPr lang="en-US" sz="3600" b="1" u="sng" dirty="0"/>
              <a:t>cause-and-effect</a:t>
            </a:r>
            <a:r>
              <a:rPr lang="en-US" sz="3600" dirty="0"/>
              <a:t>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72686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3143250" y="3352800"/>
            <a:ext cx="4800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704850"/>
            <a:ext cx="7391400" cy="1143000"/>
          </a:xfrm>
          <a:noFill/>
        </p:spPr>
        <p:txBody>
          <a:bodyPr vert="horz" lIns="92069" tIns="46035" rIns="92069" bIns="46035" rtlCol="0" anchor="ctr">
            <a:normAutofit/>
          </a:bodyPr>
          <a:lstStyle/>
          <a:p>
            <a:pPr eaLnBrk="1" hangingPunct="1"/>
            <a:r>
              <a:rPr lang="en-US" altLang="en-US" dirty="0"/>
              <a:t>Causal Research</a:t>
            </a:r>
          </a:p>
        </p:txBody>
      </p:sp>
      <p:sp>
        <p:nvSpPr>
          <p:cNvPr id="70661" name="AutoShape 5"/>
          <p:cNvSpPr>
            <a:spLocks noChangeArrowheads="1"/>
          </p:cNvSpPr>
          <p:nvPr/>
        </p:nvSpPr>
        <p:spPr bwMode="auto">
          <a:xfrm>
            <a:off x="4648200" y="3581400"/>
            <a:ext cx="1219200" cy="304800"/>
          </a:xfrm>
          <a:prstGeom prst="rightArrow">
            <a:avLst>
              <a:gd name="adj1" fmla="val 50000"/>
              <a:gd name="adj2" fmla="val 14375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folHlink"/>
              </a:solidFill>
              <a:latin typeface="Arial" pitchFamily="34" charset="0"/>
            </a:endParaRPr>
          </a:p>
        </p:txBody>
      </p:sp>
      <p:sp>
        <p:nvSpPr>
          <p:cNvPr id="70659" name="Rectangle 4"/>
          <p:cNvSpPr>
            <a:spLocks noGrp="1" noChangeArrowheads="1"/>
          </p:cNvSpPr>
          <p:nvPr>
            <p:ph idx="1"/>
          </p:nvPr>
        </p:nvSpPr>
        <p:spPr>
          <a:xfrm>
            <a:off x="552450" y="1524000"/>
            <a:ext cx="9410700" cy="3390900"/>
          </a:xfrm>
        </p:spPr>
        <p:txBody>
          <a:bodyPr vert="horz" lIns="92069" tIns="46035" rIns="92069" bIns="46035" rtlCol="0">
            <a:normAutofit lnSpcReduction="10000"/>
          </a:bodyPr>
          <a:lstStyle/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r>
              <a:rPr lang="en-US" altLang="en-US" sz="2800" dirty="0"/>
              <a:t>	The purpose of causal research is to test cause and effect relationships:</a:t>
            </a:r>
          </a:p>
          <a:p>
            <a:pPr algn="ctr" eaLnBrk="1" hangingPunct="1">
              <a:buFontTx/>
              <a:buNone/>
            </a:pPr>
            <a:endParaRPr lang="en-US" altLang="en-US" b="1" dirty="0"/>
          </a:p>
          <a:p>
            <a:pPr algn="ctr" eaLnBrk="1" hangingPunct="1">
              <a:buFontTx/>
              <a:buNone/>
            </a:pPr>
            <a:r>
              <a:rPr lang="en-US" altLang="en-US" b="1" dirty="0"/>
              <a:t>X                  Y</a:t>
            </a:r>
          </a:p>
          <a:p>
            <a:pPr algn="ctr" eaLnBrk="1" hangingPunct="1">
              <a:buFontTx/>
              <a:buNone/>
            </a:pPr>
            <a:endParaRPr lang="en-US" altLang="en-US" b="1" dirty="0"/>
          </a:p>
          <a:p>
            <a:pPr algn="ctr" eaLnBrk="1" hangingPunct="1">
              <a:buFontTx/>
              <a:buNone/>
            </a:pPr>
            <a:r>
              <a:rPr lang="en-US" altLang="en-US" b="1" dirty="0"/>
              <a:t>condition X causes event Y</a:t>
            </a:r>
            <a:endParaRPr lang="en-US" altLang="en-US" dirty="0"/>
          </a:p>
          <a:p>
            <a:pPr eaLnBrk="1" hangingPunct="1">
              <a:buFontTx/>
              <a:buNone/>
            </a:pP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5105400"/>
            <a:ext cx="3124200" cy="15696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X =</a:t>
            </a:r>
          </a:p>
          <a:p>
            <a:pPr algn="ctr"/>
            <a:r>
              <a:rPr lang="en-US" sz="2400" b="1" dirty="0"/>
              <a:t>Cause</a:t>
            </a:r>
          </a:p>
          <a:p>
            <a:pPr algn="ctr"/>
            <a:r>
              <a:rPr lang="en-US" sz="2400" b="1" dirty="0"/>
              <a:t>Independent Variable</a:t>
            </a:r>
          </a:p>
          <a:p>
            <a:pPr algn="ctr"/>
            <a:r>
              <a:rPr lang="en-US" sz="2400" b="1" dirty="0"/>
              <a:t>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5105400"/>
            <a:ext cx="3124200" cy="15696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Y =</a:t>
            </a:r>
          </a:p>
          <a:p>
            <a:pPr algn="ctr"/>
            <a:r>
              <a:rPr lang="en-US" sz="2400" b="1" dirty="0"/>
              <a:t>Effect</a:t>
            </a:r>
          </a:p>
          <a:p>
            <a:pPr algn="ctr"/>
            <a:r>
              <a:rPr lang="en-US" sz="2400" b="1" dirty="0"/>
              <a:t>Dependent Variable</a:t>
            </a:r>
          </a:p>
          <a:p>
            <a:pPr algn="ctr"/>
            <a:r>
              <a:rPr lang="en-US" sz="2400" b="1" dirty="0"/>
              <a:t>DV</a:t>
            </a:r>
          </a:p>
        </p:txBody>
      </p:sp>
    </p:spTree>
    <p:extLst>
      <p:ext uri="{BB962C8B-B14F-4D97-AF65-F5344CB8AC3E}">
        <p14:creationId xmlns:p14="http://schemas.microsoft.com/office/powerpoint/2010/main" val="78386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0"/>
            <a:ext cx="7620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Evidence of Causality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2082597" y="1905000"/>
            <a:ext cx="7585075" cy="377870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chemeClr val="tx2"/>
                </a:solidFill>
              </a:rPr>
              <a:t>Consistent variation</a:t>
            </a:r>
            <a:r>
              <a:rPr lang="en-US" dirty="0"/>
              <a:t>—evidence of the extent to which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occur together or vary together in the way predicted by the hypothesis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chemeClr val="tx2"/>
                </a:solidFill>
              </a:rPr>
              <a:t>Time order</a:t>
            </a:r>
            <a:r>
              <a:rPr lang="en-US" dirty="0"/>
              <a:t>—evidence that shows </a:t>
            </a:r>
            <a:r>
              <a:rPr lang="en-US" i="1" dirty="0"/>
              <a:t>X</a:t>
            </a:r>
            <a:r>
              <a:rPr lang="en-US" dirty="0"/>
              <a:t> occurs before </a:t>
            </a:r>
            <a:r>
              <a:rPr lang="en-US" i="1" dirty="0"/>
              <a:t>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chemeClr val="tx2"/>
                </a:solidFill>
              </a:rPr>
              <a:t>Elimination of other explanations</a:t>
            </a:r>
            <a:r>
              <a:rPr lang="en-US" dirty="0"/>
              <a:t>—evidence that allows the elimination of factors other than </a:t>
            </a:r>
            <a:r>
              <a:rPr lang="en-US" i="1" dirty="0"/>
              <a:t>X</a:t>
            </a:r>
            <a:r>
              <a:rPr lang="en-US" dirty="0"/>
              <a:t> as the cause of </a:t>
            </a:r>
            <a:r>
              <a:rPr lang="en-US" i="1" dirty="0"/>
              <a:t>Y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i="1" dirty="0"/>
              <a:t>X</a:t>
            </a:r>
            <a:r>
              <a:rPr lang="en-US" sz="2400" dirty="0"/>
              <a:t>—the cause </a:t>
            </a: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i="1" dirty="0"/>
              <a:t>Y</a:t>
            </a:r>
            <a:r>
              <a:rPr lang="en-US" sz="2400" dirty="0"/>
              <a:t>—the effect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8400" y="5955499"/>
            <a:ext cx="5181600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Example from the news: </a:t>
            </a:r>
            <a:r>
              <a:rPr lang="en-US" sz="2800" dirty="0">
                <a:hlinkClick r:id="rId2"/>
              </a:rPr>
              <a:t>5-sec rule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42688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other explanations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876800"/>
            <a:ext cx="97536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07" name="Rectangle 2"/>
          <p:cNvSpPr>
            <a:spLocks noGrp="1" noChangeArrowheads="1"/>
          </p:cNvSpPr>
          <p:nvPr>
            <p:ph idx="1"/>
          </p:nvPr>
        </p:nvSpPr>
        <p:spPr>
          <a:xfrm>
            <a:off x="942109" y="2286000"/>
            <a:ext cx="9720073" cy="4023360"/>
          </a:xfrm>
        </p:spPr>
        <p:txBody>
          <a:bodyPr>
            <a:noAutofit/>
          </a:bodyPr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800" dirty="0"/>
              <a:t>Keep all variables that are </a:t>
            </a:r>
            <a:r>
              <a:rPr lang="en-US" altLang="en-US" sz="2800" b="1" u="sng" dirty="0"/>
              <a:t>not under investigation </a:t>
            </a:r>
            <a:r>
              <a:rPr lang="en-US" altLang="en-US" sz="2800" dirty="0"/>
              <a:t>as identical as possible between conditions.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800" dirty="0"/>
              <a:t>Use random assignment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800" dirty="0"/>
              <a:t>Use statistical controls</a:t>
            </a:r>
          </a:p>
          <a:p>
            <a:pPr eaLnBrk="1" hangingPunct="1"/>
            <a:endParaRPr lang="en-US" altLang="en-US" sz="2400" dirty="0"/>
          </a:p>
          <a:p>
            <a:pPr marL="0" indent="0">
              <a:buNone/>
            </a:pPr>
            <a:r>
              <a:rPr lang="en-US" altLang="en-US" i="1" dirty="0"/>
              <a:t>Because we can never know for certain that we have eliminated all other possible causes of an effect, we can never state with certainty that X caused Y. </a:t>
            </a:r>
            <a:r>
              <a:rPr lang="en-US" altLang="en-US" b="1" i="1" u="sng" dirty="0"/>
              <a:t>We find support for a hypothesis, we don’t prove it!</a:t>
            </a:r>
          </a:p>
        </p:txBody>
      </p:sp>
    </p:spTree>
    <p:extLst>
      <p:ext uri="{BB962C8B-B14F-4D97-AF65-F5344CB8AC3E}">
        <p14:creationId xmlns:p14="http://schemas.microsoft.com/office/powerpoint/2010/main" val="277615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Causality is hard to establish!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Be cautious when people claim </a:t>
            </a:r>
            <a:r>
              <a:rPr lang="en-US" sz="3200" dirty="0">
                <a:hlinkClick r:id="rId2"/>
              </a:rPr>
              <a:t>causality</a:t>
            </a:r>
            <a:r>
              <a:rPr lang="en-US" sz="3200" dirty="0"/>
              <a:t>!</a:t>
            </a:r>
            <a:r>
              <a:rPr lang="en-US" sz="3200" dirty="0">
                <a:highlight>
                  <a:srgbClr val="FFFF00"/>
                </a:highlight>
                <a:latin typeface="+mn-lt"/>
              </a:rPr>
              <a:t> *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048000"/>
            <a:ext cx="5181600" cy="368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2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2667000" y="5029200"/>
            <a:ext cx="7543800" cy="15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EXPERIMENT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dirty="0"/>
          </a:p>
        </p:txBody>
      </p:sp>
      <p:sp>
        <p:nvSpPr>
          <p:cNvPr id="7373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774004" y="4970834"/>
            <a:ext cx="7620000" cy="1797050"/>
          </a:xfrm>
        </p:spPr>
        <p:txBody>
          <a:bodyPr vert="horz" lIns="92069" tIns="46035" rIns="92069" bIns="46035" rtlCol="0"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</a:t>
            </a:r>
            <a:r>
              <a:rPr lang="en-US" altLang="en-US" sz="2400" dirty="0">
                <a:solidFill>
                  <a:schemeClr val="tx2"/>
                </a:solidFill>
              </a:rPr>
              <a:t>The basic point of an experiment is to change the levels of one or more </a:t>
            </a:r>
            <a:r>
              <a:rPr lang="en-US" altLang="en-US" sz="2400" i="1" dirty="0">
                <a:solidFill>
                  <a:schemeClr val="tx2"/>
                </a:solidFill>
              </a:rPr>
              <a:t>X</a:t>
            </a:r>
            <a:r>
              <a:rPr lang="en-US" altLang="en-US" sz="2400" dirty="0">
                <a:solidFill>
                  <a:schemeClr val="tx2"/>
                </a:solidFill>
              </a:rPr>
              <a:t> variables and examine the resulting impact on </a:t>
            </a:r>
            <a:r>
              <a:rPr lang="en-US" altLang="en-US" sz="2400" i="1" dirty="0">
                <a:solidFill>
                  <a:schemeClr val="tx2"/>
                </a:solidFill>
              </a:rPr>
              <a:t>Y</a:t>
            </a:r>
            <a:r>
              <a:rPr lang="en-US" altLang="en-US" sz="2400" dirty="0">
                <a:solidFill>
                  <a:schemeClr val="tx2"/>
                </a:solidFill>
              </a:rPr>
              <a:t> while at the same time controlling (holding constant) other variables that might impact </a:t>
            </a:r>
            <a:r>
              <a:rPr lang="en-US" altLang="en-US" sz="2400" i="1" dirty="0">
                <a:solidFill>
                  <a:schemeClr val="tx2"/>
                </a:solidFill>
              </a:rPr>
              <a:t>Y</a:t>
            </a:r>
            <a:r>
              <a:rPr lang="en-US" altLang="en-US" sz="2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33600" y="2469950"/>
            <a:ext cx="73914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Scientific investigation in which an investigator manipulates one or more independent variables and observes the degree to which the dependent variables change.</a:t>
            </a:r>
          </a:p>
        </p:txBody>
      </p:sp>
    </p:spTree>
    <p:extLst>
      <p:ext uri="{BB962C8B-B14F-4D97-AF65-F5344CB8AC3E}">
        <p14:creationId xmlns:p14="http://schemas.microsoft.com/office/powerpoint/2010/main" val="416819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5" name="Group 3"/>
          <p:cNvGrpSpPr>
            <a:grpSpLocks/>
          </p:cNvGrpSpPr>
          <p:nvPr/>
        </p:nvGrpSpPr>
        <p:grpSpPr bwMode="auto">
          <a:xfrm>
            <a:off x="914400" y="990600"/>
            <a:ext cx="9897121" cy="5487007"/>
            <a:chOff x="153" y="921"/>
            <a:chExt cx="4800" cy="2929"/>
          </a:xfrm>
        </p:grpSpPr>
        <p:sp>
          <p:nvSpPr>
            <p:cNvPr id="79878" name="Rectangle 5"/>
            <p:cNvSpPr>
              <a:spLocks noChangeArrowheads="1"/>
            </p:cNvSpPr>
            <p:nvPr/>
          </p:nvSpPr>
          <p:spPr bwMode="auto">
            <a:xfrm>
              <a:off x="153" y="2294"/>
              <a:ext cx="2084" cy="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80788" tIns="39685" rIns="80788" bIns="39685">
              <a:spAutoFit/>
            </a:bodyPr>
            <a:lstStyle/>
            <a:p>
              <a:pPr algn="ctr" defTabSz="815975" eaLnBrk="0" hangingPunct="0">
                <a:spcBef>
                  <a:spcPct val="50000"/>
                </a:spcBef>
                <a:defRPr/>
              </a:pPr>
              <a:r>
                <a:rPr lang="en-US" sz="4800" b="1" dirty="0">
                  <a:solidFill>
                    <a:schemeClr val="tx2"/>
                  </a:solidFill>
                  <a:latin typeface="+mj-lt"/>
                </a:rPr>
                <a:t>EXPERIMENTS</a:t>
              </a:r>
            </a:p>
          </p:txBody>
        </p:sp>
        <p:sp>
          <p:nvSpPr>
            <p:cNvPr id="79879" name="Rectangle 6"/>
            <p:cNvSpPr>
              <a:spLocks noChangeArrowheads="1"/>
            </p:cNvSpPr>
            <p:nvPr/>
          </p:nvSpPr>
          <p:spPr bwMode="auto">
            <a:xfrm>
              <a:off x="2550" y="2386"/>
              <a:ext cx="2403" cy="2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80788" tIns="39685" rIns="80788" bIns="39685">
              <a:spAutoFit/>
            </a:bodyPr>
            <a:lstStyle/>
            <a:p>
              <a:pPr algn="ctr" defTabSz="815975" eaLnBrk="0" hangingPunct="0">
                <a:spcBef>
                  <a:spcPct val="50000"/>
                </a:spcBef>
                <a:defRPr/>
              </a:pPr>
              <a:r>
                <a:rPr lang="en-US" sz="2800" b="1" dirty="0">
                  <a:solidFill>
                    <a:schemeClr val="tx2"/>
                  </a:solidFill>
                  <a:latin typeface="+mj-lt"/>
                </a:rPr>
                <a:t>FIELD EXPERIMENT</a:t>
              </a:r>
              <a:r>
                <a:rPr lang="en-US" sz="2800" dirty="0">
                  <a:highlight>
                    <a:srgbClr val="FFFF00"/>
                  </a:highlight>
                  <a:latin typeface="+mn-lt"/>
                </a:rPr>
                <a:t> *</a:t>
              </a:r>
              <a:endParaRPr lang="en-US" sz="2800" b="1" dirty="0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79880" name="Rectangle 7"/>
            <p:cNvSpPr>
              <a:spLocks noChangeArrowheads="1"/>
            </p:cNvSpPr>
            <p:nvPr/>
          </p:nvSpPr>
          <p:spPr bwMode="auto">
            <a:xfrm>
              <a:off x="2584" y="2682"/>
              <a:ext cx="2366" cy="116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0788" tIns="39685" rIns="80788" bIns="39685" anchor="ctr"/>
            <a:lstStyle/>
            <a:p>
              <a:pPr algn="just" defTabSz="815975" eaLnBrk="0" hangingPunct="0">
                <a:defRPr/>
              </a:pPr>
              <a:r>
                <a:rPr lang="en-US" sz="2400" b="1" dirty="0">
                  <a:latin typeface="+mj-lt"/>
                </a:rPr>
                <a:t>Research study in a </a:t>
              </a:r>
              <a:r>
                <a:rPr lang="en-US" sz="2400" b="1" u="sng" dirty="0">
                  <a:latin typeface="+mj-lt"/>
                </a:rPr>
                <a:t>realistic situation</a:t>
              </a:r>
              <a:r>
                <a:rPr lang="en-US" sz="2400" b="1" dirty="0">
                  <a:latin typeface="+mj-lt"/>
                </a:rPr>
                <a:t> in</a:t>
              </a:r>
            </a:p>
            <a:p>
              <a:pPr algn="just" defTabSz="815975" eaLnBrk="0" hangingPunct="0">
                <a:defRPr/>
              </a:pPr>
              <a:r>
                <a:rPr lang="en-US" sz="2400" b="1" dirty="0">
                  <a:latin typeface="+mj-lt"/>
                </a:rPr>
                <a:t>which one or more independent </a:t>
              </a:r>
            </a:p>
            <a:p>
              <a:pPr algn="just" defTabSz="815975" eaLnBrk="0" hangingPunct="0">
                <a:defRPr/>
              </a:pPr>
              <a:r>
                <a:rPr lang="en-US" sz="2400" b="1" dirty="0">
                  <a:latin typeface="+mj-lt"/>
                </a:rPr>
                <a:t>variables are manipulated by the </a:t>
              </a:r>
            </a:p>
            <a:p>
              <a:pPr algn="just" defTabSz="815975" eaLnBrk="0" hangingPunct="0">
                <a:defRPr/>
              </a:pPr>
              <a:r>
                <a:rPr lang="en-US" sz="2400" b="1" dirty="0">
                  <a:latin typeface="+mj-lt"/>
                </a:rPr>
                <a:t>experimenter under as carefully </a:t>
              </a:r>
            </a:p>
            <a:p>
              <a:pPr algn="just" defTabSz="815975" eaLnBrk="0" hangingPunct="0">
                <a:defRPr/>
              </a:pPr>
              <a:r>
                <a:rPr lang="en-US" sz="2400" b="1" dirty="0">
                  <a:latin typeface="+mj-lt"/>
                </a:rPr>
                <a:t>controlled conditions as the situation </a:t>
              </a:r>
            </a:p>
            <a:p>
              <a:pPr algn="just" defTabSz="815975" eaLnBrk="0" hangingPunct="0">
                <a:defRPr/>
              </a:pPr>
              <a:r>
                <a:rPr lang="en-US" sz="2400" b="1" dirty="0">
                  <a:latin typeface="+mj-lt"/>
                </a:rPr>
                <a:t>will permit.</a:t>
              </a:r>
            </a:p>
          </p:txBody>
        </p:sp>
        <p:sp>
          <p:nvSpPr>
            <p:cNvPr id="79881" name="Rectangle 8"/>
            <p:cNvSpPr>
              <a:spLocks noChangeArrowheads="1"/>
            </p:cNvSpPr>
            <p:nvPr/>
          </p:nvSpPr>
          <p:spPr bwMode="auto">
            <a:xfrm>
              <a:off x="2594" y="1172"/>
              <a:ext cx="2355" cy="116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0788" tIns="39685" rIns="80788" bIns="39685" anchor="ctr"/>
            <a:lstStyle/>
            <a:p>
              <a:pPr defTabSz="815975" eaLnBrk="0" hangingPunct="0">
                <a:defRPr/>
              </a:pPr>
              <a:r>
                <a:rPr lang="en-US" sz="2400" b="1" dirty="0">
                  <a:latin typeface="+mj-lt"/>
                </a:rPr>
                <a:t>Research investigation in which </a:t>
              </a:r>
            </a:p>
            <a:p>
              <a:pPr defTabSz="815975" eaLnBrk="0" hangingPunct="0">
                <a:defRPr/>
              </a:pPr>
              <a:r>
                <a:rPr lang="en-US" sz="2400" b="1" dirty="0">
                  <a:latin typeface="+mj-lt"/>
                </a:rPr>
                <a:t>investigators </a:t>
              </a:r>
              <a:r>
                <a:rPr lang="en-US" sz="2400" b="1" u="sng" dirty="0">
                  <a:latin typeface="+mj-lt"/>
                </a:rPr>
                <a:t>create a situation </a:t>
              </a:r>
            </a:p>
            <a:p>
              <a:pPr defTabSz="815975" eaLnBrk="0" hangingPunct="0">
                <a:defRPr/>
              </a:pPr>
              <a:r>
                <a:rPr lang="en-US" sz="2400" b="1" dirty="0">
                  <a:latin typeface="+mj-lt"/>
                </a:rPr>
                <a:t>with exact conditions in order to </a:t>
              </a:r>
            </a:p>
            <a:p>
              <a:pPr defTabSz="815975" eaLnBrk="0" hangingPunct="0">
                <a:defRPr/>
              </a:pPr>
              <a:r>
                <a:rPr lang="en-US" sz="2400" b="1" dirty="0">
                  <a:latin typeface="+mj-lt"/>
                </a:rPr>
                <a:t>control some variables and </a:t>
              </a:r>
            </a:p>
            <a:p>
              <a:pPr defTabSz="815975" eaLnBrk="0" hangingPunct="0">
                <a:defRPr/>
              </a:pPr>
              <a:r>
                <a:rPr lang="en-US" sz="2400" b="1" dirty="0">
                  <a:latin typeface="+mj-lt"/>
                </a:rPr>
                <a:t>manipulate others.</a:t>
              </a:r>
            </a:p>
          </p:txBody>
        </p:sp>
        <p:sp>
          <p:nvSpPr>
            <p:cNvPr id="74761" name="Line 9"/>
            <p:cNvSpPr>
              <a:spLocks noChangeShapeType="1"/>
            </p:cNvSpPr>
            <p:nvPr/>
          </p:nvSpPr>
          <p:spPr bwMode="auto">
            <a:xfrm flipV="1">
              <a:off x="2219" y="2135"/>
              <a:ext cx="310" cy="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4762" name="Line 10"/>
            <p:cNvSpPr>
              <a:spLocks noChangeShapeType="1"/>
            </p:cNvSpPr>
            <p:nvPr/>
          </p:nvSpPr>
          <p:spPr bwMode="auto">
            <a:xfrm flipH="1" flipV="1">
              <a:off x="2225" y="2511"/>
              <a:ext cx="304" cy="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9884" name="Rectangle 11"/>
            <p:cNvSpPr>
              <a:spLocks noChangeArrowheads="1"/>
            </p:cNvSpPr>
            <p:nvPr/>
          </p:nvSpPr>
          <p:spPr bwMode="auto">
            <a:xfrm>
              <a:off x="2550" y="921"/>
              <a:ext cx="2403" cy="2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80788" tIns="39685" rIns="80788" bIns="39685">
              <a:spAutoFit/>
            </a:bodyPr>
            <a:lstStyle/>
            <a:p>
              <a:pPr algn="ctr" defTabSz="815975" eaLnBrk="0" hangingPunct="0">
                <a:spcBef>
                  <a:spcPct val="50000"/>
                </a:spcBef>
                <a:defRPr/>
              </a:pPr>
              <a:r>
                <a:rPr lang="en-US" sz="2800" b="1" dirty="0">
                  <a:solidFill>
                    <a:schemeClr val="tx2"/>
                  </a:solidFill>
                  <a:latin typeface="+mj-lt"/>
                </a:rPr>
                <a:t>LABORATORY EXPERIMENT</a:t>
              </a:r>
              <a:r>
                <a:rPr lang="en-US" sz="2800" dirty="0">
                  <a:highlight>
                    <a:srgbClr val="FFFF00"/>
                  </a:highlight>
                  <a:latin typeface="+mn-lt"/>
                </a:rPr>
                <a:t> *</a:t>
              </a:r>
              <a:endParaRPr lang="en-US" sz="2800" b="1" dirty="0">
                <a:solidFill>
                  <a:schemeClr val="tx2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616510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Incorporating A/B Testing in Field Experiments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2069" tIns="46035" rIns="92069" bIns="46035" rtlCol="0"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A/B Testing </a:t>
            </a:r>
            <a:r>
              <a:rPr lang="en-US" altLang="en-US" sz="2400" dirty="0"/>
              <a:t>A simple field experiment in which two versions (i.e., A and B) of some marketing element are randomly assigned to subjects in the field and then compared on outcomes of interest.</a:t>
            </a:r>
          </a:p>
          <a:p>
            <a:pPr lvl="1"/>
            <a:r>
              <a:rPr lang="en-US" altLang="en-US" i="1" dirty="0"/>
              <a:t>Sometimes referred to split testing</a:t>
            </a:r>
          </a:p>
          <a:p>
            <a:pPr lvl="1"/>
            <a:r>
              <a:rPr lang="en-US" altLang="en-US" i="1" dirty="0"/>
              <a:t>The aim is to test different forms of stimuli and measure the outcomes from the test. </a:t>
            </a:r>
          </a:p>
          <a:p>
            <a:pPr lvl="2"/>
            <a:r>
              <a:rPr lang="en-US" altLang="en-US" sz="1800" i="1" dirty="0"/>
              <a:t>Examples can include different values of coupons, other forms of promotions, etc.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0391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Internal Validity vs. External Validity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2069" tIns="46035" rIns="92069" bIns="46035" rtlCol="0"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Internal Validity</a:t>
            </a:r>
            <a:r>
              <a:rPr lang="en-US" altLang="en-US" sz="2800" dirty="0"/>
              <a:t>  </a:t>
            </a:r>
            <a:r>
              <a:rPr lang="en-US" altLang="en-US" sz="2400" dirty="0"/>
              <a:t>The degree to which an outcome can be attributed to an experimental variable and not to other factors. </a:t>
            </a:r>
            <a:r>
              <a:rPr lang="en-US" altLang="en-US" sz="2400" i="1" u="sng" dirty="0"/>
              <a:t>Lab experiments </a:t>
            </a:r>
            <a:r>
              <a:rPr lang="en-US" altLang="en-US" sz="2400" i="1" dirty="0"/>
              <a:t>tend to have higher levels of internal validity.</a:t>
            </a:r>
            <a:r>
              <a:rPr lang="en-US" sz="2400" dirty="0">
                <a:highlight>
                  <a:srgbClr val="FFFF00"/>
                </a:highlight>
                <a:latin typeface="+mn-lt"/>
              </a:rPr>
              <a:t> *</a:t>
            </a:r>
            <a:endParaRPr lang="en-US" altLang="en-US" sz="2400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External Validity</a:t>
            </a:r>
            <a:r>
              <a:rPr lang="en-US" altLang="en-US" sz="2800" dirty="0"/>
              <a:t>  </a:t>
            </a:r>
            <a:r>
              <a:rPr lang="en-US" altLang="en-US" sz="2400" dirty="0"/>
              <a:t>The degree to which the results of an experiment can be generalized, or extended, to other situations.</a:t>
            </a:r>
            <a:r>
              <a:rPr lang="en-US" altLang="en-US" sz="2400" i="1" dirty="0"/>
              <a:t> </a:t>
            </a:r>
            <a:r>
              <a:rPr lang="en-US" altLang="en-US" sz="2400" i="1" u="sng" dirty="0"/>
              <a:t>Field experiments </a:t>
            </a:r>
            <a:r>
              <a:rPr lang="en-US" altLang="en-US" sz="2400" i="1" dirty="0"/>
              <a:t>tend to have higher levels of external validity.</a:t>
            </a:r>
            <a:r>
              <a:rPr lang="en-US" sz="2400" dirty="0">
                <a:highlight>
                  <a:srgbClr val="FFFF00"/>
                </a:highlight>
                <a:latin typeface="+mn-lt"/>
              </a:rPr>
              <a:t> *</a:t>
            </a:r>
            <a:endParaRPr lang="en-US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35586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524000" y="1752600"/>
            <a:ext cx="92964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MARKET TESTING</a:t>
            </a:r>
            <a:r>
              <a:rPr lang="en-US" sz="4000" dirty="0">
                <a:highlight>
                  <a:srgbClr val="FFFF00"/>
                </a:highlight>
                <a:latin typeface="+mn-lt"/>
              </a:rPr>
              <a:t> *</a:t>
            </a:r>
            <a:endParaRPr lang="en-US" sz="40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sz="3200" dirty="0"/>
              <a:t>A controlled experiment done in a limited but carefully selected sector of the marketplace.</a:t>
            </a:r>
          </a:p>
        </p:txBody>
      </p:sp>
    </p:spTree>
    <p:extLst>
      <p:ext uri="{BB962C8B-B14F-4D97-AF65-F5344CB8AC3E}">
        <p14:creationId xmlns:p14="http://schemas.microsoft.com/office/powerpoint/2010/main" val="368886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>
                <a:hlinkClick r:id="rId2"/>
              </a:rPr>
              <a:t>Test Markets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1676400"/>
            <a:ext cx="7391400" cy="3962400"/>
          </a:xfrm>
        </p:spPr>
        <p:txBody>
          <a:bodyPr vert="horz" lIns="92069" tIns="46035" rIns="92069" bIns="46035" rtlCol="0"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Standard Test Market</a:t>
            </a:r>
            <a:r>
              <a:rPr lang="en-US" altLang="en-US" sz="2800" dirty="0"/>
              <a:t>  </a:t>
            </a:r>
            <a:r>
              <a:rPr lang="en-US" altLang="en-US" sz="2400" dirty="0"/>
              <a:t>A test market in which the company sells the product through its normal distribution channels.</a:t>
            </a:r>
            <a:r>
              <a:rPr lang="en-US" sz="2400" dirty="0">
                <a:highlight>
                  <a:srgbClr val="FFFF00"/>
                </a:highlight>
                <a:latin typeface="+mn-lt"/>
              </a:rPr>
              <a:t> *</a:t>
            </a:r>
            <a:endParaRPr lang="en-US" altLang="en-US" sz="2400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Controlled Test Market</a:t>
            </a:r>
            <a:r>
              <a:rPr lang="en-US" altLang="en-US" sz="2800" dirty="0"/>
              <a:t>  </a:t>
            </a:r>
            <a:r>
              <a:rPr lang="en-US" altLang="en-US" sz="2400" dirty="0"/>
              <a:t>An entire test program conducted by an outside service in a market in which it can guarantee distribution.</a:t>
            </a:r>
          </a:p>
          <a:p>
            <a:pPr>
              <a:lnSpc>
                <a:spcPct val="90000"/>
              </a:lnSpc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Simulated Test Market</a:t>
            </a:r>
            <a:r>
              <a:rPr lang="en-US" altLang="en-US" sz="2800" dirty="0"/>
              <a:t>  </a:t>
            </a:r>
            <a:r>
              <a:rPr lang="en-US" altLang="en-US" sz="2400" dirty="0"/>
              <a:t>A study in which consumer ratings are obtained along with likely or actual purchase data often obtained in a simulated store environment; the data are fed into computer models to produce sales and market share predictions.</a:t>
            </a:r>
            <a:endParaRPr lang="en-US" altLang="en-US" sz="2400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12006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03" name="Group 3"/>
          <p:cNvGrpSpPr>
            <a:grpSpLocks/>
          </p:cNvGrpSpPr>
          <p:nvPr/>
        </p:nvGrpSpPr>
        <p:grpSpPr bwMode="auto">
          <a:xfrm>
            <a:off x="4419600" y="820450"/>
            <a:ext cx="5543734" cy="1698625"/>
            <a:chOff x="625" y="1536"/>
            <a:chExt cx="3070" cy="576"/>
          </a:xfrm>
        </p:grpSpPr>
        <p:sp>
          <p:nvSpPr>
            <p:cNvPr id="76804" name="Rectangle 4"/>
            <p:cNvSpPr>
              <a:spLocks noChangeArrowheads="1"/>
            </p:cNvSpPr>
            <p:nvPr/>
          </p:nvSpPr>
          <p:spPr bwMode="auto">
            <a:xfrm>
              <a:off x="625" y="1536"/>
              <a:ext cx="864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bg1"/>
                  </a:solidFill>
                  <a:latin typeface="Tahoma" pitchFamily="34" charset="0"/>
                </a:rPr>
                <a:t>Simulated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bg1"/>
                  </a:solidFill>
                  <a:latin typeface="Tahoma" pitchFamily="34" charset="0"/>
                </a:rPr>
                <a:t>Test Market</a:t>
              </a:r>
            </a:p>
          </p:txBody>
        </p:sp>
        <p:sp>
          <p:nvSpPr>
            <p:cNvPr id="76805" name="Rectangle 5"/>
            <p:cNvSpPr>
              <a:spLocks noChangeArrowheads="1"/>
            </p:cNvSpPr>
            <p:nvPr/>
          </p:nvSpPr>
          <p:spPr bwMode="auto">
            <a:xfrm>
              <a:off x="1728" y="1536"/>
              <a:ext cx="864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bg1"/>
                  </a:solidFill>
                  <a:latin typeface="Tahoma" pitchFamily="34" charset="0"/>
                </a:rPr>
                <a:t>Controlled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bg1"/>
                  </a:solidFill>
                  <a:latin typeface="Tahoma" pitchFamily="34" charset="0"/>
                </a:rPr>
                <a:t>Test Market</a:t>
              </a:r>
            </a:p>
          </p:txBody>
        </p:sp>
        <p:sp>
          <p:nvSpPr>
            <p:cNvPr id="76806" name="Rectangle 6"/>
            <p:cNvSpPr>
              <a:spLocks noChangeArrowheads="1"/>
            </p:cNvSpPr>
            <p:nvPr/>
          </p:nvSpPr>
          <p:spPr bwMode="auto">
            <a:xfrm>
              <a:off x="2831" y="1536"/>
              <a:ext cx="864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bg1"/>
                  </a:solidFill>
                  <a:latin typeface="Tahoma" pitchFamily="34" charset="0"/>
                </a:rPr>
                <a:t>Standard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bg1"/>
                  </a:solidFill>
                  <a:latin typeface="Tahoma" pitchFamily="34" charset="0"/>
                </a:rPr>
                <a:t>Test Market</a:t>
              </a:r>
            </a:p>
          </p:txBody>
        </p:sp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33600" y="2671475"/>
            <a:ext cx="9296400" cy="2667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Speed</a:t>
            </a:r>
            <a:r>
              <a:rPr lang="en-US" sz="3000" dirty="0"/>
              <a:t>            fastest                                 slowest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Cost</a:t>
            </a:r>
            <a:r>
              <a:rPr lang="en-US" sz="3000" dirty="0"/>
              <a:t>                 least			           most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Security</a:t>
            </a:r>
            <a:r>
              <a:rPr lang="en-US" sz="3000" dirty="0"/>
              <a:t>          most                                   least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Accuracy</a:t>
            </a:r>
            <a:r>
              <a:rPr lang="en-US" sz="3000" dirty="0"/>
              <a:t>         least                                  most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01880" y="2976275"/>
            <a:ext cx="2518306" cy="0"/>
          </a:xfrm>
          <a:prstGeom prst="line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10840" y="3514170"/>
            <a:ext cx="2518306" cy="0"/>
          </a:xfrm>
          <a:prstGeom prst="line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10835" y="4061030"/>
            <a:ext cx="2518306" cy="0"/>
          </a:xfrm>
          <a:prstGeom prst="line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010830" y="4616855"/>
            <a:ext cx="2518306" cy="0"/>
          </a:xfrm>
          <a:prstGeom prst="line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25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true????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377047"/>
            <a:ext cx="6296025" cy="5362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" y="3348777"/>
            <a:ext cx="4953000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What questions should you be asking when you see a headline about </a:t>
            </a:r>
            <a:r>
              <a:rPr lang="en-US" sz="2400" dirty="0">
                <a:hlinkClick r:id="rId4"/>
              </a:rPr>
              <a:t>study</a:t>
            </a:r>
            <a:r>
              <a:rPr lang="en-US" sz="2400" dirty="0"/>
              <a:t> results?</a:t>
            </a:r>
          </a:p>
        </p:txBody>
      </p:sp>
    </p:spTree>
    <p:extLst>
      <p:ext uri="{BB962C8B-B14F-4D97-AF65-F5344CB8AC3E}">
        <p14:creationId xmlns:p14="http://schemas.microsoft.com/office/powerpoint/2010/main" val="349569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U_PPTtemplate2" id="{0469F02D-B852-2749-917C-AD4BF6465C21}" vid="{F25CEA40-8609-7F4F-BE1D-8B08452F0A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xu-powerpoint-template3</Template>
  <TotalTime>1400</TotalTime>
  <Words>886</Words>
  <Application>Microsoft Office PowerPoint</Application>
  <PresentationFormat>Widescreen</PresentationFormat>
  <Paragraphs>125</Paragraphs>
  <Slides>22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Tahoma</vt:lpstr>
      <vt:lpstr>Office Theme</vt:lpstr>
      <vt:lpstr>Causal Research </vt:lpstr>
      <vt:lpstr>Click to add title</vt:lpstr>
      <vt:lpstr>Student Learning Objectives</vt:lpstr>
      <vt:lpstr>3 Types of Research</vt:lpstr>
      <vt:lpstr>Three Types of Primary Data Research</vt:lpstr>
      <vt:lpstr>PowerPoint Presentation</vt:lpstr>
      <vt:lpstr>PowerPoint Presentation</vt:lpstr>
      <vt:lpstr>Descriptive Data are Everywhere</vt:lpstr>
      <vt:lpstr>PowerPoint Presentation</vt:lpstr>
      <vt:lpstr>Causal Research</vt:lpstr>
      <vt:lpstr>Evidence of Causality</vt:lpstr>
      <vt:lpstr>Eliminating other explanations</vt:lpstr>
      <vt:lpstr>Causality is hard to establish!</vt:lpstr>
      <vt:lpstr>EXPERIMENT *</vt:lpstr>
      <vt:lpstr>PowerPoint Presentation</vt:lpstr>
      <vt:lpstr>Incorporating A/B Testing in Field Experiments</vt:lpstr>
      <vt:lpstr>Internal Validity vs. External Validity</vt:lpstr>
      <vt:lpstr>PowerPoint Presentation</vt:lpstr>
      <vt:lpstr>Types of Test Markets</vt:lpstr>
      <vt:lpstr>PowerPoint Presentation</vt:lpstr>
      <vt:lpstr>Is this true????</vt:lpstr>
      <vt:lpstr>PowerPoint Presentation</vt:lpstr>
    </vt:vector>
  </TitlesOfParts>
  <Company>Xavier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Strategy</dc:title>
  <dc:creator>Beck, Scott</dc:creator>
  <cp:lastModifiedBy>Beck, Scott</cp:lastModifiedBy>
  <cp:revision>79</cp:revision>
  <cp:lastPrinted>2020-08-26T16:29:50Z</cp:lastPrinted>
  <dcterms:created xsi:type="dcterms:W3CDTF">2020-06-29T15:54:52Z</dcterms:created>
  <dcterms:modified xsi:type="dcterms:W3CDTF">2025-03-03T16:28:27Z</dcterms:modified>
</cp:coreProperties>
</file>