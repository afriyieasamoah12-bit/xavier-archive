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handoutMasterIdLst>
    <p:handoutMasterId r:id="rId21"/>
  </p:handoutMasterIdLst>
  <p:sldIdLst>
    <p:sldId id="256" r:id="rId2"/>
    <p:sldId id="483" r:id="rId3"/>
    <p:sldId id="482" r:id="rId4"/>
    <p:sldId id="465" r:id="rId5"/>
    <p:sldId id="466" r:id="rId6"/>
    <p:sldId id="467" r:id="rId7"/>
    <p:sldId id="469" r:id="rId8"/>
    <p:sldId id="470" r:id="rId9"/>
    <p:sldId id="472" r:id="rId10"/>
    <p:sldId id="473" r:id="rId11"/>
    <p:sldId id="474" r:id="rId12"/>
    <p:sldId id="475" r:id="rId13"/>
    <p:sldId id="476" r:id="rId14"/>
    <p:sldId id="477" r:id="rId15"/>
    <p:sldId id="478" r:id="rId16"/>
    <p:sldId id="479" r:id="rId17"/>
    <p:sldId id="480" r:id="rId18"/>
    <p:sldId id="266" r:id="rId19"/>
  </p:sldIdLst>
  <p:sldSz cx="12192000" cy="6858000"/>
  <p:notesSz cx="6881813"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9CC8"/>
    <a:srgbClr val="001541"/>
    <a:srgbClr val="BD707B"/>
    <a:srgbClr val="00FD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868"/>
    <p:restoredTop sz="94890"/>
  </p:normalViewPr>
  <p:slideViewPr>
    <p:cSldViewPr snapToGrid="0" snapToObjects="1" showGuides="1">
      <p:cViewPr varScale="1">
        <p:scale>
          <a:sx n="62" d="100"/>
          <a:sy n="62" d="100"/>
        </p:scale>
        <p:origin x="68" y="272"/>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19" cy="466434"/>
          </a:xfrm>
          <a:prstGeom prst="rect">
            <a:avLst/>
          </a:prstGeom>
        </p:spPr>
        <p:txBody>
          <a:bodyPr vert="horz" lIns="92446" tIns="46223" rIns="92446" bIns="46223" rtlCol="0"/>
          <a:lstStyle>
            <a:lvl1pPr algn="l">
              <a:defRPr sz="1200"/>
            </a:lvl1pPr>
          </a:lstStyle>
          <a:p>
            <a:endParaRPr lang="en-US"/>
          </a:p>
        </p:txBody>
      </p:sp>
      <p:sp>
        <p:nvSpPr>
          <p:cNvPr id="3" name="Date Placeholder 2"/>
          <p:cNvSpPr>
            <a:spLocks noGrp="1"/>
          </p:cNvSpPr>
          <p:nvPr>
            <p:ph type="dt" sz="quarter" idx="1"/>
          </p:nvPr>
        </p:nvSpPr>
        <p:spPr>
          <a:xfrm>
            <a:off x="3898102" y="0"/>
            <a:ext cx="2982119" cy="466434"/>
          </a:xfrm>
          <a:prstGeom prst="rect">
            <a:avLst/>
          </a:prstGeom>
        </p:spPr>
        <p:txBody>
          <a:bodyPr vert="horz" lIns="92446" tIns="46223" rIns="92446" bIns="46223" rtlCol="0"/>
          <a:lstStyle>
            <a:lvl1pPr algn="r">
              <a:defRPr sz="1200"/>
            </a:lvl1pPr>
          </a:lstStyle>
          <a:p>
            <a:fld id="{03FFF951-6D62-CB4E-866F-40E5C899BB84}" type="datetimeFigureOut">
              <a:rPr lang="en-US" smtClean="0"/>
              <a:t>2/13/2025</a:t>
            </a:fld>
            <a:endParaRPr lang="en-US"/>
          </a:p>
        </p:txBody>
      </p:sp>
      <p:sp>
        <p:nvSpPr>
          <p:cNvPr id="4" name="Footer Placeholder 3"/>
          <p:cNvSpPr>
            <a:spLocks noGrp="1"/>
          </p:cNvSpPr>
          <p:nvPr>
            <p:ph type="ftr" sz="quarter" idx="2"/>
          </p:nvPr>
        </p:nvSpPr>
        <p:spPr>
          <a:xfrm>
            <a:off x="0" y="8829967"/>
            <a:ext cx="2982119" cy="466433"/>
          </a:xfrm>
          <a:prstGeom prst="rect">
            <a:avLst/>
          </a:prstGeom>
        </p:spPr>
        <p:txBody>
          <a:bodyPr vert="horz" lIns="92446" tIns="46223" rIns="92446" bIns="46223" rtlCol="0" anchor="b"/>
          <a:lstStyle>
            <a:lvl1pPr algn="l">
              <a:defRPr sz="1200"/>
            </a:lvl1pPr>
          </a:lstStyle>
          <a:p>
            <a:endParaRPr lang="en-US"/>
          </a:p>
        </p:txBody>
      </p:sp>
      <p:sp>
        <p:nvSpPr>
          <p:cNvPr id="5" name="Slide Number Placeholder 4"/>
          <p:cNvSpPr>
            <a:spLocks noGrp="1"/>
          </p:cNvSpPr>
          <p:nvPr>
            <p:ph type="sldNum" sz="quarter" idx="3"/>
          </p:nvPr>
        </p:nvSpPr>
        <p:spPr>
          <a:xfrm>
            <a:off x="3898102" y="8829967"/>
            <a:ext cx="2982119" cy="466433"/>
          </a:xfrm>
          <a:prstGeom prst="rect">
            <a:avLst/>
          </a:prstGeom>
        </p:spPr>
        <p:txBody>
          <a:bodyPr vert="horz" lIns="92446" tIns="46223" rIns="92446" bIns="46223" rtlCol="0" anchor="b"/>
          <a:lstStyle>
            <a:lvl1pPr algn="r">
              <a:defRPr sz="1200"/>
            </a:lvl1pPr>
          </a:lstStyle>
          <a:p>
            <a:fld id="{C134B82A-5292-FA40-A7FB-7C93D521ECD4}" type="slidenum">
              <a:rPr lang="en-US" smtClean="0"/>
              <a:t>‹#›</a:t>
            </a:fld>
            <a:endParaRPr lang="en-US"/>
          </a:p>
        </p:txBody>
      </p:sp>
    </p:spTree>
    <p:extLst>
      <p:ext uri="{BB962C8B-B14F-4D97-AF65-F5344CB8AC3E}">
        <p14:creationId xmlns:p14="http://schemas.microsoft.com/office/powerpoint/2010/main" val="8722660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19" cy="466434"/>
          </a:xfrm>
          <a:prstGeom prst="rect">
            <a:avLst/>
          </a:prstGeom>
        </p:spPr>
        <p:txBody>
          <a:bodyPr vert="horz" lIns="92446" tIns="46223" rIns="92446" bIns="46223" rtlCol="0"/>
          <a:lstStyle>
            <a:lvl1pPr algn="l">
              <a:defRPr sz="1200"/>
            </a:lvl1pPr>
          </a:lstStyle>
          <a:p>
            <a:endParaRPr lang="en-US"/>
          </a:p>
        </p:txBody>
      </p:sp>
      <p:sp>
        <p:nvSpPr>
          <p:cNvPr id="3" name="Date Placeholder 2"/>
          <p:cNvSpPr>
            <a:spLocks noGrp="1"/>
          </p:cNvSpPr>
          <p:nvPr>
            <p:ph type="dt" idx="1"/>
          </p:nvPr>
        </p:nvSpPr>
        <p:spPr>
          <a:xfrm>
            <a:off x="3898102" y="0"/>
            <a:ext cx="2982119" cy="466434"/>
          </a:xfrm>
          <a:prstGeom prst="rect">
            <a:avLst/>
          </a:prstGeom>
        </p:spPr>
        <p:txBody>
          <a:bodyPr vert="horz" lIns="92446" tIns="46223" rIns="92446" bIns="46223" rtlCol="0"/>
          <a:lstStyle>
            <a:lvl1pPr algn="r">
              <a:defRPr sz="1200"/>
            </a:lvl1pPr>
          </a:lstStyle>
          <a:p>
            <a:fld id="{963D65B7-7862-7F47-B99E-B3AB2843FF42}" type="datetimeFigureOut">
              <a:rPr lang="en-US" smtClean="0"/>
              <a:t>2/13/2025</a:t>
            </a:fld>
            <a:endParaRPr lang="en-US"/>
          </a:p>
        </p:txBody>
      </p:sp>
      <p:sp>
        <p:nvSpPr>
          <p:cNvPr id="4" name="Slide Image Placeholder 3"/>
          <p:cNvSpPr>
            <a:spLocks noGrp="1" noRot="1" noChangeAspect="1"/>
          </p:cNvSpPr>
          <p:nvPr>
            <p:ph type="sldImg" idx="2"/>
          </p:nvPr>
        </p:nvSpPr>
        <p:spPr>
          <a:xfrm>
            <a:off x="654050" y="1162050"/>
            <a:ext cx="5575300" cy="3136900"/>
          </a:xfrm>
          <a:prstGeom prst="rect">
            <a:avLst/>
          </a:prstGeom>
          <a:noFill/>
          <a:ln w="12700">
            <a:solidFill>
              <a:prstClr val="black"/>
            </a:solidFill>
          </a:ln>
        </p:spPr>
        <p:txBody>
          <a:bodyPr vert="horz" lIns="92446" tIns="46223" rIns="92446" bIns="46223" rtlCol="0" anchor="ctr"/>
          <a:lstStyle/>
          <a:p>
            <a:endParaRPr lang="en-US"/>
          </a:p>
        </p:txBody>
      </p:sp>
      <p:sp>
        <p:nvSpPr>
          <p:cNvPr id="5" name="Notes Placeholder 4"/>
          <p:cNvSpPr>
            <a:spLocks noGrp="1"/>
          </p:cNvSpPr>
          <p:nvPr>
            <p:ph type="body" sz="quarter" idx="3"/>
          </p:nvPr>
        </p:nvSpPr>
        <p:spPr>
          <a:xfrm>
            <a:off x="688182" y="4473892"/>
            <a:ext cx="5505450" cy="3660458"/>
          </a:xfrm>
          <a:prstGeom prst="rect">
            <a:avLst/>
          </a:prstGeom>
        </p:spPr>
        <p:txBody>
          <a:bodyPr vert="horz" lIns="92446" tIns="46223" rIns="92446" bIns="4622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2982119" cy="466433"/>
          </a:xfrm>
          <a:prstGeom prst="rect">
            <a:avLst/>
          </a:prstGeom>
        </p:spPr>
        <p:txBody>
          <a:bodyPr vert="horz" lIns="92446" tIns="46223" rIns="92446" bIns="46223" rtlCol="0" anchor="b"/>
          <a:lstStyle>
            <a:lvl1pPr algn="l">
              <a:defRPr sz="1200"/>
            </a:lvl1pPr>
          </a:lstStyle>
          <a:p>
            <a:endParaRPr lang="en-US"/>
          </a:p>
        </p:txBody>
      </p:sp>
      <p:sp>
        <p:nvSpPr>
          <p:cNvPr id="7" name="Slide Number Placeholder 6"/>
          <p:cNvSpPr>
            <a:spLocks noGrp="1"/>
          </p:cNvSpPr>
          <p:nvPr>
            <p:ph type="sldNum" sz="quarter" idx="5"/>
          </p:nvPr>
        </p:nvSpPr>
        <p:spPr>
          <a:xfrm>
            <a:off x="3898102" y="8829967"/>
            <a:ext cx="2982119" cy="466433"/>
          </a:xfrm>
          <a:prstGeom prst="rect">
            <a:avLst/>
          </a:prstGeom>
        </p:spPr>
        <p:txBody>
          <a:bodyPr vert="horz" lIns="92446" tIns="46223" rIns="92446" bIns="46223" rtlCol="0" anchor="b"/>
          <a:lstStyle>
            <a:lvl1pPr algn="r">
              <a:defRPr sz="1200"/>
            </a:lvl1pPr>
          </a:lstStyle>
          <a:p>
            <a:fld id="{EEA2CE63-AE64-8646-9F3E-7DE0B8E53F29}" type="slidenum">
              <a:rPr lang="en-US" smtClean="0"/>
              <a:t>‹#›</a:t>
            </a:fld>
            <a:endParaRPr lang="en-US"/>
          </a:p>
        </p:txBody>
      </p:sp>
    </p:spTree>
    <p:extLst>
      <p:ext uri="{BB962C8B-B14F-4D97-AF65-F5344CB8AC3E}">
        <p14:creationId xmlns:p14="http://schemas.microsoft.com/office/powerpoint/2010/main" val="1415218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A2CE63-AE64-8646-9F3E-7DE0B8E53F29}" type="slidenum">
              <a:rPr lang="en-US" smtClean="0"/>
              <a:t>1</a:t>
            </a:fld>
            <a:endParaRPr lang="en-US"/>
          </a:p>
        </p:txBody>
      </p:sp>
    </p:spTree>
    <p:extLst>
      <p:ext uri="{BB962C8B-B14F-4D97-AF65-F5344CB8AC3E}">
        <p14:creationId xmlns:p14="http://schemas.microsoft.com/office/powerpoint/2010/main" val="18601728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308809A-AF28-406E-ADF5-9F264391B5CC}" type="slidenum">
              <a:rPr lang="en-US" altLang="en-US"/>
              <a:pPr/>
              <a:t>4</a:t>
            </a:fld>
            <a:endParaRPr lang="en-US" altLang="en-US"/>
          </a:p>
        </p:txBody>
      </p:sp>
      <p:sp>
        <p:nvSpPr>
          <p:cNvPr id="306178" name="Rectangle 2"/>
          <p:cNvSpPr>
            <a:spLocks noGrp="1" noRot="1" noChangeAspect="1" noChangeArrowheads="1" noTextEdit="1"/>
          </p:cNvSpPr>
          <p:nvPr>
            <p:ph type="sldImg"/>
          </p:nvPr>
        </p:nvSpPr>
        <p:spPr>
          <a:xfrm>
            <a:off x="381000" y="685800"/>
            <a:ext cx="6096000" cy="3429000"/>
          </a:xfrm>
          <a:ln/>
        </p:spPr>
      </p:sp>
      <p:sp>
        <p:nvSpPr>
          <p:cNvPr id="306179" name="Rectangle 3"/>
          <p:cNvSpPr>
            <a:spLocks noGrp="1" noChangeArrowheads="1"/>
          </p:cNvSpPr>
          <p:nvPr>
            <p:ph type="body" idx="1"/>
          </p:nvPr>
        </p:nvSpPr>
        <p:spPr/>
        <p:txBody>
          <a:bodyPr/>
          <a:lstStyle/>
          <a:p>
            <a:r>
              <a:rPr lang="en-US" altLang="en-US" b="1" dirty="0">
                <a:solidFill>
                  <a:srgbClr val="000000"/>
                </a:solidFill>
                <a:cs typeface="Times New Roman" charset="0"/>
              </a:rPr>
              <a:t>hidden issue questioning</a:t>
            </a:r>
            <a:r>
              <a:rPr lang="en-US" altLang="en-US" dirty="0">
                <a:solidFill>
                  <a:srgbClr val="000000"/>
                </a:solidFill>
                <a:cs typeface="Times New Roman" charset="0"/>
              </a:rPr>
              <a:t>, the focus is not on socially shared values but rather on personal “sore spots;” not on general lifestyles but on deeply felt personal concerns</a:t>
            </a:r>
          </a:p>
          <a:p>
            <a:endParaRPr lang="en-US" altLang="en-US" dirty="0">
              <a:solidFill>
                <a:srgbClr val="000000"/>
              </a:solidFill>
              <a:cs typeface="Times New Roman" charset="0"/>
            </a:endParaRPr>
          </a:p>
          <a:p>
            <a:r>
              <a:rPr lang="en-US" altLang="en-US" b="1" dirty="0">
                <a:solidFill>
                  <a:srgbClr val="000000"/>
                </a:solidFill>
                <a:cs typeface="Times New Roman" charset="0"/>
              </a:rPr>
              <a:t>Symbolic analysis</a:t>
            </a:r>
            <a:r>
              <a:rPr lang="en-US" altLang="en-US" dirty="0">
                <a:solidFill>
                  <a:srgbClr val="000000"/>
                </a:solidFill>
                <a:cs typeface="Times New Roman" charset="0"/>
              </a:rPr>
              <a:t> attempts to analyze the symbolic meaning of objects by comparing them with their opposites.  The logical opposites of a product that are investigated are: non-usage of the product, attributes of an imaginary “non-product,” and opposite types of products.  </a:t>
            </a:r>
          </a:p>
          <a:p>
            <a:endParaRPr lang="en-US" altLang="en-US" dirty="0">
              <a:solidFill>
                <a:srgbClr val="000000"/>
              </a:solidFill>
              <a:cs typeface="Times New Roman" charset="0"/>
            </a:endParaRPr>
          </a:p>
          <a:p>
            <a:r>
              <a:rPr lang="en-US" altLang="en-US" dirty="0">
                <a:solidFill>
                  <a:srgbClr val="000000"/>
                </a:solidFill>
                <a:cs typeface="Times New Roman" charset="0"/>
              </a:rPr>
              <a:t>	“What would it be like if you could no longer use airplanes?” </a:t>
            </a:r>
          </a:p>
          <a:p>
            <a:r>
              <a:rPr lang="en-US" altLang="en-US" dirty="0">
                <a:solidFill>
                  <a:srgbClr val="000000"/>
                </a:solidFill>
                <a:cs typeface="Times New Roman" charset="0"/>
              </a:rPr>
              <a:t> </a:t>
            </a:r>
          </a:p>
          <a:p>
            <a:r>
              <a:rPr lang="en-US" altLang="en-US" dirty="0">
                <a:solidFill>
                  <a:srgbClr val="000000"/>
                </a:solidFill>
                <a:cs typeface="Times New Roman" charset="0"/>
              </a:rPr>
              <a:t> 	“Without planes, I would have to rely on letters and long distance calls.”</a:t>
            </a:r>
          </a:p>
          <a:p>
            <a:r>
              <a:rPr lang="en-US" altLang="en-US" dirty="0">
                <a:solidFill>
                  <a:srgbClr val="000000"/>
                </a:solidFill>
                <a:cs typeface="Times New Roman" charset="0"/>
              </a:rPr>
              <a:t> </a:t>
            </a:r>
          </a:p>
          <a:p>
            <a:r>
              <a:rPr lang="en-US" altLang="en-US" dirty="0">
                <a:solidFill>
                  <a:srgbClr val="000000"/>
                </a:solidFill>
                <a:cs typeface="Times New Roman" charset="0"/>
              </a:rPr>
              <a:t>	Airlines sell to the managers face-to-face communication.  </a:t>
            </a:r>
          </a:p>
          <a:p>
            <a:r>
              <a:rPr lang="en-US" altLang="en-US" dirty="0">
                <a:solidFill>
                  <a:srgbClr val="000000"/>
                </a:solidFill>
                <a:cs typeface="Times New Roman" charset="0"/>
              </a:rPr>
              <a:t> </a:t>
            </a:r>
          </a:p>
          <a:p>
            <a:r>
              <a:rPr lang="en-US" altLang="en-US" dirty="0">
                <a:solidFill>
                  <a:srgbClr val="000000"/>
                </a:solidFill>
                <a:cs typeface="Times New Roman" charset="0"/>
              </a:rPr>
              <a:t>	Advertising theme: The airline will do the same thing for a manager as Federal Express does for a package.</a:t>
            </a:r>
          </a:p>
          <a:p>
            <a:endParaRPr lang="en-US" altLang="en-US" dirty="0">
              <a:solidFill>
                <a:srgbClr val="000000"/>
              </a:solidFill>
              <a:cs typeface="Times New Roman" charset="0"/>
            </a:endParaRPr>
          </a:p>
          <a:p>
            <a:endParaRPr lang="en-US" altLang="en-US" dirty="0">
              <a:solidFill>
                <a:srgbClr val="000000"/>
              </a:solidFill>
              <a:cs typeface="Times New Roman" charset="0"/>
            </a:endParaRPr>
          </a:p>
          <a:p>
            <a:endParaRPr lang="en-US" altLang="en-US" dirty="0">
              <a:solidFill>
                <a:srgbClr val="000000"/>
              </a:solidFill>
              <a:cs typeface="Times New Roman" charset="0"/>
            </a:endParaRPr>
          </a:p>
        </p:txBody>
      </p:sp>
    </p:spTree>
    <p:extLst>
      <p:ext uri="{BB962C8B-B14F-4D97-AF65-F5344CB8AC3E}">
        <p14:creationId xmlns:p14="http://schemas.microsoft.com/office/powerpoint/2010/main" val="38850635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41501D5-5C63-491F-BF65-E6A822B9C86C}" type="slidenum">
              <a:rPr lang="en-US" altLang="en-US"/>
              <a:pPr/>
              <a:t>6</a:t>
            </a:fld>
            <a:endParaRPr lang="en-US" altLang="en-US"/>
          </a:p>
        </p:txBody>
      </p:sp>
      <p:sp>
        <p:nvSpPr>
          <p:cNvPr id="304130" name="Rectangle 2"/>
          <p:cNvSpPr>
            <a:spLocks noGrp="1" noRot="1" noChangeAspect="1" noChangeArrowheads="1" noTextEdit="1"/>
          </p:cNvSpPr>
          <p:nvPr>
            <p:ph type="sldImg"/>
          </p:nvPr>
        </p:nvSpPr>
        <p:spPr>
          <a:xfrm>
            <a:off x="381000" y="685800"/>
            <a:ext cx="6096000" cy="3429000"/>
          </a:xfrm>
          <a:ln/>
        </p:spPr>
      </p:sp>
      <p:sp>
        <p:nvSpPr>
          <p:cNvPr id="304131" name="Rectangle 3"/>
          <p:cNvSpPr>
            <a:spLocks noGrp="1" noChangeArrowheads="1"/>
          </p:cNvSpPr>
          <p:nvPr>
            <p:ph type="body" idx="1"/>
          </p:nvPr>
        </p:nvSpPr>
        <p:spPr/>
        <p:txBody>
          <a:bodyPr/>
          <a:lstStyle/>
          <a:p>
            <a:r>
              <a:rPr lang="en-US" altLang="en-US" dirty="0"/>
              <a:t>Identify what attributes consumers associate with the product</a:t>
            </a:r>
          </a:p>
          <a:p>
            <a:endParaRPr lang="en-US" altLang="en-US" dirty="0"/>
          </a:p>
          <a:p>
            <a:r>
              <a:rPr lang="en-US" altLang="en-US" dirty="0"/>
              <a:t>What consequences do these attributes lead to</a:t>
            </a:r>
          </a:p>
          <a:p>
            <a:endParaRPr lang="en-US" altLang="en-US" dirty="0"/>
          </a:p>
          <a:p>
            <a:r>
              <a:rPr lang="en-US" altLang="en-US" dirty="0"/>
              <a:t>What values do these attributes support</a:t>
            </a:r>
          </a:p>
        </p:txBody>
      </p:sp>
    </p:spTree>
    <p:extLst>
      <p:ext uri="{BB962C8B-B14F-4D97-AF65-F5344CB8AC3E}">
        <p14:creationId xmlns:p14="http://schemas.microsoft.com/office/powerpoint/2010/main" val="13707980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E12C1C9-45F7-4911-9C9E-E5B1F5CC3FF2}" type="slidenum">
              <a:rPr lang="en-US" altLang="en-US"/>
              <a:pPr/>
              <a:t>9</a:t>
            </a:fld>
            <a:endParaRPr lang="en-US" altLang="en-US"/>
          </a:p>
        </p:txBody>
      </p:sp>
      <p:sp>
        <p:nvSpPr>
          <p:cNvPr id="308226" name="Rectangle 2"/>
          <p:cNvSpPr>
            <a:spLocks noGrp="1" noRot="1" noChangeAspect="1" noChangeArrowheads="1" noTextEdit="1"/>
          </p:cNvSpPr>
          <p:nvPr>
            <p:ph type="sldImg"/>
          </p:nvPr>
        </p:nvSpPr>
        <p:spPr>
          <a:xfrm>
            <a:off x="381000" y="685800"/>
            <a:ext cx="6096000" cy="3429000"/>
          </a:xfrm>
          <a:ln/>
        </p:spPr>
      </p:sp>
      <p:sp>
        <p:nvSpPr>
          <p:cNvPr id="308227" name="Rectangle 3"/>
          <p:cNvSpPr>
            <a:spLocks noGrp="1" noChangeArrowheads="1"/>
          </p:cNvSpPr>
          <p:nvPr>
            <p:ph type="body" idx="1"/>
          </p:nvPr>
        </p:nvSpPr>
        <p:spPr/>
        <p:txBody>
          <a:bodyPr/>
          <a:lstStyle/>
          <a:p>
            <a:r>
              <a:rPr lang="en-US" altLang="en-US"/>
              <a:t>Location/Condition: Some place private with no distractions where they will feel comfortable opening up to you</a:t>
            </a:r>
          </a:p>
          <a:p>
            <a:endParaRPr lang="en-US" altLang="en-US"/>
          </a:p>
        </p:txBody>
      </p:sp>
    </p:spTree>
    <p:extLst>
      <p:ext uri="{BB962C8B-B14F-4D97-AF65-F5344CB8AC3E}">
        <p14:creationId xmlns:p14="http://schemas.microsoft.com/office/powerpoint/2010/main" val="3484812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2E9DF88-3960-4C0D-A8DF-5B5B103009EC}" type="slidenum">
              <a:rPr lang="en-US" altLang="en-US"/>
              <a:pPr/>
              <a:t>10</a:t>
            </a:fld>
            <a:endParaRPr lang="en-US" altLang="en-US"/>
          </a:p>
        </p:txBody>
      </p:sp>
      <p:sp>
        <p:nvSpPr>
          <p:cNvPr id="309250" name="Rectangle 2"/>
          <p:cNvSpPr>
            <a:spLocks noGrp="1" noRot="1" noChangeAspect="1" noChangeArrowheads="1" noTextEdit="1"/>
          </p:cNvSpPr>
          <p:nvPr>
            <p:ph type="sldImg"/>
          </p:nvPr>
        </p:nvSpPr>
        <p:spPr>
          <a:xfrm>
            <a:off x="381000" y="685800"/>
            <a:ext cx="6096000" cy="3429000"/>
          </a:xfrm>
          <a:ln/>
        </p:spPr>
      </p:sp>
      <p:sp>
        <p:nvSpPr>
          <p:cNvPr id="309251" name="Rectangle 3"/>
          <p:cNvSpPr>
            <a:spLocks noGrp="1" noChangeArrowheads="1"/>
          </p:cNvSpPr>
          <p:nvPr>
            <p:ph type="body" idx="1"/>
          </p:nvPr>
        </p:nvSpPr>
        <p:spPr/>
        <p:txBody>
          <a:bodyPr/>
          <a:lstStyle/>
          <a:p>
            <a:r>
              <a:rPr lang="en-US" altLang="en-US" dirty="0"/>
              <a:t>Triadic Sorting: Give respondent list of three products in category and ask to tell you how they think about the differences among the products.  Two should be similar and one should be different.  What makes the third different?</a:t>
            </a:r>
          </a:p>
          <a:p>
            <a:endParaRPr lang="en-US" altLang="en-US" dirty="0"/>
          </a:p>
          <a:p>
            <a:r>
              <a:rPr lang="en-US" altLang="en-US" dirty="0"/>
              <a:t>Preference-Consumption Differences:  What is it about your preferred brand that makes it more desirable?  Do you always buy your </a:t>
            </a:r>
            <a:r>
              <a:rPr lang="en-US" altLang="en-US" dirty="0" err="1"/>
              <a:t>prefered</a:t>
            </a:r>
            <a:r>
              <a:rPr lang="en-US" altLang="en-US" dirty="0"/>
              <a:t> brand?  Why or why not?</a:t>
            </a:r>
          </a:p>
          <a:p>
            <a:endParaRPr lang="en-US" altLang="en-US" dirty="0"/>
          </a:p>
          <a:p>
            <a:r>
              <a:rPr lang="en-US" altLang="en-US" dirty="0"/>
              <a:t>Differences by occasion:  Is there a situations in which you would use Brand X?  Why is brand X preferable in this situation?</a:t>
            </a:r>
          </a:p>
          <a:p>
            <a:r>
              <a:rPr lang="en-US" altLang="en-US" dirty="0"/>
              <a:t>Also set up different scenarios and ask when they would use each.</a:t>
            </a:r>
          </a:p>
        </p:txBody>
      </p:sp>
    </p:spTree>
    <p:extLst>
      <p:ext uri="{BB962C8B-B14F-4D97-AF65-F5344CB8AC3E}">
        <p14:creationId xmlns:p14="http://schemas.microsoft.com/office/powerpoint/2010/main" val="1064845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C447AFF-0050-4216-A169-FA5FD83D09DD}" type="slidenum">
              <a:rPr lang="en-US" altLang="en-US"/>
              <a:pPr/>
              <a:t>14</a:t>
            </a:fld>
            <a:endParaRPr lang="en-US" altLang="en-US"/>
          </a:p>
        </p:txBody>
      </p:sp>
      <p:sp>
        <p:nvSpPr>
          <p:cNvPr id="310274" name="Rectangle 2"/>
          <p:cNvSpPr>
            <a:spLocks noGrp="1" noRot="1" noChangeAspect="1" noChangeArrowheads="1" noTextEdit="1"/>
          </p:cNvSpPr>
          <p:nvPr>
            <p:ph type="sldImg"/>
          </p:nvPr>
        </p:nvSpPr>
        <p:spPr>
          <a:xfrm>
            <a:off x="381000" y="685800"/>
            <a:ext cx="6096000" cy="3429000"/>
          </a:xfrm>
          <a:ln/>
        </p:spPr>
      </p:sp>
      <p:sp>
        <p:nvSpPr>
          <p:cNvPr id="310275" name="Rectangle 3"/>
          <p:cNvSpPr>
            <a:spLocks noGrp="1" noChangeArrowheads="1"/>
          </p:cNvSpPr>
          <p:nvPr>
            <p:ph type="body" idx="1"/>
          </p:nvPr>
        </p:nvSpPr>
        <p:spPr/>
        <p:txBody>
          <a:bodyPr/>
          <a:lstStyle/>
          <a:p>
            <a:r>
              <a:rPr lang="en-US" altLang="en-US"/>
              <a:t>Absence of object:  What would you consume if the preferred choice wasn’t available?</a:t>
            </a:r>
          </a:p>
          <a:p>
            <a:r>
              <a:rPr lang="en-US" altLang="en-US"/>
              <a:t>Negative Laddering:  Why wouldn’t you buy the other option?</a:t>
            </a:r>
          </a:p>
        </p:txBody>
      </p:sp>
    </p:spTree>
    <p:extLst>
      <p:ext uri="{BB962C8B-B14F-4D97-AF65-F5344CB8AC3E}">
        <p14:creationId xmlns:p14="http://schemas.microsoft.com/office/powerpoint/2010/main" val="30843090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41501D5-5C63-491F-BF65-E6A822B9C86C}" type="slidenum">
              <a:rPr lang="en-US" altLang="en-US"/>
              <a:pPr/>
              <a:t>16</a:t>
            </a:fld>
            <a:endParaRPr lang="en-US" altLang="en-US"/>
          </a:p>
        </p:txBody>
      </p:sp>
      <p:sp>
        <p:nvSpPr>
          <p:cNvPr id="304130" name="Rectangle 2"/>
          <p:cNvSpPr>
            <a:spLocks noGrp="1" noRot="1" noChangeAspect="1" noChangeArrowheads="1" noTextEdit="1"/>
          </p:cNvSpPr>
          <p:nvPr>
            <p:ph type="sldImg"/>
          </p:nvPr>
        </p:nvSpPr>
        <p:spPr>
          <a:xfrm>
            <a:off x="381000" y="685800"/>
            <a:ext cx="6096000" cy="3429000"/>
          </a:xfrm>
          <a:ln/>
        </p:spPr>
      </p:sp>
      <p:sp>
        <p:nvSpPr>
          <p:cNvPr id="304131" name="Rectangle 3"/>
          <p:cNvSpPr>
            <a:spLocks noGrp="1" noChangeArrowheads="1"/>
          </p:cNvSpPr>
          <p:nvPr>
            <p:ph type="body" idx="1"/>
          </p:nvPr>
        </p:nvSpPr>
        <p:spPr/>
        <p:txBody>
          <a:bodyPr/>
          <a:lstStyle/>
          <a:p>
            <a:r>
              <a:rPr lang="en-US" altLang="en-US" dirty="0"/>
              <a:t>Identify what attributes consumers associate with the product</a:t>
            </a:r>
          </a:p>
          <a:p>
            <a:endParaRPr lang="en-US" altLang="en-US" dirty="0"/>
          </a:p>
          <a:p>
            <a:r>
              <a:rPr lang="en-US" altLang="en-US" dirty="0"/>
              <a:t>What consequences do these attributes lead to</a:t>
            </a:r>
          </a:p>
          <a:p>
            <a:endParaRPr lang="en-US" altLang="en-US" dirty="0"/>
          </a:p>
          <a:p>
            <a:r>
              <a:rPr lang="en-US" altLang="en-US" dirty="0"/>
              <a:t>What values do these attributes support</a:t>
            </a:r>
          </a:p>
        </p:txBody>
      </p:sp>
    </p:spTree>
    <p:extLst>
      <p:ext uri="{BB962C8B-B14F-4D97-AF65-F5344CB8AC3E}">
        <p14:creationId xmlns:p14="http://schemas.microsoft.com/office/powerpoint/2010/main" val="6895896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A2CE63-AE64-8646-9F3E-7DE0B8E53F29}" type="slidenum">
              <a:rPr lang="en-US" smtClean="0"/>
              <a:t>18</a:t>
            </a:fld>
            <a:endParaRPr lang="en-US"/>
          </a:p>
        </p:txBody>
      </p:sp>
    </p:spTree>
    <p:extLst>
      <p:ext uri="{BB962C8B-B14F-4D97-AF65-F5344CB8AC3E}">
        <p14:creationId xmlns:p14="http://schemas.microsoft.com/office/powerpoint/2010/main" val="8596451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4100734-FF99-944C-8656-684769A3B86B}" type="datetimeFigureOut">
              <a:rPr lang="en-US" smtClean="0"/>
              <a:t>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112992898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4100734-FF99-944C-8656-684769A3B86B}" type="datetimeFigureOut">
              <a:rPr lang="en-US" smtClean="0"/>
              <a:t>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153400" y="6311900"/>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165019486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4100734-FF99-944C-8656-684769A3B86B}" type="datetimeFigureOut">
              <a:rPr lang="en-US" smtClean="0"/>
              <a:t>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374295" y="6356350"/>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7382866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4100734-FF99-944C-8656-684769A3B86B}" type="datetimeFigureOut">
              <a:rPr lang="en-US" smtClean="0"/>
              <a:t>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153400" y="6356350"/>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174029152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4100734-FF99-944C-8656-684769A3B86B}" type="datetimeFigureOut">
              <a:rPr lang="en-US" smtClean="0"/>
              <a:t>2/13/2025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8153400" y="6356350"/>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352455763"/>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4100734-FF99-944C-8656-684769A3B86B}" type="datetimeFigureOut">
              <a:rPr lang="en-US" smtClean="0"/>
              <a:t>2/13/2025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8230456" y="6356350"/>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96411031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100734-FF99-944C-8656-684769A3B86B}" type="datetimeFigureOut">
              <a:rPr lang="en-US" smtClean="0"/>
              <a:t>2/13/2025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8153400" y="6373545"/>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103794759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4100734-FF99-944C-8656-684769A3B86B}" type="datetimeFigureOut">
              <a:rPr lang="en-US" smtClean="0"/>
              <a:t>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269288" y="6373545"/>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77548054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4100734-FF99-944C-8656-684769A3B86B}" type="datetimeFigureOut">
              <a:rPr lang="en-US" smtClean="0"/>
              <a:t>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353746" y="6356349"/>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42333340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4100734-FF99-944C-8656-684769A3B86B}" type="datetimeFigureOut">
              <a:rPr lang="en-US" smtClean="0"/>
              <a:t>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153400" y="6349643"/>
            <a:ext cx="2743200" cy="365125"/>
          </a:xfrm>
        </p:spPr>
        <p:txBody>
          <a:bodyPr/>
          <a:lstStyle>
            <a:lvl1pPr>
              <a:defRPr>
                <a:solidFill>
                  <a:srgbClr val="0070C0"/>
                </a:solidFill>
              </a:defRPr>
            </a:lvl1pPr>
          </a:lstStyle>
          <a:p>
            <a:fld id="{973E6DFB-264B-4D4C-9468-2A87659EAF58}" type="slidenum">
              <a:rPr lang="en-US" smtClean="0"/>
              <a:pPr/>
              <a:t>‹#›</a:t>
            </a:fld>
            <a:endParaRPr lang="en-US"/>
          </a:p>
        </p:txBody>
      </p:sp>
    </p:spTree>
    <p:extLst>
      <p:ext uri="{BB962C8B-B14F-4D97-AF65-F5344CB8AC3E}">
        <p14:creationId xmlns:p14="http://schemas.microsoft.com/office/powerpoint/2010/main" val="35113128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4100734-FF99-944C-8656-684769A3B86B}" type="datetimeFigureOut">
              <a:rPr lang="en-US" smtClean="0"/>
              <a:t>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3E6DFB-264B-4D4C-9468-2A87659EAF58}" type="slidenum">
              <a:rPr lang="en-US" smtClean="0"/>
              <a:t>‹#›</a:t>
            </a:fld>
            <a:endParaRPr lang="en-US"/>
          </a:p>
        </p:txBody>
      </p:sp>
    </p:spTree>
    <p:extLst>
      <p:ext uri="{BB962C8B-B14F-4D97-AF65-F5344CB8AC3E}">
        <p14:creationId xmlns:p14="http://schemas.microsoft.com/office/powerpoint/2010/main" val="178512267"/>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3000" b="-3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100734-FF99-944C-8656-684769A3B86B}" type="datetimeFigureOut">
              <a:rPr lang="en-US" smtClean="0"/>
              <a:t>2/13/2025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3E6DFB-264B-4D4C-9468-2A87659EAF58}" type="slidenum">
              <a:rPr lang="en-US" smtClean="0"/>
              <a:t>‹#›</a:t>
            </a:fld>
            <a:endParaRPr lang="en-US"/>
          </a:p>
        </p:txBody>
      </p:sp>
    </p:spTree>
    <p:extLst>
      <p:ext uri="{BB962C8B-B14F-4D97-AF65-F5344CB8AC3E}">
        <p14:creationId xmlns:p14="http://schemas.microsoft.com/office/powerpoint/2010/main" val="17366323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uxmatters.com/mt/archives/2009/07/laddering-a-research-interview-technique-for-uncovering-core-values.php"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youtube.com/watch?v=SUUqE3hJm3o"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otter.ai/"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98072" y="969962"/>
            <a:ext cx="9144000" cy="2706687"/>
          </a:xfrm>
        </p:spPr>
        <p:txBody>
          <a:bodyPr>
            <a:normAutofit fontScale="90000"/>
          </a:bodyPr>
          <a:lstStyle/>
          <a:p>
            <a:r>
              <a:rPr lang="en-US" b="1" dirty="0">
                <a:solidFill>
                  <a:srgbClr val="001541"/>
                </a:solidFill>
              </a:rPr>
              <a:t>Collecting Primary Data:</a:t>
            </a:r>
            <a:br>
              <a:rPr lang="en-US" b="1" dirty="0">
                <a:solidFill>
                  <a:srgbClr val="001541"/>
                </a:solidFill>
              </a:rPr>
            </a:br>
            <a:r>
              <a:rPr lang="en-US" sz="5300" b="1" dirty="0">
                <a:solidFill>
                  <a:srgbClr val="001541"/>
                </a:solidFill>
              </a:rPr>
              <a:t>Personal Interviews and Laddering</a:t>
            </a:r>
            <a:br>
              <a:rPr lang="en-US" b="1" dirty="0">
                <a:solidFill>
                  <a:srgbClr val="001541"/>
                </a:solidFill>
              </a:rPr>
            </a:br>
            <a:r>
              <a:rPr lang="en-US" sz="2800" b="1" dirty="0">
                <a:solidFill>
                  <a:srgbClr val="001541"/>
                </a:solidFill>
              </a:rPr>
              <a:t>Preparing for your Assignment</a:t>
            </a:r>
            <a:endParaRPr lang="en-US" b="1" dirty="0">
              <a:solidFill>
                <a:srgbClr val="001541"/>
              </a:solidFill>
            </a:endParaRPr>
          </a:p>
        </p:txBody>
      </p:sp>
      <p:sp>
        <p:nvSpPr>
          <p:cNvPr id="8" name="Subtitle 2"/>
          <p:cNvSpPr>
            <a:spLocks noGrp="1"/>
          </p:cNvSpPr>
          <p:nvPr>
            <p:ph type="subTitle" idx="1"/>
          </p:nvPr>
        </p:nvSpPr>
        <p:spPr>
          <a:xfrm>
            <a:off x="870857" y="3749447"/>
            <a:ext cx="9144000" cy="1655762"/>
          </a:xfrm>
        </p:spPr>
        <p:txBody>
          <a:bodyPr/>
          <a:lstStyle/>
          <a:p>
            <a:r>
              <a:rPr lang="en-US" b="1" dirty="0">
                <a:solidFill>
                  <a:srgbClr val="009CC8"/>
                </a:solidFill>
              </a:rPr>
              <a:t>MKTG 302</a:t>
            </a:r>
          </a:p>
          <a:p>
            <a:r>
              <a:rPr lang="en-US" b="1" dirty="0">
                <a:solidFill>
                  <a:srgbClr val="009CC8"/>
                </a:solidFill>
              </a:rPr>
              <a:t>Spring Semester, 2025</a:t>
            </a:r>
          </a:p>
          <a:p>
            <a:r>
              <a:rPr lang="en-US" b="1" dirty="0">
                <a:solidFill>
                  <a:srgbClr val="009CC8"/>
                </a:solidFill>
              </a:rPr>
              <a:t>Scott Beck</a:t>
            </a:r>
          </a:p>
        </p:txBody>
      </p:sp>
    </p:spTree>
    <p:extLst>
      <p:ext uri="{BB962C8B-B14F-4D97-AF65-F5344CB8AC3E}">
        <p14:creationId xmlns:p14="http://schemas.microsoft.com/office/powerpoint/2010/main" val="51856047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42" name="Rectangle 2"/>
          <p:cNvSpPr>
            <a:spLocks noGrp="1" noChangeArrowheads="1"/>
          </p:cNvSpPr>
          <p:nvPr>
            <p:ph type="title"/>
          </p:nvPr>
        </p:nvSpPr>
        <p:spPr>
          <a:xfrm>
            <a:off x="853751" y="447869"/>
            <a:ext cx="7772400" cy="762000"/>
          </a:xfrm>
        </p:spPr>
        <p:txBody>
          <a:bodyPr>
            <a:normAutofit/>
          </a:bodyPr>
          <a:lstStyle/>
          <a:p>
            <a:r>
              <a:rPr lang="en-US" altLang="en-US" sz="4000" dirty="0">
                <a:latin typeface="+mn-lt"/>
              </a:rPr>
              <a:t>Looking ahead</a:t>
            </a:r>
          </a:p>
        </p:txBody>
      </p:sp>
      <p:sp>
        <p:nvSpPr>
          <p:cNvPr id="266243" name="Rectangle 3"/>
          <p:cNvSpPr>
            <a:spLocks noGrp="1" noChangeArrowheads="1"/>
          </p:cNvSpPr>
          <p:nvPr>
            <p:ph idx="1"/>
          </p:nvPr>
        </p:nvSpPr>
        <p:spPr>
          <a:xfrm>
            <a:off x="1371600" y="1495424"/>
            <a:ext cx="8991600" cy="4800601"/>
          </a:xfrm>
        </p:spPr>
        <p:txBody>
          <a:bodyPr>
            <a:noAutofit/>
          </a:bodyPr>
          <a:lstStyle/>
          <a:p>
            <a:pPr>
              <a:lnSpc>
                <a:spcPct val="90000"/>
              </a:lnSpc>
              <a:spcAft>
                <a:spcPct val="40000"/>
              </a:spcAft>
            </a:pPr>
            <a:r>
              <a:rPr lang="en-US" altLang="en-US" dirty="0"/>
              <a:t>Quiz #1 is in one week.  More details to be shared on Thursday.</a:t>
            </a:r>
          </a:p>
          <a:p>
            <a:pPr lvl="1">
              <a:spcAft>
                <a:spcPct val="40000"/>
              </a:spcAft>
            </a:pPr>
            <a:r>
              <a:rPr lang="en-US" altLang="en-US" dirty="0"/>
              <a:t>Usual Format:</a:t>
            </a:r>
          </a:p>
          <a:p>
            <a:pPr lvl="2">
              <a:lnSpc>
                <a:spcPct val="100000"/>
              </a:lnSpc>
            </a:pPr>
            <a:r>
              <a:rPr lang="en-US" altLang="en-US" dirty="0"/>
              <a:t>Canvas administered with Lockdown Browser.</a:t>
            </a:r>
          </a:p>
          <a:p>
            <a:pPr lvl="2">
              <a:lnSpc>
                <a:spcPct val="100000"/>
              </a:lnSpc>
            </a:pPr>
            <a:r>
              <a:rPr lang="en-US" altLang="en-US" dirty="0"/>
              <a:t>4-5 Short Answer Questions @ 10 points ea.</a:t>
            </a:r>
          </a:p>
          <a:p>
            <a:pPr lvl="2">
              <a:lnSpc>
                <a:spcPct val="100000"/>
              </a:lnSpc>
            </a:pPr>
            <a:r>
              <a:rPr lang="en-US" altLang="en-US" dirty="0"/>
              <a:t>Several T/F, MC, Fill in the Blank @ 5 points ea.</a:t>
            </a:r>
          </a:p>
          <a:p>
            <a:pPr lvl="2">
              <a:lnSpc>
                <a:spcPct val="100000"/>
              </a:lnSpc>
            </a:pPr>
            <a:r>
              <a:rPr lang="en-US" altLang="en-US" dirty="0"/>
              <a:t>1-2 Critical Thinking Questions, including Ethical Overview.</a:t>
            </a:r>
          </a:p>
        </p:txBody>
      </p:sp>
    </p:spTree>
    <p:extLst>
      <p:ext uri="{BB962C8B-B14F-4D97-AF65-F5344CB8AC3E}">
        <p14:creationId xmlns:p14="http://schemas.microsoft.com/office/powerpoint/2010/main" val="290514612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66242"/>
                                        </p:tgtEl>
                                        <p:attrNameLst>
                                          <p:attrName>style.visibility</p:attrName>
                                        </p:attrNameLst>
                                      </p:cBhvr>
                                      <p:to>
                                        <p:strVal val="visible"/>
                                      </p:to>
                                    </p:set>
                                    <p:anim calcmode="lin" valueType="num">
                                      <p:cBhvr additive="base">
                                        <p:cTn id="7" dur="500" fill="hold"/>
                                        <p:tgtEl>
                                          <p:spTgt spid="266242"/>
                                        </p:tgtEl>
                                        <p:attrNameLst>
                                          <p:attrName>ppt_x</p:attrName>
                                        </p:attrNameLst>
                                      </p:cBhvr>
                                      <p:tavLst>
                                        <p:tav tm="0">
                                          <p:val>
                                            <p:strVal val="0-#ppt_w/2"/>
                                          </p:val>
                                        </p:tav>
                                        <p:tav tm="100000">
                                          <p:val>
                                            <p:strVal val="#ppt_x"/>
                                          </p:val>
                                        </p:tav>
                                      </p:tavLst>
                                    </p:anim>
                                    <p:anim calcmode="lin" valueType="num">
                                      <p:cBhvr additive="base">
                                        <p:cTn id="8" dur="500" fill="hold"/>
                                        <p:tgtEl>
                                          <p:spTgt spid="26624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66243">
                                            <p:txEl>
                                              <p:pRg st="0" end="0"/>
                                            </p:txEl>
                                          </p:spTgt>
                                        </p:tgtEl>
                                        <p:attrNameLst>
                                          <p:attrName>style.visibility</p:attrName>
                                        </p:attrNameLst>
                                      </p:cBhvr>
                                      <p:to>
                                        <p:strVal val="visible"/>
                                      </p:to>
                                    </p:set>
                                    <p:animEffect transition="in" filter="wipe(left)">
                                      <p:cBhvr>
                                        <p:cTn id="13" dur="500"/>
                                        <p:tgtEl>
                                          <p:spTgt spid="26624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66243">
                                            <p:txEl>
                                              <p:pRg st="1" end="1"/>
                                            </p:txEl>
                                          </p:spTgt>
                                        </p:tgtEl>
                                        <p:attrNameLst>
                                          <p:attrName>style.visibility</p:attrName>
                                        </p:attrNameLst>
                                      </p:cBhvr>
                                      <p:to>
                                        <p:strVal val="visible"/>
                                      </p:to>
                                    </p:set>
                                    <p:animEffect transition="in" filter="wipe(left)">
                                      <p:cBhvr>
                                        <p:cTn id="18" dur="500"/>
                                        <p:tgtEl>
                                          <p:spTgt spid="266243">
                                            <p:txEl>
                                              <p:pRg st="1" end="1"/>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66243">
                                            <p:txEl>
                                              <p:pRg st="2" end="2"/>
                                            </p:txEl>
                                          </p:spTgt>
                                        </p:tgtEl>
                                        <p:attrNameLst>
                                          <p:attrName>style.visibility</p:attrName>
                                        </p:attrNameLst>
                                      </p:cBhvr>
                                      <p:to>
                                        <p:strVal val="visible"/>
                                      </p:to>
                                    </p:set>
                                    <p:animEffect transition="in" filter="wipe(left)">
                                      <p:cBhvr>
                                        <p:cTn id="21" dur="500"/>
                                        <p:tgtEl>
                                          <p:spTgt spid="266243">
                                            <p:txEl>
                                              <p:pRg st="2" end="2"/>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266243">
                                            <p:txEl>
                                              <p:pRg st="3" end="3"/>
                                            </p:txEl>
                                          </p:spTgt>
                                        </p:tgtEl>
                                        <p:attrNameLst>
                                          <p:attrName>style.visibility</p:attrName>
                                        </p:attrNameLst>
                                      </p:cBhvr>
                                      <p:to>
                                        <p:strVal val="visible"/>
                                      </p:to>
                                    </p:set>
                                    <p:animEffect transition="in" filter="wipe(left)">
                                      <p:cBhvr>
                                        <p:cTn id="24" dur="500"/>
                                        <p:tgtEl>
                                          <p:spTgt spid="266243">
                                            <p:txEl>
                                              <p:pRg st="3" end="3"/>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266243">
                                            <p:txEl>
                                              <p:pRg st="4" end="4"/>
                                            </p:txEl>
                                          </p:spTgt>
                                        </p:tgtEl>
                                        <p:attrNameLst>
                                          <p:attrName>style.visibility</p:attrName>
                                        </p:attrNameLst>
                                      </p:cBhvr>
                                      <p:to>
                                        <p:strVal val="visible"/>
                                      </p:to>
                                    </p:set>
                                    <p:animEffect transition="in" filter="wipe(left)">
                                      <p:cBhvr>
                                        <p:cTn id="27" dur="500"/>
                                        <p:tgtEl>
                                          <p:spTgt spid="266243">
                                            <p:txEl>
                                              <p:pRg st="4" end="4"/>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266243">
                                            <p:txEl>
                                              <p:pRg st="5" end="5"/>
                                            </p:txEl>
                                          </p:spTgt>
                                        </p:tgtEl>
                                        <p:attrNameLst>
                                          <p:attrName>style.visibility</p:attrName>
                                        </p:attrNameLst>
                                      </p:cBhvr>
                                      <p:to>
                                        <p:strVal val="visible"/>
                                      </p:to>
                                    </p:set>
                                    <p:animEffect transition="in" filter="wipe(left)">
                                      <p:cBhvr>
                                        <p:cTn id="30" dur="500"/>
                                        <p:tgtEl>
                                          <p:spTgt spid="26624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42" grpId="0" autoUpdateAnimBg="0"/>
      <p:bldP spid="266243" grpId="0" build="p" bldLvl="2"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42" name="Rectangle 2"/>
          <p:cNvSpPr>
            <a:spLocks noGrp="1" noChangeArrowheads="1"/>
          </p:cNvSpPr>
          <p:nvPr>
            <p:ph type="title"/>
          </p:nvPr>
        </p:nvSpPr>
        <p:spPr>
          <a:xfrm>
            <a:off x="853751" y="447869"/>
            <a:ext cx="7772400" cy="762000"/>
          </a:xfrm>
        </p:spPr>
        <p:txBody>
          <a:bodyPr>
            <a:normAutofit/>
          </a:bodyPr>
          <a:lstStyle/>
          <a:p>
            <a:r>
              <a:rPr lang="en-US" altLang="en-US" sz="4000" dirty="0">
                <a:latin typeface="+mn-lt"/>
              </a:rPr>
              <a:t>Student Learning Objectives</a:t>
            </a:r>
          </a:p>
        </p:txBody>
      </p:sp>
      <p:sp>
        <p:nvSpPr>
          <p:cNvPr id="266243" name="Rectangle 3"/>
          <p:cNvSpPr>
            <a:spLocks noGrp="1" noChangeArrowheads="1"/>
          </p:cNvSpPr>
          <p:nvPr>
            <p:ph idx="1"/>
          </p:nvPr>
        </p:nvSpPr>
        <p:spPr>
          <a:xfrm>
            <a:off x="1371600" y="1495424"/>
            <a:ext cx="8991600" cy="4800601"/>
          </a:xfrm>
        </p:spPr>
        <p:txBody>
          <a:bodyPr>
            <a:noAutofit/>
          </a:bodyPr>
          <a:lstStyle/>
          <a:p>
            <a:pPr>
              <a:lnSpc>
                <a:spcPct val="90000"/>
              </a:lnSpc>
              <a:spcAft>
                <a:spcPct val="40000"/>
              </a:spcAft>
            </a:pPr>
            <a:r>
              <a:rPr lang="en-US" altLang="en-US" sz="2800" dirty="0"/>
              <a:t>Be able to understand the Laddering technique as part of getting to the root of issues.</a:t>
            </a:r>
          </a:p>
          <a:p>
            <a:pPr>
              <a:lnSpc>
                <a:spcPct val="90000"/>
              </a:lnSpc>
              <a:spcAft>
                <a:spcPct val="40000"/>
              </a:spcAft>
            </a:pPr>
            <a:r>
              <a:rPr lang="en-US" altLang="en-US" dirty="0"/>
              <a:t>Learn more about Laddering and Probing in the context of qualitative research.</a:t>
            </a:r>
          </a:p>
          <a:p>
            <a:pPr>
              <a:lnSpc>
                <a:spcPct val="90000"/>
              </a:lnSpc>
              <a:spcAft>
                <a:spcPct val="40000"/>
              </a:spcAft>
            </a:pPr>
            <a:r>
              <a:rPr lang="en-US" altLang="en-US" dirty="0"/>
              <a:t>Identify issues that you want to measure in quantitative research a few weeks from now.</a:t>
            </a:r>
          </a:p>
        </p:txBody>
      </p:sp>
    </p:spTree>
    <p:extLst>
      <p:ext uri="{BB962C8B-B14F-4D97-AF65-F5344CB8AC3E}">
        <p14:creationId xmlns:p14="http://schemas.microsoft.com/office/powerpoint/2010/main" val="662003228"/>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66242"/>
                                        </p:tgtEl>
                                        <p:attrNameLst>
                                          <p:attrName>style.visibility</p:attrName>
                                        </p:attrNameLst>
                                      </p:cBhvr>
                                      <p:to>
                                        <p:strVal val="visible"/>
                                      </p:to>
                                    </p:set>
                                    <p:anim calcmode="lin" valueType="num">
                                      <p:cBhvr additive="base">
                                        <p:cTn id="7" dur="500" fill="hold"/>
                                        <p:tgtEl>
                                          <p:spTgt spid="266242"/>
                                        </p:tgtEl>
                                        <p:attrNameLst>
                                          <p:attrName>ppt_x</p:attrName>
                                        </p:attrNameLst>
                                      </p:cBhvr>
                                      <p:tavLst>
                                        <p:tav tm="0">
                                          <p:val>
                                            <p:strVal val="0-#ppt_w/2"/>
                                          </p:val>
                                        </p:tav>
                                        <p:tav tm="100000">
                                          <p:val>
                                            <p:strVal val="#ppt_x"/>
                                          </p:val>
                                        </p:tav>
                                      </p:tavLst>
                                    </p:anim>
                                    <p:anim calcmode="lin" valueType="num">
                                      <p:cBhvr additive="base">
                                        <p:cTn id="8" dur="500" fill="hold"/>
                                        <p:tgtEl>
                                          <p:spTgt spid="26624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66243">
                                            <p:txEl>
                                              <p:pRg st="0" end="0"/>
                                            </p:txEl>
                                          </p:spTgt>
                                        </p:tgtEl>
                                        <p:attrNameLst>
                                          <p:attrName>style.visibility</p:attrName>
                                        </p:attrNameLst>
                                      </p:cBhvr>
                                      <p:to>
                                        <p:strVal val="visible"/>
                                      </p:to>
                                    </p:set>
                                    <p:animEffect transition="in" filter="wipe(left)">
                                      <p:cBhvr>
                                        <p:cTn id="13" dur="500"/>
                                        <p:tgtEl>
                                          <p:spTgt spid="26624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66243">
                                            <p:txEl>
                                              <p:pRg st="1" end="1"/>
                                            </p:txEl>
                                          </p:spTgt>
                                        </p:tgtEl>
                                        <p:attrNameLst>
                                          <p:attrName>style.visibility</p:attrName>
                                        </p:attrNameLst>
                                      </p:cBhvr>
                                      <p:to>
                                        <p:strVal val="visible"/>
                                      </p:to>
                                    </p:set>
                                    <p:animEffect transition="in" filter="wipe(left)">
                                      <p:cBhvr>
                                        <p:cTn id="18" dur="500"/>
                                        <p:tgtEl>
                                          <p:spTgt spid="26624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66243">
                                            <p:txEl>
                                              <p:pRg st="2" end="2"/>
                                            </p:txEl>
                                          </p:spTgt>
                                        </p:tgtEl>
                                        <p:attrNameLst>
                                          <p:attrName>style.visibility</p:attrName>
                                        </p:attrNameLst>
                                      </p:cBhvr>
                                      <p:to>
                                        <p:strVal val="visible"/>
                                      </p:to>
                                    </p:set>
                                    <p:animEffect transition="in" filter="wipe(left)">
                                      <p:cBhvr>
                                        <p:cTn id="23" dur="500"/>
                                        <p:tgtEl>
                                          <p:spTgt spid="26624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42" grpId="0" autoUpdateAnimBg="0"/>
      <p:bldP spid="266243" grpId="0" build="p" bldLvl="2" autoUpdateAnimBg="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Rectangle 1"/>
          <p:cNvSpPr/>
          <p:nvPr/>
        </p:nvSpPr>
        <p:spPr>
          <a:xfrm>
            <a:off x="1248508" y="2197359"/>
            <a:ext cx="8305800" cy="1371600"/>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146" name="Rectangle 2"/>
          <p:cNvSpPr>
            <a:spLocks noGrp="1" noChangeArrowheads="1"/>
          </p:cNvSpPr>
          <p:nvPr>
            <p:ph type="title"/>
          </p:nvPr>
        </p:nvSpPr>
        <p:spPr>
          <a:xfrm>
            <a:off x="538066" y="586273"/>
            <a:ext cx="7924800" cy="990600"/>
          </a:xfrm>
        </p:spPr>
        <p:txBody>
          <a:bodyPr>
            <a:normAutofit/>
          </a:bodyPr>
          <a:lstStyle/>
          <a:p>
            <a:r>
              <a:rPr lang="en-US" altLang="en-US" sz="4000" dirty="0">
                <a:latin typeface="+mn-lt"/>
              </a:rPr>
              <a:t>Depth Interviews - Techniques</a:t>
            </a:r>
          </a:p>
        </p:txBody>
      </p:sp>
      <p:sp>
        <p:nvSpPr>
          <p:cNvPr id="262147" name="Rectangle 3"/>
          <p:cNvSpPr>
            <a:spLocks noGrp="1" noChangeArrowheads="1"/>
          </p:cNvSpPr>
          <p:nvPr>
            <p:ph idx="1"/>
          </p:nvPr>
        </p:nvSpPr>
        <p:spPr>
          <a:xfrm>
            <a:off x="1158551" y="1684175"/>
            <a:ext cx="8001000" cy="4724400"/>
          </a:xfrm>
        </p:spPr>
        <p:txBody>
          <a:bodyPr>
            <a:normAutofit/>
          </a:bodyPr>
          <a:lstStyle/>
          <a:p>
            <a:pPr>
              <a:spcAft>
                <a:spcPct val="20000"/>
              </a:spcAft>
            </a:pPr>
            <a:r>
              <a:rPr lang="en-US" altLang="en-US" sz="2800" dirty="0">
                <a:hlinkClick r:id="rId3"/>
              </a:rPr>
              <a:t>Laddering</a:t>
            </a:r>
            <a:endParaRPr lang="en-US" altLang="en-US" sz="2800" dirty="0"/>
          </a:p>
          <a:p>
            <a:pPr lvl="1">
              <a:spcAft>
                <a:spcPct val="20000"/>
              </a:spcAft>
            </a:pPr>
            <a:r>
              <a:rPr lang="en-US" altLang="en-US" sz="2400" dirty="0"/>
              <a:t>Moves from attributes of brands, to their importance, to why…</a:t>
            </a:r>
          </a:p>
          <a:p>
            <a:pPr lvl="1">
              <a:spcAft>
                <a:spcPct val="20000"/>
              </a:spcAft>
            </a:pPr>
            <a:r>
              <a:rPr lang="en-US" altLang="en-US" sz="2400" dirty="0"/>
              <a:t>Uncovers “networks of meaning”</a:t>
            </a:r>
          </a:p>
          <a:p>
            <a:pPr>
              <a:spcAft>
                <a:spcPct val="20000"/>
              </a:spcAft>
            </a:pPr>
            <a:r>
              <a:rPr lang="en-US" altLang="en-US" sz="2800" dirty="0"/>
              <a:t>Hidden Issue</a:t>
            </a:r>
          </a:p>
          <a:p>
            <a:pPr lvl="1">
              <a:spcAft>
                <a:spcPct val="20000"/>
              </a:spcAft>
            </a:pPr>
            <a:r>
              <a:rPr lang="en-US" altLang="en-US" sz="2400" dirty="0"/>
              <a:t>Feelings about sensitive issues, personal “sore spots,” concerns</a:t>
            </a:r>
          </a:p>
          <a:p>
            <a:pPr>
              <a:spcAft>
                <a:spcPct val="20000"/>
              </a:spcAft>
            </a:pPr>
            <a:r>
              <a:rPr lang="en-US" altLang="en-US" sz="2800" dirty="0"/>
              <a:t>Symbolic Analysis</a:t>
            </a:r>
          </a:p>
          <a:p>
            <a:pPr lvl="1">
              <a:spcAft>
                <a:spcPct val="20000"/>
              </a:spcAft>
            </a:pPr>
            <a:r>
              <a:rPr lang="en-US" altLang="en-US" sz="2400" dirty="0"/>
              <a:t>Describes the opposite of the product/activity of interest</a:t>
            </a:r>
          </a:p>
        </p:txBody>
      </p:sp>
    </p:spTree>
    <p:extLst>
      <p:ext uri="{BB962C8B-B14F-4D97-AF65-F5344CB8AC3E}">
        <p14:creationId xmlns:p14="http://schemas.microsoft.com/office/powerpoint/2010/main" val="368410041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2147">
                                            <p:txEl>
                                              <p:pRg st="0" end="0"/>
                                            </p:txEl>
                                          </p:spTgt>
                                        </p:tgtEl>
                                        <p:attrNameLst>
                                          <p:attrName>style.visibility</p:attrName>
                                        </p:attrNameLst>
                                      </p:cBhvr>
                                      <p:to>
                                        <p:strVal val="visible"/>
                                      </p:to>
                                    </p:set>
                                    <p:animEffect transition="in" filter="wipe(left)">
                                      <p:cBhvr>
                                        <p:cTn id="7" dur="500"/>
                                        <p:tgtEl>
                                          <p:spTgt spid="262147">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62147">
                                            <p:txEl>
                                              <p:pRg st="1" end="1"/>
                                            </p:txEl>
                                          </p:spTgt>
                                        </p:tgtEl>
                                        <p:attrNameLst>
                                          <p:attrName>style.visibility</p:attrName>
                                        </p:attrNameLst>
                                      </p:cBhvr>
                                      <p:to>
                                        <p:strVal val="visible"/>
                                      </p:to>
                                    </p:set>
                                    <p:animEffect transition="in" filter="wipe(left)">
                                      <p:cBhvr>
                                        <p:cTn id="10" dur="500"/>
                                        <p:tgtEl>
                                          <p:spTgt spid="262147">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62147">
                                            <p:txEl>
                                              <p:pRg st="2" end="2"/>
                                            </p:txEl>
                                          </p:spTgt>
                                        </p:tgtEl>
                                        <p:attrNameLst>
                                          <p:attrName>style.visibility</p:attrName>
                                        </p:attrNameLst>
                                      </p:cBhvr>
                                      <p:to>
                                        <p:strVal val="visible"/>
                                      </p:to>
                                    </p:set>
                                    <p:animEffect transition="in" filter="wipe(left)">
                                      <p:cBhvr>
                                        <p:cTn id="13" dur="500"/>
                                        <p:tgtEl>
                                          <p:spTgt spid="262147">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62147">
                                            <p:txEl>
                                              <p:pRg st="3" end="3"/>
                                            </p:txEl>
                                          </p:spTgt>
                                        </p:tgtEl>
                                        <p:attrNameLst>
                                          <p:attrName>style.visibility</p:attrName>
                                        </p:attrNameLst>
                                      </p:cBhvr>
                                      <p:to>
                                        <p:strVal val="visible"/>
                                      </p:to>
                                    </p:set>
                                    <p:animEffect transition="in" filter="wipe(left)">
                                      <p:cBhvr>
                                        <p:cTn id="18" dur="500"/>
                                        <p:tgtEl>
                                          <p:spTgt spid="262147">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62147">
                                            <p:txEl>
                                              <p:pRg st="4" end="4"/>
                                            </p:txEl>
                                          </p:spTgt>
                                        </p:tgtEl>
                                        <p:attrNameLst>
                                          <p:attrName>style.visibility</p:attrName>
                                        </p:attrNameLst>
                                      </p:cBhvr>
                                      <p:to>
                                        <p:strVal val="visible"/>
                                      </p:to>
                                    </p:set>
                                    <p:animEffect transition="in" filter="wipe(left)">
                                      <p:cBhvr>
                                        <p:cTn id="21" dur="500"/>
                                        <p:tgtEl>
                                          <p:spTgt spid="262147">
                                            <p:txEl>
                                              <p:pRg st="4" end="4"/>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62147">
                                            <p:txEl>
                                              <p:pRg st="5" end="5"/>
                                            </p:txEl>
                                          </p:spTgt>
                                        </p:tgtEl>
                                        <p:attrNameLst>
                                          <p:attrName>style.visibility</p:attrName>
                                        </p:attrNameLst>
                                      </p:cBhvr>
                                      <p:to>
                                        <p:strVal val="visible"/>
                                      </p:to>
                                    </p:set>
                                    <p:animEffect transition="in" filter="wipe(left)">
                                      <p:cBhvr>
                                        <p:cTn id="26" dur="500"/>
                                        <p:tgtEl>
                                          <p:spTgt spid="262147">
                                            <p:txEl>
                                              <p:pRg st="5" end="5"/>
                                            </p:txEl>
                                          </p:spTgt>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262147">
                                            <p:txEl>
                                              <p:pRg st="6" end="6"/>
                                            </p:txEl>
                                          </p:spTgt>
                                        </p:tgtEl>
                                        <p:attrNameLst>
                                          <p:attrName>style.visibility</p:attrName>
                                        </p:attrNameLst>
                                      </p:cBhvr>
                                      <p:to>
                                        <p:strVal val="visible"/>
                                      </p:to>
                                    </p:set>
                                    <p:animEffect transition="in" filter="wipe(left)">
                                      <p:cBhvr>
                                        <p:cTn id="29" dur="500"/>
                                        <p:tgtEl>
                                          <p:spTgt spid="262147">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62147"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42" name="Rectangle 2"/>
          <p:cNvSpPr>
            <a:spLocks noGrp="1" noChangeArrowheads="1"/>
          </p:cNvSpPr>
          <p:nvPr>
            <p:ph type="title"/>
          </p:nvPr>
        </p:nvSpPr>
        <p:spPr>
          <a:xfrm>
            <a:off x="853751" y="447869"/>
            <a:ext cx="7772400" cy="762000"/>
          </a:xfrm>
        </p:spPr>
        <p:txBody>
          <a:bodyPr>
            <a:normAutofit/>
          </a:bodyPr>
          <a:lstStyle/>
          <a:p>
            <a:r>
              <a:rPr lang="en-US" altLang="en-US" sz="4000" dirty="0">
                <a:latin typeface="+mn-lt"/>
              </a:rPr>
              <a:t>Assignment 3</a:t>
            </a:r>
          </a:p>
        </p:txBody>
      </p:sp>
      <p:sp>
        <p:nvSpPr>
          <p:cNvPr id="266243" name="Rectangle 3"/>
          <p:cNvSpPr>
            <a:spLocks noGrp="1" noChangeArrowheads="1"/>
          </p:cNvSpPr>
          <p:nvPr>
            <p:ph idx="1"/>
          </p:nvPr>
        </p:nvSpPr>
        <p:spPr>
          <a:xfrm>
            <a:off x="1371600" y="2209800"/>
            <a:ext cx="8991600" cy="3276600"/>
          </a:xfrm>
        </p:spPr>
        <p:txBody>
          <a:bodyPr>
            <a:noAutofit/>
          </a:bodyPr>
          <a:lstStyle/>
          <a:p>
            <a:pPr>
              <a:lnSpc>
                <a:spcPct val="90000"/>
              </a:lnSpc>
              <a:spcAft>
                <a:spcPct val="40000"/>
              </a:spcAft>
            </a:pPr>
            <a:r>
              <a:rPr lang="en-US" altLang="en-US" sz="2800" dirty="0"/>
              <a:t>Collection &amp; Analysis of Qualitative Data</a:t>
            </a:r>
          </a:p>
          <a:p>
            <a:pPr lvl="1">
              <a:lnSpc>
                <a:spcPct val="90000"/>
              </a:lnSpc>
              <a:spcAft>
                <a:spcPct val="40000"/>
              </a:spcAft>
            </a:pPr>
            <a:r>
              <a:rPr lang="en-US" altLang="en-US" sz="2400" dirty="0"/>
              <a:t>Uses </a:t>
            </a:r>
            <a:r>
              <a:rPr lang="en-US" altLang="en-US" sz="2400" b="1" i="1" dirty="0"/>
              <a:t>laddering technique</a:t>
            </a:r>
            <a:r>
              <a:rPr lang="en-US" altLang="en-US" sz="2400" dirty="0"/>
              <a:t> to conduct </a:t>
            </a:r>
            <a:r>
              <a:rPr lang="en-US" altLang="en-US" sz="2400" dirty="0">
                <a:hlinkClick r:id="rId2"/>
              </a:rPr>
              <a:t>depth interviews</a:t>
            </a:r>
            <a:endParaRPr lang="en-US" altLang="en-US" sz="2400" dirty="0"/>
          </a:p>
          <a:p>
            <a:pPr lvl="1">
              <a:lnSpc>
                <a:spcPct val="90000"/>
              </a:lnSpc>
              <a:spcAft>
                <a:spcPct val="40000"/>
              </a:spcAft>
            </a:pPr>
            <a:r>
              <a:rPr lang="en-US" altLang="en-US" sz="2400" dirty="0"/>
              <a:t>Uses means-end analysis technique to create Hierarchical Value Maps (HVM) – (note that we will </a:t>
            </a:r>
            <a:r>
              <a:rPr lang="en-US" altLang="en-US" sz="2400" b="1" dirty="0">
                <a:highlight>
                  <a:srgbClr val="FFFF00"/>
                </a:highlight>
              </a:rPr>
              <a:t>NOT</a:t>
            </a:r>
            <a:r>
              <a:rPr lang="en-US" altLang="en-US" sz="2400" dirty="0"/>
              <a:t> pursue this!)</a:t>
            </a:r>
          </a:p>
          <a:p>
            <a:pPr lvl="1">
              <a:lnSpc>
                <a:spcPct val="90000"/>
              </a:lnSpc>
              <a:spcAft>
                <a:spcPct val="40000"/>
              </a:spcAft>
            </a:pPr>
            <a:r>
              <a:rPr lang="en-US" altLang="en-US" sz="2400" dirty="0"/>
              <a:t>Leads to </a:t>
            </a:r>
            <a:r>
              <a:rPr lang="en-US" altLang="en-US" sz="2400" i="1" dirty="0"/>
              <a:t>better understanding of consumers’ </a:t>
            </a:r>
            <a:r>
              <a:rPr lang="en-US" altLang="en-US" sz="2400" i="1" u="sng" dirty="0"/>
              <a:t>underlying motivations and attitudes</a:t>
            </a:r>
          </a:p>
          <a:p>
            <a:pPr lvl="1">
              <a:lnSpc>
                <a:spcPct val="90000"/>
              </a:lnSpc>
              <a:spcAft>
                <a:spcPct val="40000"/>
              </a:spcAft>
            </a:pPr>
            <a:r>
              <a:rPr lang="en-US" altLang="en-US" sz="2400" dirty="0"/>
              <a:t>Allows managers to develop more effective marketing communications strategies</a:t>
            </a:r>
          </a:p>
        </p:txBody>
      </p:sp>
    </p:spTree>
    <p:extLst>
      <p:ext uri="{BB962C8B-B14F-4D97-AF65-F5344CB8AC3E}">
        <p14:creationId xmlns:p14="http://schemas.microsoft.com/office/powerpoint/2010/main" val="1913281453"/>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66242"/>
                                        </p:tgtEl>
                                        <p:attrNameLst>
                                          <p:attrName>style.visibility</p:attrName>
                                        </p:attrNameLst>
                                      </p:cBhvr>
                                      <p:to>
                                        <p:strVal val="visible"/>
                                      </p:to>
                                    </p:set>
                                    <p:anim calcmode="lin" valueType="num">
                                      <p:cBhvr additive="base">
                                        <p:cTn id="7" dur="500" fill="hold"/>
                                        <p:tgtEl>
                                          <p:spTgt spid="266242"/>
                                        </p:tgtEl>
                                        <p:attrNameLst>
                                          <p:attrName>ppt_x</p:attrName>
                                        </p:attrNameLst>
                                      </p:cBhvr>
                                      <p:tavLst>
                                        <p:tav tm="0">
                                          <p:val>
                                            <p:strVal val="0-#ppt_w/2"/>
                                          </p:val>
                                        </p:tav>
                                        <p:tav tm="100000">
                                          <p:val>
                                            <p:strVal val="#ppt_x"/>
                                          </p:val>
                                        </p:tav>
                                      </p:tavLst>
                                    </p:anim>
                                    <p:anim calcmode="lin" valueType="num">
                                      <p:cBhvr additive="base">
                                        <p:cTn id="8" dur="500" fill="hold"/>
                                        <p:tgtEl>
                                          <p:spTgt spid="26624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66243">
                                            <p:txEl>
                                              <p:pRg st="0" end="0"/>
                                            </p:txEl>
                                          </p:spTgt>
                                        </p:tgtEl>
                                        <p:attrNameLst>
                                          <p:attrName>style.visibility</p:attrName>
                                        </p:attrNameLst>
                                      </p:cBhvr>
                                      <p:to>
                                        <p:strVal val="visible"/>
                                      </p:to>
                                    </p:set>
                                    <p:animEffect transition="in" filter="wipe(left)">
                                      <p:cBhvr>
                                        <p:cTn id="13" dur="500"/>
                                        <p:tgtEl>
                                          <p:spTgt spid="266243">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66243">
                                            <p:txEl>
                                              <p:pRg st="1" end="1"/>
                                            </p:txEl>
                                          </p:spTgt>
                                        </p:tgtEl>
                                        <p:attrNameLst>
                                          <p:attrName>style.visibility</p:attrName>
                                        </p:attrNameLst>
                                      </p:cBhvr>
                                      <p:to>
                                        <p:strVal val="visible"/>
                                      </p:to>
                                    </p:set>
                                    <p:animEffect transition="in" filter="wipe(left)">
                                      <p:cBhvr>
                                        <p:cTn id="18" dur="500"/>
                                        <p:tgtEl>
                                          <p:spTgt spid="266243">
                                            <p:txEl>
                                              <p:pRg st="1" end="1"/>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66243">
                                            <p:txEl>
                                              <p:pRg st="2" end="2"/>
                                            </p:txEl>
                                          </p:spTgt>
                                        </p:tgtEl>
                                        <p:attrNameLst>
                                          <p:attrName>style.visibility</p:attrName>
                                        </p:attrNameLst>
                                      </p:cBhvr>
                                      <p:to>
                                        <p:strVal val="visible"/>
                                      </p:to>
                                    </p:set>
                                    <p:animEffect transition="in" filter="wipe(left)">
                                      <p:cBhvr>
                                        <p:cTn id="23" dur="500"/>
                                        <p:tgtEl>
                                          <p:spTgt spid="266243">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66243">
                                            <p:txEl>
                                              <p:pRg st="3" end="3"/>
                                            </p:txEl>
                                          </p:spTgt>
                                        </p:tgtEl>
                                        <p:attrNameLst>
                                          <p:attrName>style.visibility</p:attrName>
                                        </p:attrNameLst>
                                      </p:cBhvr>
                                      <p:to>
                                        <p:strVal val="visible"/>
                                      </p:to>
                                    </p:set>
                                    <p:animEffect transition="in" filter="wipe(left)">
                                      <p:cBhvr>
                                        <p:cTn id="28" dur="500"/>
                                        <p:tgtEl>
                                          <p:spTgt spid="266243">
                                            <p:txEl>
                                              <p:pRg st="3" end="3"/>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66243">
                                            <p:txEl>
                                              <p:pRg st="4" end="4"/>
                                            </p:txEl>
                                          </p:spTgt>
                                        </p:tgtEl>
                                        <p:attrNameLst>
                                          <p:attrName>style.visibility</p:attrName>
                                        </p:attrNameLst>
                                      </p:cBhvr>
                                      <p:to>
                                        <p:strVal val="visible"/>
                                      </p:to>
                                    </p:set>
                                    <p:animEffect transition="in" filter="wipe(left)">
                                      <p:cBhvr>
                                        <p:cTn id="33" dur="500"/>
                                        <p:tgtEl>
                                          <p:spTgt spid="26624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42" grpId="0" autoUpdateAnimBg="0"/>
      <p:bldP spid="266243" grpId="0" build="p" bldLvl="2"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7266" name="Rectangle 2"/>
          <p:cNvSpPr>
            <a:spLocks noGrp="1" noChangeArrowheads="1"/>
          </p:cNvSpPr>
          <p:nvPr>
            <p:ph idx="1"/>
          </p:nvPr>
        </p:nvSpPr>
        <p:spPr>
          <a:xfrm>
            <a:off x="2438400" y="2003778"/>
            <a:ext cx="8001000" cy="4876800"/>
          </a:xfrm>
        </p:spPr>
        <p:txBody>
          <a:bodyPr/>
          <a:lstStyle/>
          <a:p>
            <a:r>
              <a:rPr lang="en-US" altLang="en-US" sz="3600" dirty="0"/>
              <a:t>What is your </a:t>
            </a:r>
            <a:r>
              <a:rPr lang="en-US" altLang="en-US" sz="3600" i="1" dirty="0"/>
              <a:t>purpose?</a:t>
            </a:r>
          </a:p>
          <a:p>
            <a:pPr lvl="1"/>
            <a:r>
              <a:rPr lang="en-US" altLang="en-US" sz="2400" dirty="0"/>
              <a:t>Example – </a:t>
            </a:r>
            <a:r>
              <a:rPr lang="en-US" altLang="en-US" sz="2400" u="sng" dirty="0">
                <a:solidFill>
                  <a:schemeClr val="accent5"/>
                </a:solidFill>
              </a:rPr>
              <a:t>Xavier University Undergraduate Studies</a:t>
            </a:r>
          </a:p>
        </p:txBody>
      </p:sp>
      <p:sp>
        <p:nvSpPr>
          <p:cNvPr id="267268" name="Text Box 4"/>
          <p:cNvSpPr txBox="1">
            <a:spLocks noChangeArrowheads="1"/>
          </p:cNvSpPr>
          <p:nvPr/>
        </p:nvSpPr>
        <p:spPr bwMode="auto">
          <a:xfrm>
            <a:off x="1172549" y="5486400"/>
            <a:ext cx="2057400" cy="52322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a:spAutoFit/>
          </a:bodyPr>
          <a:lstStyle/>
          <a:p>
            <a:pPr algn="ctr">
              <a:spcBef>
                <a:spcPct val="50000"/>
              </a:spcBef>
            </a:pPr>
            <a:r>
              <a:rPr lang="en-US" altLang="en-US" sz="2800" dirty="0"/>
              <a:t>Attributes</a:t>
            </a:r>
          </a:p>
        </p:txBody>
      </p:sp>
      <p:sp>
        <p:nvSpPr>
          <p:cNvPr id="267269" name="Text Box 5"/>
          <p:cNvSpPr txBox="1">
            <a:spLocks noChangeArrowheads="1"/>
          </p:cNvSpPr>
          <p:nvPr/>
        </p:nvSpPr>
        <p:spPr bwMode="auto">
          <a:xfrm>
            <a:off x="639149" y="4419600"/>
            <a:ext cx="3048000" cy="52322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a:spAutoFit/>
          </a:bodyPr>
          <a:lstStyle/>
          <a:p>
            <a:pPr algn="ctr">
              <a:spcBef>
                <a:spcPct val="50000"/>
              </a:spcBef>
            </a:pPr>
            <a:r>
              <a:rPr lang="en-US" altLang="en-US" sz="2800"/>
              <a:t>Consequences</a:t>
            </a:r>
          </a:p>
        </p:txBody>
      </p:sp>
      <p:sp>
        <p:nvSpPr>
          <p:cNvPr id="267270" name="Text Box 6"/>
          <p:cNvSpPr txBox="1">
            <a:spLocks noChangeArrowheads="1"/>
          </p:cNvSpPr>
          <p:nvPr/>
        </p:nvSpPr>
        <p:spPr bwMode="auto">
          <a:xfrm>
            <a:off x="1172549" y="3429000"/>
            <a:ext cx="2057400" cy="52322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a:spAutoFit/>
          </a:bodyPr>
          <a:lstStyle/>
          <a:p>
            <a:pPr algn="ctr">
              <a:spcBef>
                <a:spcPct val="50000"/>
              </a:spcBef>
            </a:pPr>
            <a:r>
              <a:rPr lang="en-US" altLang="en-US" sz="2800"/>
              <a:t>Values</a:t>
            </a:r>
          </a:p>
        </p:txBody>
      </p:sp>
      <p:sp>
        <p:nvSpPr>
          <p:cNvPr id="267271" name="Line 7"/>
          <p:cNvSpPr>
            <a:spLocks noChangeShapeType="1"/>
          </p:cNvSpPr>
          <p:nvPr/>
        </p:nvSpPr>
        <p:spPr bwMode="auto">
          <a:xfrm flipV="1">
            <a:off x="2163149" y="4953000"/>
            <a:ext cx="0" cy="533400"/>
          </a:xfrm>
          <a:prstGeom prst="line">
            <a:avLst/>
          </a:prstGeom>
          <a:ln>
            <a:headEnd/>
            <a:tailEnd type="triangle" w="med" len="med"/>
          </a:ln>
        </p:spPr>
        <p:style>
          <a:lnRef idx="3">
            <a:schemeClr val="accent1"/>
          </a:lnRef>
          <a:fillRef idx="0">
            <a:schemeClr val="accent1"/>
          </a:fillRef>
          <a:effectRef idx="2">
            <a:schemeClr val="accent1"/>
          </a:effectRef>
          <a:fontRef idx="minor">
            <a:schemeClr val="tx1"/>
          </a:fontRef>
        </p:style>
        <p:txBody>
          <a:bodyPr/>
          <a:lstStyle/>
          <a:p>
            <a:endParaRPr lang="en-US"/>
          </a:p>
        </p:txBody>
      </p:sp>
      <p:sp>
        <p:nvSpPr>
          <p:cNvPr id="267272" name="Line 8"/>
          <p:cNvSpPr>
            <a:spLocks noChangeShapeType="1"/>
          </p:cNvSpPr>
          <p:nvPr/>
        </p:nvSpPr>
        <p:spPr bwMode="auto">
          <a:xfrm flipV="1">
            <a:off x="2163149" y="3962400"/>
            <a:ext cx="0" cy="457200"/>
          </a:xfrm>
          <a:prstGeom prst="line">
            <a:avLst/>
          </a:prstGeom>
          <a:ln>
            <a:headEnd/>
            <a:tailEnd type="triangle" w="med" len="med"/>
          </a:ln>
        </p:spPr>
        <p:style>
          <a:lnRef idx="3">
            <a:schemeClr val="accent1"/>
          </a:lnRef>
          <a:fillRef idx="0">
            <a:schemeClr val="accent1"/>
          </a:fillRef>
          <a:effectRef idx="2">
            <a:schemeClr val="accent1"/>
          </a:effectRef>
          <a:fontRef idx="minor">
            <a:schemeClr val="tx1"/>
          </a:fontRef>
        </p:style>
        <p:txBody>
          <a:bodyPr/>
          <a:lstStyle/>
          <a:p>
            <a:endParaRPr lang="en-US"/>
          </a:p>
        </p:txBody>
      </p:sp>
      <p:sp>
        <p:nvSpPr>
          <p:cNvPr id="10" name="Rectangle 2"/>
          <p:cNvSpPr>
            <a:spLocks noGrp="1" noChangeArrowheads="1"/>
          </p:cNvSpPr>
          <p:nvPr>
            <p:ph type="title"/>
          </p:nvPr>
        </p:nvSpPr>
        <p:spPr>
          <a:xfrm>
            <a:off x="853751" y="447869"/>
            <a:ext cx="7772400" cy="762000"/>
          </a:xfrm>
        </p:spPr>
        <p:txBody>
          <a:bodyPr>
            <a:normAutofit/>
          </a:bodyPr>
          <a:lstStyle/>
          <a:p>
            <a:r>
              <a:rPr lang="en-US" altLang="en-US" sz="4000" dirty="0">
                <a:latin typeface="+mn-lt"/>
              </a:rPr>
              <a:t>Assignment 3</a:t>
            </a:r>
          </a:p>
        </p:txBody>
      </p:sp>
      <p:sp>
        <p:nvSpPr>
          <p:cNvPr id="2" name="Rectangle 1"/>
          <p:cNvSpPr/>
          <p:nvPr/>
        </p:nvSpPr>
        <p:spPr>
          <a:xfrm>
            <a:off x="3786674" y="5218041"/>
            <a:ext cx="6096000" cy="954107"/>
          </a:xfrm>
          <a:prstGeom prst="rect">
            <a:avLst/>
          </a:prstGeom>
        </p:spPr>
        <p:txBody>
          <a:bodyPr>
            <a:spAutoFit/>
          </a:bodyPr>
          <a:lstStyle/>
          <a:p>
            <a:pPr>
              <a:buFont typeface="Arial" panose="020B0604020202020204" pitchFamily="34" charset="0"/>
              <a:buChar char="•"/>
            </a:pPr>
            <a:r>
              <a:rPr lang="en-US" sz="1400" dirty="0">
                <a:solidFill>
                  <a:srgbClr val="351C75"/>
                </a:solidFill>
                <a:latin typeface="proximanova-semibold"/>
              </a:rPr>
              <a:t>attributes</a:t>
            </a:r>
            <a:r>
              <a:rPr lang="en-US" sz="1400" dirty="0">
                <a:solidFill>
                  <a:srgbClr val="1B1B1B"/>
                </a:solidFill>
                <a:latin typeface="proximanova-regular"/>
              </a:rPr>
              <a:t>—At the top level of this hierarchy, attributes are most recognizable by individuals. Individuals recognize the attributes of a product or system easily. For example, “I like this car, because it is a convertible.”</a:t>
            </a:r>
            <a:endParaRPr lang="en-US" sz="1400" b="0" i="0" dirty="0">
              <a:solidFill>
                <a:srgbClr val="1B1B1B"/>
              </a:solidFill>
              <a:effectLst/>
              <a:latin typeface="proximanova-regular"/>
            </a:endParaRPr>
          </a:p>
        </p:txBody>
      </p:sp>
      <p:sp>
        <p:nvSpPr>
          <p:cNvPr id="3" name="Rectangle 2"/>
          <p:cNvSpPr/>
          <p:nvPr/>
        </p:nvSpPr>
        <p:spPr>
          <a:xfrm>
            <a:off x="3786674" y="4263934"/>
            <a:ext cx="6096000" cy="954107"/>
          </a:xfrm>
          <a:prstGeom prst="rect">
            <a:avLst/>
          </a:prstGeom>
        </p:spPr>
        <p:txBody>
          <a:bodyPr>
            <a:spAutoFit/>
          </a:bodyPr>
          <a:lstStyle/>
          <a:p>
            <a:pPr>
              <a:buFont typeface="Arial" panose="020B0604020202020204" pitchFamily="34" charset="0"/>
              <a:buChar char="•"/>
            </a:pPr>
            <a:r>
              <a:rPr lang="en-US" sz="1400" dirty="0">
                <a:solidFill>
                  <a:srgbClr val="351C75"/>
                </a:solidFill>
                <a:latin typeface="proximanova-semibold"/>
              </a:rPr>
              <a:t>consequences</a:t>
            </a:r>
            <a:r>
              <a:rPr lang="en-US" sz="1400" dirty="0">
                <a:solidFill>
                  <a:srgbClr val="1B1B1B"/>
                </a:solidFill>
                <a:latin typeface="proximanova-regular"/>
              </a:rPr>
              <a:t>—In turn, the attributes have </a:t>
            </a:r>
            <a:r>
              <a:rPr lang="en-US" sz="1400" i="1" dirty="0">
                <a:solidFill>
                  <a:srgbClr val="1B1B1B"/>
                </a:solidFill>
                <a:latin typeface="proximanova-regularit"/>
              </a:rPr>
              <a:t>consequences</a:t>
            </a:r>
            <a:r>
              <a:rPr lang="en-US" sz="1400" dirty="0">
                <a:solidFill>
                  <a:srgbClr val="1B1B1B"/>
                </a:solidFill>
                <a:latin typeface="proximanova-regular"/>
              </a:rPr>
              <a:t> for the individual. For example, the convertible makes its driver feel young and free. Each attribute may have one or more consequences for any given individual.</a:t>
            </a:r>
            <a:endParaRPr lang="en-US" sz="1400" b="0" i="0" dirty="0">
              <a:solidFill>
                <a:srgbClr val="1B1B1B"/>
              </a:solidFill>
              <a:effectLst/>
              <a:latin typeface="proximanova-regular"/>
            </a:endParaRPr>
          </a:p>
        </p:txBody>
      </p:sp>
      <p:sp>
        <p:nvSpPr>
          <p:cNvPr id="4" name="Rectangle 3"/>
          <p:cNvSpPr/>
          <p:nvPr/>
        </p:nvSpPr>
        <p:spPr>
          <a:xfrm>
            <a:off x="3823998" y="3490755"/>
            <a:ext cx="6096000" cy="523220"/>
          </a:xfrm>
          <a:prstGeom prst="rect">
            <a:avLst/>
          </a:prstGeom>
        </p:spPr>
        <p:txBody>
          <a:bodyPr>
            <a:spAutoFit/>
          </a:bodyPr>
          <a:lstStyle/>
          <a:p>
            <a:r>
              <a:rPr lang="en-US" sz="1400" dirty="0">
                <a:solidFill>
                  <a:srgbClr val="351C75"/>
                </a:solidFill>
                <a:latin typeface="proximanova-semibold"/>
              </a:rPr>
              <a:t>values</a:t>
            </a:r>
            <a:r>
              <a:rPr lang="en-US" sz="1400" dirty="0">
                <a:solidFill>
                  <a:srgbClr val="1B1B1B"/>
                </a:solidFill>
                <a:latin typeface="proximanova-regular"/>
              </a:rPr>
              <a:t>—each consequence is linked to a </a:t>
            </a:r>
            <a:r>
              <a:rPr lang="en-US" sz="1400" i="1" dirty="0">
                <a:solidFill>
                  <a:srgbClr val="1B1B1B"/>
                </a:solidFill>
                <a:latin typeface="proximanova-regularit"/>
              </a:rPr>
              <a:t>core value</a:t>
            </a:r>
            <a:r>
              <a:rPr lang="en-US" sz="1400" dirty="0">
                <a:solidFill>
                  <a:srgbClr val="1B1B1B"/>
                </a:solidFill>
                <a:latin typeface="proximanova-regular"/>
              </a:rPr>
              <a:t> of the person’s life. For example, the sense of youth makes that driver feel attractive.</a:t>
            </a:r>
            <a:endParaRPr lang="en-US" sz="1400" dirty="0"/>
          </a:p>
        </p:txBody>
      </p:sp>
    </p:spTree>
    <p:extLst>
      <p:ext uri="{BB962C8B-B14F-4D97-AF65-F5344CB8AC3E}">
        <p14:creationId xmlns:p14="http://schemas.microsoft.com/office/powerpoint/2010/main" val="351276673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7266">
                                            <p:txEl>
                                              <p:pRg st="0" end="0"/>
                                            </p:txEl>
                                          </p:spTgt>
                                        </p:tgtEl>
                                        <p:attrNameLst>
                                          <p:attrName>style.visibility</p:attrName>
                                        </p:attrNameLst>
                                      </p:cBhvr>
                                      <p:to>
                                        <p:strVal val="visible"/>
                                      </p:to>
                                    </p:set>
                                    <p:animEffect transition="in" filter="wipe(left)">
                                      <p:cBhvr>
                                        <p:cTn id="7" dur="500"/>
                                        <p:tgtEl>
                                          <p:spTgt spid="267266">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67266">
                                            <p:txEl>
                                              <p:pRg st="1" end="1"/>
                                            </p:txEl>
                                          </p:spTgt>
                                        </p:tgtEl>
                                        <p:attrNameLst>
                                          <p:attrName>style.visibility</p:attrName>
                                        </p:attrNameLst>
                                      </p:cBhvr>
                                      <p:to>
                                        <p:strVal val="visible"/>
                                      </p:to>
                                    </p:set>
                                    <p:animEffect transition="in" filter="wipe(left)">
                                      <p:cBhvr>
                                        <p:cTn id="10" dur="500"/>
                                        <p:tgtEl>
                                          <p:spTgt spid="267266">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0-#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266" grpId="0" build="p" autoUpdateAnimBg="0"/>
      <p:bldP spid="10"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half" idx="1"/>
          </p:nvPr>
        </p:nvSpPr>
        <p:spPr>
          <a:xfrm>
            <a:off x="54430" y="1321775"/>
            <a:ext cx="5181600" cy="4351338"/>
          </a:xfrm>
        </p:spPr>
        <p:txBody>
          <a:bodyPr>
            <a:normAutofit fontScale="85000" lnSpcReduction="10000"/>
          </a:bodyPr>
          <a:lstStyle/>
          <a:p>
            <a:pPr marL="457200" indent="-457200">
              <a:lnSpc>
                <a:spcPct val="80000"/>
              </a:lnSpc>
              <a:buFont typeface="+mj-lt"/>
              <a:buAutoNum type="arabicPeriod"/>
            </a:pPr>
            <a:r>
              <a:rPr lang="en-US" altLang="en-US" sz="2400" dirty="0"/>
              <a:t>A comfortable/prosperous life</a:t>
            </a:r>
          </a:p>
          <a:p>
            <a:pPr marL="457200" indent="-457200">
              <a:lnSpc>
                <a:spcPct val="80000"/>
              </a:lnSpc>
              <a:buFont typeface="+mj-lt"/>
              <a:buAutoNum type="arabicPeriod"/>
            </a:pPr>
            <a:r>
              <a:rPr lang="en-US" altLang="en-US" sz="2400" dirty="0"/>
              <a:t>An exciting/stimulating/active life</a:t>
            </a:r>
          </a:p>
          <a:p>
            <a:pPr marL="457200" indent="-457200">
              <a:lnSpc>
                <a:spcPct val="80000"/>
              </a:lnSpc>
              <a:buFont typeface="+mj-lt"/>
              <a:buAutoNum type="arabicPeriod"/>
            </a:pPr>
            <a:r>
              <a:rPr lang="en-US" altLang="en-US" sz="2400" dirty="0"/>
              <a:t>Pleasure – an enjoyable life</a:t>
            </a:r>
          </a:p>
          <a:p>
            <a:pPr marL="457200" indent="-457200">
              <a:lnSpc>
                <a:spcPct val="80000"/>
              </a:lnSpc>
              <a:buFont typeface="+mj-lt"/>
              <a:buAutoNum type="arabicPeriod"/>
            </a:pPr>
            <a:r>
              <a:rPr lang="en-US" altLang="en-US" sz="2400" dirty="0"/>
              <a:t>A world at peace/National security</a:t>
            </a:r>
          </a:p>
          <a:p>
            <a:pPr marL="457200" indent="-457200">
              <a:lnSpc>
                <a:spcPct val="80000"/>
              </a:lnSpc>
              <a:buFont typeface="+mj-lt"/>
              <a:buAutoNum type="arabicPeriod"/>
            </a:pPr>
            <a:r>
              <a:rPr lang="en-US" altLang="en-US" sz="2400" dirty="0"/>
              <a:t>Freedom – independence and free choice</a:t>
            </a:r>
          </a:p>
          <a:p>
            <a:pPr marL="457200" indent="-457200">
              <a:lnSpc>
                <a:spcPct val="80000"/>
              </a:lnSpc>
              <a:buFont typeface="+mj-lt"/>
              <a:buAutoNum type="arabicPeriod"/>
            </a:pPr>
            <a:r>
              <a:rPr lang="en-US" altLang="en-US" sz="2400" dirty="0"/>
              <a:t>Equality – brotherhood, equal opportunity</a:t>
            </a:r>
          </a:p>
          <a:p>
            <a:pPr marL="457200" indent="-457200">
              <a:lnSpc>
                <a:spcPct val="80000"/>
              </a:lnSpc>
              <a:buFont typeface="+mj-lt"/>
              <a:buAutoNum type="arabicPeriod"/>
            </a:pPr>
            <a:r>
              <a:rPr lang="en-US" altLang="en-US" sz="2400" dirty="0"/>
              <a:t>Happiness/Contentedness</a:t>
            </a:r>
          </a:p>
          <a:p>
            <a:pPr marL="457200" indent="-457200">
              <a:lnSpc>
                <a:spcPct val="80000"/>
              </a:lnSpc>
              <a:buFont typeface="+mj-lt"/>
              <a:buAutoNum type="arabicPeriod"/>
            </a:pPr>
            <a:r>
              <a:rPr lang="en-US" altLang="en-US" sz="2400" dirty="0"/>
              <a:t>Social recognition –  respect/admiration of your peers</a:t>
            </a:r>
          </a:p>
          <a:p>
            <a:pPr marL="457200" indent="-457200">
              <a:lnSpc>
                <a:spcPct val="80000"/>
              </a:lnSpc>
              <a:buFont typeface="+mj-lt"/>
              <a:buAutoNum type="arabicPeriod"/>
            </a:pPr>
            <a:r>
              <a:rPr lang="en-US" altLang="en-US" sz="2400" dirty="0"/>
              <a:t>True friendship/close companionship</a:t>
            </a:r>
          </a:p>
          <a:p>
            <a:pPr marL="457200" indent="-457200">
              <a:lnSpc>
                <a:spcPct val="80000"/>
              </a:lnSpc>
              <a:buFont typeface="+mj-lt"/>
              <a:buAutoNum type="arabicPeriod"/>
            </a:pPr>
            <a:r>
              <a:rPr lang="en-US" altLang="en-US" sz="2400" dirty="0"/>
              <a:t>Family security/taking care of loved ones</a:t>
            </a:r>
          </a:p>
          <a:p>
            <a:pPr marL="457200" indent="-457200">
              <a:lnSpc>
                <a:spcPct val="80000"/>
              </a:lnSpc>
              <a:buFont typeface="+mj-lt"/>
              <a:buAutoNum type="arabicPeriod"/>
            </a:pPr>
            <a:r>
              <a:rPr lang="en-US" altLang="en-US" sz="2400" dirty="0"/>
              <a:t>Self respect/Self esteem</a:t>
            </a:r>
          </a:p>
          <a:p>
            <a:pPr marL="457200" indent="-457200">
              <a:buFont typeface="+mj-lt"/>
              <a:buAutoNum type="arabicPeriod"/>
            </a:pPr>
            <a:endParaRPr lang="en-US" dirty="0"/>
          </a:p>
        </p:txBody>
      </p:sp>
      <p:sp>
        <p:nvSpPr>
          <p:cNvPr id="6" name="Content Placeholder 5"/>
          <p:cNvSpPr>
            <a:spLocks noGrp="1"/>
          </p:cNvSpPr>
          <p:nvPr>
            <p:ph sz="half" idx="2"/>
          </p:nvPr>
        </p:nvSpPr>
        <p:spPr>
          <a:xfrm>
            <a:off x="5388430" y="1321775"/>
            <a:ext cx="5181600" cy="4351338"/>
          </a:xfrm>
        </p:spPr>
        <p:txBody>
          <a:bodyPr>
            <a:normAutofit fontScale="85000" lnSpcReduction="10000"/>
          </a:bodyPr>
          <a:lstStyle/>
          <a:p>
            <a:pPr marL="457200" indent="-457200">
              <a:lnSpc>
                <a:spcPct val="80000"/>
              </a:lnSpc>
              <a:buFont typeface="+mj-lt"/>
              <a:buAutoNum type="arabicPeriod" startAt="12"/>
            </a:pPr>
            <a:r>
              <a:rPr lang="en-US" altLang="en-US" sz="2400" dirty="0"/>
              <a:t>Mature love – sexual and spiritual intimacy</a:t>
            </a:r>
          </a:p>
          <a:p>
            <a:pPr marL="457200" indent="-457200">
              <a:lnSpc>
                <a:spcPct val="80000"/>
              </a:lnSpc>
              <a:buFont typeface="+mj-lt"/>
              <a:buAutoNum type="arabicPeriod" startAt="12"/>
            </a:pPr>
            <a:r>
              <a:rPr lang="en-US" altLang="en-US" sz="2400" dirty="0"/>
              <a:t>Salvation – eternal life</a:t>
            </a:r>
          </a:p>
          <a:p>
            <a:pPr marL="457200" indent="-457200">
              <a:lnSpc>
                <a:spcPct val="80000"/>
              </a:lnSpc>
              <a:buFont typeface="+mj-lt"/>
              <a:buAutoNum type="arabicPeriod" startAt="12"/>
            </a:pPr>
            <a:r>
              <a:rPr lang="en-US" altLang="en-US" sz="2400" dirty="0"/>
              <a:t>Wisdom – a mature understanding of life, intellectual, reflective</a:t>
            </a:r>
          </a:p>
          <a:p>
            <a:pPr marL="457200" indent="-457200">
              <a:lnSpc>
                <a:spcPct val="80000"/>
              </a:lnSpc>
              <a:buFont typeface="+mj-lt"/>
              <a:buAutoNum type="arabicPeriod" startAt="12"/>
            </a:pPr>
            <a:r>
              <a:rPr lang="en-US" altLang="en-US" sz="2400" dirty="0"/>
              <a:t>A world of beauty – beauty of nature and the arts</a:t>
            </a:r>
          </a:p>
          <a:p>
            <a:pPr marL="457200" indent="-457200">
              <a:lnSpc>
                <a:spcPct val="80000"/>
              </a:lnSpc>
              <a:buFont typeface="+mj-lt"/>
              <a:buAutoNum type="arabicPeriod" startAt="12"/>
            </a:pPr>
            <a:r>
              <a:rPr lang="en-US" altLang="en-US" sz="2400" dirty="0"/>
              <a:t>Sense of accomplishment/lasting contribution</a:t>
            </a:r>
          </a:p>
          <a:p>
            <a:pPr marL="457200" indent="-457200">
              <a:lnSpc>
                <a:spcPct val="80000"/>
              </a:lnSpc>
              <a:buFont typeface="+mj-lt"/>
              <a:buAutoNum type="arabicPeriod" startAt="12"/>
            </a:pPr>
            <a:r>
              <a:rPr lang="en-US" altLang="en-US" sz="2400" dirty="0"/>
              <a:t>Inner harmony – freedom from inner conflict</a:t>
            </a:r>
          </a:p>
          <a:p>
            <a:pPr marL="457200" indent="-457200">
              <a:lnSpc>
                <a:spcPct val="80000"/>
              </a:lnSpc>
              <a:buFont typeface="+mj-lt"/>
              <a:buAutoNum type="arabicPeriod" startAt="12"/>
            </a:pPr>
            <a:r>
              <a:rPr lang="en-US" altLang="en-US" sz="2400" dirty="0"/>
              <a:t>Self-reliance/self-sufficiency</a:t>
            </a:r>
          </a:p>
          <a:p>
            <a:pPr marL="457200" indent="-457200">
              <a:lnSpc>
                <a:spcPct val="80000"/>
              </a:lnSpc>
              <a:buFont typeface="+mj-lt"/>
              <a:buAutoNum type="arabicPeriod" startAt="12"/>
            </a:pPr>
            <a:r>
              <a:rPr lang="en-US" altLang="en-US" sz="2400" dirty="0"/>
              <a:t>Responsibility – dependability, reliability</a:t>
            </a:r>
          </a:p>
          <a:p>
            <a:pPr marL="457200" indent="-457200">
              <a:lnSpc>
                <a:spcPct val="80000"/>
              </a:lnSpc>
              <a:buFont typeface="+mj-lt"/>
              <a:buAutoNum type="arabicPeriod" startAt="12"/>
            </a:pPr>
            <a:r>
              <a:rPr lang="en-US" altLang="en-US" sz="2400" dirty="0"/>
              <a:t>Self-control/self-discipline</a:t>
            </a:r>
          </a:p>
          <a:p>
            <a:pPr marL="457200" indent="-457200">
              <a:buFont typeface="+mj-lt"/>
              <a:buAutoNum type="arabicPeriod" startAt="12"/>
            </a:pPr>
            <a:endParaRPr lang="en-US" dirty="0"/>
          </a:p>
        </p:txBody>
      </p:sp>
      <p:sp>
        <p:nvSpPr>
          <p:cNvPr id="7" name="Rectangle 2"/>
          <p:cNvSpPr txBox="1">
            <a:spLocks noChangeArrowheads="1"/>
          </p:cNvSpPr>
          <p:nvPr/>
        </p:nvSpPr>
        <p:spPr>
          <a:xfrm>
            <a:off x="853751" y="447869"/>
            <a:ext cx="7772400" cy="762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4000" dirty="0">
                <a:latin typeface="+mn-lt"/>
              </a:rPr>
              <a:t>Examples of Values</a:t>
            </a:r>
          </a:p>
        </p:txBody>
      </p:sp>
    </p:spTree>
    <p:extLst>
      <p:ext uri="{BB962C8B-B14F-4D97-AF65-F5344CB8AC3E}">
        <p14:creationId xmlns:p14="http://schemas.microsoft.com/office/powerpoint/2010/main" val="192301493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9554" name="Rectangle 2"/>
          <p:cNvSpPr>
            <a:spLocks noGrp="1" noChangeArrowheads="1"/>
          </p:cNvSpPr>
          <p:nvPr>
            <p:ph idx="1"/>
          </p:nvPr>
        </p:nvSpPr>
        <p:spPr>
          <a:xfrm>
            <a:off x="765110" y="1524000"/>
            <a:ext cx="9525000" cy="4267200"/>
          </a:xfrm>
        </p:spPr>
        <p:txBody>
          <a:bodyPr>
            <a:normAutofit/>
          </a:bodyPr>
          <a:lstStyle/>
          <a:p>
            <a:pPr>
              <a:lnSpc>
                <a:spcPct val="90000"/>
              </a:lnSpc>
              <a:spcAft>
                <a:spcPct val="50000"/>
              </a:spcAft>
            </a:pPr>
            <a:r>
              <a:rPr lang="en-US" altLang="en-US" sz="3200" dirty="0"/>
              <a:t>Organization of Assignment </a:t>
            </a:r>
          </a:p>
          <a:p>
            <a:pPr>
              <a:lnSpc>
                <a:spcPct val="90000"/>
              </a:lnSpc>
              <a:spcAft>
                <a:spcPct val="50000"/>
              </a:spcAft>
            </a:pPr>
            <a:r>
              <a:rPr lang="en-US" altLang="en-US" sz="2800" dirty="0"/>
              <a:t>Part 3: Interviews – Individual assignment!</a:t>
            </a:r>
          </a:p>
          <a:p>
            <a:pPr lvl="2">
              <a:lnSpc>
                <a:spcPct val="90000"/>
              </a:lnSpc>
              <a:spcAft>
                <a:spcPct val="20000"/>
              </a:spcAft>
            </a:pPr>
            <a:r>
              <a:rPr lang="en-US" altLang="en-US" sz="2400" dirty="0"/>
              <a:t>Each team member completes 5 good interviews</a:t>
            </a:r>
          </a:p>
          <a:p>
            <a:pPr lvl="3">
              <a:spcAft>
                <a:spcPct val="20000"/>
              </a:spcAft>
            </a:pPr>
            <a:r>
              <a:rPr lang="en-US" altLang="en-US" sz="2200" dirty="0"/>
              <a:t>Jeff Ruby </a:t>
            </a:r>
            <a:r>
              <a:rPr lang="en-US" altLang="en-US" sz="2200" dirty="0" err="1"/>
              <a:t>Lempicka</a:t>
            </a:r>
            <a:r>
              <a:rPr lang="en-US" altLang="en-US" sz="2200" dirty="0"/>
              <a:t>:  please capture at least 2-3 middle-aged and older adults for representation.</a:t>
            </a:r>
          </a:p>
          <a:p>
            <a:pPr lvl="2">
              <a:lnSpc>
                <a:spcPct val="90000"/>
              </a:lnSpc>
              <a:spcAft>
                <a:spcPct val="20000"/>
              </a:spcAft>
            </a:pPr>
            <a:r>
              <a:rPr lang="en-US" altLang="en-US" sz="2400" dirty="0"/>
              <a:t>Must </a:t>
            </a:r>
            <a:r>
              <a:rPr lang="en-US" altLang="en-US" sz="2400" u="sng" dirty="0"/>
              <a:t>record </a:t>
            </a:r>
            <a:r>
              <a:rPr lang="en-US" altLang="en-US" sz="2400" b="1" u="sng" dirty="0"/>
              <a:t>and</a:t>
            </a:r>
            <a:r>
              <a:rPr lang="en-US" altLang="en-US" sz="2400" u="sng" dirty="0"/>
              <a:t> type</a:t>
            </a:r>
            <a:r>
              <a:rPr lang="en-US" altLang="en-US" sz="2400" dirty="0"/>
              <a:t> up transcripts</a:t>
            </a:r>
          </a:p>
          <a:p>
            <a:pPr lvl="2">
              <a:lnSpc>
                <a:spcPct val="90000"/>
              </a:lnSpc>
              <a:spcAft>
                <a:spcPct val="20000"/>
              </a:spcAft>
            </a:pPr>
            <a:r>
              <a:rPr lang="en-US" altLang="en-US" sz="2400" dirty="0"/>
              <a:t>Transcripts must be completed and posted on canvas on the day it is due, </a:t>
            </a:r>
          </a:p>
        </p:txBody>
      </p:sp>
      <p:sp>
        <p:nvSpPr>
          <p:cNvPr id="5" name="Rectangle 2"/>
          <p:cNvSpPr>
            <a:spLocks noGrp="1" noChangeArrowheads="1"/>
          </p:cNvSpPr>
          <p:nvPr>
            <p:ph type="title"/>
          </p:nvPr>
        </p:nvSpPr>
        <p:spPr>
          <a:xfrm>
            <a:off x="853751" y="447869"/>
            <a:ext cx="7772400" cy="762000"/>
          </a:xfrm>
        </p:spPr>
        <p:txBody>
          <a:bodyPr>
            <a:normAutofit/>
          </a:bodyPr>
          <a:lstStyle/>
          <a:p>
            <a:r>
              <a:rPr lang="en-US" altLang="en-US" sz="4000" dirty="0">
                <a:latin typeface="+mn-lt"/>
              </a:rPr>
              <a:t>Assignment 3</a:t>
            </a:r>
          </a:p>
        </p:txBody>
      </p:sp>
    </p:spTree>
    <p:extLst>
      <p:ext uri="{BB962C8B-B14F-4D97-AF65-F5344CB8AC3E}">
        <p14:creationId xmlns:p14="http://schemas.microsoft.com/office/powerpoint/2010/main" val="341678854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9554">
                                            <p:txEl>
                                              <p:pRg st="0" end="0"/>
                                            </p:txEl>
                                          </p:spTgt>
                                        </p:tgtEl>
                                        <p:attrNameLst>
                                          <p:attrName>style.visibility</p:attrName>
                                        </p:attrNameLst>
                                      </p:cBhvr>
                                      <p:to>
                                        <p:strVal val="visible"/>
                                      </p:to>
                                    </p:set>
                                    <p:animEffect transition="in" filter="wipe(left)">
                                      <p:cBhvr>
                                        <p:cTn id="7" dur="500"/>
                                        <p:tgtEl>
                                          <p:spTgt spid="27955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9554">
                                            <p:txEl>
                                              <p:pRg st="1" end="1"/>
                                            </p:txEl>
                                          </p:spTgt>
                                        </p:tgtEl>
                                        <p:attrNameLst>
                                          <p:attrName>style.visibility</p:attrName>
                                        </p:attrNameLst>
                                      </p:cBhvr>
                                      <p:to>
                                        <p:strVal val="visible"/>
                                      </p:to>
                                    </p:set>
                                    <p:animEffect transition="in" filter="wipe(left)">
                                      <p:cBhvr>
                                        <p:cTn id="12" dur="500"/>
                                        <p:tgtEl>
                                          <p:spTgt spid="279554">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279554">
                                            <p:txEl>
                                              <p:pRg st="2" end="2"/>
                                            </p:txEl>
                                          </p:spTgt>
                                        </p:tgtEl>
                                        <p:attrNameLst>
                                          <p:attrName>style.visibility</p:attrName>
                                        </p:attrNameLst>
                                      </p:cBhvr>
                                      <p:to>
                                        <p:strVal val="visible"/>
                                      </p:to>
                                    </p:set>
                                    <p:animEffect transition="in" filter="wipe(left)">
                                      <p:cBhvr>
                                        <p:cTn id="15" dur="500"/>
                                        <p:tgtEl>
                                          <p:spTgt spid="279554">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279554">
                                            <p:txEl>
                                              <p:pRg st="3" end="3"/>
                                            </p:txEl>
                                          </p:spTgt>
                                        </p:tgtEl>
                                        <p:attrNameLst>
                                          <p:attrName>style.visibility</p:attrName>
                                        </p:attrNameLst>
                                      </p:cBhvr>
                                      <p:to>
                                        <p:strVal val="visible"/>
                                      </p:to>
                                    </p:set>
                                    <p:animEffect transition="in" filter="wipe(left)">
                                      <p:cBhvr>
                                        <p:cTn id="18" dur="500"/>
                                        <p:tgtEl>
                                          <p:spTgt spid="279554">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79554">
                                            <p:txEl>
                                              <p:pRg st="4" end="4"/>
                                            </p:txEl>
                                          </p:spTgt>
                                        </p:tgtEl>
                                        <p:attrNameLst>
                                          <p:attrName>style.visibility</p:attrName>
                                        </p:attrNameLst>
                                      </p:cBhvr>
                                      <p:to>
                                        <p:strVal val="visible"/>
                                      </p:to>
                                    </p:set>
                                    <p:animEffect transition="in" filter="wipe(left)">
                                      <p:cBhvr>
                                        <p:cTn id="21" dur="500"/>
                                        <p:tgtEl>
                                          <p:spTgt spid="279554">
                                            <p:txEl>
                                              <p:pRg st="4" end="4"/>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279554">
                                            <p:txEl>
                                              <p:pRg st="5" end="5"/>
                                            </p:txEl>
                                          </p:spTgt>
                                        </p:tgtEl>
                                        <p:attrNameLst>
                                          <p:attrName>style.visibility</p:attrName>
                                        </p:attrNameLst>
                                      </p:cBhvr>
                                      <p:to>
                                        <p:strVal val="visible"/>
                                      </p:to>
                                    </p:set>
                                    <p:animEffect transition="in" filter="wipe(left)">
                                      <p:cBhvr>
                                        <p:cTn id="24" dur="500"/>
                                        <p:tgtEl>
                                          <p:spTgt spid="279554">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500" fill="hold"/>
                                        <p:tgtEl>
                                          <p:spTgt spid="5"/>
                                        </p:tgtEl>
                                        <p:attrNameLst>
                                          <p:attrName>ppt_x</p:attrName>
                                        </p:attrNameLst>
                                      </p:cBhvr>
                                      <p:tavLst>
                                        <p:tav tm="0">
                                          <p:val>
                                            <p:strVal val="0-#ppt_w/2"/>
                                          </p:val>
                                        </p:tav>
                                        <p:tav tm="100000">
                                          <p:val>
                                            <p:strVal val="#ppt_x"/>
                                          </p:val>
                                        </p:tav>
                                      </p:tavLst>
                                    </p:anim>
                                    <p:anim calcmode="lin" valueType="num">
                                      <p:cBhvr additive="base">
                                        <p:cTn id="30"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9554" grpId="0" build="p" bldLvl="2" autoUpdateAnimBg="0"/>
      <p:bldP spid="5"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Rounded Rectangle 1"/>
          <p:cNvSpPr/>
          <p:nvPr/>
        </p:nvSpPr>
        <p:spPr>
          <a:xfrm>
            <a:off x="1237862" y="4147458"/>
            <a:ext cx="5410200" cy="83820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81602" name="Rectangle 2"/>
          <p:cNvSpPr>
            <a:spLocks noGrp="1" noChangeArrowheads="1"/>
          </p:cNvSpPr>
          <p:nvPr>
            <p:ph idx="1"/>
          </p:nvPr>
        </p:nvSpPr>
        <p:spPr>
          <a:xfrm>
            <a:off x="838200" y="1719942"/>
            <a:ext cx="10820400" cy="4191000"/>
          </a:xfrm>
        </p:spPr>
        <p:txBody>
          <a:bodyPr>
            <a:normAutofit/>
          </a:bodyPr>
          <a:lstStyle/>
          <a:p>
            <a:pPr>
              <a:lnSpc>
                <a:spcPct val="90000"/>
              </a:lnSpc>
            </a:pPr>
            <a:r>
              <a:rPr lang="en-US" altLang="en-US" dirty="0"/>
              <a:t>Think about the interview environment</a:t>
            </a:r>
          </a:p>
          <a:p>
            <a:pPr lvl="1">
              <a:lnSpc>
                <a:spcPct val="90000"/>
              </a:lnSpc>
              <a:spcAft>
                <a:spcPct val="30000"/>
              </a:spcAft>
            </a:pPr>
            <a:r>
              <a:rPr lang="en-US" altLang="en-US" sz="2200" dirty="0"/>
              <a:t>Location/conditions</a:t>
            </a:r>
          </a:p>
          <a:p>
            <a:pPr lvl="1">
              <a:lnSpc>
                <a:spcPct val="90000"/>
              </a:lnSpc>
            </a:pPr>
            <a:r>
              <a:rPr lang="en-US" altLang="en-US" sz="2200" dirty="0"/>
              <a:t>Introduction—Make them feel </a:t>
            </a:r>
            <a:r>
              <a:rPr lang="en-US" altLang="en-US" sz="2200" b="1" i="1" u="sng" dirty="0"/>
              <a:t>safe</a:t>
            </a:r>
          </a:p>
          <a:p>
            <a:pPr lvl="2">
              <a:lnSpc>
                <a:spcPct val="90000"/>
              </a:lnSpc>
            </a:pPr>
            <a:r>
              <a:rPr lang="en-US" altLang="en-US" sz="2200" dirty="0"/>
              <a:t>“No right or wrong answers”</a:t>
            </a:r>
          </a:p>
          <a:p>
            <a:pPr lvl="2">
              <a:lnSpc>
                <a:spcPct val="90000"/>
              </a:lnSpc>
            </a:pPr>
            <a:r>
              <a:rPr lang="en-US" altLang="en-US" sz="2200" dirty="0"/>
              <a:t>“Purpose is to understand how you see this product”</a:t>
            </a:r>
          </a:p>
          <a:p>
            <a:pPr lvl="2">
              <a:lnSpc>
                <a:spcPct val="90000"/>
              </a:lnSpc>
              <a:spcAft>
                <a:spcPct val="30000"/>
              </a:spcAft>
            </a:pPr>
            <a:r>
              <a:rPr lang="en-US" altLang="en-US" sz="2200" dirty="0"/>
              <a:t>“Some questions may seem obvious/stupid”</a:t>
            </a:r>
          </a:p>
          <a:p>
            <a:pPr lvl="1">
              <a:lnSpc>
                <a:spcPct val="90000"/>
              </a:lnSpc>
            </a:pPr>
            <a:r>
              <a:rPr lang="en-US" altLang="en-US" sz="2200" dirty="0"/>
              <a:t>Be direct with questioning</a:t>
            </a:r>
          </a:p>
          <a:p>
            <a:pPr lvl="2">
              <a:lnSpc>
                <a:spcPct val="90000"/>
              </a:lnSpc>
              <a:spcAft>
                <a:spcPct val="30000"/>
              </a:spcAft>
            </a:pPr>
            <a:r>
              <a:rPr lang="en-US" altLang="en-US" sz="2200" b="1" i="1" dirty="0"/>
              <a:t>“Why is that important to you?”</a:t>
            </a:r>
          </a:p>
          <a:p>
            <a:pPr lvl="1">
              <a:lnSpc>
                <a:spcPct val="90000"/>
              </a:lnSpc>
              <a:spcAft>
                <a:spcPct val="30000"/>
              </a:spcAft>
            </a:pPr>
            <a:r>
              <a:rPr lang="en-US" altLang="en-US" sz="2200" dirty="0"/>
              <a:t>Record rather than judge – avoid nonverbal cues</a:t>
            </a:r>
          </a:p>
          <a:p>
            <a:pPr lvl="1">
              <a:lnSpc>
                <a:spcPct val="90000"/>
              </a:lnSpc>
            </a:pPr>
            <a:r>
              <a:rPr lang="en-US" altLang="en-US" sz="2200" dirty="0"/>
              <a:t>Work past the superficial responses</a:t>
            </a:r>
          </a:p>
        </p:txBody>
      </p:sp>
      <p:sp>
        <p:nvSpPr>
          <p:cNvPr id="6" name="Rectangle 2"/>
          <p:cNvSpPr>
            <a:spLocks noGrp="1" noChangeArrowheads="1"/>
          </p:cNvSpPr>
          <p:nvPr>
            <p:ph type="title"/>
          </p:nvPr>
        </p:nvSpPr>
        <p:spPr>
          <a:xfrm>
            <a:off x="853751" y="447869"/>
            <a:ext cx="7772400" cy="762000"/>
          </a:xfrm>
        </p:spPr>
        <p:txBody>
          <a:bodyPr>
            <a:normAutofit/>
          </a:bodyPr>
          <a:lstStyle/>
          <a:p>
            <a:r>
              <a:rPr lang="en-US" altLang="en-US" sz="4000" dirty="0">
                <a:latin typeface="+mn-lt"/>
              </a:rPr>
              <a:t>Assignment 3</a:t>
            </a:r>
          </a:p>
        </p:txBody>
      </p:sp>
    </p:spTree>
    <p:extLst>
      <p:ext uri="{BB962C8B-B14F-4D97-AF65-F5344CB8AC3E}">
        <p14:creationId xmlns:p14="http://schemas.microsoft.com/office/powerpoint/2010/main" val="171420164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1602">
                                            <p:txEl>
                                              <p:pRg st="0" end="0"/>
                                            </p:txEl>
                                          </p:spTgt>
                                        </p:tgtEl>
                                        <p:attrNameLst>
                                          <p:attrName>style.visibility</p:attrName>
                                        </p:attrNameLst>
                                      </p:cBhvr>
                                      <p:to>
                                        <p:strVal val="visible"/>
                                      </p:to>
                                    </p:set>
                                    <p:animEffect transition="in" filter="wipe(left)">
                                      <p:cBhvr>
                                        <p:cTn id="7" dur="500"/>
                                        <p:tgtEl>
                                          <p:spTgt spid="28160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1602">
                                            <p:txEl>
                                              <p:pRg st="1" end="1"/>
                                            </p:txEl>
                                          </p:spTgt>
                                        </p:tgtEl>
                                        <p:attrNameLst>
                                          <p:attrName>style.visibility</p:attrName>
                                        </p:attrNameLst>
                                      </p:cBhvr>
                                      <p:to>
                                        <p:strVal val="visible"/>
                                      </p:to>
                                    </p:set>
                                    <p:animEffect transition="in" filter="wipe(left)">
                                      <p:cBhvr>
                                        <p:cTn id="12" dur="500"/>
                                        <p:tgtEl>
                                          <p:spTgt spid="28160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81602">
                                            <p:txEl>
                                              <p:pRg st="2" end="2"/>
                                            </p:txEl>
                                          </p:spTgt>
                                        </p:tgtEl>
                                        <p:attrNameLst>
                                          <p:attrName>style.visibility</p:attrName>
                                        </p:attrNameLst>
                                      </p:cBhvr>
                                      <p:to>
                                        <p:strVal val="visible"/>
                                      </p:to>
                                    </p:set>
                                    <p:animEffect transition="in" filter="wipe(left)">
                                      <p:cBhvr>
                                        <p:cTn id="17" dur="500"/>
                                        <p:tgtEl>
                                          <p:spTgt spid="281602">
                                            <p:txEl>
                                              <p:pRg st="2" end="2"/>
                                            </p:txEl>
                                          </p:spTgt>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281602">
                                            <p:txEl>
                                              <p:pRg st="3" end="3"/>
                                            </p:txEl>
                                          </p:spTgt>
                                        </p:tgtEl>
                                        <p:attrNameLst>
                                          <p:attrName>style.visibility</p:attrName>
                                        </p:attrNameLst>
                                      </p:cBhvr>
                                      <p:to>
                                        <p:strVal val="visible"/>
                                      </p:to>
                                    </p:set>
                                    <p:animEffect transition="in" filter="wipe(left)">
                                      <p:cBhvr>
                                        <p:cTn id="20" dur="500"/>
                                        <p:tgtEl>
                                          <p:spTgt spid="281602">
                                            <p:txEl>
                                              <p:pRg st="3" end="3"/>
                                            </p:tx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281602">
                                            <p:txEl>
                                              <p:pRg st="4" end="4"/>
                                            </p:txEl>
                                          </p:spTgt>
                                        </p:tgtEl>
                                        <p:attrNameLst>
                                          <p:attrName>style.visibility</p:attrName>
                                        </p:attrNameLst>
                                      </p:cBhvr>
                                      <p:to>
                                        <p:strVal val="visible"/>
                                      </p:to>
                                    </p:set>
                                    <p:animEffect transition="in" filter="wipe(left)">
                                      <p:cBhvr>
                                        <p:cTn id="23" dur="500"/>
                                        <p:tgtEl>
                                          <p:spTgt spid="281602">
                                            <p:txEl>
                                              <p:pRg st="4" end="4"/>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281602">
                                            <p:txEl>
                                              <p:pRg st="5" end="5"/>
                                            </p:txEl>
                                          </p:spTgt>
                                        </p:tgtEl>
                                        <p:attrNameLst>
                                          <p:attrName>style.visibility</p:attrName>
                                        </p:attrNameLst>
                                      </p:cBhvr>
                                      <p:to>
                                        <p:strVal val="visible"/>
                                      </p:to>
                                    </p:set>
                                    <p:animEffect transition="in" filter="wipe(left)">
                                      <p:cBhvr>
                                        <p:cTn id="26" dur="500"/>
                                        <p:tgtEl>
                                          <p:spTgt spid="281602">
                                            <p:txEl>
                                              <p:pRg st="5" end="5"/>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81602">
                                            <p:txEl>
                                              <p:pRg st="6" end="6"/>
                                            </p:txEl>
                                          </p:spTgt>
                                        </p:tgtEl>
                                        <p:attrNameLst>
                                          <p:attrName>style.visibility</p:attrName>
                                        </p:attrNameLst>
                                      </p:cBhvr>
                                      <p:to>
                                        <p:strVal val="visible"/>
                                      </p:to>
                                    </p:set>
                                    <p:animEffect transition="in" filter="wipe(left)">
                                      <p:cBhvr>
                                        <p:cTn id="31" dur="500"/>
                                        <p:tgtEl>
                                          <p:spTgt spid="281602">
                                            <p:txEl>
                                              <p:pRg st="6" end="6"/>
                                            </p:txEl>
                                          </p:spTgt>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281602">
                                            <p:txEl>
                                              <p:pRg st="7" end="7"/>
                                            </p:txEl>
                                          </p:spTgt>
                                        </p:tgtEl>
                                        <p:attrNameLst>
                                          <p:attrName>style.visibility</p:attrName>
                                        </p:attrNameLst>
                                      </p:cBhvr>
                                      <p:to>
                                        <p:strVal val="visible"/>
                                      </p:to>
                                    </p:set>
                                    <p:animEffect transition="in" filter="wipe(left)">
                                      <p:cBhvr>
                                        <p:cTn id="34" dur="500"/>
                                        <p:tgtEl>
                                          <p:spTgt spid="281602">
                                            <p:txEl>
                                              <p:pRg st="7" end="7"/>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81602">
                                            <p:txEl>
                                              <p:pRg st="8" end="8"/>
                                            </p:txEl>
                                          </p:spTgt>
                                        </p:tgtEl>
                                        <p:attrNameLst>
                                          <p:attrName>style.visibility</p:attrName>
                                        </p:attrNameLst>
                                      </p:cBhvr>
                                      <p:to>
                                        <p:strVal val="visible"/>
                                      </p:to>
                                    </p:set>
                                    <p:animEffect transition="in" filter="wipe(left)">
                                      <p:cBhvr>
                                        <p:cTn id="39" dur="500"/>
                                        <p:tgtEl>
                                          <p:spTgt spid="281602">
                                            <p:txEl>
                                              <p:pRg st="8" end="8"/>
                                            </p:txEl>
                                          </p:spTgt>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281602">
                                            <p:txEl>
                                              <p:pRg st="9" end="9"/>
                                            </p:txEl>
                                          </p:spTgt>
                                        </p:tgtEl>
                                        <p:attrNameLst>
                                          <p:attrName>style.visibility</p:attrName>
                                        </p:attrNameLst>
                                      </p:cBhvr>
                                      <p:to>
                                        <p:strVal val="visible"/>
                                      </p:to>
                                    </p:set>
                                    <p:animEffect transition="in" filter="wipe(left)">
                                      <p:cBhvr>
                                        <p:cTn id="44" dur="500"/>
                                        <p:tgtEl>
                                          <p:spTgt spid="281602">
                                            <p:txEl>
                                              <p:pRg st="9" end="9"/>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
                                        </p:tgtEl>
                                        <p:attrNameLst>
                                          <p:attrName>style.visibility</p:attrName>
                                        </p:attrNameLst>
                                      </p:cBhvr>
                                      <p:to>
                                        <p:strVal val="visible"/>
                                      </p:to>
                                    </p:set>
                                    <p:anim calcmode="lin" valueType="num">
                                      <p:cBhvr additive="base">
                                        <p:cTn id="49" dur="500" fill="hold"/>
                                        <p:tgtEl>
                                          <p:spTgt spid="2"/>
                                        </p:tgtEl>
                                        <p:attrNameLst>
                                          <p:attrName>ppt_x</p:attrName>
                                        </p:attrNameLst>
                                      </p:cBhvr>
                                      <p:tavLst>
                                        <p:tav tm="0">
                                          <p:val>
                                            <p:strVal val="#ppt_x"/>
                                          </p:val>
                                        </p:tav>
                                        <p:tav tm="100000">
                                          <p:val>
                                            <p:strVal val="#ppt_x"/>
                                          </p:val>
                                        </p:tav>
                                      </p:tavLst>
                                    </p:anim>
                                    <p:anim calcmode="lin" valueType="num">
                                      <p:cBhvr additive="base">
                                        <p:cTn id="5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6"/>
                                        </p:tgtEl>
                                        <p:attrNameLst>
                                          <p:attrName>style.visibility</p:attrName>
                                        </p:attrNameLst>
                                      </p:cBhvr>
                                      <p:to>
                                        <p:strVal val="visible"/>
                                      </p:to>
                                    </p:set>
                                    <p:anim calcmode="lin" valueType="num">
                                      <p:cBhvr additive="base">
                                        <p:cTn id="55" dur="500" fill="hold"/>
                                        <p:tgtEl>
                                          <p:spTgt spid="6"/>
                                        </p:tgtEl>
                                        <p:attrNameLst>
                                          <p:attrName>ppt_x</p:attrName>
                                        </p:attrNameLst>
                                      </p:cBhvr>
                                      <p:tavLst>
                                        <p:tav tm="0">
                                          <p:val>
                                            <p:strVal val="0-#ppt_w/2"/>
                                          </p:val>
                                        </p:tav>
                                        <p:tav tm="100000">
                                          <p:val>
                                            <p:strVal val="#ppt_x"/>
                                          </p:val>
                                        </p:tav>
                                      </p:tavLst>
                                    </p:anim>
                                    <p:anim calcmode="lin" valueType="num">
                                      <p:cBhvr additive="base">
                                        <p:cTn id="56"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81602" grpId="0" build="p" bldLvl="2" autoUpdateAnimBg="0"/>
      <p:bldP spid="6"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2626" name="Rectangle 2"/>
          <p:cNvSpPr>
            <a:spLocks noGrp="1" noChangeArrowheads="1"/>
          </p:cNvSpPr>
          <p:nvPr>
            <p:ph idx="1"/>
          </p:nvPr>
        </p:nvSpPr>
        <p:spPr>
          <a:xfrm>
            <a:off x="713792" y="1791477"/>
            <a:ext cx="10287000" cy="4249994"/>
          </a:xfrm>
        </p:spPr>
        <p:txBody>
          <a:bodyPr>
            <a:normAutofit/>
          </a:bodyPr>
          <a:lstStyle/>
          <a:p>
            <a:pPr>
              <a:lnSpc>
                <a:spcPct val="90000"/>
              </a:lnSpc>
            </a:pPr>
            <a:r>
              <a:rPr lang="en-US" altLang="en-US" sz="2800" dirty="0"/>
              <a:t>Eliciting </a:t>
            </a:r>
            <a:r>
              <a:rPr lang="en-US" altLang="en-US" sz="2800" i="1" dirty="0"/>
              <a:t>distinctions</a:t>
            </a:r>
          </a:p>
          <a:p>
            <a:pPr lvl="1">
              <a:lnSpc>
                <a:spcPct val="90000"/>
              </a:lnSpc>
            </a:pPr>
            <a:r>
              <a:rPr lang="en-US" altLang="en-US" sz="2400" dirty="0"/>
              <a:t>Get respondent to make distinctions about perceived meaningful differences between brands</a:t>
            </a:r>
          </a:p>
          <a:p>
            <a:pPr lvl="2">
              <a:lnSpc>
                <a:spcPct val="90000"/>
              </a:lnSpc>
            </a:pPr>
            <a:r>
              <a:rPr lang="en-US" altLang="en-US" sz="1800" dirty="0"/>
              <a:t>Triadic sorting</a:t>
            </a:r>
          </a:p>
          <a:p>
            <a:pPr lvl="2">
              <a:lnSpc>
                <a:spcPct val="90000"/>
              </a:lnSpc>
            </a:pPr>
            <a:r>
              <a:rPr lang="en-US" altLang="en-US" sz="1800" dirty="0"/>
              <a:t>Preference-consumption differences (always buy preferred? Why or why not)</a:t>
            </a:r>
          </a:p>
          <a:p>
            <a:pPr lvl="2">
              <a:lnSpc>
                <a:spcPct val="90000"/>
              </a:lnSpc>
            </a:pPr>
            <a:r>
              <a:rPr lang="en-US" altLang="en-US" sz="1800" dirty="0"/>
              <a:t>Differences by occasion</a:t>
            </a:r>
          </a:p>
          <a:p>
            <a:pPr lvl="1">
              <a:lnSpc>
                <a:spcPct val="90000"/>
              </a:lnSpc>
            </a:pPr>
            <a:r>
              <a:rPr lang="en-US" altLang="en-US" sz="2400" dirty="0"/>
              <a:t>Make sure the distinction is bipolar</a:t>
            </a:r>
          </a:p>
          <a:p>
            <a:pPr lvl="2">
              <a:lnSpc>
                <a:spcPct val="90000"/>
              </a:lnSpc>
            </a:pPr>
            <a:r>
              <a:rPr lang="en-US" altLang="en-US" sz="1800" dirty="0"/>
              <a:t>Get respondent to specify each pole</a:t>
            </a:r>
          </a:p>
          <a:p>
            <a:pPr lvl="1">
              <a:lnSpc>
                <a:spcPct val="90000"/>
              </a:lnSpc>
            </a:pPr>
            <a:r>
              <a:rPr lang="en-US" altLang="en-US" sz="2400" dirty="0"/>
              <a:t>Which pole is preferred?</a:t>
            </a:r>
          </a:p>
          <a:p>
            <a:pPr lvl="1">
              <a:lnSpc>
                <a:spcPct val="90000"/>
              </a:lnSpc>
            </a:pPr>
            <a:r>
              <a:rPr lang="en-US" altLang="en-US" sz="2400" dirty="0"/>
              <a:t>Preferred pole is basis for first “Why is that important to you?” question</a:t>
            </a:r>
          </a:p>
        </p:txBody>
      </p:sp>
      <p:sp>
        <p:nvSpPr>
          <p:cNvPr id="5" name="Rectangle 2"/>
          <p:cNvSpPr>
            <a:spLocks noGrp="1" noChangeArrowheads="1"/>
          </p:cNvSpPr>
          <p:nvPr>
            <p:ph type="title"/>
          </p:nvPr>
        </p:nvSpPr>
        <p:spPr>
          <a:xfrm>
            <a:off x="853751" y="447869"/>
            <a:ext cx="7772400" cy="762000"/>
          </a:xfrm>
        </p:spPr>
        <p:txBody>
          <a:bodyPr>
            <a:normAutofit fontScale="90000"/>
          </a:bodyPr>
          <a:lstStyle/>
          <a:p>
            <a:r>
              <a:rPr lang="en-US" altLang="en-US" sz="4000" dirty="0">
                <a:latin typeface="+mn-lt"/>
              </a:rPr>
              <a:t>Assignment 3</a:t>
            </a:r>
            <a:br>
              <a:rPr lang="en-US" altLang="en-US" sz="4000" dirty="0">
                <a:latin typeface="+mn-lt"/>
              </a:rPr>
            </a:br>
            <a:r>
              <a:rPr lang="en-US" altLang="en-US" sz="4000" dirty="0">
                <a:latin typeface="+mn-lt"/>
              </a:rPr>
              <a:t>1. </a:t>
            </a:r>
            <a:r>
              <a:rPr lang="en-US" altLang="en-US" sz="4000">
                <a:latin typeface="+mn-lt"/>
              </a:rPr>
              <a:t>Covering Attributes</a:t>
            </a:r>
            <a:endParaRPr lang="en-US" altLang="en-US" sz="4000" dirty="0">
              <a:latin typeface="+mn-lt"/>
            </a:endParaRPr>
          </a:p>
        </p:txBody>
      </p:sp>
    </p:spTree>
    <p:extLst>
      <p:ext uri="{BB962C8B-B14F-4D97-AF65-F5344CB8AC3E}">
        <p14:creationId xmlns:p14="http://schemas.microsoft.com/office/powerpoint/2010/main" val="1964554839"/>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2626">
                                            <p:txEl>
                                              <p:pRg st="0" end="0"/>
                                            </p:txEl>
                                          </p:spTgt>
                                        </p:tgtEl>
                                        <p:attrNameLst>
                                          <p:attrName>style.visibility</p:attrName>
                                        </p:attrNameLst>
                                      </p:cBhvr>
                                      <p:to>
                                        <p:strVal val="visible"/>
                                      </p:to>
                                    </p:set>
                                    <p:animEffect transition="in" filter="wipe(left)">
                                      <p:cBhvr>
                                        <p:cTn id="7" dur="500"/>
                                        <p:tgtEl>
                                          <p:spTgt spid="28262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2626">
                                            <p:txEl>
                                              <p:pRg st="1" end="1"/>
                                            </p:txEl>
                                          </p:spTgt>
                                        </p:tgtEl>
                                        <p:attrNameLst>
                                          <p:attrName>style.visibility</p:attrName>
                                        </p:attrNameLst>
                                      </p:cBhvr>
                                      <p:to>
                                        <p:strVal val="visible"/>
                                      </p:to>
                                    </p:set>
                                    <p:animEffect transition="in" filter="wipe(left)">
                                      <p:cBhvr>
                                        <p:cTn id="12" dur="500"/>
                                        <p:tgtEl>
                                          <p:spTgt spid="282626">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282626">
                                            <p:txEl>
                                              <p:pRg st="2" end="2"/>
                                            </p:txEl>
                                          </p:spTgt>
                                        </p:tgtEl>
                                        <p:attrNameLst>
                                          <p:attrName>style.visibility</p:attrName>
                                        </p:attrNameLst>
                                      </p:cBhvr>
                                      <p:to>
                                        <p:strVal val="visible"/>
                                      </p:to>
                                    </p:set>
                                    <p:animEffect transition="in" filter="wipe(left)">
                                      <p:cBhvr>
                                        <p:cTn id="15" dur="500"/>
                                        <p:tgtEl>
                                          <p:spTgt spid="282626">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282626">
                                            <p:txEl>
                                              <p:pRg st="3" end="3"/>
                                            </p:txEl>
                                          </p:spTgt>
                                        </p:tgtEl>
                                        <p:attrNameLst>
                                          <p:attrName>style.visibility</p:attrName>
                                        </p:attrNameLst>
                                      </p:cBhvr>
                                      <p:to>
                                        <p:strVal val="visible"/>
                                      </p:to>
                                    </p:set>
                                    <p:animEffect transition="in" filter="wipe(left)">
                                      <p:cBhvr>
                                        <p:cTn id="18" dur="500"/>
                                        <p:tgtEl>
                                          <p:spTgt spid="282626">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82626">
                                            <p:txEl>
                                              <p:pRg st="4" end="4"/>
                                            </p:txEl>
                                          </p:spTgt>
                                        </p:tgtEl>
                                        <p:attrNameLst>
                                          <p:attrName>style.visibility</p:attrName>
                                        </p:attrNameLst>
                                      </p:cBhvr>
                                      <p:to>
                                        <p:strVal val="visible"/>
                                      </p:to>
                                    </p:set>
                                    <p:animEffect transition="in" filter="wipe(left)">
                                      <p:cBhvr>
                                        <p:cTn id="21" dur="500"/>
                                        <p:tgtEl>
                                          <p:spTgt spid="282626">
                                            <p:txEl>
                                              <p:pRg st="4" end="4"/>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82626">
                                            <p:txEl>
                                              <p:pRg st="5" end="5"/>
                                            </p:txEl>
                                          </p:spTgt>
                                        </p:tgtEl>
                                        <p:attrNameLst>
                                          <p:attrName>style.visibility</p:attrName>
                                        </p:attrNameLst>
                                      </p:cBhvr>
                                      <p:to>
                                        <p:strVal val="visible"/>
                                      </p:to>
                                    </p:set>
                                    <p:animEffect transition="in" filter="wipe(left)">
                                      <p:cBhvr>
                                        <p:cTn id="26" dur="500"/>
                                        <p:tgtEl>
                                          <p:spTgt spid="282626">
                                            <p:txEl>
                                              <p:pRg st="5" end="5"/>
                                            </p:txEl>
                                          </p:spTgt>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282626">
                                            <p:txEl>
                                              <p:pRg st="6" end="6"/>
                                            </p:txEl>
                                          </p:spTgt>
                                        </p:tgtEl>
                                        <p:attrNameLst>
                                          <p:attrName>style.visibility</p:attrName>
                                        </p:attrNameLst>
                                      </p:cBhvr>
                                      <p:to>
                                        <p:strVal val="visible"/>
                                      </p:to>
                                    </p:set>
                                    <p:animEffect transition="in" filter="wipe(left)">
                                      <p:cBhvr>
                                        <p:cTn id="29" dur="500"/>
                                        <p:tgtEl>
                                          <p:spTgt spid="282626">
                                            <p:txEl>
                                              <p:pRg st="6" end="6"/>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82626">
                                            <p:txEl>
                                              <p:pRg st="7" end="7"/>
                                            </p:txEl>
                                          </p:spTgt>
                                        </p:tgtEl>
                                        <p:attrNameLst>
                                          <p:attrName>style.visibility</p:attrName>
                                        </p:attrNameLst>
                                      </p:cBhvr>
                                      <p:to>
                                        <p:strVal val="visible"/>
                                      </p:to>
                                    </p:set>
                                    <p:animEffect transition="in" filter="wipe(left)">
                                      <p:cBhvr>
                                        <p:cTn id="34" dur="500"/>
                                        <p:tgtEl>
                                          <p:spTgt spid="282626">
                                            <p:txEl>
                                              <p:pRg st="7" end="7"/>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82626">
                                            <p:txEl>
                                              <p:pRg st="8" end="8"/>
                                            </p:txEl>
                                          </p:spTgt>
                                        </p:tgtEl>
                                        <p:attrNameLst>
                                          <p:attrName>style.visibility</p:attrName>
                                        </p:attrNameLst>
                                      </p:cBhvr>
                                      <p:to>
                                        <p:strVal val="visible"/>
                                      </p:to>
                                    </p:set>
                                    <p:animEffect transition="in" filter="wipe(left)">
                                      <p:cBhvr>
                                        <p:cTn id="39" dur="500"/>
                                        <p:tgtEl>
                                          <p:spTgt spid="282626">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8" fill="hold" grpId="0" nodeType="clickEffect">
                                  <p:stCondLst>
                                    <p:cond delay="0"/>
                                  </p:stCondLst>
                                  <p:childTnLst>
                                    <p:set>
                                      <p:cBhvr>
                                        <p:cTn id="43" dur="1" fill="hold">
                                          <p:stCondLst>
                                            <p:cond delay="0"/>
                                          </p:stCondLst>
                                        </p:cTn>
                                        <p:tgtEl>
                                          <p:spTgt spid="5"/>
                                        </p:tgtEl>
                                        <p:attrNameLst>
                                          <p:attrName>style.visibility</p:attrName>
                                        </p:attrNameLst>
                                      </p:cBhvr>
                                      <p:to>
                                        <p:strVal val="visible"/>
                                      </p:to>
                                    </p:set>
                                    <p:anim calcmode="lin" valueType="num">
                                      <p:cBhvr additive="base">
                                        <p:cTn id="44" dur="500" fill="hold"/>
                                        <p:tgtEl>
                                          <p:spTgt spid="5"/>
                                        </p:tgtEl>
                                        <p:attrNameLst>
                                          <p:attrName>ppt_x</p:attrName>
                                        </p:attrNameLst>
                                      </p:cBhvr>
                                      <p:tavLst>
                                        <p:tav tm="0">
                                          <p:val>
                                            <p:strVal val="0-#ppt_w/2"/>
                                          </p:val>
                                        </p:tav>
                                        <p:tav tm="100000">
                                          <p:val>
                                            <p:strVal val="#ppt_x"/>
                                          </p:val>
                                        </p:tav>
                                      </p:tavLst>
                                    </p:anim>
                                    <p:anim calcmode="lin" valueType="num">
                                      <p:cBhvr additive="base">
                                        <p:cTn id="45"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2626" grpId="0" build="p" bldLvl="2" autoUpdateAnimBg="0"/>
      <p:bldP spid="5"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3650" name="Rectangle 2"/>
          <p:cNvSpPr>
            <a:spLocks noGrp="1" noChangeArrowheads="1"/>
          </p:cNvSpPr>
          <p:nvPr>
            <p:ph idx="1"/>
          </p:nvPr>
        </p:nvSpPr>
        <p:spPr>
          <a:xfrm>
            <a:off x="573832" y="1758820"/>
            <a:ext cx="10515600" cy="4572000"/>
          </a:xfrm>
        </p:spPr>
        <p:txBody>
          <a:bodyPr>
            <a:normAutofit/>
          </a:bodyPr>
          <a:lstStyle/>
          <a:p>
            <a:r>
              <a:rPr lang="en-US" altLang="en-US" sz="3600" dirty="0"/>
              <a:t>Select key distinctions (attributes) to ladder</a:t>
            </a:r>
          </a:p>
          <a:p>
            <a:pPr lvl="1"/>
            <a:r>
              <a:rPr lang="en-US" altLang="en-US" sz="3200" dirty="0"/>
              <a:t>Typically, respondent can only mention 10 to 12 different distinctions for a category</a:t>
            </a:r>
          </a:p>
          <a:p>
            <a:pPr lvl="1"/>
            <a:r>
              <a:rPr lang="en-US" altLang="en-US" sz="3200" dirty="0"/>
              <a:t>Interviewer must select what distinctions to probe</a:t>
            </a:r>
          </a:p>
          <a:p>
            <a:pPr lvl="2"/>
            <a:r>
              <a:rPr lang="en-US" altLang="en-US" sz="2400" dirty="0"/>
              <a:t>Either select based on your knowledge and/or research interests</a:t>
            </a:r>
          </a:p>
          <a:p>
            <a:pPr lvl="2"/>
            <a:r>
              <a:rPr lang="en-US" altLang="en-US" sz="2400" dirty="0"/>
              <a:t>Give respondent card with all mentioned distinctions listed and have him/her rate the relative importance of each and select those with highest ratings</a:t>
            </a:r>
          </a:p>
          <a:p>
            <a:pPr lvl="3"/>
            <a:r>
              <a:rPr lang="en-US" altLang="en-US" sz="2400" dirty="0"/>
              <a:t>Make note of these distinctions as you are interviewing</a:t>
            </a:r>
          </a:p>
        </p:txBody>
      </p:sp>
      <p:sp>
        <p:nvSpPr>
          <p:cNvPr id="5" name="Rectangle 2"/>
          <p:cNvSpPr>
            <a:spLocks noGrp="1" noChangeArrowheads="1"/>
          </p:cNvSpPr>
          <p:nvPr>
            <p:ph type="title"/>
          </p:nvPr>
        </p:nvSpPr>
        <p:spPr>
          <a:xfrm>
            <a:off x="853751" y="447869"/>
            <a:ext cx="7772400" cy="762000"/>
          </a:xfrm>
        </p:spPr>
        <p:txBody>
          <a:bodyPr>
            <a:normAutofit fontScale="90000"/>
          </a:bodyPr>
          <a:lstStyle/>
          <a:p>
            <a:r>
              <a:rPr lang="en-US" altLang="en-US" sz="4000" dirty="0">
                <a:latin typeface="+mn-lt"/>
              </a:rPr>
              <a:t>Assignment 3</a:t>
            </a:r>
            <a:br>
              <a:rPr lang="en-US" altLang="en-US" sz="4000" dirty="0">
                <a:latin typeface="+mn-lt"/>
              </a:rPr>
            </a:br>
            <a:r>
              <a:rPr lang="en-US" altLang="en-US" sz="4000" dirty="0">
                <a:latin typeface="+mn-lt"/>
              </a:rPr>
              <a:t>2. Selecting Attributes</a:t>
            </a:r>
          </a:p>
        </p:txBody>
      </p:sp>
    </p:spTree>
    <p:extLst>
      <p:ext uri="{BB962C8B-B14F-4D97-AF65-F5344CB8AC3E}">
        <p14:creationId xmlns:p14="http://schemas.microsoft.com/office/powerpoint/2010/main" val="1144893866"/>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3650">
                                            <p:txEl>
                                              <p:pRg st="0" end="0"/>
                                            </p:txEl>
                                          </p:spTgt>
                                        </p:tgtEl>
                                        <p:attrNameLst>
                                          <p:attrName>style.visibility</p:attrName>
                                        </p:attrNameLst>
                                      </p:cBhvr>
                                      <p:to>
                                        <p:strVal val="visible"/>
                                      </p:to>
                                    </p:set>
                                    <p:animEffect transition="in" filter="wipe(left)">
                                      <p:cBhvr>
                                        <p:cTn id="7" dur="500"/>
                                        <p:tgtEl>
                                          <p:spTgt spid="28365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3650">
                                            <p:txEl>
                                              <p:pRg st="1" end="1"/>
                                            </p:txEl>
                                          </p:spTgt>
                                        </p:tgtEl>
                                        <p:attrNameLst>
                                          <p:attrName>style.visibility</p:attrName>
                                        </p:attrNameLst>
                                      </p:cBhvr>
                                      <p:to>
                                        <p:strVal val="visible"/>
                                      </p:to>
                                    </p:set>
                                    <p:animEffect transition="in" filter="wipe(left)">
                                      <p:cBhvr>
                                        <p:cTn id="12" dur="500"/>
                                        <p:tgtEl>
                                          <p:spTgt spid="28365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83650">
                                            <p:txEl>
                                              <p:pRg st="2" end="2"/>
                                            </p:txEl>
                                          </p:spTgt>
                                        </p:tgtEl>
                                        <p:attrNameLst>
                                          <p:attrName>style.visibility</p:attrName>
                                        </p:attrNameLst>
                                      </p:cBhvr>
                                      <p:to>
                                        <p:strVal val="visible"/>
                                      </p:to>
                                    </p:set>
                                    <p:animEffect transition="in" filter="wipe(left)">
                                      <p:cBhvr>
                                        <p:cTn id="17" dur="500"/>
                                        <p:tgtEl>
                                          <p:spTgt spid="283650">
                                            <p:txEl>
                                              <p:pRg st="2" end="2"/>
                                            </p:txEl>
                                          </p:spTgt>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283650">
                                            <p:txEl>
                                              <p:pRg st="3" end="3"/>
                                            </p:txEl>
                                          </p:spTgt>
                                        </p:tgtEl>
                                        <p:attrNameLst>
                                          <p:attrName>style.visibility</p:attrName>
                                        </p:attrNameLst>
                                      </p:cBhvr>
                                      <p:to>
                                        <p:strVal val="visible"/>
                                      </p:to>
                                    </p:set>
                                    <p:animEffect transition="in" filter="wipe(left)">
                                      <p:cBhvr>
                                        <p:cTn id="20" dur="500"/>
                                        <p:tgtEl>
                                          <p:spTgt spid="283650">
                                            <p:txEl>
                                              <p:pRg st="3" end="3"/>
                                            </p:tx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283650">
                                            <p:txEl>
                                              <p:pRg st="4" end="4"/>
                                            </p:txEl>
                                          </p:spTgt>
                                        </p:tgtEl>
                                        <p:attrNameLst>
                                          <p:attrName>style.visibility</p:attrName>
                                        </p:attrNameLst>
                                      </p:cBhvr>
                                      <p:to>
                                        <p:strVal val="visible"/>
                                      </p:to>
                                    </p:set>
                                    <p:animEffect transition="in" filter="wipe(left)">
                                      <p:cBhvr>
                                        <p:cTn id="23" dur="500"/>
                                        <p:tgtEl>
                                          <p:spTgt spid="283650">
                                            <p:txEl>
                                              <p:pRg st="4" end="4"/>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283650">
                                            <p:txEl>
                                              <p:pRg st="5" end="5"/>
                                            </p:txEl>
                                          </p:spTgt>
                                        </p:tgtEl>
                                        <p:attrNameLst>
                                          <p:attrName>style.visibility</p:attrName>
                                        </p:attrNameLst>
                                      </p:cBhvr>
                                      <p:to>
                                        <p:strVal val="visible"/>
                                      </p:to>
                                    </p:set>
                                    <p:animEffect transition="in" filter="wipe(left)">
                                      <p:cBhvr>
                                        <p:cTn id="26" dur="500"/>
                                        <p:tgtEl>
                                          <p:spTgt spid="283650">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0-#ppt_w/2"/>
                                          </p:val>
                                        </p:tav>
                                        <p:tav tm="100000">
                                          <p:val>
                                            <p:strVal val="#ppt_x"/>
                                          </p:val>
                                        </p:tav>
                                      </p:tavLst>
                                    </p:anim>
                                    <p:anim calcmode="lin" valueType="num">
                                      <p:cBhvr additive="base">
                                        <p:cTn id="32"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3650" grpId="0" build="p" bldLvl="2" autoUpdateAnimBg="0"/>
      <p:bldP spid="5"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4000" dirty="0">
                <a:latin typeface="+mn-lt"/>
              </a:rPr>
              <a:t>Assignment 3 – </a:t>
            </a:r>
            <a:br>
              <a:rPr lang="en-US" altLang="en-US" sz="4000" dirty="0">
                <a:latin typeface="+mn-lt"/>
              </a:rPr>
            </a:br>
            <a:r>
              <a:rPr lang="en-US" altLang="en-US" sz="4000" dirty="0">
                <a:latin typeface="+mn-lt"/>
              </a:rPr>
              <a:t>3. Ask “Why is that important to you” (probe!)</a:t>
            </a:r>
            <a:endParaRPr lang="en-US" sz="4000" dirty="0">
              <a:latin typeface="+mn-lt"/>
            </a:endParaRPr>
          </a:p>
        </p:txBody>
      </p:sp>
      <p:sp>
        <p:nvSpPr>
          <p:cNvPr id="3" name="Content Placeholder 2"/>
          <p:cNvSpPr>
            <a:spLocks noGrp="1"/>
          </p:cNvSpPr>
          <p:nvPr>
            <p:ph idx="1"/>
          </p:nvPr>
        </p:nvSpPr>
        <p:spPr>
          <a:xfrm>
            <a:off x="838200" y="1825625"/>
            <a:ext cx="8986935" cy="4351338"/>
          </a:xfrm>
        </p:spPr>
        <p:txBody>
          <a:bodyPr>
            <a:normAutofit/>
          </a:bodyPr>
          <a:lstStyle/>
          <a:p>
            <a:r>
              <a:rPr lang="en-US" sz="2800" dirty="0"/>
              <a:t>Now it is time to ask “why”—Laddering is also known as “5-whys”</a:t>
            </a:r>
          </a:p>
          <a:p>
            <a:endParaRPr lang="en-US" sz="2800" dirty="0"/>
          </a:p>
          <a:p>
            <a:r>
              <a:rPr lang="en-US" sz="2800" dirty="0"/>
              <a:t>For each of the 3-5 attributes they mention as important you need to ask:</a:t>
            </a:r>
          </a:p>
          <a:p>
            <a:pPr lvl="1"/>
            <a:r>
              <a:rPr lang="en-US" sz="2400" dirty="0"/>
              <a:t>Why is that important to you?</a:t>
            </a:r>
          </a:p>
          <a:p>
            <a:pPr lvl="1"/>
            <a:endParaRPr lang="en-US" sz="2400" dirty="0"/>
          </a:p>
          <a:p>
            <a:r>
              <a:rPr lang="en-US" sz="2800" dirty="0"/>
              <a:t>Dig Deep!</a:t>
            </a:r>
          </a:p>
        </p:txBody>
      </p:sp>
    </p:spTree>
    <p:extLst>
      <p:ext uri="{BB962C8B-B14F-4D97-AF65-F5344CB8AC3E}">
        <p14:creationId xmlns:p14="http://schemas.microsoft.com/office/powerpoint/2010/main" val="1125405431"/>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4675" name="Rectangle 3"/>
          <p:cNvSpPr>
            <a:spLocks noGrp="1" noChangeArrowheads="1"/>
          </p:cNvSpPr>
          <p:nvPr>
            <p:ph type="title"/>
          </p:nvPr>
        </p:nvSpPr>
        <p:spPr>
          <a:xfrm>
            <a:off x="751114" y="343678"/>
            <a:ext cx="7848600" cy="838200"/>
          </a:xfrm>
          <a:noFill/>
          <a:ln/>
        </p:spPr>
        <p:txBody>
          <a:bodyPr vert="horz" lIns="92075" tIns="46038" rIns="92075" bIns="46038" rtlCol="0" anchor="ctr">
            <a:normAutofit/>
          </a:bodyPr>
          <a:lstStyle/>
          <a:p>
            <a:r>
              <a:rPr lang="en-US" altLang="en-US" sz="4000" dirty="0">
                <a:latin typeface="+mn-lt"/>
              </a:rPr>
              <a:t>Assignment 3</a:t>
            </a:r>
          </a:p>
        </p:txBody>
      </p:sp>
      <p:sp>
        <p:nvSpPr>
          <p:cNvPr id="284674" name="Rectangle 2"/>
          <p:cNvSpPr>
            <a:spLocks noGrp="1" noChangeArrowheads="1"/>
          </p:cNvSpPr>
          <p:nvPr>
            <p:ph idx="1"/>
          </p:nvPr>
        </p:nvSpPr>
        <p:spPr>
          <a:xfrm>
            <a:off x="828869" y="1209870"/>
            <a:ext cx="10439400" cy="4343400"/>
          </a:xfrm>
        </p:spPr>
        <p:txBody>
          <a:bodyPr>
            <a:noAutofit/>
          </a:bodyPr>
          <a:lstStyle/>
          <a:p>
            <a:pPr>
              <a:lnSpc>
                <a:spcPct val="90000"/>
              </a:lnSpc>
            </a:pPr>
            <a:r>
              <a:rPr lang="en-US" altLang="en-US" sz="3600" dirty="0"/>
              <a:t>Laddering – two basic problems</a:t>
            </a:r>
          </a:p>
          <a:p>
            <a:pPr lvl="1">
              <a:lnSpc>
                <a:spcPct val="90000"/>
              </a:lnSpc>
            </a:pPr>
            <a:r>
              <a:rPr lang="en-US" altLang="en-US" sz="3200" dirty="0"/>
              <a:t>Respondent doesn’t really “know” why something is important to them</a:t>
            </a:r>
          </a:p>
          <a:p>
            <a:pPr lvl="2">
              <a:lnSpc>
                <a:spcPct val="90000"/>
              </a:lnSpc>
            </a:pPr>
            <a:r>
              <a:rPr lang="en-US" altLang="en-US" sz="2400" dirty="0"/>
              <a:t>Haven’t previously thought about it, can’t articulate</a:t>
            </a:r>
          </a:p>
          <a:p>
            <a:pPr lvl="2">
              <a:lnSpc>
                <a:spcPct val="90000"/>
              </a:lnSpc>
            </a:pPr>
            <a:r>
              <a:rPr lang="en-US" altLang="en-US" sz="2400" dirty="0"/>
              <a:t>Two possible solutions:</a:t>
            </a:r>
          </a:p>
          <a:p>
            <a:pPr lvl="3">
              <a:lnSpc>
                <a:spcPct val="90000"/>
              </a:lnSpc>
            </a:pPr>
            <a:r>
              <a:rPr lang="en-US" altLang="en-US" sz="2400" dirty="0"/>
              <a:t>“negative” laddering – what would happen without it?</a:t>
            </a:r>
          </a:p>
          <a:p>
            <a:pPr lvl="3">
              <a:lnSpc>
                <a:spcPct val="90000"/>
              </a:lnSpc>
            </a:pPr>
            <a:r>
              <a:rPr lang="en-US" altLang="en-US" sz="2400" dirty="0"/>
              <a:t>Use a situational context to help make more concrete</a:t>
            </a:r>
          </a:p>
          <a:p>
            <a:pPr lvl="1">
              <a:lnSpc>
                <a:spcPct val="90000"/>
              </a:lnSpc>
            </a:pPr>
            <a:r>
              <a:rPr lang="en-US" altLang="en-US" sz="3200" dirty="0"/>
              <a:t>Sensitive information</a:t>
            </a:r>
          </a:p>
          <a:p>
            <a:pPr lvl="2">
              <a:lnSpc>
                <a:spcPct val="90000"/>
              </a:lnSpc>
            </a:pPr>
            <a:r>
              <a:rPr lang="en-US" altLang="en-US" sz="2400" dirty="0"/>
              <a:t>Leads to waffling, “don’t know,” silence, avoidance, anger</a:t>
            </a:r>
          </a:p>
          <a:p>
            <a:pPr lvl="2">
              <a:lnSpc>
                <a:spcPct val="90000"/>
              </a:lnSpc>
            </a:pPr>
            <a:r>
              <a:rPr lang="en-US" altLang="en-US" sz="2400" dirty="0"/>
              <a:t>Three possible solutions:</a:t>
            </a:r>
          </a:p>
          <a:p>
            <a:pPr lvl="3">
              <a:lnSpc>
                <a:spcPct val="90000"/>
              </a:lnSpc>
            </a:pPr>
            <a:r>
              <a:rPr lang="en-US" altLang="en-US" sz="2400" dirty="0"/>
              <a:t>Third person, reveal relevant personal fact, come back to it later</a:t>
            </a:r>
          </a:p>
        </p:txBody>
      </p:sp>
    </p:spTree>
    <p:extLst>
      <p:ext uri="{BB962C8B-B14F-4D97-AF65-F5344CB8AC3E}">
        <p14:creationId xmlns:p14="http://schemas.microsoft.com/office/powerpoint/2010/main" val="1308498788"/>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4674">
                                            <p:txEl>
                                              <p:pRg st="0" end="0"/>
                                            </p:txEl>
                                          </p:spTgt>
                                        </p:tgtEl>
                                        <p:attrNameLst>
                                          <p:attrName>style.visibility</p:attrName>
                                        </p:attrNameLst>
                                      </p:cBhvr>
                                      <p:to>
                                        <p:strVal val="visible"/>
                                      </p:to>
                                    </p:set>
                                    <p:animEffect transition="in" filter="wipe(left)">
                                      <p:cBhvr>
                                        <p:cTn id="7" dur="500"/>
                                        <p:tgtEl>
                                          <p:spTgt spid="28467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4674">
                                            <p:txEl>
                                              <p:pRg st="1" end="1"/>
                                            </p:txEl>
                                          </p:spTgt>
                                        </p:tgtEl>
                                        <p:attrNameLst>
                                          <p:attrName>style.visibility</p:attrName>
                                        </p:attrNameLst>
                                      </p:cBhvr>
                                      <p:to>
                                        <p:strVal val="visible"/>
                                      </p:to>
                                    </p:set>
                                    <p:animEffect transition="in" filter="wipe(left)">
                                      <p:cBhvr>
                                        <p:cTn id="12" dur="500"/>
                                        <p:tgtEl>
                                          <p:spTgt spid="284674">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284674">
                                            <p:txEl>
                                              <p:pRg st="2" end="2"/>
                                            </p:txEl>
                                          </p:spTgt>
                                        </p:tgtEl>
                                        <p:attrNameLst>
                                          <p:attrName>style.visibility</p:attrName>
                                        </p:attrNameLst>
                                      </p:cBhvr>
                                      <p:to>
                                        <p:strVal val="visible"/>
                                      </p:to>
                                    </p:set>
                                    <p:animEffect transition="in" filter="wipe(left)">
                                      <p:cBhvr>
                                        <p:cTn id="15" dur="500"/>
                                        <p:tgtEl>
                                          <p:spTgt spid="284674">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284674">
                                            <p:txEl>
                                              <p:pRg st="3" end="3"/>
                                            </p:txEl>
                                          </p:spTgt>
                                        </p:tgtEl>
                                        <p:attrNameLst>
                                          <p:attrName>style.visibility</p:attrName>
                                        </p:attrNameLst>
                                      </p:cBhvr>
                                      <p:to>
                                        <p:strVal val="visible"/>
                                      </p:to>
                                    </p:set>
                                    <p:animEffect transition="in" filter="wipe(left)">
                                      <p:cBhvr>
                                        <p:cTn id="18" dur="500"/>
                                        <p:tgtEl>
                                          <p:spTgt spid="284674">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84674">
                                            <p:txEl>
                                              <p:pRg st="4" end="4"/>
                                            </p:txEl>
                                          </p:spTgt>
                                        </p:tgtEl>
                                        <p:attrNameLst>
                                          <p:attrName>style.visibility</p:attrName>
                                        </p:attrNameLst>
                                      </p:cBhvr>
                                      <p:to>
                                        <p:strVal val="visible"/>
                                      </p:to>
                                    </p:set>
                                    <p:animEffect transition="in" filter="wipe(left)">
                                      <p:cBhvr>
                                        <p:cTn id="21" dur="500"/>
                                        <p:tgtEl>
                                          <p:spTgt spid="284674">
                                            <p:txEl>
                                              <p:pRg st="4" end="4"/>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284674">
                                            <p:txEl>
                                              <p:pRg st="5" end="5"/>
                                            </p:txEl>
                                          </p:spTgt>
                                        </p:tgtEl>
                                        <p:attrNameLst>
                                          <p:attrName>style.visibility</p:attrName>
                                        </p:attrNameLst>
                                      </p:cBhvr>
                                      <p:to>
                                        <p:strVal val="visible"/>
                                      </p:to>
                                    </p:set>
                                    <p:animEffect transition="in" filter="wipe(left)">
                                      <p:cBhvr>
                                        <p:cTn id="24" dur="500"/>
                                        <p:tgtEl>
                                          <p:spTgt spid="284674">
                                            <p:txEl>
                                              <p:pRg st="5" end="5"/>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84674">
                                            <p:txEl>
                                              <p:pRg st="6" end="6"/>
                                            </p:txEl>
                                          </p:spTgt>
                                        </p:tgtEl>
                                        <p:attrNameLst>
                                          <p:attrName>style.visibility</p:attrName>
                                        </p:attrNameLst>
                                      </p:cBhvr>
                                      <p:to>
                                        <p:strVal val="visible"/>
                                      </p:to>
                                    </p:set>
                                    <p:animEffect transition="in" filter="wipe(left)">
                                      <p:cBhvr>
                                        <p:cTn id="29" dur="500"/>
                                        <p:tgtEl>
                                          <p:spTgt spid="284674">
                                            <p:txEl>
                                              <p:pRg st="6" end="6"/>
                                            </p:txEl>
                                          </p:spTgt>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284674">
                                            <p:txEl>
                                              <p:pRg st="7" end="7"/>
                                            </p:txEl>
                                          </p:spTgt>
                                        </p:tgtEl>
                                        <p:attrNameLst>
                                          <p:attrName>style.visibility</p:attrName>
                                        </p:attrNameLst>
                                      </p:cBhvr>
                                      <p:to>
                                        <p:strVal val="visible"/>
                                      </p:to>
                                    </p:set>
                                    <p:animEffect transition="in" filter="wipe(left)">
                                      <p:cBhvr>
                                        <p:cTn id="32" dur="500"/>
                                        <p:tgtEl>
                                          <p:spTgt spid="284674">
                                            <p:txEl>
                                              <p:pRg st="7" end="7"/>
                                            </p:txEl>
                                          </p:spTgt>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284674">
                                            <p:txEl>
                                              <p:pRg st="8" end="8"/>
                                            </p:txEl>
                                          </p:spTgt>
                                        </p:tgtEl>
                                        <p:attrNameLst>
                                          <p:attrName>style.visibility</p:attrName>
                                        </p:attrNameLst>
                                      </p:cBhvr>
                                      <p:to>
                                        <p:strVal val="visible"/>
                                      </p:to>
                                    </p:set>
                                    <p:animEffect transition="in" filter="wipe(left)">
                                      <p:cBhvr>
                                        <p:cTn id="35" dur="500"/>
                                        <p:tgtEl>
                                          <p:spTgt spid="284674">
                                            <p:txEl>
                                              <p:pRg st="8" end="8"/>
                                            </p:txEl>
                                          </p:spTgt>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284674">
                                            <p:txEl>
                                              <p:pRg st="9" end="9"/>
                                            </p:txEl>
                                          </p:spTgt>
                                        </p:tgtEl>
                                        <p:attrNameLst>
                                          <p:attrName>style.visibility</p:attrName>
                                        </p:attrNameLst>
                                      </p:cBhvr>
                                      <p:to>
                                        <p:strVal val="visible"/>
                                      </p:to>
                                    </p:set>
                                    <p:animEffect transition="in" filter="wipe(left)">
                                      <p:cBhvr>
                                        <p:cTn id="38" dur="500"/>
                                        <p:tgtEl>
                                          <p:spTgt spid="28467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674" grpId="0" build="p" bldLvl="2"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5699" name="Rectangle 3"/>
          <p:cNvSpPr>
            <a:spLocks noGrp="1" noChangeArrowheads="1"/>
          </p:cNvSpPr>
          <p:nvPr>
            <p:ph type="title"/>
          </p:nvPr>
        </p:nvSpPr>
        <p:spPr>
          <a:xfrm>
            <a:off x="768220" y="419100"/>
            <a:ext cx="7772400" cy="838200"/>
          </a:xfrm>
          <a:noFill/>
          <a:ln/>
        </p:spPr>
        <p:txBody>
          <a:bodyPr vert="horz" lIns="92075" tIns="46038" rIns="92075" bIns="46038" rtlCol="0" anchor="ctr">
            <a:normAutofit/>
          </a:bodyPr>
          <a:lstStyle/>
          <a:p>
            <a:r>
              <a:rPr lang="en-US" altLang="en-US" sz="4000" dirty="0">
                <a:latin typeface="+mn-lt"/>
              </a:rPr>
              <a:t>Assignment 3</a:t>
            </a:r>
          </a:p>
        </p:txBody>
      </p:sp>
      <p:sp>
        <p:nvSpPr>
          <p:cNvPr id="285698" name="Rectangle 2"/>
          <p:cNvSpPr>
            <a:spLocks noGrp="1" noChangeArrowheads="1"/>
          </p:cNvSpPr>
          <p:nvPr>
            <p:ph idx="1"/>
          </p:nvPr>
        </p:nvSpPr>
        <p:spPr>
          <a:xfrm>
            <a:off x="912844" y="1407367"/>
            <a:ext cx="10363200" cy="4267200"/>
          </a:xfrm>
        </p:spPr>
        <p:txBody>
          <a:bodyPr>
            <a:normAutofit/>
          </a:bodyPr>
          <a:lstStyle/>
          <a:p>
            <a:r>
              <a:rPr lang="en-US" altLang="en-US" sz="3200" dirty="0"/>
              <a:t>Laddering techniques</a:t>
            </a:r>
          </a:p>
          <a:p>
            <a:pPr lvl="1"/>
            <a:r>
              <a:rPr lang="en-US" altLang="en-US" sz="2800" dirty="0"/>
              <a:t>Evoking situational context</a:t>
            </a:r>
          </a:p>
          <a:p>
            <a:pPr lvl="1"/>
            <a:r>
              <a:rPr lang="en-US" altLang="en-US" sz="2800" dirty="0"/>
              <a:t>Postulating absence of object or attribute</a:t>
            </a:r>
          </a:p>
          <a:p>
            <a:pPr lvl="1"/>
            <a:r>
              <a:rPr lang="en-US" altLang="en-US" sz="2800" dirty="0"/>
              <a:t>Negative laddering</a:t>
            </a:r>
          </a:p>
          <a:p>
            <a:pPr lvl="1"/>
            <a:r>
              <a:rPr lang="en-US" altLang="en-US" sz="2800" dirty="0"/>
              <a:t>Age regression contrast (move back in time)</a:t>
            </a:r>
          </a:p>
          <a:p>
            <a:pPr lvl="1"/>
            <a:r>
              <a:rPr lang="en-US" altLang="en-US" sz="2800" dirty="0"/>
              <a:t>Third person probe</a:t>
            </a:r>
          </a:p>
          <a:p>
            <a:pPr lvl="1"/>
            <a:r>
              <a:rPr lang="en-US" altLang="en-US" sz="2800" dirty="0"/>
              <a:t>Silence</a:t>
            </a:r>
          </a:p>
          <a:p>
            <a:pPr lvl="1"/>
            <a:r>
              <a:rPr lang="en-US" altLang="en-US" sz="2800" dirty="0"/>
              <a:t>Communication check</a:t>
            </a:r>
          </a:p>
          <a:p>
            <a:pPr lvl="1"/>
            <a:endParaRPr lang="en-US" altLang="en-US" sz="2800" dirty="0"/>
          </a:p>
        </p:txBody>
      </p:sp>
    </p:spTree>
    <p:extLst>
      <p:ext uri="{BB962C8B-B14F-4D97-AF65-F5344CB8AC3E}">
        <p14:creationId xmlns:p14="http://schemas.microsoft.com/office/powerpoint/2010/main" val="860054260"/>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5698">
                                            <p:txEl>
                                              <p:pRg st="0" end="0"/>
                                            </p:txEl>
                                          </p:spTgt>
                                        </p:tgtEl>
                                        <p:attrNameLst>
                                          <p:attrName>style.visibility</p:attrName>
                                        </p:attrNameLst>
                                      </p:cBhvr>
                                      <p:to>
                                        <p:strVal val="visible"/>
                                      </p:to>
                                    </p:set>
                                    <p:animEffect transition="in" filter="wipe(left)">
                                      <p:cBhvr>
                                        <p:cTn id="7" dur="500"/>
                                        <p:tgtEl>
                                          <p:spTgt spid="285698">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85698">
                                            <p:txEl>
                                              <p:pRg st="1" end="1"/>
                                            </p:txEl>
                                          </p:spTgt>
                                        </p:tgtEl>
                                        <p:attrNameLst>
                                          <p:attrName>style.visibility</p:attrName>
                                        </p:attrNameLst>
                                      </p:cBhvr>
                                      <p:to>
                                        <p:strVal val="visible"/>
                                      </p:to>
                                    </p:set>
                                    <p:animEffect transition="in" filter="wipe(left)">
                                      <p:cBhvr>
                                        <p:cTn id="10" dur="500"/>
                                        <p:tgtEl>
                                          <p:spTgt spid="285698">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85698">
                                            <p:txEl>
                                              <p:pRg st="2" end="2"/>
                                            </p:txEl>
                                          </p:spTgt>
                                        </p:tgtEl>
                                        <p:attrNameLst>
                                          <p:attrName>style.visibility</p:attrName>
                                        </p:attrNameLst>
                                      </p:cBhvr>
                                      <p:to>
                                        <p:strVal val="visible"/>
                                      </p:to>
                                    </p:set>
                                    <p:animEffect transition="in" filter="wipe(left)">
                                      <p:cBhvr>
                                        <p:cTn id="13" dur="500"/>
                                        <p:tgtEl>
                                          <p:spTgt spid="285698">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85698">
                                            <p:txEl>
                                              <p:pRg st="3" end="3"/>
                                            </p:txEl>
                                          </p:spTgt>
                                        </p:tgtEl>
                                        <p:attrNameLst>
                                          <p:attrName>style.visibility</p:attrName>
                                        </p:attrNameLst>
                                      </p:cBhvr>
                                      <p:to>
                                        <p:strVal val="visible"/>
                                      </p:to>
                                    </p:set>
                                    <p:animEffect transition="in" filter="wipe(left)">
                                      <p:cBhvr>
                                        <p:cTn id="16" dur="500"/>
                                        <p:tgtEl>
                                          <p:spTgt spid="285698">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85698">
                                            <p:txEl>
                                              <p:pRg st="4" end="4"/>
                                            </p:txEl>
                                          </p:spTgt>
                                        </p:tgtEl>
                                        <p:attrNameLst>
                                          <p:attrName>style.visibility</p:attrName>
                                        </p:attrNameLst>
                                      </p:cBhvr>
                                      <p:to>
                                        <p:strVal val="visible"/>
                                      </p:to>
                                    </p:set>
                                    <p:animEffect transition="in" filter="wipe(left)">
                                      <p:cBhvr>
                                        <p:cTn id="19" dur="500"/>
                                        <p:tgtEl>
                                          <p:spTgt spid="285698">
                                            <p:txEl>
                                              <p:pRg st="4" end="4"/>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285698">
                                            <p:txEl>
                                              <p:pRg st="5" end="5"/>
                                            </p:txEl>
                                          </p:spTgt>
                                        </p:tgtEl>
                                        <p:attrNameLst>
                                          <p:attrName>style.visibility</p:attrName>
                                        </p:attrNameLst>
                                      </p:cBhvr>
                                      <p:to>
                                        <p:strVal val="visible"/>
                                      </p:to>
                                    </p:set>
                                    <p:animEffect transition="in" filter="wipe(left)">
                                      <p:cBhvr>
                                        <p:cTn id="22" dur="500"/>
                                        <p:tgtEl>
                                          <p:spTgt spid="285698">
                                            <p:txEl>
                                              <p:pRg st="5" end="5"/>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285698">
                                            <p:txEl>
                                              <p:pRg st="6" end="6"/>
                                            </p:txEl>
                                          </p:spTgt>
                                        </p:tgtEl>
                                        <p:attrNameLst>
                                          <p:attrName>style.visibility</p:attrName>
                                        </p:attrNameLst>
                                      </p:cBhvr>
                                      <p:to>
                                        <p:strVal val="visible"/>
                                      </p:to>
                                    </p:set>
                                    <p:animEffect transition="in" filter="wipe(left)">
                                      <p:cBhvr>
                                        <p:cTn id="25" dur="500"/>
                                        <p:tgtEl>
                                          <p:spTgt spid="285698">
                                            <p:txEl>
                                              <p:pRg st="6" end="6"/>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285698">
                                            <p:txEl>
                                              <p:pRg st="7" end="7"/>
                                            </p:txEl>
                                          </p:spTgt>
                                        </p:tgtEl>
                                        <p:attrNameLst>
                                          <p:attrName>style.visibility</p:attrName>
                                        </p:attrNameLst>
                                      </p:cBhvr>
                                      <p:to>
                                        <p:strVal val="visible"/>
                                      </p:to>
                                    </p:set>
                                    <p:animEffect transition="in" filter="wipe(left)">
                                      <p:cBhvr>
                                        <p:cTn id="28" dur="500"/>
                                        <p:tgtEl>
                                          <p:spTgt spid="28569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5698"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23" name="Rectangle 3"/>
          <p:cNvSpPr>
            <a:spLocks noGrp="1" noChangeArrowheads="1"/>
          </p:cNvSpPr>
          <p:nvPr>
            <p:ph type="title"/>
          </p:nvPr>
        </p:nvSpPr>
        <p:spPr>
          <a:xfrm>
            <a:off x="693575" y="381000"/>
            <a:ext cx="7772400" cy="914400"/>
          </a:xfrm>
          <a:noFill/>
          <a:ln/>
        </p:spPr>
        <p:txBody>
          <a:bodyPr vert="horz" lIns="92075" tIns="46038" rIns="92075" bIns="46038" rtlCol="0" anchor="ctr">
            <a:normAutofit/>
          </a:bodyPr>
          <a:lstStyle/>
          <a:p>
            <a:r>
              <a:rPr lang="en-US" altLang="en-US" sz="4000" dirty="0">
                <a:latin typeface="+mn-lt"/>
              </a:rPr>
              <a:t>Assignment 3</a:t>
            </a:r>
          </a:p>
        </p:txBody>
      </p:sp>
      <p:sp>
        <p:nvSpPr>
          <p:cNvPr id="286722" name="Rectangle 2"/>
          <p:cNvSpPr>
            <a:spLocks noGrp="1" noChangeArrowheads="1"/>
          </p:cNvSpPr>
          <p:nvPr>
            <p:ph idx="1"/>
          </p:nvPr>
        </p:nvSpPr>
        <p:spPr>
          <a:xfrm>
            <a:off x="1295400" y="1685925"/>
            <a:ext cx="10515600" cy="4191000"/>
          </a:xfrm>
        </p:spPr>
        <p:txBody>
          <a:bodyPr>
            <a:normAutofit/>
          </a:bodyPr>
          <a:lstStyle/>
          <a:p>
            <a:pPr>
              <a:lnSpc>
                <a:spcPct val="90000"/>
              </a:lnSpc>
              <a:spcAft>
                <a:spcPct val="20000"/>
              </a:spcAft>
            </a:pPr>
            <a:r>
              <a:rPr lang="en-US" altLang="en-US" sz="3200" dirty="0"/>
              <a:t>Laddering techniques</a:t>
            </a:r>
          </a:p>
          <a:p>
            <a:pPr lvl="1">
              <a:lnSpc>
                <a:spcPct val="90000"/>
              </a:lnSpc>
              <a:spcAft>
                <a:spcPct val="20000"/>
              </a:spcAft>
            </a:pPr>
            <a:r>
              <a:rPr lang="en-US" altLang="en-US" sz="2800" dirty="0"/>
              <a:t>When you reach a dead end, either</a:t>
            </a:r>
          </a:p>
          <a:p>
            <a:pPr lvl="2">
              <a:lnSpc>
                <a:spcPct val="90000"/>
              </a:lnSpc>
              <a:spcAft>
                <a:spcPct val="20000"/>
              </a:spcAft>
            </a:pPr>
            <a:r>
              <a:rPr lang="en-US" altLang="en-US" sz="2000" dirty="0"/>
              <a:t>Terminate discussion </a:t>
            </a:r>
          </a:p>
          <a:p>
            <a:pPr lvl="2">
              <a:lnSpc>
                <a:spcPct val="90000"/>
              </a:lnSpc>
              <a:spcAft>
                <a:spcPct val="20000"/>
              </a:spcAft>
            </a:pPr>
            <a:r>
              <a:rPr lang="en-US" altLang="en-US" sz="2000" dirty="0"/>
              <a:t>Proceed to another ladder and circle back later</a:t>
            </a:r>
          </a:p>
          <a:p>
            <a:pPr lvl="1">
              <a:lnSpc>
                <a:spcPct val="90000"/>
              </a:lnSpc>
              <a:spcAft>
                <a:spcPct val="20000"/>
              </a:spcAft>
            </a:pPr>
            <a:r>
              <a:rPr lang="en-US" altLang="en-US" sz="2800" dirty="0"/>
              <a:t>Keep the discussion on the person, not the product or service</a:t>
            </a:r>
          </a:p>
          <a:p>
            <a:pPr lvl="1">
              <a:lnSpc>
                <a:spcPct val="90000"/>
              </a:lnSpc>
              <a:spcAft>
                <a:spcPct val="20000"/>
              </a:spcAft>
            </a:pPr>
            <a:r>
              <a:rPr lang="en-US" altLang="en-US" sz="2800" dirty="0"/>
              <a:t>Expect 2 to 3 ladders from about  ¾’s of respondents</a:t>
            </a:r>
          </a:p>
          <a:p>
            <a:pPr lvl="2">
              <a:lnSpc>
                <a:spcPct val="90000"/>
              </a:lnSpc>
              <a:spcAft>
                <a:spcPct val="20000"/>
              </a:spcAft>
            </a:pPr>
            <a:r>
              <a:rPr lang="en-US" altLang="en-US" sz="2000" dirty="0"/>
              <a:t>Another ¼ cannot go beyond one ladder</a:t>
            </a:r>
          </a:p>
          <a:p>
            <a:pPr lvl="1">
              <a:lnSpc>
                <a:spcPct val="90000"/>
              </a:lnSpc>
              <a:spcAft>
                <a:spcPct val="20000"/>
              </a:spcAft>
            </a:pPr>
            <a:r>
              <a:rPr lang="en-US" altLang="en-US" sz="2800" dirty="0"/>
              <a:t>Plan to spend 30 minutes per interview!</a:t>
            </a:r>
          </a:p>
        </p:txBody>
      </p:sp>
    </p:spTree>
    <p:extLst>
      <p:ext uri="{BB962C8B-B14F-4D97-AF65-F5344CB8AC3E}">
        <p14:creationId xmlns:p14="http://schemas.microsoft.com/office/powerpoint/2010/main" val="253557655"/>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6722">
                                            <p:txEl>
                                              <p:pRg st="0" end="0"/>
                                            </p:txEl>
                                          </p:spTgt>
                                        </p:tgtEl>
                                        <p:attrNameLst>
                                          <p:attrName>style.visibility</p:attrName>
                                        </p:attrNameLst>
                                      </p:cBhvr>
                                      <p:to>
                                        <p:strVal val="visible"/>
                                      </p:to>
                                    </p:set>
                                    <p:animEffect transition="in" filter="wipe(left)">
                                      <p:cBhvr>
                                        <p:cTn id="7" dur="500"/>
                                        <p:tgtEl>
                                          <p:spTgt spid="28672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6722">
                                            <p:txEl>
                                              <p:pRg st="1" end="1"/>
                                            </p:txEl>
                                          </p:spTgt>
                                        </p:tgtEl>
                                        <p:attrNameLst>
                                          <p:attrName>style.visibility</p:attrName>
                                        </p:attrNameLst>
                                      </p:cBhvr>
                                      <p:to>
                                        <p:strVal val="visible"/>
                                      </p:to>
                                    </p:set>
                                    <p:animEffect transition="in" filter="wipe(left)">
                                      <p:cBhvr>
                                        <p:cTn id="12" dur="500"/>
                                        <p:tgtEl>
                                          <p:spTgt spid="286722">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286722">
                                            <p:txEl>
                                              <p:pRg st="2" end="2"/>
                                            </p:txEl>
                                          </p:spTgt>
                                        </p:tgtEl>
                                        <p:attrNameLst>
                                          <p:attrName>style.visibility</p:attrName>
                                        </p:attrNameLst>
                                      </p:cBhvr>
                                      <p:to>
                                        <p:strVal val="visible"/>
                                      </p:to>
                                    </p:set>
                                    <p:animEffect transition="in" filter="wipe(left)">
                                      <p:cBhvr>
                                        <p:cTn id="15" dur="500"/>
                                        <p:tgtEl>
                                          <p:spTgt spid="286722">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286722">
                                            <p:txEl>
                                              <p:pRg st="3" end="3"/>
                                            </p:txEl>
                                          </p:spTgt>
                                        </p:tgtEl>
                                        <p:attrNameLst>
                                          <p:attrName>style.visibility</p:attrName>
                                        </p:attrNameLst>
                                      </p:cBhvr>
                                      <p:to>
                                        <p:strVal val="visible"/>
                                      </p:to>
                                    </p:set>
                                    <p:animEffect transition="in" filter="wipe(left)">
                                      <p:cBhvr>
                                        <p:cTn id="18" dur="500"/>
                                        <p:tgtEl>
                                          <p:spTgt spid="286722">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86722">
                                            <p:txEl>
                                              <p:pRg st="4" end="4"/>
                                            </p:txEl>
                                          </p:spTgt>
                                        </p:tgtEl>
                                        <p:attrNameLst>
                                          <p:attrName>style.visibility</p:attrName>
                                        </p:attrNameLst>
                                      </p:cBhvr>
                                      <p:to>
                                        <p:strVal val="visible"/>
                                      </p:to>
                                    </p:set>
                                    <p:animEffect transition="in" filter="wipe(left)">
                                      <p:cBhvr>
                                        <p:cTn id="23" dur="500"/>
                                        <p:tgtEl>
                                          <p:spTgt spid="286722">
                                            <p:txEl>
                                              <p:pRg st="4" end="4"/>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86722">
                                            <p:txEl>
                                              <p:pRg st="5" end="5"/>
                                            </p:txEl>
                                          </p:spTgt>
                                        </p:tgtEl>
                                        <p:attrNameLst>
                                          <p:attrName>style.visibility</p:attrName>
                                        </p:attrNameLst>
                                      </p:cBhvr>
                                      <p:to>
                                        <p:strVal val="visible"/>
                                      </p:to>
                                    </p:set>
                                    <p:animEffect transition="in" filter="wipe(left)">
                                      <p:cBhvr>
                                        <p:cTn id="28" dur="500"/>
                                        <p:tgtEl>
                                          <p:spTgt spid="286722">
                                            <p:txEl>
                                              <p:pRg st="5" end="5"/>
                                            </p:txEl>
                                          </p:spTgt>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286722">
                                            <p:txEl>
                                              <p:pRg st="6" end="6"/>
                                            </p:txEl>
                                          </p:spTgt>
                                        </p:tgtEl>
                                        <p:attrNameLst>
                                          <p:attrName>style.visibility</p:attrName>
                                        </p:attrNameLst>
                                      </p:cBhvr>
                                      <p:to>
                                        <p:strVal val="visible"/>
                                      </p:to>
                                    </p:set>
                                    <p:animEffect transition="in" filter="wipe(left)">
                                      <p:cBhvr>
                                        <p:cTn id="31" dur="500"/>
                                        <p:tgtEl>
                                          <p:spTgt spid="286722">
                                            <p:txEl>
                                              <p:pRg st="6" end="6"/>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86722">
                                            <p:txEl>
                                              <p:pRg st="7" end="7"/>
                                            </p:txEl>
                                          </p:spTgt>
                                        </p:tgtEl>
                                        <p:attrNameLst>
                                          <p:attrName>style.visibility</p:attrName>
                                        </p:attrNameLst>
                                      </p:cBhvr>
                                      <p:to>
                                        <p:strVal val="visible"/>
                                      </p:to>
                                    </p:set>
                                    <p:animEffect transition="in" filter="wipe(left)">
                                      <p:cBhvr>
                                        <p:cTn id="36" dur="500"/>
                                        <p:tgtEl>
                                          <p:spTgt spid="28672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22" grpId="0" build="p" bldLvl="2"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7267" name="Rectangle 3"/>
          <p:cNvSpPr>
            <a:spLocks noGrp="1" noChangeArrowheads="1"/>
          </p:cNvSpPr>
          <p:nvPr>
            <p:ph type="title"/>
          </p:nvPr>
        </p:nvSpPr>
        <p:spPr>
          <a:xfrm>
            <a:off x="1066800" y="832366"/>
            <a:ext cx="8001000" cy="914400"/>
          </a:xfrm>
          <a:noFill/>
          <a:ln/>
        </p:spPr>
        <p:txBody>
          <a:bodyPr vert="horz" lIns="92075" tIns="46038" rIns="92075" bIns="46038" rtlCol="0" anchor="ctr">
            <a:normAutofit/>
          </a:bodyPr>
          <a:lstStyle/>
          <a:p>
            <a:r>
              <a:rPr lang="en-US" altLang="en-US" sz="4000" dirty="0">
                <a:latin typeface="+mn-lt"/>
              </a:rPr>
              <a:t>Deliverable</a:t>
            </a:r>
            <a:endParaRPr lang="en-US" altLang="en-US" dirty="0">
              <a:latin typeface="+mn-lt"/>
            </a:endParaRPr>
          </a:p>
        </p:txBody>
      </p:sp>
      <p:sp>
        <p:nvSpPr>
          <p:cNvPr id="267266" name="Rectangle 2"/>
          <p:cNvSpPr>
            <a:spLocks noGrp="1" noChangeArrowheads="1"/>
          </p:cNvSpPr>
          <p:nvPr>
            <p:ph idx="1"/>
          </p:nvPr>
        </p:nvSpPr>
        <p:spPr>
          <a:xfrm>
            <a:off x="1066800" y="1903796"/>
            <a:ext cx="6934200" cy="3505200"/>
          </a:xfrm>
        </p:spPr>
        <p:txBody>
          <a:bodyPr/>
          <a:lstStyle/>
          <a:p>
            <a:r>
              <a:rPr lang="en-US" altLang="en-US" sz="3600" dirty="0"/>
              <a:t>Your interview transcripts</a:t>
            </a:r>
          </a:p>
          <a:p>
            <a:r>
              <a:rPr lang="en-US" altLang="en-US" sz="3600" dirty="0"/>
              <a:t>Your value chains for each interview</a:t>
            </a:r>
          </a:p>
          <a:p>
            <a:pPr lvl="1"/>
            <a:r>
              <a:rPr lang="en-US" altLang="en-US" sz="3200" dirty="0"/>
              <a:t>Hard copy to class day it is due</a:t>
            </a:r>
          </a:p>
          <a:p>
            <a:pPr lvl="1"/>
            <a:r>
              <a:rPr lang="en-US" altLang="en-US" sz="3200" dirty="0"/>
              <a:t>There may be more than 3 steps per ladder (pages 12 &amp; 16-18 in article)</a:t>
            </a:r>
          </a:p>
        </p:txBody>
      </p:sp>
      <p:grpSp>
        <p:nvGrpSpPr>
          <p:cNvPr id="3" name="Group 2"/>
          <p:cNvGrpSpPr/>
          <p:nvPr/>
        </p:nvGrpSpPr>
        <p:grpSpPr>
          <a:xfrm>
            <a:off x="7543800" y="2404186"/>
            <a:ext cx="3048000" cy="2580620"/>
            <a:chOff x="3276600" y="3429000"/>
            <a:chExt cx="3048000" cy="2580620"/>
          </a:xfrm>
        </p:grpSpPr>
        <p:sp>
          <p:nvSpPr>
            <p:cNvPr id="267270" name="Text Box 6"/>
            <p:cNvSpPr txBox="1">
              <a:spLocks noChangeArrowheads="1"/>
            </p:cNvSpPr>
            <p:nvPr/>
          </p:nvSpPr>
          <p:spPr bwMode="auto">
            <a:xfrm>
              <a:off x="3810000" y="3429000"/>
              <a:ext cx="2057400" cy="52322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a:spAutoFit/>
            </a:bodyPr>
            <a:lstStyle/>
            <a:p>
              <a:pPr algn="ctr">
                <a:spcBef>
                  <a:spcPct val="50000"/>
                </a:spcBef>
              </a:pPr>
              <a:r>
                <a:rPr lang="en-US" altLang="en-US" sz="2800"/>
                <a:t>Values</a:t>
              </a:r>
            </a:p>
          </p:txBody>
        </p:sp>
        <p:grpSp>
          <p:nvGrpSpPr>
            <p:cNvPr id="2" name="Group 1"/>
            <p:cNvGrpSpPr/>
            <p:nvPr/>
          </p:nvGrpSpPr>
          <p:grpSpPr>
            <a:xfrm>
              <a:off x="3276600" y="3962400"/>
              <a:ext cx="3048000" cy="2047220"/>
              <a:chOff x="3276600" y="3962400"/>
              <a:chExt cx="3048000" cy="2047220"/>
            </a:xfrm>
          </p:grpSpPr>
          <p:sp>
            <p:nvSpPr>
              <p:cNvPr id="267268" name="Text Box 4"/>
              <p:cNvSpPr txBox="1">
                <a:spLocks noChangeArrowheads="1"/>
              </p:cNvSpPr>
              <p:nvPr/>
            </p:nvSpPr>
            <p:spPr bwMode="auto">
              <a:xfrm>
                <a:off x="3810000" y="5486400"/>
                <a:ext cx="2057400" cy="52322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a:spAutoFit/>
              </a:bodyPr>
              <a:lstStyle/>
              <a:p>
                <a:pPr algn="ctr">
                  <a:spcBef>
                    <a:spcPct val="50000"/>
                  </a:spcBef>
                </a:pPr>
                <a:r>
                  <a:rPr lang="en-US" altLang="en-US" sz="2800" dirty="0"/>
                  <a:t>Attributes</a:t>
                </a:r>
              </a:p>
            </p:txBody>
          </p:sp>
          <p:sp>
            <p:nvSpPr>
              <p:cNvPr id="267269" name="Text Box 5"/>
              <p:cNvSpPr txBox="1">
                <a:spLocks noChangeArrowheads="1"/>
              </p:cNvSpPr>
              <p:nvPr/>
            </p:nvSpPr>
            <p:spPr bwMode="auto">
              <a:xfrm>
                <a:off x="3276600" y="4419600"/>
                <a:ext cx="3048000" cy="52322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a:spAutoFit/>
              </a:bodyPr>
              <a:lstStyle/>
              <a:p>
                <a:pPr algn="ctr">
                  <a:spcBef>
                    <a:spcPct val="50000"/>
                  </a:spcBef>
                </a:pPr>
                <a:r>
                  <a:rPr lang="en-US" altLang="en-US" sz="2800" dirty="0"/>
                  <a:t>Consequences</a:t>
                </a:r>
              </a:p>
            </p:txBody>
          </p:sp>
          <p:sp>
            <p:nvSpPr>
              <p:cNvPr id="267271" name="Line 7"/>
              <p:cNvSpPr>
                <a:spLocks noChangeShapeType="1"/>
              </p:cNvSpPr>
              <p:nvPr/>
            </p:nvSpPr>
            <p:spPr bwMode="auto">
              <a:xfrm flipV="1">
                <a:off x="4800600" y="4953000"/>
                <a:ext cx="0" cy="533400"/>
              </a:xfrm>
              <a:prstGeom prst="line">
                <a:avLst/>
              </a:prstGeom>
              <a:ln>
                <a:headEnd/>
                <a:tailEnd type="triangle" w="med" len="med"/>
              </a:ln>
            </p:spPr>
            <p:style>
              <a:lnRef idx="3">
                <a:schemeClr val="accent1"/>
              </a:lnRef>
              <a:fillRef idx="0">
                <a:schemeClr val="accent1"/>
              </a:fillRef>
              <a:effectRef idx="2">
                <a:schemeClr val="accent1"/>
              </a:effectRef>
              <a:fontRef idx="minor">
                <a:schemeClr val="tx1"/>
              </a:fontRef>
            </p:style>
            <p:txBody>
              <a:bodyPr/>
              <a:lstStyle/>
              <a:p>
                <a:endParaRPr lang="en-US" sz="2800"/>
              </a:p>
            </p:txBody>
          </p:sp>
          <p:sp>
            <p:nvSpPr>
              <p:cNvPr id="267272" name="Line 8"/>
              <p:cNvSpPr>
                <a:spLocks noChangeShapeType="1"/>
              </p:cNvSpPr>
              <p:nvPr/>
            </p:nvSpPr>
            <p:spPr bwMode="auto">
              <a:xfrm flipV="1">
                <a:off x="4800600" y="3962400"/>
                <a:ext cx="0" cy="457200"/>
              </a:xfrm>
              <a:prstGeom prst="line">
                <a:avLst/>
              </a:prstGeom>
              <a:ln>
                <a:headEnd/>
                <a:tailEnd type="triangle" w="med" len="med"/>
              </a:ln>
            </p:spPr>
            <p:style>
              <a:lnRef idx="3">
                <a:schemeClr val="accent1"/>
              </a:lnRef>
              <a:fillRef idx="0">
                <a:schemeClr val="accent1"/>
              </a:fillRef>
              <a:effectRef idx="2">
                <a:schemeClr val="accent1"/>
              </a:effectRef>
              <a:fontRef idx="minor">
                <a:schemeClr val="tx1"/>
              </a:fontRef>
            </p:style>
            <p:txBody>
              <a:bodyPr/>
              <a:lstStyle/>
              <a:p>
                <a:endParaRPr lang="en-US" sz="2800"/>
              </a:p>
            </p:txBody>
          </p:sp>
        </p:grpSp>
      </p:grpSp>
    </p:spTree>
    <p:extLst>
      <p:ext uri="{BB962C8B-B14F-4D97-AF65-F5344CB8AC3E}">
        <p14:creationId xmlns:p14="http://schemas.microsoft.com/office/powerpoint/2010/main" val="1195454464"/>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7266">
                                            <p:txEl>
                                              <p:pRg st="0" end="0"/>
                                            </p:txEl>
                                          </p:spTgt>
                                        </p:tgtEl>
                                        <p:attrNameLst>
                                          <p:attrName>style.visibility</p:attrName>
                                        </p:attrNameLst>
                                      </p:cBhvr>
                                      <p:to>
                                        <p:strVal val="visible"/>
                                      </p:to>
                                    </p:set>
                                    <p:animEffect transition="in" filter="wipe(left)">
                                      <p:cBhvr>
                                        <p:cTn id="7" dur="500"/>
                                        <p:tgtEl>
                                          <p:spTgt spid="26726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7266">
                                            <p:txEl>
                                              <p:pRg st="1" end="1"/>
                                            </p:txEl>
                                          </p:spTgt>
                                        </p:tgtEl>
                                        <p:attrNameLst>
                                          <p:attrName>style.visibility</p:attrName>
                                        </p:attrNameLst>
                                      </p:cBhvr>
                                      <p:to>
                                        <p:strVal val="visible"/>
                                      </p:to>
                                    </p:set>
                                    <p:animEffect transition="in" filter="wipe(left)">
                                      <p:cBhvr>
                                        <p:cTn id="12" dur="500"/>
                                        <p:tgtEl>
                                          <p:spTgt spid="267266">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267266">
                                            <p:txEl>
                                              <p:pRg st="2" end="2"/>
                                            </p:txEl>
                                          </p:spTgt>
                                        </p:tgtEl>
                                        <p:attrNameLst>
                                          <p:attrName>style.visibility</p:attrName>
                                        </p:attrNameLst>
                                      </p:cBhvr>
                                      <p:to>
                                        <p:strVal val="visible"/>
                                      </p:to>
                                    </p:set>
                                    <p:animEffect transition="in" filter="wipe(left)">
                                      <p:cBhvr>
                                        <p:cTn id="15" dur="500"/>
                                        <p:tgtEl>
                                          <p:spTgt spid="267266">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267266">
                                            <p:txEl>
                                              <p:pRg st="3" end="3"/>
                                            </p:txEl>
                                          </p:spTgt>
                                        </p:tgtEl>
                                        <p:attrNameLst>
                                          <p:attrName>style.visibility</p:attrName>
                                        </p:attrNameLst>
                                      </p:cBhvr>
                                      <p:to>
                                        <p:strVal val="visible"/>
                                      </p:to>
                                    </p:set>
                                    <p:animEffect transition="in" filter="wipe(left)">
                                      <p:cBhvr>
                                        <p:cTn id="18" dur="500"/>
                                        <p:tgtEl>
                                          <p:spTgt spid="26726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266"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2"/>
          <p:cNvSpPr>
            <a:spLocks noGrp="1" noChangeArrowheads="1"/>
          </p:cNvSpPr>
          <p:nvPr>
            <p:ph type="title"/>
          </p:nvPr>
        </p:nvSpPr>
        <p:spPr/>
        <p:txBody>
          <a:bodyPr>
            <a:normAutofit/>
          </a:bodyPr>
          <a:lstStyle/>
          <a:p>
            <a:r>
              <a:rPr lang="en-US" altLang="en-US" sz="4000" dirty="0">
                <a:latin typeface="+mn-lt"/>
              </a:rPr>
              <a:t>Additional Thoughts</a:t>
            </a:r>
          </a:p>
        </p:txBody>
      </p:sp>
      <p:sp>
        <p:nvSpPr>
          <p:cNvPr id="311299" name="Rectangle 3"/>
          <p:cNvSpPr>
            <a:spLocks noGrp="1" noChangeArrowheads="1"/>
          </p:cNvSpPr>
          <p:nvPr>
            <p:ph idx="1"/>
          </p:nvPr>
        </p:nvSpPr>
        <p:spPr/>
        <p:txBody>
          <a:bodyPr>
            <a:normAutofit/>
          </a:bodyPr>
          <a:lstStyle/>
          <a:p>
            <a:r>
              <a:rPr lang="en-US" altLang="en-US" sz="2800" dirty="0"/>
              <a:t>Remember, this is also called the “5 whys” technique!</a:t>
            </a:r>
          </a:p>
          <a:p>
            <a:endParaRPr lang="en-US" altLang="en-US" sz="2800" dirty="0"/>
          </a:p>
          <a:p>
            <a:r>
              <a:rPr lang="en-US" altLang="en-US" sz="2800" dirty="0"/>
              <a:t>Select a group leader for this project</a:t>
            </a:r>
          </a:p>
          <a:p>
            <a:endParaRPr lang="en-US" altLang="en-US" sz="2800" dirty="0"/>
          </a:p>
          <a:p>
            <a:r>
              <a:rPr lang="en-US" altLang="en-US" sz="2800" dirty="0"/>
              <a:t>Check out the </a:t>
            </a:r>
            <a:r>
              <a:rPr lang="en-US" altLang="en-US" sz="2800" b="1" u="sng" dirty="0">
                <a:hlinkClick r:id="rId2"/>
              </a:rPr>
              <a:t>Otter app</a:t>
            </a:r>
            <a:r>
              <a:rPr lang="en-US" altLang="en-US" sz="2800" b="1" u="sng" dirty="0"/>
              <a:t>!!!</a:t>
            </a:r>
          </a:p>
          <a:p>
            <a:endParaRPr lang="en-US" altLang="en-US" sz="2800" dirty="0"/>
          </a:p>
          <a:p>
            <a:endParaRPr lang="en-US" altLang="en-US" sz="2800" dirty="0"/>
          </a:p>
        </p:txBody>
      </p:sp>
    </p:spTree>
    <p:extLst>
      <p:ext uri="{BB962C8B-B14F-4D97-AF65-F5344CB8AC3E}">
        <p14:creationId xmlns:p14="http://schemas.microsoft.com/office/powerpoint/2010/main" val="89480883"/>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3000" b="-3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968802"/>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XU_PPTtemplate2" id="{0469F02D-B852-2749-917C-AD4BF6465C21}" vid="{F25CEA40-8609-7F4F-BE1D-8B08452F0A8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xu-powerpoint-template3</Template>
  <TotalTime>1352</TotalTime>
  <Words>1411</Words>
  <Application>Microsoft Office PowerPoint</Application>
  <PresentationFormat>Widescreen</PresentationFormat>
  <Paragraphs>183</Paragraphs>
  <Slides>18</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Calibri Light</vt:lpstr>
      <vt:lpstr>proximanova-regular</vt:lpstr>
      <vt:lpstr>proximanova-regularit</vt:lpstr>
      <vt:lpstr>proximanova-semibold</vt:lpstr>
      <vt:lpstr>Office Theme</vt:lpstr>
      <vt:lpstr>Collecting Primary Data: Personal Interviews and Laddering Preparing for your Assignment</vt:lpstr>
      <vt:lpstr>Looking ahead</vt:lpstr>
      <vt:lpstr>Student Learning Objectives</vt:lpstr>
      <vt:lpstr>Depth Interviews - Techniques</vt:lpstr>
      <vt:lpstr>Assignment 3</vt:lpstr>
      <vt:lpstr>Assignment 3</vt:lpstr>
      <vt:lpstr>PowerPoint Presentation</vt:lpstr>
      <vt:lpstr>Assignment 3</vt:lpstr>
      <vt:lpstr>Assignment 3</vt:lpstr>
      <vt:lpstr>Assignment 3 1. Covering Attributes</vt:lpstr>
      <vt:lpstr>Assignment 3 2. Selecting Attributes</vt:lpstr>
      <vt:lpstr>Assignment 3 –  3. Ask “Why is that important to you” (probe!)</vt:lpstr>
      <vt:lpstr>Assignment 3</vt:lpstr>
      <vt:lpstr>Assignment 3</vt:lpstr>
      <vt:lpstr>Assignment 3</vt:lpstr>
      <vt:lpstr>Deliverable</vt:lpstr>
      <vt:lpstr>Additional Thoughts</vt:lpstr>
      <vt:lpstr>PowerPoint Presentation</vt:lpstr>
    </vt:vector>
  </TitlesOfParts>
  <Company>Xavier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Marketing Strategy</dc:title>
  <dc:creator>Beck, Scott</dc:creator>
  <cp:lastModifiedBy>Beck, Scott</cp:lastModifiedBy>
  <cp:revision>80</cp:revision>
  <cp:lastPrinted>2020-08-26T16:29:50Z</cp:lastPrinted>
  <dcterms:created xsi:type="dcterms:W3CDTF">2020-06-29T15:54:52Z</dcterms:created>
  <dcterms:modified xsi:type="dcterms:W3CDTF">2025-02-13T13:58:13Z</dcterms:modified>
</cp:coreProperties>
</file>