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handoutMasterIdLst>
    <p:handoutMasterId r:id="rId34"/>
  </p:handoutMasterIdLst>
  <p:sldIdLst>
    <p:sldId id="256" r:id="rId2"/>
    <p:sldId id="426" r:id="rId3"/>
    <p:sldId id="326" r:id="rId4"/>
    <p:sldId id="354" r:id="rId5"/>
    <p:sldId id="451" r:id="rId6"/>
    <p:sldId id="404" r:id="rId7"/>
    <p:sldId id="406" r:id="rId8"/>
    <p:sldId id="529" r:id="rId9"/>
    <p:sldId id="530" r:id="rId10"/>
    <p:sldId id="531" r:id="rId11"/>
    <p:sldId id="527" r:id="rId12"/>
    <p:sldId id="503" r:id="rId13"/>
    <p:sldId id="534" r:id="rId14"/>
    <p:sldId id="526" r:id="rId15"/>
    <p:sldId id="261" r:id="rId16"/>
    <p:sldId id="262" r:id="rId17"/>
    <p:sldId id="263" r:id="rId18"/>
    <p:sldId id="264" r:id="rId19"/>
    <p:sldId id="265" r:id="rId20"/>
    <p:sldId id="535" r:id="rId21"/>
    <p:sldId id="267" r:id="rId22"/>
    <p:sldId id="268" r:id="rId23"/>
    <p:sldId id="269" r:id="rId24"/>
    <p:sldId id="271" r:id="rId25"/>
    <p:sldId id="536" r:id="rId26"/>
    <p:sldId id="273" r:id="rId27"/>
    <p:sldId id="537" r:id="rId28"/>
    <p:sldId id="274" r:id="rId29"/>
    <p:sldId id="277" r:id="rId30"/>
    <p:sldId id="275" r:id="rId31"/>
    <p:sldId id="266" r:id="rId32"/>
  </p:sldIdLst>
  <p:sldSz cx="12192000" cy="6858000"/>
  <p:notesSz cx="6881813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09CC8"/>
    <a:srgbClr val="001541"/>
    <a:srgbClr val="BD707B"/>
    <a:srgbClr val="00FD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868"/>
    <p:restoredTop sz="94890"/>
  </p:normalViewPr>
  <p:slideViewPr>
    <p:cSldViewPr snapToGrid="0" snapToObjects="1" showGuides="1">
      <p:cViewPr varScale="1">
        <p:scale>
          <a:sx n="103" d="100"/>
          <a:sy n="103" d="100"/>
        </p:scale>
        <p:origin x="114" y="19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2119" cy="466434"/>
          </a:xfrm>
          <a:prstGeom prst="rect">
            <a:avLst/>
          </a:prstGeom>
        </p:spPr>
        <p:txBody>
          <a:bodyPr vert="horz" lIns="92446" tIns="46223" rIns="92446" bIns="46223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98102" y="0"/>
            <a:ext cx="2982119" cy="466434"/>
          </a:xfrm>
          <a:prstGeom prst="rect">
            <a:avLst/>
          </a:prstGeom>
        </p:spPr>
        <p:txBody>
          <a:bodyPr vert="horz" lIns="92446" tIns="46223" rIns="92446" bIns="46223" rtlCol="0"/>
          <a:lstStyle>
            <a:lvl1pPr algn="r">
              <a:defRPr sz="1200"/>
            </a:lvl1pPr>
          </a:lstStyle>
          <a:p>
            <a:fld id="{03FFF951-6D62-CB4E-866F-40E5C899BB84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2982119" cy="466433"/>
          </a:xfrm>
          <a:prstGeom prst="rect">
            <a:avLst/>
          </a:prstGeom>
        </p:spPr>
        <p:txBody>
          <a:bodyPr vert="horz" lIns="92446" tIns="46223" rIns="92446" bIns="46223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98102" y="8829967"/>
            <a:ext cx="2982119" cy="466433"/>
          </a:xfrm>
          <a:prstGeom prst="rect">
            <a:avLst/>
          </a:prstGeom>
        </p:spPr>
        <p:txBody>
          <a:bodyPr vert="horz" lIns="92446" tIns="46223" rIns="92446" bIns="46223" rtlCol="0" anchor="b"/>
          <a:lstStyle>
            <a:lvl1pPr algn="r">
              <a:defRPr sz="1200"/>
            </a:lvl1pPr>
          </a:lstStyle>
          <a:p>
            <a:fld id="{C134B82A-5292-FA40-A7FB-7C93D521EC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22660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2119" cy="466434"/>
          </a:xfrm>
          <a:prstGeom prst="rect">
            <a:avLst/>
          </a:prstGeom>
        </p:spPr>
        <p:txBody>
          <a:bodyPr vert="horz" lIns="92446" tIns="46223" rIns="92446" bIns="46223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98102" y="0"/>
            <a:ext cx="2982119" cy="466434"/>
          </a:xfrm>
          <a:prstGeom prst="rect">
            <a:avLst/>
          </a:prstGeom>
        </p:spPr>
        <p:txBody>
          <a:bodyPr vert="horz" lIns="92446" tIns="46223" rIns="92446" bIns="46223" rtlCol="0"/>
          <a:lstStyle>
            <a:lvl1pPr algn="r">
              <a:defRPr sz="1200"/>
            </a:lvl1pPr>
          </a:lstStyle>
          <a:p>
            <a:fld id="{963D65B7-7862-7F47-B99E-B3AB2843FF42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540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446" tIns="46223" rIns="92446" bIns="46223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8182" y="4473892"/>
            <a:ext cx="5505450" cy="3660458"/>
          </a:xfrm>
          <a:prstGeom prst="rect">
            <a:avLst/>
          </a:prstGeom>
        </p:spPr>
        <p:txBody>
          <a:bodyPr vert="horz" lIns="92446" tIns="46223" rIns="92446" bIns="46223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2982119" cy="466433"/>
          </a:xfrm>
          <a:prstGeom prst="rect">
            <a:avLst/>
          </a:prstGeom>
        </p:spPr>
        <p:txBody>
          <a:bodyPr vert="horz" lIns="92446" tIns="46223" rIns="92446" bIns="46223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98102" y="8829967"/>
            <a:ext cx="2982119" cy="466433"/>
          </a:xfrm>
          <a:prstGeom prst="rect">
            <a:avLst/>
          </a:prstGeom>
        </p:spPr>
        <p:txBody>
          <a:bodyPr vert="horz" lIns="92446" tIns="46223" rIns="92446" bIns="46223" rtlCol="0" anchor="b"/>
          <a:lstStyle>
            <a:lvl1pPr algn="r">
              <a:defRPr sz="1200"/>
            </a:lvl1pPr>
          </a:lstStyle>
          <a:p>
            <a:fld id="{EEA2CE63-AE64-8646-9F3E-7DE0B8E53F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2186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A2CE63-AE64-8646-9F3E-7DE0B8E53F2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1728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50873" indent="-287332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54090" indent="-230183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17630" indent="-230183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79584" indent="-230183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36775" indent="-230183" defTabSz="45719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93965" indent="-230183" defTabSz="45719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51157" indent="-230183" defTabSz="45719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908347" indent="-230183" defTabSz="45719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defTabSz="924458">
              <a:spcBef>
                <a:spcPct val="0"/>
              </a:spcBef>
              <a:defRPr/>
            </a:pPr>
            <a:r>
              <a:rPr lang="en-US" altLang="en-US">
                <a:solidFill>
                  <a:srgbClr val="000000"/>
                </a:solidFill>
                <a:latin typeface="Arial" pitchFamily="34" charset="0"/>
              </a:rPr>
              <a:t>Chapter 9 Decision Support Systems and Marketing Research</a:t>
            </a:r>
          </a:p>
        </p:txBody>
      </p:sp>
      <p:sp>
        <p:nvSpPr>
          <p:cNvPr id="1044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50873" indent="-287332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54090" indent="-230183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17630" indent="-230183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79584" indent="-230183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36775" indent="-230183" defTabSz="45719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93965" indent="-230183" defTabSz="45719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51157" indent="-230183" defTabSz="45719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908347" indent="-230183" defTabSz="45719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defTabSz="924458">
              <a:spcBef>
                <a:spcPct val="0"/>
              </a:spcBef>
              <a:defRPr/>
            </a:pPr>
            <a:fld id="{53437379-86BC-4FA2-914B-4322BE7105B6}" type="slidenum">
              <a:rPr lang="en-US" altLang="en-US">
                <a:solidFill>
                  <a:srgbClr val="000000"/>
                </a:solidFill>
                <a:latin typeface="Arial" pitchFamily="34" charset="0"/>
              </a:rPr>
              <a:pPr defTabSz="924458">
                <a:spcBef>
                  <a:spcPct val="0"/>
                </a:spcBef>
                <a:defRPr/>
              </a:pPr>
              <a:t>2</a:t>
            </a:fld>
            <a:endParaRPr lang="en-US" altLang="en-US">
              <a:solidFill>
                <a:srgbClr val="000000"/>
              </a:solidFill>
              <a:latin typeface="Arial" pitchFamily="34" charset="0"/>
            </a:endParaRPr>
          </a:p>
        </p:txBody>
      </p:sp>
      <p:sp>
        <p:nvSpPr>
          <p:cNvPr id="10445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654050" y="1162050"/>
            <a:ext cx="5575300" cy="31369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445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230183" indent="-230183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666744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50873" indent="-287332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54090" indent="-230183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17630" indent="-230183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79584" indent="-230183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36775" indent="-230183" defTabSz="45719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93965" indent="-230183" defTabSz="45719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51157" indent="-230183" defTabSz="45719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908347" indent="-230183" defTabSz="45719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defTabSz="924458">
              <a:spcBef>
                <a:spcPct val="0"/>
              </a:spcBef>
              <a:defRPr/>
            </a:pPr>
            <a:r>
              <a:rPr lang="en-US" altLang="en-US">
                <a:solidFill>
                  <a:srgbClr val="000000"/>
                </a:solidFill>
                <a:latin typeface="Arial" pitchFamily="34" charset="0"/>
              </a:rPr>
              <a:t>Chapter 9 Decision Support Systems and Marketing Research</a:t>
            </a:r>
          </a:p>
        </p:txBody>
      </p:sp>
      <p:sp>
        <p:nvSpPr>
          <p:cNvPr id="1024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50873" indent="-287332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54090" indent="-230183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17630" indent="-230183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79584" indent="-230183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36775" indent="-230183" defTabSz="45719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93965" indent="-230183" defTabSz="45719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51157" indent="-230183" defTabSz="45719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908347" indent="-230183" defTabSz="45719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defTabSz="924458">
              <a:spcBef>
                <a:spcPct val="0"/>
              </a:spcBef>
              <a:defRPr/>
            </a:pPr>
            <a:fld id="{9DF8E730-BC5B-495C-9533-F99E3BA41B90}" type="slidenum">
              <a:rPr lang="en-US" altLang="en-US">
                <a:solidFill>
                  <a:srgbClr val="000000"/>
                </a:solidFill>
                <a:latin typeface="Arial" pitchFamily="34" charset="0"/>
              </a:rPr>
              <a:pPr defTabSz="924458">
                <a:spcBef>
                  <a:spcPct val="0"/>
                </a:spcBef>
                <a:defRPr/>
              </a:pPr>
              <a:t>3</a:t>
            </a:fld>
            <a:endParaRPr lang="en-US" altLang="en-US">
              <a:solidFill>
                <a:srgbClr val="000000"/>
              </a:solidFill>
              <a:latin typeface="Arial" pitchFamily="34" charset="0"/>
            </a:endParaRPr>
          </a:p>
        </p:txBody>
      </p:sp>
      <p:sp>
        <p:nvSpPr>
          <p:cNvPr id="10240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654050" y="1162050"/>
            <a:ext cx="5575300" cy="31369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05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230183" indent="-230183"/>
            <a:r>
              <a:rPr lang="en-US" altLang="en-US" b="1"/>
              <a:t>Notes:</a:t>
            </a:r>
          </a:p>
          <a:p>
            <a:pPr marL="230183" indent="-230183">
              <a:buFontTx/>
              <a:buAutoNum type="arabicPeriod"/>
            </a:pPr>
            <a:r>
              <a:rPr lang="en-US" altLang="en-US"/>
              <a:t>Marketing research plays a key role in the marketing system. It provides data on the effectiveness of the marketing mix and insights for necessary changes. </a:t>
            </a:r>
          </a:p>
          <a:p>
            <a:pPr marL="230183" indent="-230183">
              <a:buFontTx/>
              <a:buAutoNum type="arabicPeriod"/>
            </a:pPr>
            <a:r>
              <a:rPr lang="en-US" altLang="en-US"/>
              <a:t>Marketing research is a main data source for management information systems.  </a:t>
            </a:r>
          </a:p>
          <a:p>
            <a:pPr marL="230183" indent="-230183">
              <a:buFontTx/>
              <a:buAutoNum type="arabicPeriod"/>
            </a:pPr>
            <a:endParaRPr lang="en-US" altLang="en-US"/>
          </a:p>
          <a:p>
            <a:pPr marL="230183" indent="-230183"/>
            <a:endParaRPr lang="en-US" altLang="en-US"/>
          </a:p>
          <a:p>
            <a:pPr marL="230183" indent="-230183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942961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50873" indent="-287332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54090" indent="-230183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17630" indent="-230183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79584" indent="-230183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36775" indent="-230183" defTabSz="45719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93965" indent="-230183" defTabSz="45719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51157" indent="-230183" defTabSz="45719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908347" indent="-230183" defTabSz="45719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defTabSz="924458">
              <a:spcBef>
                <a:spcPct val="0"/>
              </a:spcBef>
              <a:defRPr/>
            </a:pPr>
            <a:r>
              <a:rPr lang="en-US" altLang="en-US">
                <a:solidFill>
                  <a:srgbClr val="000000"/>
                </a:solidFill>
                <a:latin typeface="Arial" pitchFamily="34" charset="0"/>
              </a:rPr>
              <a:t>Chapter 9 Decision Support Systems and Marketing Research</a:t>
            </a:r>
          </a:p>
        </p:txBody>
      </p:sp>
      <p:sp>
        <p:nvSpPr>
          <p:cNvPr id="1044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50873" indent="-287332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54090" indent="-230183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17630" indent="-230183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79584" indent="-230183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36775" indent="-230183" defTabSz="45719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93965" indent="-230183" defTabSz="45719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51157" indent="-230183" defTabSz="45719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908347" indent="-230183" defTabSz="45719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defTabSz="924458">
              <a:spcBef>
                <a:spcPct val="0"/>
              </a:spcBef>
              <a:defRPr/>
            </a:pPr>
            <a:fld id="{53437379-86BC-4FA2-914B-4322BE7105B6}" type="slidenum">
              <a:rPr lang="en-US" altLang="en-US">
                <a:solidFill>
                  <a:srgbClr val="000000"/>
                </a:solidFill>
                <a:latin typeface="Arial" pitchFamily="34" charset="0"/>
              </a:rPr>
              <a:pPr defTabSz="924458">
                <a:spcBef>
                  <a:spcPct val="0"/>
                </a:spcBef>
                <a:defRPr/>
              </a:pPr>
              <a:t>4</a:t>
            </a:fld>
            <a:endParaRPr lang="en-US" altLang="en-US">
              <a:solidFill>
                <a:srgbClr val="000000"/>
              </a:solidFill>
              <a:latin typeface="Arial" pitchFamily="34" charset="0"/>
            </a:endParaRPr>
          </a:p>
        </p:txBody>
      </p:sp>
      <p:sp>
        <p:nvSpPr>
          <p:cNvPr id="10445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654050" y="1162050"/>
            <a:ext cx="5575300" cy="31369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445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230183" indent="-230183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888459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50873" indent="-287332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54090" indent="-230183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17630" indent="-230183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79584" indent="-230183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36775" indent="-230183" defTabSz="45719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93965" indent="-230183" defTabSz="45719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51157" indent="-230183" defTabSz="45719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908347" indent="-230183" defTabSz="45719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defTabSz="924458">
              <a:spcBef>
                <a:spcPct val="0"/>
              </a:spcBef>
              <a:defRPr/>
            </a:pPr>
            <a:r>
              <a:rPr lang="en-US" altLang="en-US">
                <a:solidFill>
                  <a:srgbClr val="000000"/>
                </a:solidFill>
                <a:latin typeface="Arial" pitchFamily="34" charset="0"/>
              </a:rPr>
              <a:t>Chapter 9 Decision Support Systems and Marketing Research</a:t>
            </a:r>
          </a:p>
        </p:txBody>
      </p:sp>
      <p:sp>
        <p:nvSpPr>
          <p:cNvPr id="1044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50873" indent="-287332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54090" indent="-230183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17630" indent="-230183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79584" indent="-230183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36775" indent="-230183" defTabSz="45719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93965" indent="-230183" defTabSz="45719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51157" indent="-230183" defTabSz="45719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908347" indent="-230183" defTabSz="45719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defTabSz="924458">
              <a:spcBef>
                <a:spcPct val="0"/>
              </a:spcBef>
              <a:defRPr/>
            </a:pPr>
            <a:fld id="{53437379-86BC-4FA2-914B-4322BE7105B6}" type="slidenum">
              <a:rPr lang="en-US" altLang="en-US">
                <a:solidFill>
                  <a:srgbClr val="000000"/>
                </a:solidFill>
                <a:latin typeface="Arial" pitchFamily="34" charset="0"/>
              </a:rPr>
              <a:pPr defTabSz="924458">
                <a:spcBef>
                  <a:spcPct val="0"/>
                </a:spcBef>
                <a:defRPr/>
              </a:pPr>
              <a:t>5</a:t>
            </a:fld>
            <a:endParaRPr lang="en-US" altLang="en-US">
              <a:solidFill>
                <a:srgbClr val="000000"/>
              </a:solidFill>
              <a:latin typeface="Arial" pitchFamily="34" charset="0"/>
            </a:endParaRPr>
          </a:p>
        </p:txBody>
      </p:sp>
      <p:sp>
        <p:nvSpPr>
          <p:cNvPr id="10445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654050" y="1162050"/>
            <a:ext cx="5575300" cy="31369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445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230183" indent="-230183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119800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A2CE63-AE64-8646-9F3E-7DE0B8E53F2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6741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D2A6831E-1B3E-4562-8836-0124CD0FC70E}" type="slidenum">
              <a:rPr lang="en-US" altLang="en-US" smtClean="0"/>
              <a:pPr eaLnBrk="1" hangingPunct="1">
                <a:spcBef>
                  <a:spcPct val="0"/>
                </a:spcBef>
              </a:pPr>
              <a:t>14</a:t>
            </a:fld>
            <a:endParaRPr lang="en-US" altLang="en-US"/>
          </a:p>
        </p:txBody>
      </p:sp>
      <p:sp>
        <p:nvSpPr>
          <p:cNvPr id="880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4175" y="685800"/>
            <a:ext cx="6091238" cy="3427413"/>
          </a:xfrm>
          <a:ln w="12700" cap="flat">
            <a:solidFill>
              <a:schemeClr val="tx1"/>
            </a:solidFill>
          </a:ln>
        </p:spPr>
      </p:sp>
      <p:sp>
        <p:nvSpPr>
          <p:cNvPr id="880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1813"/>
            <a:ext cx="5029200" cy="411638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725356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A2CE63-AE64-8646-9F3E-7DE0B8E53F29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6451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00734-FF99-944C-8656-684769A3B86B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070C0"/>
                </a:solidFill>
              </a:defRPr>
            </a:lvl1pPr>
          </a:lstStyle>
          <a:p>
            <a:fld id="{973E6DFB-264B-4D4C-9468-2A87659EAF5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9289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00734-FF99-944C-8656-684769A3B86B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153400" y="6311900"/>
            <a:ext cx="2743200" cy="365125"/>
          </a:xfrm>
        </p:spPr>
        <p:txBody>
          <a:bodyPr/>
          <a:lstStyle>
            <a:lvl1pPr>
              <a:defRPr>
                <a:solidFill>
                  <a:srgbClr val="0070C0"/>
                </a:solidFill>
              </a:defRPr>
            </a:lvl1pPr>
          </a:lstStyle>
          <a:p>
            <a:fld id="{973E6DFB-264B-4D4C-9468-2A87659EAF5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1948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00734-FF99-944C-8656-684769A3B86B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374295" y="6356350"/>
            <a:ext cx="2743200" cy="365125"/>
          </a:xfrm>
        </p:spPr>
        <p:txBody>
          <a:bodyPr/>
          <a:lstStyle>
            <a:lvl1pPr>
              <a:defRPr>
                <a:solidFill>
                  <a:srgbClr val="0070C0"/>
                </a:solidFill>
              </a:defRPr>
            </a:lvl1pPr>
          </a:lstStyle>
          <a:p>
            <a:fld id="{973E6DFB-264B-4D4C-9468-2A87659EAF5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28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00734-FF99-944C-8656-684769A3B86B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153400" y="6356350"/>
            <a:ext cx="2743200" cy="365125"/>
          </a:xfrm>
        </p:spPr>
        <p:txBody>
          <a:bodyPr/>
          <a:lstStyle>
            <a:lvl1pPr>
              <a:defRPr>
                <a:solidFill>
                  <a:srgbClr val="0070C0"/>
                </a:solidFill>
              </a:defRPr>
            </a:lvl1pPr>
          </a:lstStyle>
          <a:p>
            <a:fld id="{973E6DFB-264B-4D4C-9468-2A87659EAF5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291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00734-FF99-944C-8656-684769A3B86B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153400" y="6356350"/>
            <a:ext cx="2743200" cy="365125"/>
          </a:xfrm>
        </p:spPr>
        <p:txBody>
          <a:bodyPr/>
          <a:lstStyle>
            <a:lvl1pPr>
              <a:defRPr>
                <a:solidFill>
                  <a:srgbClr val="0070C0"/>
                </a:solidFill>
              </a:defRPr>
            </a:lvl1pPr>
          </a:lstStyle>
          <a:p>
            <a:fld id="{973E6DFB-264B-4D4C-9468-2A87659EAF5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557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00734-FF99-944C-8656-684769A3B86B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230456" y="6356350"/>
            <a:ext cx="2743200" cy="365125"/>
          </a:xfrm>
        </p:spPr>
        <p:txBody>
          <a:bodyPr/>
          <a:lstStyle>
            <a:lvl1pPr>
              <a:defRPr>
                <a:solidFill>
                  <a:srgbClr val="0070C0"/>
                </a:solidFill>
              </a:defRPr>
            </a:lvl1pPr>
          </a:lstStyle>
          <a:p>
            <a:fld id="{973E6DFB-264B-4D4C-9468-2A87659EAF5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110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00734-FF99-944C-8656-684769A3B86B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153400" y="6373545"/>
            <a:ext cx="2743200" cy="365125"/>
          </a:xfrm>
        </p:spPr>
        <p:txBody>
          <a:bodyPr/>
          <a:lstStyle>
            <a:lvl1pPr>
              <a:defRPr>
                <a:solidFill>
                  <a:srgbClr val="0070C0"/>
                </a:solidFill>
              </a:defRPr>
            </a:lvl1pPr>
          </a:lstStyle>
          <a:p>
            <a:fld id="{973E6DFB-264B-4D4C-9468-2A87659EAF5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9475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00734-FF99-944C-8656-684769A3B86B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269288" y="6373545"/>
            <a:ext cx="2743200" cy="365125"/>
          </a:xfrm>
        </p:spPr>
        <p:txBody>
          <a:bodyPr/>
          <a:lstStyle>
            <a:lvl1pPr>
              <a:defRPr>
                <a:solidFill>
                  <a:srgbClr val="0070C0"/>
                </a:solidFill>
              </a:defRPr>
            </a:lvl1pPr>
          </a:lstStyle>
          <a:p>
            <a:fld id="{973E6DFB-264B-4D4C-9468-2A87659EAF5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54805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00734-FF99-944C-8656-684769A3B86B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353746" y="6356349"/>
            <a:ext cx="2743200" cy="365125"/>
          </a:xfrm>
        </p:spPr>
        <p:txBody>
          <a:bodyPr/>
          <a:lstStyle>
            <a:lvl1pPr>
              <a:defRPr>
                <a:solidFill>
                  <a:srgbClr val="0070C0"/>
                </a:solidFill>
              </a:defRPr>
            </a:lvl1pPr>
          </a:lstStyle>
          <a:p>
            <a:fld id="{973E6DFB-264B-4D4C-9468-2A87659EAF5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33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00734-FF99-944C-8656-684769A3B86B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153400" y="6349643"/>
            <a:ext cx="2743200" cy="365125"/>
          </a:xfrm>
        </p:spPr>
        <p:txBody>
          <a:bodyPr/>
          <a:lstStyle>
            <a:lvl1pPr>
              <a:defRPr>
                <a:solidFill>
                  <a:srgbClr val="0070C0"/>
                </a:solidFill>
              </a:defRPr>
            </a:lvl1pPr>
          </a:lstStyle>
          <a:p>
            <a:fld id="{973E6DFB-264B-4D4C-9468-2A87659EAF5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1312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00734-FF99-944C-8656-684769A3B86B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E6DFB-264B-4D4C-9468-2A87659EAF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122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100734-FF99-944C-8656-684769A3B86B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3E6DFB-264B-4D4C-9468-2A87659EAF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6323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www.google.com/search?q=craft+beer+cans&amp;bih=839&amp;biw=1745&amp;rlz=1C1GCEB_enUS1067US1067&amp;hl=en&amp;tbm=shop&amp;sa=X&amp;ved=2ahUKEwjY1OmO_6KBAxUfJN4AHfqICvQQ1TV6BQgBEIoC" TargetMode="Externa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98072" y="969962"/>
            <a:ext cx="9144000" cy="2706687"/>
          </a:xfrm>
        </p:spPr>
        <p:txBody>
          <a:bodyPr/>
          <a:lstStyle/>
          <a:p>
            <a:r>
              <a:rPr lang="en-US" b="1" dirty="0">
                <a:solidFill>
                  <a:srgbClr val="001541"/>
                </a:solidFill>
              </a:rPr>
              <a:t>Primary Data</a:t>
            </a:r>
            <a:br>
              <a:rPr lang="en-US" b="1" dirty="0">
                <a:solidFill>
                  <a:srgbClr val="001541"/>
                </a:solidFill>
              </a:rPr>
            </a:br>
            <a:r>
              <a:rPr lang="en-US" sz="4000" b="1" dirty="0">
                <a:solidFill>
                  <a:srgbClr val="001541"/>
                </a:solidFill>
              </a:rPr>
              <a:t>Collecting Primary Data by Communication</a:t>
            </a:r>
            <a:endParaRPr lang="en-US" b="1" dirty="0">
              <a:solidFill>
                <a:srgbClr val="001541"/>
              </a:solidFill>
            </a:endParaRPr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870857" y="3749447"/>
            <a:ext cx="9144000" cy="1655762"/>
          </a:xfrm>
        </p:spPr>
        <p:txBody>
          <a:bodyPr/>
          <a:lstStyle/>
          <a:p>
            <a:r>
              <a:rPr lang="en-US" b="1" dirty="0">
                <a:solidFill>
                  <a:srgbClr val="009CC8"/>
                </a:solidFill>
              </a:rPr>
              <a:t>MKTG 302-01</a:t>
            </a:r>
          </a:p>
          <a:p>
            <a:r>
              <a:rPr lang="en-US" b="1" dirty="0">
                <a:solidFill>
                  <a:srgbClr val="009CC8"/>
                </a:solidFill>
              </a:rPr>
              <a:t>Spring Semester, 2025</a:t>
            </a:r>
          </a:p>
          <a:p>
            <a:r>
              <a:rPr lang="en-US" b="1" dirty="0">
                <a:solidFill>
                  <a:srgbClr val="009CC8"/>
                </a:solidFill>
              </a:rPr>
              <a:t>Scott Beck</a:t>
            </a:r>
          </a:p>
        </p:txBody>
      </p:sp>
    </p:spTree>
    <p:extLst>
      <p:ext uri="{BB962C8B-B14F-4D97-AF65-F5344CB8AC3E}">
        <p14:creationId xmlns:p14="http://schemas.microsoft.com/office/powerpoint/2010/main" val="518560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  <a:ea typeface="Geneva"/>
                <a:cs typeface="Geneva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  <a:ea typeface="Geneva"/>
                <a:cs typeface="Geneva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  <a:ea typeface="Geneva"/>
                <a:cs typeface="Geneva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  <a:ea typeface="Geneva"/>
                <a:cs typeface="Geneva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Geneva"/>
                <a:cs typeface="Geneva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Geneva"/>
                <a:cs typeface="Geneva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Geneva"/>
                <a:cs typeface="Geneva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Geneva"/>
                <a:cs typeface="Geneva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Geneva"/>
                <a:cs typeface="Geneva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AE86FE-CC4A-4BDD-8E7B-D334D15973BB}" type="slidenum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itchFamily="34" charset="0"/>
            </a:endParaRPr>
          </a:p>
        </p:txBody>
      </p:sp>
      <p:sp>
        <p:nvSpPr>
          <p:cNvPr id="68611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43773" y="199460"/>
            <a:ext cx="9229000" cy="762000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en-US" sz="4000" dirty="0">
                <a:latin typeface="+mn-lt"/>
                <a:ea typeface="Geneva"/>
                <a:cs typeface="Geneva"/>
              </a:rPr>
              <a:t>Student Learning Objectives</a:t>
            </a:r>
          </a:p>
        </p:txBody>
      </p:sp>
      <p:sp>
        <p:nvSpPr>
          <p:cNvPr id="15365" name="Rectangle 20"/>
          <p:cNvSpPr>
            <a:spLocks noChangeArrowheads="1"/>
          </p:cNvSpPr>
          <p:nvPr/>
        </p:nvSpPr>
        <p:spPr bwMode="auto">
          <a:xfrm>
            <a:off x="802739" y="1216402"/>
            <a:ext cx="8111067" cy="47631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By the end of this module you will be able to: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Calibri" panose="020F0502020204030204"/>
              </a:rPr>
              <a:t>Define primary data,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sz="3600" dirty="0">
                <a:solidFill>
                  <a:schemeClr val="accent5"/>
                </a:solidFill>
                <a:latin typeface="Calibri" panose="020F0502020204030204"/>
              </a:rPr>
              <a:t>Discuss Structure and watchouts when too much structure is employed, and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sz="3600" dirty="0">
                <a:solidFill>
                  <a:schemeClr val="accent5"/>
                </a:solidFill>
                <a:latin typeface="Calibri" panose="020F0502020204030204"/>
              </a:rPr>
              <a:t>Differentiate between different methods of administering questionnaires.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sz="3600" dirty="0">
              <a:solidFill>
                <a:schemeClr val="accent5"/>
              </a:solidFill>
              <a:latin typeface="Calibri" panose="020F0502020204030204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chemeClr val="accent5"/>
              </a:solidFill>
              <a:effectLst/>
              <a:uLnTx/>
              <a:uFillTx/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4159752021"/>
      </p:ext>
    </p:extLst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  <a:ea typeface="Geneva"/>
                <a:cs typeface="Geneva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  <a:ea typeface="Geneva"/>
                <a:cs typeface="Geneva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  <a:ea typeface="Geneva"/>
                <a:cs typeface="Geneva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  <a:ea typeface="Geneva"/>
                <a:cs typeface="Geneva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Geneva"/>
                <a:cs typeface="Geneva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Geneva"/>
                <a:cs typeface="Geneva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Geneva"/>
                <a:cs typeface="Geneva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Geneva"/>
                <a:cs typeface="Geneva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Geneva"/>
                <a:cs typeface="Geneva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BAF70F-E76D-49D5-BE54-BEB82E142624}" type="slidenum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itchFamily="34" charset="0"/>
            </a:endParaRPr>
          </a:p>
        </p:txBody>
      </p:sp>
      <p:sp>
        <p:nvSpPr>
          <p:cNvPr id="1433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25665" y="350335"/>
            <a:ext cx="8263467" cy="762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sz="4000" dirty="0">
                <a:latin typeface="+mn-lt"/>
              </a:rPr>
              <a:t>What is Marketing Research?</a:t>
            </a:r>
          </a:p>
        </p:txBody>
      </p:sp>
      <p:sp>
        <p:nvSpPr>
          <p:cNvPr id="66564" name="Rectangle 20"/>
          <p:cNvSpPr>
            <a:spLocks noChangeArrowheads="1"/>
          </p:cNvSpPr>
          <p:nvPr/>
        </p:nvSpPr>
        <p:spPr bwMode="auto">
          <a:xfrm>
            <a:off x="592499" y="1885950"/>
            <a:ext cx="10761301" cy="2451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  <a:ea typeface="Geneva"/>
                <a:cs typeface="Geneva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  <a:ea typeface="Geneva"/>
                <a:cs typeface="Geneva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  <a:ea typeface="Geneva"/>
                <a:cs typeface="Geneva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  <a:ea typeface="Geneva"/>
                <a:cs typeface="Geneva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Geneva"/>
                <a:cs typeface="Geneva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Geneva"/>
                <a:cs typeface="Geneva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Geneva"/>
                <a:cs typeface="Geneva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Geneva"/>
                <a:cs typeface="Geneva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Geneva"/>
                <a:cs typeface="Geneva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accent5"/>
              </a:solidFill>
              <a:effectLst/>
              <a:uLnTx/>
              <a:uFillTx/>
              <a:latin typeface="Arial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Arial" pitchFamily="34" charset="0"/>
              </a:rPr>
              <a:t>Marketing research is the process of planning, collecting, and analyzing data relevant to a marketing decision.</a:t>
            </a:r>
          </a:p>
        </p:txBody>
      </p:sp>
    </p:spTree>
    <p:extLst>
      <p:ext uri="{BB962C8B-B14F-4D97-AF65-F5344CB8AC3E}">
        <p14:creationId xmlns:p14="http://schemas.microsoft.com/office/powerpoint/2010/main" val="3072620731"/>
      </p:ext>
    </p:extLst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  <a:ea typeface="Geneva"/>
                <a:cs typeface="Geneva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  <a:ea typeface="Geneva"/>
                <a:cs typeface="Geneva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  <a:ea typeface="Geneva"/>
                <a:cs typeface="Geneva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  <a:ea typeface="Geneva"/>
                <a:cs typeface="Geneva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Geneva"/>
                <a:cs typeface="Geneva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Geneva"/>
                <a:cs typeface="Geneva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Geneva"/>
                <a:cs typeface="Geneva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Geneva"/>
                <a:cs typeface="Geneva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Geneva"/>
                <a:cs typeface="Geneva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AE86FE-CC4A-4BDD-8E7B-D334D15973BB}" type="slidenum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itchFamily="34" charset="0"/>
            </a:endParaRPr>
          </a:p>
        </p:txBody>
      </p:sp>
      <p:sp>
        <p:nvSpPr>
          <p:cNvPr id="68611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43773" y="199460"/>
            <a:ext cx="9229000" cy="762000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en-US" sz="4000" dirty="0">
                <a:latin typeface="+mn-lt"/>
                <a:ea typeface="Geneva"/>
                <a:cs typeface="Geneva"/>
              </a:rPr>
              <a:t>How to view Marketing Research</a:t>
            </a:r>
          </a:p>
        </p:txBody>
      </p:sp>
      <p:sp>
        <p:nvSpPr>
          <p:cNvPr id="2" name="Rounded Rectangle 1"/>
          <p:cNvSpPr/>
          <p:nvPr/>
        </p:nvSpPr>
        <p:spPr>
          <a:xfrm>
            <a:off x="3441843" y="1191802"/>
            <a:ext cx="3154166" cy="139728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Marketing</a:t>
            </a:r>
          </a:p>
          <a:p>
            <a:pPr algn="ctr"/>
            <a:r>
              <a:rPr lang="en-US" sz="3200" dirty="0"/>
              <a:t>Research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46944" y="2760324"/>
            <a:ext cx="3154166" cy="139728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Primary Data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11749" y="2760324"/>
            <a:ext cx="3154166" cy="139728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Secondary Data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34960" y="4310012"/>
            <a:ext cx="3154166" cy="184420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Primary data is information that you collect specifically for the purpose of your research project.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30590" y="4308302"/>
            <a:ext cx="3154166" cy="184420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Secondary data is information which has been collected in the past by someone else. reports.</a:t>
            </a:r>
          </a:p>
        </p:txBody>
      </p:sp>
      <p:cxnSp>
        <p:nvCxnSpPr>
          <p:cNvPr id="5" name="Straight Connector 4"/>
          <p:cNvCxnSpPr>
            <a:endCxn id="6" idx="0"/>
          </p:cNvCxnSpPr>
          <p:nvPr/>
        </p:nvCxnSpPr>
        <p:spPr>
          <a:xfrm flipH="1">
            <a:off x="3024027" y="2589088"/>
            <a:ext cx="561654" cy="1712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>
            <a:endCxn id="7" idx="0"/>
          </p:cNvCxnSpPr>
          <p:nvPr/>
        </p:nvCxnSpPr>
        <p:spPr>
          <a:xfrm>
            <a:off x="6493267" y="2589088"/>
            <a:ext cx="895565" cy="1712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7" idx="2"/>
            <a:endCxn id="10" idx="0"/>
          </p:cNvCxnSpPr>
          <p:nvPr/>
        </p:nvCxnSpPr>
        <p:spPr>
          <a:xfrm>
            <a:off x="7388832" y="4157610"/>
            <a:ext cx="18841" cy="1506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6" idx="2"/>
            <a:endCxn id="8" idx="0"/>
          </p:cNvCxnSpPr>
          <p:nvPr/>
        </p:nvCxnSpPr>
        <p:spPr>
          <a:xfrm flipH="1">
            <a:off x="3012043" y="4157610"/>
            <a:ext cx="11984" cy="1524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1919576"/>
      </p:ext>
    </p:extLst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  <a:ea typeface="Geneva"/>
                <a:cs typeface="Geneva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  <a:ea typeface="Geneva"/>
                <a:cs typeface="Geneva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  <a:ea typeface="Geneva"/>
                <a:cs typeface="Geneva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  <a:ea typeface="Geneva"/>
                <a:cs typeface="Geneva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Geneva"/>
                <a:cs typeface="Geneva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Geneva"/>
                <a:cs typeface="Geneva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Geneva"/>
                <a:cs typeface="Geneva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Geneva"/>
                <a:cs typeface="Geneva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Geneva"/>
                <a:cs typeface="Geneva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AE86FE-CC4A-4BDD-8E7B-D334D15973BB}" type="slidenum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itchFamily="34" charset="0"/>
            </a:endParaRPr>
          </a:p>
        </p:txBody>
      </p:sp>
      <p:sp>
        <p:nvSpPr>
          <p:cNvPr id="68611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43773" y="199460"/>
            <a:ext cx="9229000" cy="762000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en-US" sz="4000" dirty="0">
                <a:latin typeface="+mn-lt"/>
                <a:ea typeface="Geneva"/>
                <a:cs typeface="Geneva"/>
              </a:rPr>
              <a:t>Definition of Primary Data</a:t>
            </a:r>
          </a:p>
        </p:txBody>
      </p:sp>
      <p:sp>
        <p:nvSpPr>
          <p:cNvPr id="15365" name="Rectangle 20"/>
          <p:cNvSpPr>
            <a:spLocks noChangeArrowheads="1"/>
          </p:cNvSpPr>
          <p:nvPr/>
        </p:nvSpPr>
        <p:spPr bwMode="auto">
          <a:xfrm>
            <a:off x="802739" y="1216402"/>
            <a:ext cx="8111067" cy="38407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lvl="0">
              <a:defRPr/>
            </a:pPr>
            <a:r>
              <a:rPr lang="en-US" sz="2800" i="1" u="sng" dirty="0"/>
              <a:t>Primary data </a:t>
            </a:r>
            <a:r>
              <a:rPr lang="en-US" sz="2800" i="1" dirty="0"/>
              <a:t>are the data that you collect from customers, prospects, employees, the general public, or any other group that has the information you need.</a:t>
            </a:r>
            <a:endParaRPr lang="en-US" sz="2400" i="1" dirty="0">
              <a:latin typeface="Calibri" panose="020F0502020204030204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2400" b="0" i="1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DE3D1EA-6A45-40BA-A2FE-54B9322671D8}"/>
              </a:ext>
            </a:extLst>
          </p:cNvPr>
          <p:cNvSpPr txBox="1"/>
          <p:nvPr/>
        </p:nvSpPr>
        <p:spPr>
          <a:xfrm>
            <a:off x="802739" y="6307494"/>
            <a:ext cx="25052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Source:   Brown, Suter, Churchill</a:t>
            </a:r>
          </a:p>
        </p:txBody>
      </p:sp>
    </p:spTree>
    <p:extLst>
      <p:ext uri="{BB962C8B-B14F-4D97-AF65-F5344CB8AC3E}">
        <p14:creationId xmlns:p14="http://schemas.microsoft.com/office/powerpoint/2010/main" val="403683536"/>
      </p:ext>
    </p:extLst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>
                <a:latin typeface="+mn-lt"/>
              </a:rPr>
              <a:t>Quick</a:t>
            </a:r>
            <a:r>
              <a:rPr lang="en-US" dirty="0"/>
              <a:t> Definitions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Exploratory: Insights and Ideas</a:t>
            </a:r>
          </a:p>
          <a:p>
            <a:endParaRPr lang="en-US" sz="2800" dirty="0"/>
          </a:p>
          <a:p>
            <a:r>
              <a:rPr lang="en-US" sz="2800" dirty="0"/>
              <a:t>Descriptive: Quantify, measure, predict, establish relationships</a:t>
            </a:r>
          </a:p>
          <a:p>
            <a:endParaRPr lang="en-US" sz="2800" dirty="0"/>
          </a:p>
          <a:p>
            <a:r>
              <a:rPr lang="en-US" sz="2800" dirty="0"/>
              <a:t>Causal: Establish cause and effect relationships</a:t>
            </a:r>
          </a:p>
        </p:txBody>
      </p:sp>
    </p:spTree>
    <p:extLst>
      <p:ext uri="{BB962C8B-B14F-4D97-AF65-F5344CB8AC3E}">
        <p14:creationId xmlns:p14="http://schemas.microsoft.com/office/powerpoint/2010/main" val="2052149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 dirty="0">
                <a:latin typeface="+mn-lt"/>
              </a:rPr>
              <a:t>Exploratory</a:t>
            </a:r>
            <a:r>
              <a:rPr lang="en-US" altLang="en-US" dirty="0"/>
              <a:t> Research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idx="1"/>
          </p:nvPr>
        </p:nvSpPr>
        <p:spPr>
          <a:xfrm>
            <a:off x="2292096" y="2286000"/>
            <a:ext cx="8071104" cy="402336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2800" dirty="0"/>
              <a:t>Research conducted to gain </a:t>
            </a:r>
            <a:r>
              <a:rPr lang="en-US" altLang="en-US" sz="2800" b="1" u="sng" dirty="0"/>
              <a:t>ideas and insights </a:t>
            </a:r>
            <a:r>
              <a:rPr lang="en-US" altLang="en-US" sz="2800" dirty="0"/>
              <a:t>to better define the problem or opportunity confronting a manager. </a:t>
            </a:r>
          </a:p>
          <a:p>
            <a:pPr eaLnBrk="1" hangingPunct="1"/>
            <a:endParaRPr lang="en-US" altLang="en-US" sz="2800" dirty="0"/>
          </a:p>
          <a:p>
            <a:pPr eaLnBrk="1" hangingPunct="1">
              <a:buFontTx/>
              <a:buNone/>
            </a:pPr>
            <a:endParaRPr lang="en-US" altLang="en-US" sz="3600" dirty="0"/>
          </a:p>
        </p:txBody>
      </p:sp>
    </p:spTree>
    <p:extLst>
      <p:ext uri="{BB962C8B-B14F-4D97-AF65-F5344CB8AC3E}">
        <p14:creationId xmlns:p14="http://schemas.microsoft.com/office/powerpoint/2010/main" val="36988668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1541"/>
                </a:solidFill>
                <a:latin typeface="+mn-lt"/>
              </a:rPr>
              <a:t>What do you think?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6CE74B2-6EA7-4671-BC7F-8EBBEFD98BB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err="1"/>
              <a:t>MadTree</a:t>
            </a:r>
            <a:r>
              <a:rPr lang="en-US" dirty="0"/>
              <a:t> Brewing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700E5A5-77CC-4FA0-945A-230C58A0E4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15204" y="1822450"/>
            <a:ext cx="5181600" cy="4351338"/>
          </a:xfrm>
        </p:spPr>
        <p:txBody>
          <a:bodyPr/>
          <a:lstStyle/>
          <a:p>
            <a:r>
              <a:rPr lang="en-US" dirty="0" err="1"/>
              <a:t>Rhinegeist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0829DEB-EDE4-428A-826B-F15650044C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6112" y="2343247"/>
            <a:ext cx="2463962" cy="37026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D26239D-1319-4920-BA49-94D94F7FACD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5217" b="8594"/>
          <a:stretch/>
        </p:blipFill>
        <p:spPr>
          <a:xfrm>
            <a:off x="4644312" y="2413068"/>
            <a:ext cx="2750976" cy="3563032"/>
          </a:xfrm>
          <a:prstGeom prst="rect">
            <a:avLst/>
          </a:prstGeom>
        </p:spPr>
      </p:pic>
      <p:sp>
        <p:nvSpPr>
          <p:cNvPr id="11" name="Content Placeholder 6">
            <a:extLst>
              <a:ext uri="{FF2B5EF4-FFF2-40B4-BE49-F238E27FC236}">
                <a16:creationId xmlns:a16="http://schemas.microsoft.com/office/drawing/2014/main" id="{1E434641-484F-421A-B523-C6AF7A413CD5}"/>
              </a:ext>
            </a:extLst>
          </p:cNvPr>
          <p:cNvSpPr txBox="1">
            <a:spLocks/>
          </p:cNvSpPr>
          <p:nvPr/>
        </p:nvSpPr>
        <p:spPr>
          <a:xfrm>
            <a:off x="7686867" y="1816229"/>
            <a:ext cx="5181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hlinkClick r:id="rId5"/>
              </a:rPr>
              <a:t>Others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8736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11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Product Packaging (Concept) Research</a:t>
            </a:r>
          </a:p>
        </p:txBody>
      </p:sp>
      <p:sp>
        <p:nvSpPr>
          <p:cNvPr id="64515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1371600" y="1981200"/>
            <a:ext cx="9753600" cy="44069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sz="3200" dirty="0"/>
              <a:t>The packaging test is a study that allows knowing the strengths and weaknesses of a product’s packaging and the messages it conveys.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580DFB-6F29-42B6-84D6-159F739FFD1B}"/>
              </a:ext>
            </a:extLst>
          </p:cNvPr>
          <p:cNvSpPr txBox="1"/>
          <p:nvPr/>
        </p:nvSpPr>
        <p:spPr>
          <a:xfrm>
            <a:off x="802739" y="6307494"/>
            <a:ext cx="13410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Source:   </a:t>
            </a:r>
            <a:r>
              <a:rPr lang="en-US" sz="1400" dirty="0" err="1"/>
              <a:t>Zinklar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1177183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Product Packaging (Concept) Research</a:t>
            </a:r>
            <a:r>
              <a:rPr lang="en-US" sz="4400" dirty="0">
                <a:highlight>
                  <a:srgbClr val="FFFF00"/>
                </a:highlight>
                <a:latin typeface="+mn-lt"/>
              </a:rPr>
              <a:t> *</a:t>
            </a:r>
            <a:endParaRPr lang="en-US" dirty="0"/>
          </a:p>
        </p:txBody>
      </p:sp>
      <p:sp>
        <p:nvSpPr>
          <p:cNvPr id="64515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1371600" y="1981200"/>
            <a:ext cx="9753600" cy="44069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sz="3200" dirty="0"/>
              <a:t>Advantages:</a:t>
            </a:r>
          </a:p>
          <a:p>
            <a:r>
              <a:rPr lang="en-US" altLang="en-US" sz="3200" dirty="0"/>
              <a:t>Validate your packaging proposal</a:t>
            </a:r>
          </a:p>
          <a:p>
            <a:r>
              <a:rPr lang="en-US" altLang="en-US" sz="3200" dirty="0"/>
              <a:t>Optimize your product</a:t>
            </a:r>
          </a:p>
          <a:p>
            <a:r>
              <a:rPr lang="en-US" altLang="en-US" sz="3200" dirty="0"/>
              <a:t>Differentiate yourself from the competition</a:t>
            </a:r>
          </a:p>
          <a:p>
            <a:r>
              <a:rPr lang="en-US" altLang="en-US" sz="3200" dirty="0"/>
              <a:t>Know consumer preferences</a:t>
            </a:r>
          </a:p>
          <a:p>
            <a:r>
              <a:rPr lang="en-US" altLang="en-US" sz="3200" dirty="0"/>
              <a:t>Minimize risks</a:t>
            </a:r>
          </a:p>
          <a:p>
            <a:r>
              <a:rPr lang="en-US" altLang="en-US" sz="3200" dirty="0"/>
              <a:t>Reinforce brand recognition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71D1F03-1029-4547-A638-64895BFE1AFC}"/>
              </a:ext>
            </a:extLst>
          </p:cNvPr>
          <p:cNvSpPr txBox="1"/>
          <p:nvPr/>
        </p:nvSpPr>
        <p:spPr>
          <a:xfrm>
            <a:off x="802739" y="6307494"/>
            <a:ext cx="13410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Source:   </a:t>
            </a:r>
            <a:r>
              <a:rPr lang="en-US" sz="1400" dirty="0" err="1"/>
              <a:t>Zinklar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559491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Descriptive Research</a:t>
            </a:r>
            <a:r>
              <a:rPr lang="en-US" sz="4400" dirty="0">
                <a:highlight>
                  <a:srgbClr val="FFFF00"/>
                </a:highlight>
                <a:latin typeface="+mn-lt"/>
              </a:rPr>
              <a:t> *</a:t>
            </a:r>
            <a:endParaRPr lang="en-US" dirty="0"/>
          </a:p>
        </p:txBody>
      </p:sp>
      <p:sp>
        <p:nvSpPr>
          <p:cNvPr id="64515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1371600" y="1981200"/>
            <a:ext cx="9753600" cy="44069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sz="3200" dirty="0"/>
              <a:t>Descriptive research is defined as a research method that describes the characteristics of the population or phenomenon studied.</a:t>
            </a:r>
          </a:p>
        </p:txBody>
      </p:sp>
    </p:spTree>
    <p:extLst>
      <p:ext uri="{BB962C8B-B14F-4D97-AF65-F5344CB8AC3E}">
        <p14:creationId xmlns:p14="http://schemas.microsoft.com/office/powerpoint/2010/main" val="1828055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Descriptive….</a:t>
            </a:r>
          </a:p>
        </p:txBody>
      </p:sp>
      <p:sp>
        <p:nvSpPr>
          <p:cNvPr id="64515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1371600" y="1981200"/>
            <a:ext cx="9753600" cy="4406900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Exploratory research is very flexible; descriptive research is MUCH more rigid</a:t>
            </a:r>
          </a:p>
          <a:p>
            <a:pPr eaLnBrk="1" hangingPunct="1"/>
            <a:endParaRPr lang="en-US" altLang="en-US" sz="2800" dirty="0"/>
          </a:p>
          <a:p>
            <a:pPr eaLnBrk="1" hangingPunct="1"/>
            <a:r>
              <a:rPr lang="en-US" altLang="en-US" sz="2800" dirty="0"/>
              <a:t>Descriptive research requires the clear specification of…</a:t>
            </a:r>
          </a:p>
          <a:p>
            <a:pPr marL="0" indent="0">
              <a:buNone/>
            </a:pPr>
            <a:endParaRPr lang="en-US" altLang="en-US" sz="800" dirty="0"/>
          </a:p>
          <a:p>
            <a:pPr lvl="1" eaLnBrk="1" hangingPunct="1">
              <a:buFont typeface="Wingdings" pitchFamily="2" charset="2"/>
              <a:buNone/>
            </a:pPr>
            <a:r>
              <a:rPr lang="en-US" altLang="en-US" sz="2400" b="1" i="1" dirty="0">
                <a:solidFill>
                  <a:schemeClr val="tx2"/>
                </a:solidFill>
              </a:rPr>
              <a:t>WHO</a:t>
            </a:r>
            <a:r>
              <a:rPr lang="en-US" altLang="en-US" sz="2400" i="1" dirty="0"/>
              <a:t>, </a:t>
            </a:r>
            <a:r>
              <a:rPr lang="en-US" altLang="en-US" sz="2400" b="1" i="1" dirty="0">
                <a:solidFill>
                  <a:schemeClr val="tx2"/>
                </a:solidFill>
              </a:rPr>
              <a:t>WHAT</a:t>
            </a:r>
            <a:r>
              <a:rPr lang="en-US" altLang="en-US" sz="2400" i="1" dirty="0"/>
              <a:t>, </a:t>
            </a:r>
            <a:r>
              <a:rPr lang="en-US" altLang="en-US" sz="2400" b="1" i="1" dirty="0">
                <a:solidFill>
                  <a:schemeClr val="tx2"/>
                </a:solidFill>
              </a:rPr>
              <a:t>WHEN</a:t>
            </a:r>
            <a:r>
              <a:rPr lang="en-US" altLang="en-US" sz="2400" i="1" dirty="0"/>
              <a:t>, </a:t>
            </a:r>
            <a:r>
              <a:rPr lang="en-US" altLang="en-US" sz="2400" b="1" i="1" dirty="0">
                <a:solidFill>
                  <a:schemeClr val="tx2"/>
                </a:solidFill>
              </a:rPr>
              <a:t>WHERE</a:t>
            </a:r>
            <a:r>
              <a:rPr lang="en-US" altLang="en-US" sz="2400" i="1" dirty="0"/>
              <a:t>, </a:t>
            </a:r>
            <a:r>
              <a:rPr lang="en-US" altLang="en-US" sz="2400" b="1" i="1" dirty="0">
                <a:solidFill>
                  <a:schemeClr val="tx2"/>
                </a:solidFill>
              </a:rPr>
              <a:t>WHY</a:t>
            </a:r>
            <a:r>
              <a:rPr lang="en-US" altLang="en-US" sz="2400" i="1" dirty="0"/>
              <a:t>, </a:t>
            </a:r>
            <a:r>
              <a:rPr lang="en-US" altLang="en-US" sz="2400" dirty="0"/>
              <a:t>and</a:t>
            </a:r>
            <a:r>
              <a:rPr lang="en-US" altLang="en-US" sz="2400" i="1" dirty="0"/>
              <a:t> </a:t>
            </a:r>
            <a:r>
              <a:rPr lang="en-US" altLang="en-US" sz="2400" b="1" i="1" dirty="0">
                <a:solidFill>
                  <a:schemeClr val="tx2"/>
                </a:solidFill>
              </a:rPr>
              <a:t>HOW</a:t>
            </a:r>
          </a:p>
          <a:p>
            <a:pPr lvl="1" eaLnBrk="1" hangingPunct="1">
              <a:buFont typeface="Wingdings" pitchFamily="2" charset="2"/>
              <a:buNone/>
            </a:pPr>
            <a:endParaRPr lang="en-US" altLang="en-US" sz="800" b="1" i="1" dirty="0">
              <a:solidFill>
                <a:schemeClr val="tx2"/>
              </a:solidFill>
            </a:endParaRPr>
          </a:p>
          <a:p>
            <a:pPr lvl="1" eaLnBrk="1" hangingPunct="1">
              <a:buFont typeface="Wingdings" pitchFamily="2" charset="2"/>
              <a:buNone/>
            </a:pPr>
            <a:r>
              <a:rPr lang="en-US" altLang="en-US" sz="3200" dirty="0"/>
              <a:t>… before data collection can begin.</a:t>
            </a:r>
          </a:p>
        </p:txBody>
      </p:sp>
    </p:spTree>
    <p:extLst>
      <p:ext uri="{BB962C8B-B14F-4D97-AF65-F5344CB8AC3E}">
        <p14:creationId xmlns:p14="http://schemas.microsoft.com/office/powerpoint/2010/main" val="3300158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Survey Research?</a:t>
            </a:r>
            <a:r>
              <a:rPr lang="en-US" sz="4400" dirty="0">
                <a:highlight>
                  <a:srgbClr val="FFFF00"/>
                </a:highlight>
                <a:latin typeface="+mn-lt"/>
              </a:rPr>
              <a:t> *</a:t>
            </a:r>
            <a:endParaRPr lang="en-US" dirty="0"/>
          </a:p>
        </p:txBody>
      </p:sp>
      <p:sp>
        <p:nvSpPr>
          <p:cNvPr id="64515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1101012" y="1496009"/>
            <a:ext cx="9753600" cy="44069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sz="3200" i="1" dirty="0"/>
              <a:t>Survey research is the process of collecting data from a predefined group (e.g. customers or potential customers) with the ultimate goal of uncovering insights about your products, services, or brand overall.</a:t>
            </a:r>
          </a:p>
          <a:p>
            <a:pPr marL="0" indent="0">
              <a:buNone/>
            </a:pPr>
            <a:endParaRPr lang="en-US" altLang="en-US" sz="3200" dirty="0"/>
          </a:p>
          <a:p>
            <a:r>
              <a:rPr lang="en-US" altLang="en-US" sz="2400" dirty="0"/>
              <a:t>As a quantitative data collection method, survey research can provide you with a goldmine of information that can inform crucial business and product decisions. </a:t>
            </a:r>
          </a:p>
          <a:p>
            <a:r>
              <a:rPr lang="en-US" altLang="en-US" sz="2400" dirty="0"/>
              <a:t>But survey research needs careful planning and execution to get the results you want.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580DFB-6F29-42B6-84D6-159F739FFD1B}"/>
              </a:ext>
            </a:extLst>
          </p:cNvPr>
          <p:cNvSpPr txBox="1"/>
          <p:nvPr/>
        </p:nvSpPr>
        <p:spPr>
          <a:xfrm>
            <a:off x="802739" y="6307494"/>
            <a:ext cx="15029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Source:   Qualtrics</a:t>
            </a:r>
          </a:p>
        </p:txBody>
      </p:sp>
    </p:spTree>
    <p:extLst>
      <p:ext uri="{BB962C8B-B14F-4D97-AF65-F5344CB8AC3E}">
        <p14:creationId xmlns:p14="http://schemas.microsoft.com/office/powerpoint/2010/main" val="1348863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ChangeArrowheads="1"/>
          </p:cNvSpPr>
          <p:nvPr/>
        </p:nvSpPr>
        <p:spPr bwMode="auto">
          <a:xfrm>
            <a:off x="3143250" y="3352800"/>
            <a:ext cx="4800600" cy="762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Arial" pitchFamily="34" charset="0"/>
            </a:endParaRPr>
          </a:p>
        </p:txBody>
      </p:sp>
      <p:sp>
        <p:nvSpPr>
          <p:cNvPr id="70660" name="Rectangle 3"/>
          <p:cNvSpPr>
            <a:spLocks noGrp="1" noChangeArrowheads="1"/>
          </p:cNvSpPr>
          <p:nvPr>
            <p:ph type="title"/>
          </p:nvPr>
        </p:nvSpPr>
        <p:spPr>
          <a:xfrm>
            <a:off x="1143000" y="704850"/>
            <a:ext cx="7391400" cy="1143000"/>
          </a:xfrm>
          <a:noFill/>
        </p:spPr>
        <p:txBody>
          <a:bodyPr vert="horz" lIns="92069" tIns="46035" rIns="92069" bIns="46035" rtlCol="0" anchor="ctr">
            <a:normAutofit/>
          </a:bodyPr>
          <a:lstStyle/>
          <a:p>
            <a:pPr eaLnBrk="1" hangingPunct="1"/>
            <a:r>
              <a:rPr lang="en-US" altLang="en-US" dirty="0"/>
              <a:t>Causal Research</a:t>
            </a:r>
            <a:r>
              <a:rPr lang="en-US" sz="4400" dirty="0">
                <a:highlight>
                  <a:srgbClr val="FFFF00"/>
                </a:highlight>
                <a:latin typeface="+mn-lt"/>
              </a:rPr>
              <a:t> *</a:t>
            </a:r>
            <a:endParaRPr lang="en-US" altLang="en-US" dirty="0"/>
          </a:p>
        </p:txBody>
      </p:sp>
      <p:sp>
        <p:nvSpPr>
          <p:cNvPr id="70661" name="AutoShape 5"/>
          <p:cNvSpPr>
            <a:spLocks noChangeArrowheads="1"/>
          </p:cNvSpPr>
          <p:nvPr/>
        </p:nvSpPr>
        <p:spPr bwMode="auto">
          <a:xfrm>
            <a:off x="4648200" y="3581400"/>
            <a:ext cx="1219200" cy="304800"/>
          </a:xfrm>
          <a:prstGeom prst="rightArrow">
            <a:avLst>
              <a:gd name="adj1" fmla="val 50000"/>
              <a:gd name="adj2" fmla="val 143759"/>
            </a:avLst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>
              <a:solidFill>
                <a:schemeClr val="folHlink"/>
              </a:solidFill>
              <a:latin typeface="Arial" pitchFamily="34" charset="0"/>
            </a:endParaRPr>
          </a:p>
        </p:txBody>
      </p:sp>
      <p:sp>
        <p:nvSpPr>
          <p:cNvPr id="70659" name="Rectangle 4"/>
          <p:cNvSpPr>
            <a:spLocks noGrp="1" noChangeArrowheads="1"/>
          </p:cNvSpPr>
          <p:nvPr>
            <p:ph idx="1"/>
          </p:nvPr>
        </p:nvSpPr>
        <p:spPr>
          <a:xfrm>
            <a:off x="552450" y="1524000"/>
            <a:ext cx="9410700" cy="3390900"/>
          </a:xfrm>
        </p:spPr>
        <p:txBody>
          <a:bodyPr vert="horz" lIns="92069" tIns="46035" rIns="92069" bIns="46035" rtlCol="0">
            <a:normAutofit lnSpcReduction="10000"/>
          </a:bodyPr>
          <a:lstStyle/>
          <a:p>
            <a:pPr eaLnBrk="1" hangingPunct="1">
              <a:buFontTx/>
              <a:buNone/>
            </a:pPr>
            <a:endParaRPr lang="en-US" altLang="en-US" sz="2800" dirty="0"/>
          </a:p>
          <a:p>
            <a:pPr eaLnBrk="1" hangingPunct="1">
              <a:buFontTx/>
              <a:buNone/>
            </a:pPr>
            <a:r>
              <a:rPr lang="en-US" altLang="en-US" sz="2800" dirty="0"/>
              <a:t>	The purpose of causal research is to test cause and effect relationships:</a:t>
            </a:r>
          </a:p>
          <a:p>
            <a:pPr algn="ctr" eaLnBrk="1" hangingPunct="1">
              <a:buFontTx/>
              <a:buNone/>
            </a:pPr>
            <a:endParaRPr lang="en-US" altLang="en-US" b="1" dirty="0"/>
          </a:p>
          <a:p>
            <a:pPr algn="ctr" eaLnBrk="1" hangingPunct="1">
              <a:buFontTx/>
              <a:buNone/>
            </a:pPr>
            <a:r>
              <a:rPr lang="en-US" altLang="en-US" b="1" dirty="0"/>
              <a:t>X                  Y</a:t>
            </a:r>
          </a:p>
          <a:p>
            <a:pPr algn="ctr" eaLnBrk="1" hangingPunct="1">
              <a:buFontTx/>
              <a:buNone/>
            </a:pPr>
            <a:endParaRPr lang="en-US" altLang="en-US" b="1" dirty="0"/>
          </a:p>
          <a:p>
            <a:pPr algn="ctr" eaLnBrk="1" hangingPunct="1">
              <a:buFontTx/>
              <a:buNone/>
            </a:pPr>
            <a:r>
              <a:rPr lang="en-US" altLang="en-US" b="1" dirty="0"/>
              <a:t>condition X causes event Y</a:t>
            </a:r>
            <a:endParaRPr lang="en-US" altLang="en-US" dirty="0"/>
          </a:p>
          <a:p>
            <a:pPr eaLnBrk="1" hangingPunct="1">
              <a:buFontTx/>
              <a:buNone/>
            </a:pPr>
            <a:endParaRPr lang="en-US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752600" y="5105400"/>
            <a:ext cx="3124200" cy="156966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X =</a:t>
            </a:r>
          </a:p>
          <a:p>
            <a:pPr algn="ctr"/>
            <a:r>
              <a:rPr lang="en-US" sz="2400" b="1" dirty="0"/>
              <a:t>Cause</a:t>
            </a:r>
          </a:p>
          <a:p>
            <a:pPr algn="ctr"/>
            <a:r>
              <a:rPr lang="en-US" sz="2400" b="1" dirty="0"/>
              <a:t>Independent Variable</a:t>
            </a:r>
          </a:p>
          <a:p>
            <a:pPr algn="ctr"/>
            <a:r>
              <a:rPr lang="en-US" sz="2400" b="1" dirty="0"/>
              <a:t>IV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0" y="5105400"/>
            <a:ext cx="3124200" cy="156966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Y =</a:t>
            </a:r>
          </a:p>
          <a:p>
            <a:pPr algn="ctr"/>
            <a:r>
              <a:rPr lang="en-US" sz="2400" b="1" dirty="0"/>
              <a:t>Effect</a:t>
            </a:r>
          </a:p>
          <a:p>
            <a:pPr algn="ctr"/>
            <a:r>
              <a:rPr lang="en-US" sz="2400" b="1" dirty="0"/>
              <a:t>Dependent Variable</a:t>
            </a:r>
          </a:p>
          <a:p>
            <a:pPr algn="ctr"/>
            <a:r>
              <a:rPr lang="en-US" sz="2400" b="1" dirty="0"/>
              <a:t>DV</a:t>
            </a:r>
          </a:p>
        </p:txBody>
      </p:sp>
    </p:spTree>
    <p:extLst>
      <p:ext uri="{BB962C8B-B14F-4D97-AF65-F5344CB8AC3E}">
        <p14:creationId xmlns:p14="http://schemas.microsoft.com/office/powerpoint/2010/main" val="783862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>
          <a:xfrm>
            <a:off x="522610" y="457994"/>
            <a:ext cx="8804275" cy="611187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en-US" sz="4000" dirty="0"/>
              <a:t>Key Issues for Collecting Information by Communication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2023 Cengage Learning. All Rights Reserved.</a:t>
            </a:r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603" y="1904999"/>
            <a:ext cx="9146997" cy="37971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80994623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/>
          <p:cNvSpPr txBox="1">
            <a:spLocks/>
          </p:cNvSpPr>
          <p:nvPr/>
        </p:nvSpPr>
        <p:spPr>
          <a:xfrm>
            <a:off x="1146022" y="903455"/>
            <a:ext cx="7391400" cy="2716310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600" b="1" dirty="0">
                <a:solidFill>
                  <a:schemeClr val="tx2"/>
                </a:solidFill>
              </a:rPr>
              <a:t>STRUCTURE</a:t>
            </a:r>
            <a:r>
              <a:rPr lang="en-US" sz="3600" dirty="0">
                <a:highlight>
                  <a:srgbClr val="FFFF00"/>
                </a:highlight>
                <a:latin typeface="+mn-lt"/>
              </a:rPr>
              <a:t> *</a:t>
            </a:r>
            <a:endParaRPr lang="en-US" sz="3600" b="1" dirty="0">
              <a:solidFill>
                <a:schemeClr val="tx2"/>
              </a:solidFill>
            </a:endParaRPr>
          </a:p>
          <a:p>
            <a:pPr marL="457200" lvl="1" indent="0">
              <a:buNone/>
            </a:pPr>
            <a:r>
              <a:rPr lang="en-US" dirty="0"/>
              <a:t>The degree of standardization used with the data collection instrument.</a:t>
            </a:r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 bwMode="black">
          <a:xfrm>
            <a:off x="1693864" y="152401"/>
            <a:ext cx="8804275" cy="611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1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2600" kern="0" dirty="0">
                <a:solidFill>
                  <a:schemeClr val="bg1"/>
                </a:solidFill>
                <a:latin typeface="+mj-lt"/>
                <a:ea typeface="ＭＳ Ｐゴシック" pitchFamily="-105" charset="-128"/>
                <a:cs typeface="Times New Roman MT Std"/>
              </a:rPr>
              <a:t>Key Issues for Collecting Information by Communication</a:t>
            </a:r>
          </a:p>
        </p:txBody>
      </p:sp>
    </p:spTree>
    <p:extLst>
      <p:ext uri="{BB962C8B-B14F-4D97-AF65-F5344CB8AC3E}">
        <p14:creationId xmlns:p14="http://schemas.microsoft.com/office/powerpoint/2010/main" val="3756072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/>
          <p:cNvSpPr txBox="1">
            <a:spLocks/>
          </p:cNvSpPr>
          <p:nvPr/>
        </p:nvSpPr>
        <p:spPr>
          <a:xfrm>
            <a:off x="2810435" y="1066790"/>
            <a:ext cx="7391400" cy="2716310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600" b="1" dirty="0">
                <a:solidFill>
                  <a:schemeClr val="tx2"/>
                </a:solidFill>
              </a:rPr>
              <a:t>FIXED-ALTERNATIVE QUESTIONS</a:t>
            </a:r>
            <a:r>
              <a:rPr lang="en-US" sz="3600" dirty="0">
                <a:highlight>
                  <a:srgbClr val="FFFF00"/>
                </a:highlight>
                <a:latin typeface="+mn-lt"/>
              </a:rPr>
              <a:t> *</a:t>
            </a:r>
            <a:endParaRPr lang="en-US" sz="3600" b="1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sz="2800" b="1" dirty="0">
                <a:solidFill>
                  <a:schemeClr val="tx2"/>
                </a:solidFill>
              </a:rPr>
              <a:t>(also known as Close-Ended Questions)</a:t>
            </a:r>
          </a:p>
          <a:p>
            <a:pPr marL="457200" lvl="1" indent="0">
              <a:buNone/>
            </a:pPr>
            <a:r>
              <a:rPr lang="en-US" sz="3000" dirty="0"/>
              <a:t>Questions in which the responses are limited to stated alternatives.</a:t>
            </a: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black">
          <a:xfrm>
            <a:off x="1693864" y="152401"/>
            <a:ext cx="8804275" cy="611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1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2600" kern="0" dirty="0">
                <a:solidFill>
                  <a:schemeClr val="bg1"/>
                </a:solidFill>
                <a:latin typeface="+mj-lt"/>
                <a:ea typeface="ＭＳ Ｐゴシック" pitchFamily="-105" charset="-128"/>
                <a:cs typeface="Times New Roman MT Std"/>
              </a:rPr>
              <a:t>Key Issues for Collecting Information by Communication</a:t>
            </a:r>
          </a:p>
        </p:txBody>
      </p:sp>
      <p:sp>
        <p:nvSpPr>
          <p:cNvPr id="5" name="Footer Placeholder 3"/>
          <p:cNvSpPr txBox="1">
            <a:spLocks/>
          </p:cNvSpPr>
          <p:nvPr/>
        </p:nvSpPr>
        <p:spPr>
          <a:xfrm>
            <a:off x="4648200" y="6475943"/>
            <a:ext cx="2895600" cy="365125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r>
              <a:rPr lang="en-US" sz="1000" dirty="0"/>
              <a:t>© 2023 Cengage Learning. All Rights Reserved.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1" y="3295650"/>
            <a:ext cx="5457825" cy="280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75443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/>
          <p:cNvSpPr txBox="1">
            <a:spLocks/>
          </p:cNvSpPr>
          <p:nvPr/>
        </p:nvSpPr>
        <p:spPr>
          <a:xfrm>
            <a:off x="2810435" y="1066790"/>
            <a:ext cx="7391400" cy="2716310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600" b="1" dirty="0">
                <a:solidFill>
                  <a:schemeClr val="tx2"/>
                </a:solidFill>
              </a:rPr>
              <a:t>OPEN-ENDED QUESTION</a:t>
            </a:r>
            <a:r>
              <a:rPr lang="en-US" sz="3600" dirty="0">
                <a:highlight>
                  <a:srgbClr val="FFFF00"/>
                </a:highlight>
                <a:latin typeface="+mn-lt"/>
              </a:rPr>
              <a:t> *</a:t>
            </a:r>
            <a:endParaRPr lang="en-US" sz="3600" b="1" dirty="0">
              <a:solidFill>
                <a:schemeClr val="tx2"/>
              </a:solidFill>
            </a:endParaRPr>
          </a:p>
          <a:p>
            <a:pPr marL="457200" lvl="1" indent="0">
              <a:buNone/>
            </a:pPr>
            <a:r>
              <a:rPr lang="en-US" sz="3000" dirty="0"/>
              <a:t>A question in which respondents are free to reply in their own words rather than being limited to choosing from among a set of alternatives.</a:t>
            </a:r>
          </a:p>
        </p:txBody>
      </p:sp>
      <p:sp>
        <p:nvSpPr>
          <p:cNvPr id="4" name="Footer Placeholder 3"/>
          <p:cNvSpPr txBox="1">
            <a:spLocks/>
          </p:cNvSpPr>
          <p:nvPr/>
        </p:nvSpPr>
        <p:spPr>
          <a:xfrm>
            <a:off x="4648200" y="6475943"/>
            <a:ext cx="2895600" cy="365125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r>
              <a:rPr lang="en-US" sz="1000" dirty="0"/>
              <a:t>© 2023 Cengage Learning. All Rights Reserved.</a:t>
            </a: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black">
          <a:xfrm>
            <a:off x="1693864" y="152401"/>
            <a:ext cx="8804275" cy="611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1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2600" kern="0" dirty="0">
                <a:solidFill>
                  <a:schemeClr val="bg1"/>
                </a:solidFill>
                <a:latin typeface="+mj-lt"/>
                <a:ea typeface="ＭＳ Ｐゴシック" pitchFamily="-105" charset="-128"/>
                <a:cs typeface="Times New Roman MT Std"/>
              </a:rPr>
              <a:t>Key Issues for Collecting Information by Communication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5201" y="3741380"/>
            <a:ext cx="4826971" cy="23546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88871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5079" y="113268"/>
            <a:ext cx="10828961" cy="1143000"/>
          </a:xfrm>
        </p:spPr>
        <p:txBody>
          <a:bodyPr/>
          <a:lstStyle/>
          <a:p>
            <a:pPr>
              <a:lnSpc>
                <a:spcPts val="4000"/>
              </a:lnSpc>
            </a:pPr>
            <a:r>
              <a:rPr lang="en-US" dirty="0"/>
              <a:t>High Structure: </a:t>
            </a:r>
            <a:r>
              <a:rPr lang="en-US" i="1" dirty="0"/>
              <a:t>Advantages and Disadvantages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1" y="1143000"/>
            <a:ext cx="8350625" cy="4572000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chemeClr val="tx2"/>
                </a:solidFill>
              </a:rPr>
              <a:t>ATTRIBUTE</a:t>
            </a:r>
            <a:r>
              <a:rPr lang="en-US" dirty="0"/>
              <a:t>	      		</a:t>
            </a:r>
            <a:r>
              <a:rPr lang="en-US" b="1" dirty="0"/>
              <a:t>Disadvantage  Advantage</a:t>
            </a:r>
          </a:p>
          <a:p>
            <a:pPr marL="0" indent="0">
              <a:buNone/>
            </a:pPr>
            <a:endParaRPr lang="en-US" sz="800" b="1" dirty="0"/>
          </a:p>
          <a:p>
            <a:pPr marL="0" indent="0">
              <a:buNone/>
            </a:pPr>
            <a:r>
              <a:rPr lang="en-US" dirty="0"/>
              <a:t>Ease of Administration			</a:t>
            </a:r>
          </a:p>
          <a:p>
            <a:pPr marL="0" indent="0">
              <a:buNone/>
            </a:pPr>
            <a:r>
              <a:rPr lang="en-US" dirty="0"/>
              <a:t>Ease of Coding and Analysis</a:t>
            </a:r>
          </a:p>
          <a:p>
            <a:pPr marL="0" indent="0">
              <a:buNone/>
            </a:pPr>
            <a:r>
              <a:rPr lang="en-US" dirty="0"/>
              <a:t>Measure Reliability</a:t>
            </a:r>
          </a:p>
          <a:p>
            <a:pPr marL="0" indent="0">
              <a:buNone/>
            </a:pPr>
            <a:r>
              <a:rPr lang="en-US" dirty="0"/>
              <a:t>Response Bias:</a:t>
            </a:r>
          </a:p>
          <a:p>
            <a:pPr marL="0" indent="0">
              <a:buNone/>
            </a:pPr>
            <a:r>
              <a:rPr lang="en-US" dirty="0"/>
              <a:t>   	</a:t>
            </a:r>
            <a:r>
              <a:rPr lang="en-US" sz="2400" dirty="0"/>
              <a:t>Forced choice</a:t>
            </a:r>
          </a:p>
          <a:p>
            <a:pPr marL="0" indent="0">
              <a:buNone/>
            </a:pPr>
            <a:r>
              <a:rPr lang="en-US" sz="2400" dirty="0"/>
              <a:t>    	Omitted response</a:t>
            </a:r>
          </a:p>
          <a:p>
            <a:pPr marL="0" indent="0">
              <a:buNone/>
            </a:pPr>
            <a:r>
              <a:rPr lang="en-US" sz="2400" dirty="0"/>
              <a:t>	Precision of response</a:t>
            </a:r>
          </a:p>
        </p:txBody>
      </p:sp>
      <p:pic>
        <p:nvPicPr>
          <p:cNvPr id="4098" name="Picture 2" descr="C:\Users\tomb\AppData\Local\Microsoft\Windows\Temporary Internet Files\Content.IE5\04704QNH\MC900432530[1]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25978" y="1905001"/>
            <a:ext cx="628820" cy="431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C:\Users\tomb\AppData\Local\Microsoft\Windows\Temporary Internet Files\Content.IE5\04704QNH\MC900432530[1]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25978" y="2398556"/>
            <a:ext cx="628820" cy="431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C:\Users\tomb\AppData\Local\Microsoft\Windows\Temporary Internet Files\Content.IE5\04704QNH\MC900432530[1]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25978" y="2940425"/>
            <a:ext cx="628820" cy="431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C:\Users\tomb\AppData\Local\Microsoft\Windows\Temporary Internet Files\Content.IE5\04704QNH\MC900432530[1]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2800" y="3919002"/>
            <a:ext cx="628820" cy="431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C:\Users\tomb\AppData\Local\Microsoft\Windows\Temporary Internet Files\Content.IE5\04704QNH\MC900432530[1]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2800" y="4352862"/>
            <a:ext cx="628820" cy="431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" name="Straight Connector 8"/>
          <p:cNvCxnSpPr/>
          <p:nvPr/>
        </p:nvCxnSpPr>
        <p:spPr>
          <a:xfrm>
            <a:off x="2286000" y="1752600"/>
            <a:ext cx="8077200" cy="158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2" descr="C:\Users\tomb\AppData\Local\Microsoft\Windows\Temporary Internet Files\Content.IE5\04704QNH\MC900432530[1]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2800" y="4802514"/>
            <a:ext cx="628820" cy="431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2286000" y="1219200"/>
            <a:ext cx="8077200" cy="44958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2023 Cengage Learning.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2666114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 txBox="1">
            <a:spLocks/>
          </p:cNvSpPr>
          <p:nvPr/>
        </p:nvSpPr>
        <p:spPr>
          <a:xfrm>
            <a:off x="2810435" y="1066790"/>
            <a:ext cx="7391400" cy="2716310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600" b="1" dirty="0">
                <a:solidFill>
                  <a:schemeClr val="tx2"/>
                </a:solidFill>
              </a:rPr>
              <a:t>DISGUISE</a:t>
            </a:r>
            <a:r>
              <a:rPr lang="en-US" sz="3600" dirty="0">
                <a:highlight>
                  <a:srgbClr val="FFFF00"/>
                </a:highlight>
                <a:latin typeface="+mn-lt"/>
              </a:rPr>
              <a:t> *</a:t>
            </a:r>
            <a:endParaRPr lang="en-US" sz="3600" b="1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sz="3000" dirty="0"/>
              <a:t>The amount of knowledge people have about a study in which they are participating</a:t>
            </a:r>
            <a:r>
              <a:rPr lang="en-US" dirty="0"/>
              <a:t>.</a:t>
            </a:r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2777283" y="3312516"/>
            <a:ext cx="7370762" cy="2631085"/>
          </a:xfrm>
          <a:prstGeom prst="rect">
            <a:avLst/>
          </a:prstGeom>
          <a:solidFill>
            <a:schemeClr val="tx2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Arial" pitchFamily="34" charset="0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2528046" y="3115666"/>
            <a:ext cx="7454155" cy="2787650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en-US" altLang="en-US" sz="800" dirty="0"/>
          </a:p>
          <a:p>
            <a:pPr lvl="1">
              <a:buClr>
                <a:schemeClr val="bg1"/>
              </a:buClr>
              <a:buFont typeface="Wingdings" pitchFamily="2" charset="2"/>
              <a:buNone/>
            </a:pPr>
            <a:r>
              <a:rPr lang="en-US" altLang="en-US" b="1" dirty="0">
                <a:solidFill>
                  <a:schemeClr val="bg1"/>
                </a:solidFill>
              </a:rPr>
              <a:t>Disguise is especially useful when…</a:t>
            </a:r>
          </a:p>
          <a:p>
            <a:pPr lvl="2">
              <a:buClr>
                <a:schemeClr val="bg1"/>
              </a:buClr>
              <a:buFont typeface="Wingdings" pitchFamily="2" charset="2"/>
              <a:buChar char="ü"/>
            </a:pPr>
            <a:r>
              <a:rPr lang="en-US" altLang="en-US" dirty="0">
                <a:solidFill>
                  <a:schemeClr val="bg1"/>
                </a:solidFill>
              </a:rPr>
              <a:t>…knowing the purpose or sponsor is likely to bias respondents’ answers.</a:t>
            </a:r>
          </a:p>
          <a:p>
            <a:pPr lvl="2">
              <a:buClr>
                <a:schemeClr val="bg1"/>
              </a:buClr>
              <a:buFont typeface="Wingdings" pitchFamily="2" charset="2"/>
              <a:buChar char="ü"/>
            </a:pPr>
            <a:r>
              <a:rPr lang="en-US" altLang="en-US" dirty="0">
                <a:solidFill>
                  <a:schemeClr val="bg1"/>
                </a:solidFill>
              </a:rPr>
              <a:t>…re-creating the natural environment is necessary, particularly in experimental research.</a:t>
            </a: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 bwMode="black">
          <a:xfrm>
            <a:off x="2590800" y="123825"/>
            <a:ext cx="7620000" cy="1144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1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3200" kern="0">
                <a:solidFill>
                  <a:schemeClr val="bg1"/>
                </a:solidFill>
                <a:latin typeface="+mj-lt"/>
                <a:ea typeface="ＭＳ Ｐゴシック" pitchFamily="-105" charset="-128"/>
                <a:cs typeface="Times New Roman MT Std"/>
              </a:rPr>
              <a:t>The Ethics of Disguise</a:t>
            </a:r>
            <a:endParaRPr lang="en-US" altLang="en-US" sz="3200" kern="0" dirty="0">
              <a:solidFill>
                <a:schemeClr val="bg1"/>
              </a:solidFill>
              <a:latin typeface="+mj-lt"/>
              <a:ea typeface="ＭＳ Ｐゴシック" pitchFamily="-105" charset="-128"/>
              <a:cs typeface="Times New Roman MT Std"/>
            </a:endParaRPr>
          </a:p>
        </p:txBody>
      </p:sp>
    </p:spTree>
    <p:extLst>
      <p:ext uri="{BB962C8B-B14F-4D97-AF65-F5344CB8AC3E}">
        <p14:creationId xmlns:p14="http://schemas.microsoft.com/office/powerpoint/2010/main" val="363162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123825"/>
            <a:ext cx="7620000" cy="1144588"/>
          </a:xfrm>
        </p:spPr>
        <p:txBody>
          <a:bodyPr/>
          <a:lstStyle/>
          <a:p>
            <a:pPr eaLnBrk="1" hangingPunct="1"/>
            <a:r>
              <a:rPr lang="en-US" altLang="en-US" dirty="0"/>
              <a:t>The Ethics of Disguise</a:t>
            </a:r>
            <a:r>
              <a:rPr lang="en-US" sz="4400" dirty="0">
                <a:highlight>
                  <a:srgbClr val="FFFF00"/>
                </a:highlight>
                <a:latin typeface="+mn-lt"/>
              </a:rPr>
              <a:t> *</a:t>
            </a:r>
            <a:endParaRPr lang="en-US" altLang="en-US" dirty="0"/>
          </a:p>
        </p:txBody>
      </p:sp>
      <p:sp>
        <p:nvSpPr>
          <p:cNvPr id="58371" name="Rectangle 3"/>
          <p:cNvSpPr>
            <a:spLocks noGrp="1" noChangeArrowheads="1"/>
          </p:cNvSpPr>
          <p:nvPr>
            <p:ph idx="1"/>
          </p:nvPr>
        </p:nvSpPr>
        <p:spPr>
          <a:xfrm>
            <a:off x="2590800" y="1295400"/>
            <a:ext cx="7620000" cy="3733800"/>
          </a:xfrm>
        </p:spPr>
        <p:txBody>
          <a:bodyPr/>
          <a:lstStyle/>
          <a:p>
            <a:pPr eaLnBrk="1" hangingPunct="1"/>
            <a:r>
              <a:rPr lang="en-US" altLang="en-US" sz="3600" dirty="0"/>
              <a:t>Under the rights model of ethics, the use of disguise amounts to a violation of the respondent’s </a:t>
            </a:r>
            <a:r>
              <a:rPr lang="en-US" altLang="en-US" sz="3600" i="1" dirty="0"/>
              <a:t>right to know</a:t>
            </a:r>
            <a:r>
              <a:rPr lang="en-US" altLang="en-US" sz="3600" dirty="0"/>
              <a:t>.</a:t>
            </a:r>
          </a:p>
          <a:p>
            <a:pPr marL="914400" lvl="2" indent="0">
              <a:buNone/>
            </a:pPr>
            <a:endParaRPr lang="en-US" altLang="en-US" b="1" dirty="0">
              <a:solidFill>
                <a:schemeClr val="tx2"/>
              </a:solidFill>
            </a:endParaRPr>
          </a:p>
          <a:p>
            <a:pPr marL="914400" lvl="2" indent="0">
              <a:buNone/>
            </a:pPr>
            <a:r>
              <a:rPr lang="en-US" altLang="en-US" sz="3000" b="1" dirty="0">
                <a:solidFill>
                  <a:schemeClr val="tx2"/>
                </a:solidFill>
              </a:rPr>
              <a:t>DEBRIEFING:</a:t>
            </a:r>
            <a:r>
              <a:rPr lang="en-US" altLang="en-US" sz="3000" dirty="0"/>
              <a:t> The process of providing appropriate information to respondents after data have been collected using disguise.</a:t>
            </a:r>
          </a:p>
        </p:txBody>
      </p:sp>
    </p:spTree>
    <p:extLst>
      <p:ext uri="{BB962C8B-B14F-4D97-AF65-F5344CB8AC3E}">
        <p14:creationId xmlns:p14="http://schemas.microsoft.com/office/powerpoint/2010/main" val="2453663477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>
          <a:xfrm>
            <a:off x="679808" y="92075"/>
            <a:ext cx="8018463" cy="11430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Primary Methods of Administration</a:t>
            </a:r>
            <a:r>
              <a:rPr lang="en-US" sz="4400" dirty="0">
                <a:highlight>
                  <a:srgbClr val="FFFF00"/>
                </a:highlight>
                <a:latin typeface="+mn-lt"/>
              </a:rPr>
              <a:t> *</a:t>
            </a:r>
            <a:endParaRPr lang="en-US" altLang="en-US" dirty="0"/>
          </a:p>
        </p:txBody>
      </p:sp>
      <p:sp>
        <p:nvSpPr>
          <p:cNvPr id="5939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z="3600" dirty="0"/>
              <a:t>Personal Interviews</a:t>
            </a:r>
          </a:p>
          <a:p>
            <a:pPr eaLnBrk="1" hangingPunct="1"/>
            <a:r>
              <a:rPr lang="en-US" altLang="en-US" sz="3600" dirty="0"/>
              <a:t>Telephone Interviews</a:t>
            </a:r>
          </a:p>
          <a:p>
            <a:pPr eaLnBrk="1" hangingPunct="1"/>
            <a:r>
              <a:rPr lang="en-US" altLang="en-US" sz="3600" dirty="0"/>
              <a:t>Mail Surveys</a:t>
            </a:r>
          </a:p>
          <a:p>
            <a:pPr eaLnBrk="1" hangingPunct="1"/>
            <a:r>
              <a:rPr lang="en-US" altLang="en-US" sz="3600" dirty="0"/>
              <a:t>Online Surveys</a:t>
            </a:r>
          </a:p>
        </p:txBody>
      </p:sp>
    </p:spTree>
    <p:extLst>
      <p:ext uri="{BB962C8B-B14F-4D97-AF65-F5344CB8AC3E}">
        <p14:creationId xmlns:p14="http://schemas.microsoft.com/office/powerpoint/2010/main" val="694692356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/>
          <p:cNvSpPr txBox="1">
            <a:spLocks/>
          </p:cNvSpPr>
          <p:nvPr/>
        </p:nvSpPr>
        <p:spPr>
          <a:xfrm>
            <a:off x="1905366" y="712690"/>
            <a:ext cx="7391400" cy="2716310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600" b="1" dirty="0">
                <a:solidFill>
                  <a:schemeClr val="tx2"/>
                </a:solidFill>
              </a:rPr>
              <a:t>PERSONAL INTERVIEW</a:t>
            </a:r>
          </a:p>
          <a:p>
            <a:pPr marL="0" indent="0">
              <a:buNone/>
            </a:pPr>
            <a:r>
              <a:rPr lang="en-US" sz="3000" dirty="0"/>
              <a:t>Direct, face-to-face conversation between a representative of the research organization, the interviewer, and a respondent or interviewee.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400" dirty="0"/>
              <a:t>Can be conducted in lots of different locations (including malls using mall intercepts)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400" dirty="0"/>
              <a:t>Generally strong sampling control (including higher response rates)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400" dirty="0"/>
              <a:t>Great flexibility, but higher levels of interviewer bias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400" dirty="0"/>
              <a:t>Time- and cost-intensive</a:t>
            </a: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black">
          <a:xfrm>
            <a:off x="2590800" y="123825"/>
            <a:ext cx="7620000" cy="1144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1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3200" kern="0" dirty="0">
                <a:solidFill>
                  <a:schemeClr val="bg1"/>
                </a:solidFill>
                <a:latin typeface="+mj-lt"/>
                <a:ea typeface="ＭＳ Ｐゴシック" pitchFamily="-105" charset="-128"/>
                <a:cs typeface="Times New Roman MT Std"/>
              </a:rPr>
              <a:t>Personal Interview</a:t>
            </a:r>
          </a:p>
        </p:txBody>
      </p:sp>
    </p:spTree>
    <p:extLst>
      <p:ext uri="{BB962C8B-B14F-4D97-AF65-F5344CB8AC3E}">
        <p14:creationId xmlns:p14="http://schemas.microsoft.com/office/powerpoint/2010/main" val="4046280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/>
          <p:cNvSpPr txBox="1">
            <a:spLocks/>
          </p:cNvSpPr>
          <p:nvPr/>
        </p:nvSpPr>
        <p:spPr>
          <a:xfrm>
            <a:off x="1681431" y="941290"/>
            <a:ext cx="7391400" cy="2716310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600" b="1" dirty="0">
                <a:solidFill>
                  <a:schemeClr val="tx2"/>
                </a:solidFill>
              </a:rPr>
              <a:t>RANDOM-DIGIT DIALING (RDD)</a:t>
            </a:r>
          </a:p>
          <a:p>
            <a:pPr marL="0" indent="0">
              <a:buNone/>
            </a:pPr>
            <a:r>
              <a:rPr lang="en-US" sz="3000" dirty="0"/>
              <a:t>A technique used in studies using telephone interviews, in which the numbers to be called are randomly generated.</a:t>
            </a:r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1681426" y="3455890"/>
            <a:ext cx="7391400" cy="2716310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600" b="1" dirty="0">
                <a:solidFill>
                  <a:schemeClr val="tx2"/>
                </a:solidFill>
              </a:rPr>
              <a:t>IN-BOUND SURVEYS</a:t>
            </a:r>
          </a:p>
          <a:p>
            <a:pPr marL="0" indent="0">
              <a:buNone/>
            </a:pPr>
            <a:r>
              <a:rPr lang="en-US" sz="3000" dirty="0"/>
              <a:t>A method of data collection in which respondents access a survey by telephone or on the Web to respond to survey items.</a:t>
            </a: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black">
          <a:xfrm>
            <a:off x="2286000" y="123825"/>
            <a:ext cx="7620000" cy="1144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1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3200" kern="0" dirty="0">
                <a:solidFill>
                  <a:schemeClr val="bg1"/>
                </a:solidFill>
                <a:latin typeface="+mj-lt"/>
                <a:ea typeface="ＭＳ Ｐゴシック" pitchFamily="-105" charset="-128"/>
                <a:cs typeface="Times New Roman MT Std"/>
              </a:rPr>
              <a:t>Survey Types</a:t>
            </a:r>
          </a:p>
        </p:txBody>
      </p:sp>
    </p:spTree>
    <p:extLst>
      <p:ext uri="{BB962C8B-B14F-4D97-AF65-F5344CB8AC3E}">
        <p14:creationId xmlns:p14="http://schemas.microsoft.com/office/powerpoint/2010/main" val="6119241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3"/>
          <p:cNvSpPr txBox="1">
            <a:spLocks/>
          </p:cNvSpPr>
          <p:nvPr/>
        </p:nvSpPr>
        <p:spPr>
          <a:xfrm>
            <a:off x="4648200" y="6475943"/>
            <a:ext cx="2895600" cy="365125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r>
              <a:rPr lang="en-US" sz="1000" dirty="0"/>
              <a:t>© 2023 Cengage Learning. All Rights Reserved.</a:t>
            </a: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black">
          <a:xfrm>
            <a:off x="2286000" y="123825"/>
            <a:ext cx="7620000" cy="1144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1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3200" kern="0" dirty="0">
                <a:solidFill>
                  <a:schemeClr val="bg1"/>
                </a:solidFill>
                <a:latin typeface="+mj-lt"/>
                <a:ea typeface="ＭＳ Ｐゴシック" pitchFamily="-105" charset="-128"/>
                <a:cs typeface="Times New Roman MT Std"/>
              </a:rPr>
              <a:t>Survey Types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491" y="1921267"/>
            <a:ext cx="9236359" cy="25396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93610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/>
          <p:cNvSpPr txBox="1">
            <a:spLocks/>
          </p:cNvSpPr>
          <p:nvPr/>
        </p:nvSpPr>
        <p:spPr>
          <a:xfrm>
            <a:off x="1980012" y="1903445"/>
            <a:ext cx="7552765" cy="2716310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600" b="1" dirty="0">
                <a:solidFill>
                  <a:schemeClr val="tx2"/>
                </a:solidFill>
              </a:rPr>
              <a:t>MAIL SURVEY</a:t>
            </a:r>
          </a:p>
          <a:p>
            <a:pPr marL="0" indent="0">
              <a:buNone/>
            </a:pPr>
            <a:r>
              <a:rPr lang="en-US" sz="3000" dirty="0"/>
              <a:t>A survey administered by mail to designated respondents with an accompanying cover letter. The respondents return the questionnaire by mail to the research organization.</a:t>
            </a: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black">
          <a:xfrm>
            <a:off x="2286000" y="123825"/>
            <a:ext cx="7620000" cy="1144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1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3200" kern="0" dirty="0">
                <a:solidFill>
                  <a:schemeClr val="bg1"/>
                </a:solidFill>
                <a:latin typeface="+mj-lt"/>
                <a:ea typeface="ＭＳ Ｐゴシック" pitchFamily="-105" charset="-128"/>
                <a:cs typeface="Times New Roman MT Std"/>
              </a:rPr>
              <a:t>Mail Survey</a:t>
            </a:r>
          </a:p>
        </p:txBody>
      </p:sp>
    </p:spTree>
    <p:extLst>
      <p:ext uri="{BB962C8B-B14F-4D97-AF65-F5344CB8AC3E}">
        <p14:creationId xmlns:p14="http://schemas.microsoft.com/office/powerpoint/2010/main" val="9815616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/>
          <p:cNvSpPr txBox="1">
            <a:spLocks/>
          </p:cNvSpPr>
          <p:nvPr/>
        </p:nvSpPr>
        <p:spPr>
          <a:xfrm>
            <a:off x="2438401" y="1143000"/>
            <a:ext cx="7552765" cy="2716310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Lower degree of sampling control (mailing lists often available, but no control over who completes survey, and often low response rates)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No interviewer bias and can offer anonymity, but less flexibility (no explanation or follow-up, no complex materials)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Lower cost than personal or telephone interviews</a:t>
            </a: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black">
          <a:xfrm>
            <a:off x="2286000" y="123825"/>
            <a:ext cx="7620000" cy="1144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1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3200" kern="0" dirty="0">
                <a:solidFill>
                  <a:schemeClr val="bg1"/>
                </a:solidFill>
                <a:latin typeface="+mj-lt"/>
                <a:ea typeface="ＭＳ Ｐゴシック" pitchFamily="-105" charset="-128"/>
                <a:cs typeface="Times New Roman MT Std"/>
              </a:rPr>
              <a:t>Mail Survey</a:t>
            </a:r>
          </a:p>
        </p:txBody>
      </p:sp>
    </p:spTree>
    <p:extLst>
      <p:ext uri="{BB962C8B-B14F-4D97-AF65-F5344CB8AC3E}">
        <p14:creationId xmlns:p14="http://schemas.microsoft.com/office/powerpoint/2010/main" val="39199621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 txBox="1">
            <a:spLocks/>
          </p:cNvSpPr>
          <p:nvPr/>
        </p:nvSpPr>
        <p:spPr>
          <a:xfrm>
            <a:off x="1591235" y="919519"/>
            <a:ext cx="7400365" cy="2716310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600" b="1" dirty="0">
                <a:solidFill>
                  <a:schemeClr val="tx2"/>
                </a:solidFill>
              </a:rPr>
              <a:t>ONLINE SURVEY</a:t>
            </a:r>
          </a:p>
          <a:p>
            <a:pPr marL="0" indent="0">
              <a:buNone/>
            </a:pPr>
            <a:r>
              <a:rPr lang="en-US" sz="3000" dirty="0"/>
              <a:t>A method of administration that relies on the Web for completing the survey.</a:t>
            </a: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 bwMode="black">
          <a:xfrm>
            <a:off x="1066800" y="254454"/>
            <a:ext cx="7620000" cy="1144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1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3200" kern="0" dirty="0">
                <a:solidFill>
                  <a:schemeClr val="bg1"/>
                </a:solidFill>
                <a:latin typeface="+mj-lt"/>
                <a:ea typeface="ＭＳ Ｐゴシック" pitchFamily="-105" charset="-128"/>
                <a:cs typeface="Times New Roman MT Std"/>
              </a:rPr>
              <a:t>Online Survey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2740103"/>
            <a:ext cx="5024438" cy="34103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74621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 txBox="1">
            <a:spLocks/>
          </p:cNvSpPr>
          <p:nvPr/>
        </p:nvSpPr>
        <p:spPr>
          <a:xfrm>
            <a:off x="2810435" y="788890"/>
            <a:ext cx="7400365" cy="2716310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3000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2438400" y="1169890"/>
            <a:ext cx="7315200" cy="2716310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Explosion in use over the past decade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Email lists and panels are readily available, but it’s difficult to know who you are really contacting; response rates are often very low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Good flexibility; visuals and complex material possible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Usually quick and inexpensive</a:t>
            </a: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 bwMode="black">
          <a:xfrm>
            <a:off x="2286000" y="123825"/>
            <a:ext cx="7620000" cy="1144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1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3200" kern="0" dirty="0">
                <a:solidFill>
                  <a:schemeClr val="bg1"/>
                </a:solidFill>
                <a:latin typeface="+mj-lt"/>
                <a:ea typeface="ＭＳ Ｐゴシック" pitchFamily="-105" charset="-128"/>
                <a:cs typeface="Times New Roman MT Std"/>
              </a:rPr>
              <a:t>Online Survey</a:t>
            </a:r>
          </a:p>
        </p:txBody>
      </p:sp>
    </p:spTree>
    <p:extLst>
      <p:ext uri="{BB962C8B-B14F-4D97-AF65-F5344CB8AC3E}">
        <p14:creationId xmlns:p14="http://schemas.microsoft.com/office/powerpoint/2010/main" val="16647078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3"/>
          <p:cNvSpPr txBox="1">
            <a:spLocks/>
          </p:cNvSpPr>
          <p:nvPr/>
        </p:nvSpPr>
        <p:spPr>
          <a:xfrm>
            <a:off x="4648200" y="6475943"/>
            <a:ext cx="2895600" cy="365125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r>
              <a:rPr lang="en-US" sz="1000" dirty="0"/>
              <a:t>© 2023 Cengage Learning. All Rights Reserved.</a:t>
            </a: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black">
          <a:xfrm>
            <a:off x="2286000" y="123825"/>
            <a:ext cx="7620000" cy="1144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1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3200" kern="0" dirty="0">
                <a:solidFill>
                  <a:schemeClr val="bg1"/>
                </a:solidFill>
                <a:latin typeface="+mj-lt"/>
                <a:ea typeface="ＭＳ Ｐゴシック" pitchFamily="-105" charset="-128"/>
                <a:cs typeface="Times New Roman MT Std"/>
              </a:rPr>
              <a:t>Online Survey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8488" y="994334"/>
            <a:ext cx="5915025" cy="51778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62683"/>
      </p:ext>
    </p:extLst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89688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XU_PPTtemplate2" id="{0469F02D-B852-2749-917C-AD4BF6465C21}" vid="{F25CEA40-8609-7F4F-BE1D-8B08452F0A8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xu-powerpoint-template3</Template>
  <TotalTime>1557</TotalTime>
  <Words>1119</Words>
  <Application>Microsoft Office PowerPoint</Application>
  <PresentationFormat>Widescreen</PresentationFormat>
  <Paragraphs>169</Paragraphs>
  <Slides>31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6" baseType="lpstr">
      <vt:lpstr>Arial</vt:lpstr>
      <vt:lpstr>Calibri</vt:lpstr>
      <vt:lpstr>Calibri Light</vt:lpstr>
      <vt:lpstr>Wingdings</vt:lpstr>
      <vt:lpstr>Office Theme</vt:lpstr>
      <vt:lpstr>Primary Data Collecting Primary Data by Communication</vt:lpstr>
      <vt:lpstr>Student Learning Objectives</vt:lpstr>
      <vt:lpstr>What is Marketing Research?</vt:lpstr>
      <vt:lpstr>How to view Marketing Research</vt:lpstr>
      <vt:lpstr>Definition of Primary Data</vt:lpstr>
      <vt:lpstr>Quick Definitions </vt:lpstr>
      <vt:lpstr>Exploratory Research</vt:lpstr>
      <vt:lpstr>What do you think?</vt:lpstr>
      <vt:lpstr>Product Packaging (Concept) Research</vt:lpstr>
      <vt:lpstr>Product Packaging (Concept) Research *</vt:lpstr>
      <vt:lpstr>Descriptive Research *</vt:lpstr>
      <vt:lpstr>Descriptive….</vt:lpstr>
      <vt:lpstr>What is Survey Research? *</vt:lpstr>
      <vt:lpstr>Causal Research *</vt:lpstr>
      <vt:lpstr>Key Issues for Collecting Information by Communication</vt:lpstr>
      <vt:lpstr>PowerPoint Presentation</vt:lpstr>
      <vt:lpstr>PowerPoint Presentation</vt:lpstr>
      <vt:lpstr>PowerPoint Presentation</vt:lpstr>
      <vt:lpstr>High Structure: Advantages and Disadvantages</vt:lpstr>
      <vt:lpstr>PowerPoint Presentation</vt:lpstr>
      <vt:lpstr>The Ethics of Disguise *</vt:lpstr>
      <vt:lpstr>Primary Methods of Administration *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Xavier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Marketing Strategy</dc:title>
  <dc:creator>Beck, Scott</dc:creator>
  <cp:lastModifiedBy>Beck, Scott</cp:lastModifiedBy>
  <cp:revision>83</cp:revision>
  <cp:lastPrinted>2020-08-26T16:29:50Z</cp:lastPrinted>
  <dcterms:created xsi:type="dcterms:W3CDTF">2020-06-29T15:54:52Z</dcterms:created>
  <dcterms:modified xsi:type="dcterms:W3CDTF">2025-03-03T16:27:51Z</dcterms:modified>
</cp:coreProperties>
</file>