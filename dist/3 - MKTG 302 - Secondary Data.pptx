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handoutMasterIdLst>
    <p:handoutMasterId r:id="rId38"/>
  </p:handoutMasterIdLst>
  <p:sldIdLst>
    <p:sldId id="256" r:id="rId2"/>
    <p:sldId id="272" r:id="rId3"/>
    <p:sldId id="462" r:id="rId4"/>
    <p:sldId id="426" r:id="rId5"/>
    <p:sldId id="451" r:id="rId6"/>
    <p:sldId id="430" r:id="rId7"/>
    <p:sldId id="431" r:id="rId8"/>
    <p:sldId id="432" r:id="rId9"/>
    <p:sldId id="433" r:id="rId10"/>
    <p:sldId id="434" r:id="rId11"/>
    <p:sldId id="435" r:id="rId12"/>
    <p:sldId id="436" r:id="rId13"/>
    <p:sldId id="437" r:id="rId14"/>
    <p:sldId id="438" r:id="rId15"/>
    <p:sldId id="461" r:id="rId16"/>
    <p:sldId id="439" r:id="rId17"/>
    <p:sldId id="440" r:id="rId18"/>
    <p:sldId id="460" r:id="rId19"/>
    <p:sldId id="441" r:id="rId20"/>
    <p:sldId id="442" r:id="rId21"/>
    <p:sldId id="443" r:id="rId22"/>
    <p:sldId id="444" r:id="rId23"/>
    <p:sldId id="445" r:id="rId24"/>
    <p:sldId id="446" r:id="rId25"/>
    <p:sldId id="447" r:id="rId26"/>
    <p:sldId id="448" r:id="rId27"/>
    <p:sldId id="449" r:id="rId28"/>
    <p:sldId id="450" r:id="rId29"/>
    <p:sldId id="454" r:id="rId30"/>
    <p:sldId id="455" r:id="rId31"/>
    <p:sldId id="456" r:id="rId32"/>
    <p:sldId id="457" r:id="rId33"/>
    <p:sldId id="458" r:id="rId34"/>
    <p:sldId id="459" r:id="rId35"/>
    <p:sldId id="266" r:id="rId36"/>
  </p:sldIdLst>
  <p:sldSz cx="12192000" cy="6858000"/>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9CC8"/>
    <a:srgbClr val="001541"/>
    <a:srgbClr val="BD707B"/>
    <a:srgbClr val="00FD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868"/>
    <p:restoredTop sz="94890"/>
  </p:normalViewPr>
  <p:slideViewPr>
    <p:cSldViewPr snapToGrid="0" snapToObjects="1" showGuides="1">
      <p:cViewPr varScale="1">
        <p:scale>
          <a:sx n="62" d="100"/>
          <a:sy n="62" d="100"/>
        </p:scale>
        <p:origin x="68" y="272"/>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6434"/>
          </a:xfrm>
          <a:prstGeom prst="rect">
            <a:avLst/>
          </a:prstGeom>
        </p:spPr>
        <p:txBody>
          <a:bodyPr vert="horz" lIns="92446" tIns="46223" rIns="92446" bIns="46223" rtlCol="0"/>
          <a:lstStyle>
            <a:lvl1pPr algn="l">
              <a:defRPr sz="1200"/>
            </a:lvl1pPr>
          </a:lstStyle>
          <a:p>
            <a:endParaRPr lang="en-US"/>
          </a:p>
        </p:txBody>
      </p:sp>
      <p:sp>
        <p:nvSpPr>
          <p:cNvPr id="3" name="Date Placeholder 2"/>
          <p:cNvSpPr>
            <a:spLocks noGrp="1"/>
          </p:cNvSpPr>
          <p:nvPr>
            <p:ph type="dt" sz="quarter" idx="1"/>
          </p:nvPr>
        </p:nvSpPr>
        <p:spPr>
          <a:xfrm>
            <a:off x="3898102" y="0"/>
            <a:ext cx="2982119" cy="466434"/>
          </a:xfrm>
          <a:prstGeom prst="rect">
            <a:avLst/>
          </a:prstGeom>
        </p:spPr>
        <p:txBody>
          <a:bodyPr vert="horz" lIns="92446" tIns="46223" rIns="92446" bIns="46223" rtlCol="0"/>
          <a:lstStyle>
            <a:lvl1pPr algn="r">
              <a:defRPr sz="1200"/>
            </a:lvl1pPr>
          </a:lstStyle>
          <a:p>
            <a:fld id="{03FFF951-6D62-CB4E-866F-40E5C899BB84}" type="datetimeFigureOut">
              <a:rPr lang="en-US" smtClean="0"/>
              <a:t>1/30/2025</a:t>
            </a:fld>
            <a:endParaRPr lang="en-US"/>
          </a:p>
        </p:txBody>
      </p:sp>
      <p:sp>
        <p:nvSpPr>
          <p:cNvPr id="4" name="Footer Placeholder 3"/>
          <p:cNvSpPr>
            <a:spLocks noGrp="1"/>
          </p:cNvSpPr>
          <p:nvPr>
            <p:ph type="ftr" sz="quarter" idx="2"/>
          </p:nvPr>
        </p:nvSpPr>
        <p:spPr>
          <a:xfrm>
            <a:off x="0" y="8829967"/>
            <a:ext cx="2982119" cy="466433"/>
          </a:xfrm>
          <a:prstGeom prst="rect">
            <a:avLst/>
          </a:prstGeom>
        </p:spPr>
        <p:txBody>
          <a:bodyPr vert="horz" lIns="92446" tIns="46223" rIns="92446" bIns="46223" rtlCol="0" anchor="b"/>
          <a:lstStyle>
            <a:lvl1pPr algn="l">
              <a:defRPr sz="1200"/>
            </a:lvl1pPr>
          </a:lstStyle>
          <a:p>
            <a:endParaRPr lang="en-US"/>
          </a:p>
        </p:txBody>
      </p:sp>
      <p:sp>
        <p:nvSpPr>
          <p:cNvPr id="5" name="Slide Number Placeholder 4"/>
          <p:cNvSpPr>
            <a:spLocks noGrp="1"/>
          </p:cNvSpPr>
          <p:nvPr>
            <p:ph type="sldNum" sz="quarter" idx="3"/>
          </p:nvPr>
        </p:nvSpPr>
        <p:spPr>
          <a:xfrm>
            <a:off x="3898102" y="8829967"/>
            <a:ext cx="2982119" cy="466433"/>
          </a:xfrm>
          <a:prstGeom prst="rect">
            <a:avLst/>
          </a:prstGeom>
        </p:spPr>
        <p:txBody>
          <a:bodyPr vert="horz" lIns="92446" tIns="46223" rIns="92446" bIns="46223" rtlCol="0" anchor="b"/>
          <a:lstStyle>
            <a:lvl1pPr algn="r">
              <a:defRPr sz="1200"/>
            </a:lvl1pPr>
          </a:lstStyle>
          <a:p>
            <a:fld id="{C134B82A-5292-FA40-A7FB-7C93D521ECD4}" type="slidenum">
              <a:rPr lang="en-US" smtClean="0"/>
              <a:t>‹#›</a:t>
            </a:fld>
            <a:endParaRPr lang="en-US"/>
          </a:p>
        </p:txBody>
      </p:sp>
    </p:spTree>
    <p:extLst>
      <p:ext uri="{BB962C8B-B14F-4D97-AF65-F5344CB8AC3E}">
        <p14:creationId xmlns:p14="http://schemas.microsoft.com/office/powerpoint/2010/main" val="8722660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6434"/>
          </a:xfrm>
          <a:prstGeom prst="rect">
            <a:avLst/>
          </a:prstGeom>
        </p:spPr>
        <p:txBody>
          <a:bodyPr vert="horz" lIns="92446" tIns="46223" rIns="92446" bIns="46223" rtlCol="0"/>
          <a:lstStyle>
            <a:lvl1pPr algn="l">
              <a:defRPr sz="1200"/>
            </a:lvl1pPr>
          </a:lstStyle>
          <a:p>
            <a:endParaRPr lang="en-US"/>
          </a:p>
        </p:txBody>
      </p:sp>
      <p:sp>
        <p:nvSpPr>
          <p:cNvPr id="3" name="Date Placeholder 2"/>
          <p:cNvSpPr>
            <a:spLocks noGrp="1"/>
          </p:cNvSpPr>
          <p:nvPr>
            <p:ph type="dt" idx="1"/>
          </p:nvPr>
        </p:nvSpPr>
        <p:spPr>
          <a:xfrm>
            <a:off x="3898102" y="0"/>
            <a:ext cx="2982119" cy="466434"/>
          </a:xfrm>
          <a:prstGeom prst="rect">
            <a:avLst/>
          </a:prstGeom>
        </p:spPr>
        <p:txBody>
          <a:bodyPr vert="horz" lIns="92446" tIns="46223" rIns="92446" bIns="46223" rtlCol="0"/>
          <a:lstStyle>
            <a:lvl1pPr algn="r">
              <a:defRPr sz="1200"/>
            </a:lvl1pPr>
          </a:lstStyle>
          <a:p>
            <a:fld id="{963D65B7-7862-7F47-B99E-B3AB2843FF42}" type="datetimeFigureOut">
              <a:rPr lang="en-US" smtClean="0"/>
              <a:t>1/30/2025</a:t>
            </a:fld>
            <a:endParaRPr lang="en-US"/>
          </a:p>
        </p:txBody>
      </p:sp>
      <p:sp>
        <p:nvSpPr>
          <p:cNvPr id="4" name="Slide Image Placeholder 3"/>
          <p:cNvSpPr>
            <a:spLocks noGrp="1" noRot="1" noChangeAspect="1"/>
          </p:cNvSpPr>
          <p:nvPr>
            <p:ph type="sldImg" idx="2"/>
          </p:nvPr>
        </p:nvSpPr>
        <p:spPr>
          <a:xfrm>
            <a:off x="654050" y="1162050"/>
            <a:ext cx="5575300" cy="3136900"/>
          </a:xfrm>
          <a:prstGeom prst="rect">
            <a:avLst/>
          </a:prstGeom>
          <a:noFill/>
          <a:ln w="12700">
            <a:solidFill>
              <a:prstClr val="black"/>
            </a:solidFill>
          </a:ln>
        </p:spPr>
        <p:txBody>
          <a:bodyPr vert="horz" lIns="92446" tIns="46223" rIns="92446" bIns="46223" rtlCol="0" anchor="ctr"/>
          <a:lstStyle/>
          <a:p>
            <a:endParaRPr lang="en-US"/>
          </a:p>
        </p:txBody>
      </p:sp>
      <p:sp>
        <p:nvSpPr>
          <p:cNvPr id="5" name="Notes Placeholder 4"/>
          <p:cNvSpPr>
            <a:spLocks noGrp="1"/>
          </p:cNvSpPr>
          <p:nvPr>
            <p:ph type="body" sz="quarter" idx="3"/>
          </p:nvPr>
        </p:nvSpPr>
        <p:spPr>
          <a:xfrm>
            <a:off x="688182" y="4473892"/>
            <a:ext cx="5505450" cy="3660458"/>
          </a:xfrm>
          <a:prstGeom prst="rect">
            <a:avLst/>
          </a:prstGeom>
        </p:spPr>
        <p:txBody>
          <a:bodyPr vert="horz" lIns="92446" tIns="46223" rIns="92446" bIns="4622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2982119" cy="466433"/>
          </a:xfrm>
          <a:prstGeom prst="rect">
            <a:avLst/>
          </a:prstGeom>
        </p:spPr>
        <p:txBody>
          <a:bodyPr vert="horz" lIns="92446" tIns="46223" rIns="92446" bIns="46223" rtlCol="0" anchor="b"/>
          <a:lstStyle>
            <a:lvl1pPr algn="l">
              <a:defRPr sz="1200"/>
            </a:lvl1pPr>
          </a:lstStyle>
          <a:p>
            <a:endParaRPr lang="en-US"/>
          </a:p>
        </p:txBody>
      </p:sp>
      <p:sp>
        <p:nvSpPr>
          <p:cNvPr id="7" name="Slide Number Placeholder 6"/>
          <p:cNvSpPr>
            <a:spLocks noGrp="1"/>
          </p:cNvSpPr>
          <p:nvPr>
            <p:ph type="sldNum" sz="quarter" idx="5"/>
          </p:nvPr>
        </p:nvSpPr>
        <p:spPr>
          <a:xfrm>
            <a:off x="3898102" y="8829967"/>
            <a:ext cx="2982119" cy="466433"/>
          </a:xfrm>
          <a:prstGeom prst="rect">
            <a:avLst/>
          </a:prstGeom>
        </p:spPr>
        <p:txBody>
          <a:bodyPr vert="horz" lIns="92446" tIns="46223" rIns="92446" bIns="46223" rtlCol="0" anchor="b"/>
          <a:lstStyle>
            <a:lvl1pPr algn="r">
              <a:defRPr sz="1200"/>
            </a:lvl1pPr>
          </a:lstStyle>
          <a:p>
            <a:fld id="{EEA2CE63-AE64-8646-9F3E-7DE0B8E53F29}" type="slidenum">
              <a:rPr lang="en-US" smtClean="0"/>
              <a:t>‹#›</a:t>
            </a:fld>
            <a:endParaRPr lang="en-US"/>
          </a:p>
        </p:txBody>
      </p:sp>
    </p:spTree>
    <p:extLst>
      <p:ext uri="{BB962C8B-B14F-4D97-AF65-F5344CB8AC3E}">
        <p14:creationId xmlns:p14="http://schemas.microsoft.com/office/powerpoint/2010/main" val="1415218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A2CE63-AE64-8646-9F3E-7DE0B8E53F29}" type="slidenum">
              <a:rPr lang="en-US" smtClean="0"/>
              <a:t>1</a:t>
            </a:fld>
            <a:endParaRPr lang="en-US"/>
          </a:p>
        </p:txBody>
      </p:sp>
    </p:spTree>
    <p:extLst>
      <p:ext uri="{BB962C8B-B14F-4D97-AF65-F5344CB8AC3E}">
        <p14:creationId xmlns:p14="http://schemas.microsoft.com/office/powerpoint/2010/main" val="1860172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A2CE63-AE64-8646-9F3E-7DE0B8E53F29}" type="slidenum">
              <a:rPr lang="en-US" smtClean="0"/>
              <a:t>2</a:t>
            </a:fld>
            <a:endParaRPr lang="en-US"/>
          </a:p>
        </p:txBody>
      </p:sp>
    </p:spTree>
    <p:extLst>
      <p:ext uri="{BB962C8B-B14F-4D97-AF65-F5344CB8AC3E}">
        <p14:creationId xmlns:p14="http://schemas.microsoft.com/office/powerpoint/2010/main" val="20466741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3"/>
          <p:cNvSpPr>
            <a:spLocks noGrp="1" noChangeArrowheads="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0873" indent="-287332">
              <a:spcBef>
                <a:spcPct val="30000"/>
              </a:spcBef>
              <a:defRPr sz="1200">
                <a:solidFill>
                  <a:schemeClr val="tx1"/>
                </a:solidFill>
                <a:latin typeface="Calibri" pitchFamily="34" charset="0"/>
              </a:defRPr>
            </a:lvl2pPr>
            <a:lvl3pPr marL="1154090" indent="-230183">
              <a:spcBef>
                <a:spcPct val="30000"/>
              </a:spcBef>
              <a:defRPr sz="1200">
                <a:solidFill>
                  <a:schemeClr val="tx1"/>
                </a:solidFill>
                <a:latin typeface="Calibri" pitchFamily="34" charset="0"/>
              </a:defRPr>
            </a:lvl3pPr>
            <a:lvl4pPr marL="1617630" indent="-230183">
              <a:spcBef>
                <a:spcPct val="30000"/>
              </a:spcBef>
              <a:defRPr sz="1200">
                <a:solidFill>
                  <a:schemeClr val="tx1"/>
                </a:solidFill>
                <a:latin typeface="Calibri" pitchFamily="34" charset="0"/>
              </a:defRPr>
            </a:lvl4pPr>
            <a:lvl5pPr marL="2079584" indent="-230183">
              <a:spcBef>
                <a:spcPct val="30000"/>
              </a:spcBef>
              <a:defRPr sz="1200">
                <a:solidFill>
                  <a:schemeClr val="tx1"/>
                </a:solidFill>
                <a:latin typeface="Calibri" pitchFamily="34" charset="0"/>
              </a:defRPr>
            </a:lvl5pPr>
            <a:lvl6pPr marL="2536775" indent="-230183" defTabSz="457191" eaLnBrk="0" fontAlgn="base" hangingPunct="0">
              <a:spcBef>
                <a:spcPct val="30000"/>
              </a:spcBef>
              <a:spcAft>
                <a:spcPct val="0"/>
              </a:spcAft>
              <a:defRPr sz="1200">
                <a:solidFill>
                  <a:schemeClr val="tx1"/>
                </a:solidFill>
                <a:latin typeface="Calibri" pitchFamily="34" charset="0"/>
              </a:defRPr>
            </a:lvl6pPr>
            <a:lvl7pPr marL="2993965" indent="-230183" defTabSz="457191" eaLnBrk="0" fontAlgn="base" hangingPunct="0">
              <a:spcBef>
                <a:spcPct val="30000"/>
              </a:spcBef>
              <a:spcAft>
                <a:spcPct val="0"/>
              </a:spcAft>
              <a:defRPr sz="1200">
                <a:solidFill>
                  <a:schemeClr val="tx1"/>
                </a:solidFill>
                <a:latin typeface="Calibri" pitchFamily="34" charset="0"/>
              </a:defRPr>
            </a:lvl7pPr>
            <a:lvl8pPr marL="3451157" indent="-230183" defTabSz="457191" eaLnBrk="0" fontAlgn="base" hangingPunct="0">
              <a:spcBef>
                <a:spcPct val="30000"/>
              </a:spcBef>
              <a:spcAft>
                <a:spcPct val="0"/>
              </a:spcAft>
              <a:defRPr sz="1200">
                <a:solidFill>
                  <a:schemeClr val="tx1"/>
                </a:solidFill>
                <a:latin typeface="Calibri" pitchFamily="34" charset="0"/>
              </a:defRPr>
            </a:lvl8pPr>
            <a:lvl9pPr marL="3908347" indent="-230183" defTabSz="457191" eaLnBrk="0" fontAlgn="base" hangingPunct="0">
              <a:spcBef>
                <a:spcPct val="30000"/>
              </a:spcBef>
              <a:spcAft>
                <a:spcPct val="0"/>
              </a:spcAft>
              <a:defRPr sz="1200">
                <a:solidFill>
                  <a:schemeClr val="tx1"/>
                </a:solidFill>
                <a:latin typeface="Calibri" pitchFamily="34" charset="0"/>
              </a:defRPr>
            </a:lvl9pPr>
          </a:lstStyle>
          <a:p>
            <a:pPr defTabSz="924458">
              <a:spcBef>
                <a:spcPct val="0"/>
              </a:spcBef>
              <a:defRPr/>
            </a:pPr>
            <a:r>
              <a:rPr lang="en-US" altLang="en-US">
                <a:solidFill>
                  <a:srgbClr val="000000"/>
                </a:solidFill>
                <a:latin typeface="Arial" pitchFamily="34" charset="0"/>
              </a:rPr>
              <a:t>Chapter 9 Decision Support Systems and Marketing Research</a:t>
            </a:r>
          </a:p>
        </p:txBody>
      </p:sp>
      <p:sp>
        <p:nvSpPr>
          <p:cNvPr id="104451"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0873" indent="-287332">
              <a:spcBef>
                <a:spcPct val="30000"/>
              </a:spcBef>
              <a:defRPr sz="1200">
                <a:solidFill>
                  <a:schemeClr val="tx1"/>
                </a:solidFill>
                <a:latin typeface="Calibri" pitchFamily="34" charset="0"/>
              </a:defRPr>
            </a:lvl2pPr>
            <a:lvl3pPr marL="1154090" indent="-230183">
              <a:spcBef>
                <a:spcPct val="30000"/>
              </a:spcBef>
              <a:defRPr sz="1200">
                <a:solidFill>
                  <a:schemeClr val="tx1"/>
                </a:solidFill>
                <a:latin typeface="Calibri" pitchFamily="34" charset="0"/>
              </a:defRPr>
            </a:lvl3pPr>
            <a:lvl4pPr marL="1617630" indent="-230183">
              <a:spcBef>
                <a:spcPct val="30000"/>
              </a:spcBef>
              <a:defRPr sz="1200">
                <a:solidFill>
                  <a:schemeClr val="tx1"/>
                </a:solidFill>
                <a:latin typeface="Calibri" pitchFamily="34" charset="0"/>
              </a:defRPr>
            </a:lvl4pPr>
            <a:lvl5pPr marL="2079584" indent="-230183">
              <a:spcBef>
                <a:spcPct val="30000"/>
              </a:spcBef>
              <a:defRPr sz="1200">
                <a:solidFill>
                  <a:schemeClr val="tx1"/>
                </a:solidFill>
                <a:latin typeface="Calibri" pitchFamily="34" charset="0"/>
              </a:defRPr>
            </a:lvl5pPr>
            <a:lvl6pPr marL="2536775" indent="-230183" defTabSz="457191" eaLnBrk="0" fontAlgn="base" hangingPunct="0">
              <a:spcBef>
                <a:spcPct val="30000"/>
              </a:spcBef>
              <a:spcAft>
                <a:spcPct val="0"/>
              </a:spcAft>
              <a:defRPr sz="1200">
                <a:solidFill>
                  <a:schemeClr val="tx1"/>
                </a:solidFill>
                <a:latin typeface="Calibri" pitchFamily="34" charset="0"/>
              </a:defRPr>
            </a:lvl6pPr>
            <a:lvl7pPr marL="2993965" indent="-230183" defTabSz="457191" eaLnBrk="0" fontAlgn="base" hangingPunct="0">
              <a:spcBef>
                <a:spcPct val="30000"/>
              </a:spcBef>
              <a:spcAft>
                <a:spcPct val="0"/>
              </a:spcAft>
              <a:defRPr sz="1200">
                <a:solidFill>
                  <a:schemeClr val="tx1"/>
                </a:solidFill>
                <a:latin typeface="Calibri" pitchFamily="34" charset="0"/>
              </a:defRPr>
            </a:lvl7pPr>
            <a:lvl8pPr marL="3451157" indent="-230183" defTabSz="457191" eaLnBrk="0" fontAlgn="base" hangingPunct="0">
              <a:spcBef>
                <a:spcPct val="30000"/>
              </a:spcBef>
              <a:spcAft>
                <a:spcPct val="0"/>
              </a:spcAft>
              <a:defRPr sz="1200">
                <a:solidFill>
                  <a:schemeClr val="tx1"/>
                </a:solidFill>
                <a:latin typeface="Calibri" pitchFamily="34" charset="0"/>
              </a:defRPr>
            </a:lvl8pPr>
            <a:lvl9pPr marL="3908347" indent="-230183" defTabSz="457191" eaLnBrk="0" fontAlgn="base" hangingPunct="0">
              <a:spcBef>
                <a:spcPct val="30000"/>
              </a:spcBef>
              <a:spcAft>
                <a:spcPct val="0"/>
              </a:spcAft>
              <a:defRPr sz="1200">
                <a:solidFill>
                  <a:schemeClr val="tx1"/>
                </a:solidFill>
                <a:latin typeface="Calibri" pitchFamily="34" charset="0"/>
              </a:defRPr>
            </a:lvl9pPr>
          </a:lstStyle>
          <a:p>
            <a:pPr defTabSz="924458">
              <a:spcBef>
                <a:spcPct val="0"/>
              </a:spcBef>
              <a:defRPr/>
            </a:pPr>
            <a:fld id="{53437379-86BC-4FA2-914B-4322BE7105B6}" type="slidenum">
              <a:rPr lang="en-US" altLang="en-US">
                <a:solidFill>
                  <a:srgbClr val="000000"/>
                </a:solidFill>
                <a:latin typeface="Arial" pitchFamily="34" charset="0"/>
              </a:rPr>
              <a:pPr defTabSz="924458">
                <a:spcBef>
                  <a:spcPct val="0"/>
                </a:spcBef>
                <a:defRPr/>
              </a:pPr>
              <a:t>3</a:t>
            </a:fld>
            <a:endParaRPr lang="en-US" altLang="en-US">
              <a:solidFill>
                <a:srgbClr val="000000"/>
              </a:solidFill>
              <a:latin typeface="Arial" pitchFamily="34" charset="0"/>
            </a:endParaRPr>
          </a:p>
        </p:txBody>
      </p:sp>
      <p:sp>
        <p:nvSpPr>
          <p:cNvPr id="104452" name="Rectangle 2"/>
          <p:cNvSpPr>
            <a:spLocks noGrp="1" noRot="1" noChangeAspect="1" noChangeArrowheads="1" noTextEdit="1"/>
          </p:cNvSpPr>
          <p:nvPr>
            <p:ph type="sldImg"/>
          </p:nvPr>
        </p:nvSpPr>
        <p:spPr bwMode="auto">
          <a:xfrm>
            <a:off x="654050" y="1162050"/>
            <a:ext cx="5575300" cy="31369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30183" indent="-230183"/>
            <a:endParaRPr lang="en-US" altLang="en-US"/>
          </a:p>
        </p:txBody>
      </p:sp>
    </p:spTree>
    <p:extLst>
      <p:ext uri="{BB962C8B-B14F-4D97-AF65-F5344CB8AC3E}">
        <p14:creationId xmlns:p14="http://schemas.microsoft.com/office/powerpoint/2010/main" val="34082475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3"/>
          <p:cNvSpPr>
            <a:spLocks noGrp="1" noChangeArrowheads="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0873" indent="-287332">
              <a:spcBef>
                <a:spcPct val="30000"/>
              </a:spcBef>
              <a:defRPr sz="1200">
                <a:solidFill>
                  <a:schemeClr val="tx1"/>
                </a:solidFill>
                <a:latin typeface="Calibri" pitchFamily="34" charset="0"/>
              </a:defRPr>
            </a:lvl2pPr>
            <a:lvl3pPr marL="1154090" indent="-230183">
              <a:spcBef>
                <a:spcPct val="30000"/>
              </a:spcBef>
              <a:defRPr sz="1200">
                <a:solidFill>
                  <a:schemeClr val="tx1"/>
                </a:solidFill>
                <a:latin typeface="Calibri" pitchFamily="34" charset="0"/>
              </a:defRPr>
            </a:lvl3pPr>
            <a:lvl4pPr marL="1617630" indent="-230183">
              <a:spcBef>
                <a:spcPct val="30000"/>
              </a:spcBef>
              <a:defRPr sz="1200">
                <a:solidFill>
                  <a:schemeClr val="tx1"/>
                </a:solidFill>
                <a:latin typeface="Calibri" pitchFamily="34" charset="0"/>
              </a:defRPr>
            </a:lvl4pPr>
            <a:lvl5pPr marL="2079584" indent="-230183">
              <a:spcBef>
                <a:spcPct val="30000"/>
              </a:spcBef>
              <a:defRPr sz="1200">
                <a:solidFill>
                  <a:schemeClr val="tx1"/>
                </a:solidFill>
                <a:latin typeface="Calibri" pitchFamily="34" charset="0"/>
              </a:defRPr>
            </a:lvl5pPr>
            <a:lvl6pPr marL="2536775" indent="-230183" defTabSz="457191" eaLnBrk="0" fontAlgn="base" hangingPunct="0">
              <a:spcBef>
                <a:spcPct val="30000"/>
              </a:spcBef>
              <a:spcAft>
                <a:spcPct val="0"/>
              </a:spcAft>
              <a:defRPr sz="1200">
                <a:solidFill>
                  <a:schemeClr val="tx1"/>
                </a:solidFill>
                <a:latin typeface="Calibri" pitchFamily="34" charset="0"/>
              </a:defRPr>
            </a:lvl6pPr>
            <a:lvl7pPr marL="2993965" indent="-230183" defTabSz="457191" eaLnBrk="0" fontAlgn="base" hangingPunct="0">
              <a:spcBef>
                <a:spcPct val="30000"/>
              </a:spcBef>
              <a:spcAft>
                <a:spcPct val="0"/>
              </a:spcAft>
              <a:defRPr sz="1200">
                <a:solidFill>
                  <a:schemeClr val="tx1"/>
                </a:solidFill>
                <a:latin typeface="Calibri" pitchFamily="34" charset="0"/>
              </a:defRPr>
            </a:lvl7pPr>
            <a:lvl8pPr marL="3451157" indent="-230183" defTabSz="457191" eaLnBrk="0" fontAlgn="base" hangingPunct="0">
              <a:spcBef>
                <a:spcPct val="30000"/>
              </a:spcBef>
              <a:spcAft>
                <a:spcPct val="0"/>
              </a:spcAft>
              <a:defRPr sz="1200">
                <a:solidFill>
                  <a:schemeClr val="tx1"/>
                </a:solidFill>
                <a:latin typeface="Calibri" pitchFamily="34" charset="0"/>
              </a:defRPr>
            </a:lvl8pPr>
            <a:lvl9pPr marL="3908347" indent="-230183" defTabSz="457191" eaLnBrk="0" fontAlgn="base" hangingPunct="0">
              <a:spcBef>
                <a:spcPct val="30000"/>
              </a:spcBef>
              <a:spcAft>
                <a:spcPct val="0"/>
              </a:spcAft>
              <a:defRPr sz="1200">
                <a:solidFill>
                  <a:schemeClr val="tx1"/>
                </a:solidFill>
                <a:latin typeface="Calibri" pitchFamily="34" charset="0"/>
              </a:defRPr>
            </a:lvl9pPr>
          </a:lstStyle>
          <a:p>
            <a:pPr defTabSz="924458">
              <a:spcBef>
                <a:spcPct val="0"/>
              </a:spcBef>
              <a:defRPr/>
            </a:pPr>
            <a:r>
              <a:rPr lang="en-US" altLang="en-US">
                <a:solidFill>
                  <a:srgbClr val="000000"/>
                </a:solidFill>
                <a:latin typeface="Arial" pitchFamily="34" charset="0"/>
              </a:rPr>
              <a:t>Chapter 9 Decision Support Systems and Marketing Research</a:t>
            </a:r>
          </a:p>
        </p:txBody>
      </p:sp>
      <p:sp>
        <p:nvSpPr>
          <p:cNvPr id="104451"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0873" indent="-287332">
              <a:spcBef>
                <a:spcPct val="30000"/>
              </a:spcBef>
              <a:defRPr sz="1200">
                <a:solidFill>
                  <a:schemeClr val="tx1"/>
                </a:solidFill>
                <a:latin typeface="Calibri" pitchFamily="34" charset="0"/>
              </a:defRPr>
            </a:lvl2pPr>
            <a:lvl3pPr marL="1154090" indent="-230183">
              <a:spcBef>
                <a:spcPct val="30000"/>
              </a:spcBef>
              <a:defRPr sz="1200">
                <a:solidFill>
                  <a:schemeClr val="tx1"/>
                </a:solidFill>
                <a:latin typeface="Calibri" pitchFamily="34" charset="0"/>
              </a:defRPr>
            </a:lvl3pPr>
            <a:lvl4pPr marL="1617630" indent="-230183">
              <a:spcBef>
                <a:spcPct val="30000"/>
              </a:spcBef>
              <a:defRPr sz="1200">
                <a:solidFill>
                  <a:schemeClr val="tx1"/>
                </a:solidFill>
                <a:latin typeface="Calibri" pitchFamily="34" charset="0"/>
              </a:defRPr>
            </a:lvl4pPr>
            <a:lvl5pPr marL="2079584" indent="-230183">
              <a:spcBef>
                <a:spcPct val="30000"/>
              </a:spcBef>
              <a:defRPr sz="1200">
                <a:solidFill>
                  <a:schemeClr val="tx1"/>
                </a:solidFill>
                <a:latin typeface="Calibri" pitchFamily="34" charset="0"/>
              </a:defRPr>
            </a:lvl5pPr>
            <a:lvl6pPr marL="2536775" indent="-230183" defTabSz="457191" eaLnBrk="0" fontAlgn="base" hangingPunct="0">
              <a:spcBef>
                <a:spcPct val="30000"/>
              </a:spcBef>
              <a:spcAft>
                <a:spcPct val="0"/>
              </a:spcAft>
              <a:defRPr sz="1200">
                <a:solidFill>
                  <a:schemeClr val="tx1"/>
                </a:solidFill>
                <a:latin typeface="Calibri" pitchFamily="34" charset="0"/>
              </a:defRPr>
            </a:lvl6pPr>
            <a:lvl7pPr marL="2993965" indent="-230183" defTabSz="457191" eaLnBrk="0" fontAlgn="base" hangingPunct="0">
              <a:spcBef>
                <a:spcPct val="30000"/>
              </a:spcBef>
              <a:spcAft>
                <a:spcPct val="0"/>
              </a:spcAft>
              <a:defRPr sz="1200">
                <a:solidFill>
                  <a:schemeClr val="tx1"/>
                </a:solidFill>
                <a:latin typeface="Calibri" pitchFamily="34" charset="0"/>
              </a:defRPr>
            </a:lvl7pPr>
            <a:lvl8pPr marL="3451157" indent="-230183" defTabSz="457191" eaLnBrk="0" fontAlgn="base" hangingPunct="0">
              <a:spcBef>
                <a:spcPct val="30000"/>
              </a:spcBef>
              <a:spcAft>
                <a:spcPct val="0"/>
              </a:spcAft>
              <a:defRPr sz="1200">
                <a:solidFill>
                  <a:schemeClr val="tx1"/>
                </a:solidFill>
                <a:latin typeface="Calibri" pitchFamily="34" charset="0"/>
              </a:defRPr>
            </a:lvl8pPr>
            <a:lvl9pPr marL="3908347" indent="-230183" defTabSz="457191" eaLnBrk="0" fontAlgn="base" hangingPunct="0">
              <a:spcBef>
                <a:spcPct val="30000"/>
              </a:spcBef>
              <a:spcAft>
                <a:spcPct val="0"/>
              </a:spcAft>
              <a:defRPr sz="1200">
                <a:solidFill>
                  <a:schemeClr val="tx1"/>
                </a:solidFill>
                <a:latin typeface="Calibri" pitchFamily="34" charset="0"/>
              </a:defRPr>
            </a:lvl9pPr>
          </a:lstStyle>
          <a:p>
            <a:pPr defTabSz="924458">
              <a:spcBef>
                <a:spcPct val="0"/>
              </a:spcBef>
              <a:defRPr/>
            </a:pPr>
            <a:fld id="{53437379-86BC-4FA2-914B-4322BE7105B6}" type="slidenum">
              <a:rPr lang="en-US" altLang="en-US">
                <a:solidFill>
                  <a:srgbClr val="000000"/>
                </a:solidFill>
                <a:latin typeface="Arial" pitchFamily="34" charset="0"/>
              </a:rPr>
              <a:pPr defTabSz="924458">
                <a:spcBef>
                  <a:spcPct val="0"/>
                </a:spcBef>
                <a:defRPr/>
              </a:pPr>
              <a:t>4</a:t>
            </a:fld>
            <a:endParaRPr lang="en-US" altLang="en-US">
              <a:solidFill>
                <a:srgbClr val="000000"/>
              </a:solidFill>
              <a:latin typeface="Arial" pitchFamily="34" charset="0"/>
            </a:endParaRPr>
          </a:p>
        </p:txBody>
      </p:sp>
      <p:sp>
        <p:nvSpPr>
          <p:cNvPr id="104452" name="Rectangle 2"/>
          <p:cNvSpPr>
            <a:spLocks noGrp="1" noRot="1" noChangeAspect="1" noChangeArrowheads="1" noTextEdit="1"/>
          </p:cNvSpPr>
          <p:nvPr>
            <p:ph type="sldImg"/>
          </p:nvPr>
        </p:nvSpPr>
        <p:spPr bwMode="auto">
          <a:xfrm>
            <a:off x="654050" y="1162050"/>
            <a:ext cx="5575300" cy="31369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30183" indent="-230183"/>
            <a:endParaRPr lang="en-US" altLang="en-US"/>
          </a:p>
        </p:txBody>
      </p:sp>
    </p:spTree>
    <p:extLst>
      <p:ext uri="{BB962C8B-B14F-4D97-AF65-F5344CB8AC3E}">
        <p14:creationId xmlns:p14="http://schemas.microsoft.com/office/powerpoint/2010/main" val="25666744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3"/>
          <p:cNvSpPr>
            <a:spLocks noGrp="1" noChangeArrowheads="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0873" indent="-287332">
              <a:spcBef>
                <a:spcPct val="30000"/>
              </a:spcBef>
              <a:defRPr sz="1200">
                <a:solidFill>
                  <a:schemeClr val="tx1"/>
                </a:solidFill>
                <a:latin typeface="Calibri" pitchFamily="34" charset="0"/>
              </a:defRPr>
            </a:lvl2pPr>
            <a:lvl3pPr marL="1154090" indent="-230183">
              <a:spcBef>
                <a:spcPct val="30000"/>
              </a:spcBef>
              <a:defRPr sz="1200">
                <a:solidFill>
                  <a:schemeClr val="tx1"/>
                </a:solidFill>
                <a:latin typeface="Calibri" pitchFamily="34" charset="0"/>
              </a:defRPr>
            </a:lvl3pPr>
            <a:lvl4pPr marL="1617630" indent="-230183">
              <a:spcBef>
                <a:spcPct val="30000"/>
              </a:spcBef>
              <a:defRPr sz="1200">
                <a:solidFill>
                  <a:schemeClr val="tx1"/>
                </a:solidFill>
                <a:latin typeface="Calibri" pitchFamily="34" charset="0"/>
              </a:defRPr>
            </a:lvl4pPr>
            <a:lvl5pPr marL="2079584" indent="-230183">
              <a:spcBef>
                <a:spcPct val="30000"/>
              </a:spcBef>
              <a:defRPr sz="1200">
                <a:solidFill>
                  <a:schemeClr val="tx1"/>
                </a:solidFill>
                <a:latin typeface="Calibri" pitchFamily="34" charset="0"/>
              </a:defRPr>
            </a:lvl5pPr>
            <a:lvl6pPr marL="2536775" indent="-230183" defTabSz="457191" eaLnBrk="0" fontAlgn="base" hangingPunct="0">
              <a:spcBef>
                <a:spcPct val="30000"/>
              </a:spcBef>
              <a:spcAft>
                <a:spcPct val="0"/>
              </a:spcAft>
              <a:defRPr sz="1200">
                <a:solidFill>
                  <a:schemeClr val="tx1"/>
                </a:solidFill>
                <a:latin typeface="Calibri" pitchFamily="34" charset="0"/>
              </a:defRPr>
            </a:lvl6pPr>
            <a:lvl7pPr marL="2993965" indent="-230183" defTabSz="457191" eaLnBrk="0" fontAlgn="base" hangingPunct="0">
              <a:spcBef>
                <a:spcPct val="30000"/>
              </a:spcBef>
              <a:spcAft>
                <a:spcPct val="0"/>
              </a:spcAft>
              <a:defRPr sz="1200">
                <a:solidFill>
                  <a:schemeClr val="tx1"/>
                </a:solidFill>
                <a:latin typeface="Calibri" pitchFamily="34" charset="0"/>
              </a:defRPr>
            </a:lvl7pPr>
            <a:lvl8pPr marL="3451157" indent="-230183" defTabSz="457191" eaLnBrk="0" fontAlgn="base" hangingPunct="0">
              <a:spcBef>
                <a:spcPct val="30000"/>
              </a:spcBef>
              <a:spcAft>
                <a:spcPct val="0"/>
              </a:spcAft>
              <a:defRPr sz="1200">
                <a:solidFill>
                  <a:schemeClr val="tx1"/>
                </a:solidFill>
                <a:latin typeface="Calibri" pitchFamily="34" charset="0"/>
              </a:defRPr>
            </a:lvl8pPr>
            <a:lvl9pPr marL="3908347" indent="-230183" defTabSz="457191" eaLnBrk="0" fontAlgn="base" hangingPunct="0">
              <a:spcBef>
                <a:spcPct val="30000"/>
              </a:spcBef>
              <a:spcAft>
                <a:spcPct val="0"/>
              </a:spcAft>
              <a:defRPr sz="1200">
                <a:solidFill>
                  <a:schemeClr val="tx1"/>
                </a:solidFill>
                <a:latin typeface="Calibri" pitchFamily="34" charset="0"/>
              </a:defRPr>
            </a:lvl9pPr>
          </a:lstStyle>
          <a:p>
            <a:pPr defTabSz="924458">
              <a:spcBef>
                <a:spcPct val="0"/>
              </a:spcBef>
              <a:defRPr/>
            </a:pPr>
            <a:r>
              <a:rPr lang="en-US" altLang="en-US">
                <a:solidFill>
                  <a:srgbClr val="000000"/>
                </a:solidFill>
                <a:latin typeface="Arial" pitchFamily="34" charset="0"/>
              </a:rPr>
              <a:t>Chapter 9 Decision Support Systems and Marketing Research</a:t>
            </a:r>
          </a:p>
        </p:txBody>
      </p:sp>
      <p:sp>
        <p:nvSpPr>
          <p:cNvPr id="104451"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0873" indent="-287332">
              <a:spcBef>
                <a:spcPct val="30000"/>
              </a:spcBef>
              <a:defRPr sz="1200">
                <a:solidFill>
                  <a:schemeClr val="tx1"/>
                </a:solidFill>
                <a:latin typeface="Calibri" pitchFamily="34" charset="0"/>
              </a:defRPr>
            </a:lvl2pPr>
            <a:lvl3pPr marL="1154090" indent="-230183">
              <a:spcBef>
                <a:spcPct val="30000"/>
              </a:spcBef>
              <a:defRPr sz="1200">
                <a:solidFill>
                  <a:schemeClr val="tx1"/>
                </a:solidFill>
                <a:latin typeface="Calibri" pitchFamily="34" charset="0"/>
              </a:defRPr>
            </a:lvl3pPr>
            <a:lvl4pPr marL="1617630" indent="-230183">
              <a:spcBef>
                <a:spcPct val="30000"/>
              </a:spcBef>
              <a:defRPr sz="1200">
                <a:solidFill>
                  <a:schemeClr val="tx1"/>
                </a:solidFill>
                <a:latin typeface="Calibri" pitchFamily="34" charset="0"/>
              </a:defRPr>
            </a:lvl4pPr>
            <a:lvl5pPr marL="2079584" indent="-230183">
              <a:spcBef>
                <a:spcPct val="30000"/>
              </a:spcBef>
              <a:defRPr sz="1200">
                <a:solidFill>
                  <a:schemeClr val="tx1"/>
                </a:solidFill>
                <a:latin typeface="Calibri" pitchFamily="34" charset="0"/>
              </a:defRPr>
            </a:lvl5pPr>
            <a:lvl6pPr marL="2536775" indent="-230183" defTabSz="457191" eaLnBrk="0" fontAlgn="base" hangingPunct="0">
              <a:spcBef>
                <a:spcPct val="30000"/>
              </a:spcBef>
              <a:spcAft>
                <a:spcPct val="0"/>
              </a:spcAft>
              <a:defRPr sz="1200">
                <a:solidFill>
                  <a:schemeClr val="tx1"/>
                </a:solidFill>
                <a:latin typeface="Calibri" pitchFamily="34" charset="0"/>
              </a:defRPr>
            </a:lvl6pPr>
            <a:lvl7pPr marL="2993965" indent="-230183" defTabSz="457191" eaLnBrk="0" fontAlgn="base" hangingPunct="0">
              <a:spcBef>
                <a:spcPct val="30000"/>
              </a:spcBef>
              <a:spcAft>
                <a:spcPct val="0"/>
              </a:spcAft>
              <a:defRPr sz="1200">
                <a:solidFill>
                  <a:schemeClr val="tx1"/>
                </a:solidFill>
                <a:latin typeface="Calibri" pitchFamily="34" charset="0"/>
              </a:defRPr>
            </a:lvl7pPr>
            <a:lvl8pPr marL="3451157" indent="-230183" defTabSz="457191" eaLnBrk="0" fontAlgn="base" hangingPunct="0">
              <a:spcBef>
                <a:spcPct val="30000"/>
              </a:spcBef>
              <a:spcAft>
                <a:spcPct val="0"/>
              </a:spcAft>
              <a:defRPr sz="1200">
                <a:solidFill>
                  <a:schemeClr val="tx1"/>
                </a:solidFill>
                <a:latin typeface="Calibri" pitchFamily="34" charset="0"/>
              </a:defRPr>
            </a:lvl8pPr>
            <a:lvl9pPr marL="3908347" indent="-230183" defTabSz="457191" eaLnBrk="0" fontAlgn="base" hangingPunct="0">
              <a:spcBef>
                <a:spcPct val="30000"/>
              </a:spcBef>
              <a:spcAft>
                <a:spcPct val="0"/>
              </a:spcAft>
              <a:defRPr sz="1200">
                <a:solidFill>
                  <a:schemeClr val="tx1"/>
                </a:solidFill>
                <a:latin typeface="Calibri" pitchFamily="34" charset="0"/>
              </a:defRPr>
            </a:lvl9pPr>
          </a:lstStyle>
          <a:p>
            <a:pPr defTabSz="924458">
              <a:spcBef>
                <a:spcPct val="0"/>
              </a:spcBef>
              <a:defRPr/>
            </a:pPr>
            <a:fld id="{53437379-86BC-4FA2-914B-4322BE7105B6}" type="slidenum">
              <a:rPr lang="en-US" altLang="en-US">
                <a:solidFill>
                  <a:srgbClr val="000000"/>
                </a:solidFill>
                <a:latin typeface="Arial" pitchFamily="34" charset="0"/>
              </a:rPr>
              <a:pPr defTabSz="924458">
                <a:spcBef>
                  <a:spcPct val="0"/>
                </a:spcBef>
                <a:defRPr/>
              </a:pPr>
              <a:t>5</a:t>
            </a:fld>
            <a:endParaRPr lang="en-US" altLang="en-US">
              <a:solidFill>
                <a:srgbClr val="000000"/>
              </a:solidFill>
              <a:latin typeface="Arial" pitchFamily="34" charset="0"/>
            </a:endParaRPr>
          </a:p>
        </p:txBody>
      </p:sp>
      <p:sp>
        <p:nvSpPr>
          <p:cNvPr id="104452" name="Rectangle 2"/>
          <p:cNvSpPr>
            <a:spLocks noGrp="1" noRot="1" noChangeAspect="1" noChangeArrowheads="1" noTextEdit="1"/>
          </p:cNvSpPr>
          <p:nvPr>
            <p:ph type="sldImg"/>
          </p:nvPr>
        </p:nvSpPr>
        <p:spPr bwMode="auto">
          <a:xfrm>
            <a:off x="654050" y="1162050"/>
            <a:ext cx="5575300" cy="31369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30183" indent="-230183"/>
            <a:endParaRPr lang="en-US" altLang="en-US"/>
          </a:p>
        </p:txBody>
      </p:sp>
    </p:spTree>
    <p:extLst>
      <p:ext uri="{BB962C8B-B14F-4D97-AF65-F5344CB8AC3E}">
        <p14:creationId xmlns:p14="http://schemas.microsoft.com/office/powerpoint/2010/main" val="1811980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A2CE63-AE64-8646-9F3E-7DE0B8E53F29}" type="slidenum">
              <a:rPr lang="en-US" smtClean="0"/>
              <a:t>18</a:t>
            </a:fld>
            <a:endParaRPr lang="en-US"/>
          </a:p>
        </p:txBody>
      </p:sp>
    </p:spTree>
    <p:extLst>
      <p:ext uri="{BB962C8B-B14F-4D97-AF65-F5344CB8AC3E}">
        <p14:creationId xmlns:p14="http://schemas.microsoft.com/office/powerpoint/2010/main" val="5433019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A2CE63-AE64-8646-9F3E-7DE0B8E53F29}" type="slidenum">
              <a:rPr lang="en-US" smtClean="0"/>
              <a:t>35</a:t>
            </a:fld>
            <a:endParaRPr lang="en-US"/>
          </a:p>
        </p:txBody>
      </p:sp>
    </p:spTree>
    <p:extLst>
      <p:ext uri="{BB962C8B-B14F-4D97-AF65-F5344CB8AC3E}">
        <p14:creationId xmlns:p14="http://schemas.microsoft.com/office/powerpoint/2010/main" val="859645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4100734-FF99-944C-8656-684769A3B86B}" type="datetimeFigureOut">
              <a:rPr lang="en-US" smtClean="0"/>
              <a:t>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112992898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100734-FF99-944C-8656-684769A3B86B}" type="datetimeFigureOut">
              <a:rPr lang="en-US" smtClean="0"/>
              <a:t>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153400" y="631190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165019486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4100734-FF99-944C-8656-684769A3B86B}" type="datetimeFigureOut">
              <a:rPr lang="en-US" smtClean="0"/>
              <a:t>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374295" y="635635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7382866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4100734-FF99-944C-8656-684769A3B86B}" type="datetimeFigureOut">
              <a:rPr lang="en-US" smtClean="0"/>
              <a:t>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153400" y="635635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174029152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4100734-FF99-944C-8656-684769A3B86B}" type="datetimeFigureOut">
              <a:rPr lang="en-US" smtClean="0"/>
              <a:t>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8153400" y="635635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35245576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4100734-FF99-944C-8656-684769A3B86B}" type="datetimeFigureOut">
              <a:rPr lang="en-US" smtClean="0"/>
              <a:t>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8230456" y="635635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96411031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100734-FF99-944C-8656-684769A3B86B}" type="datetimeFigureOut">
              <a:rPr lang="en-US" smtClean="0"/>
              <a:t>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8153400" y="6373545"/>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103794759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4100734-FF99-944C-8656-684769A3B86B}" type="datetimeFigureOut">
              <a:rPr lang="en-US" smtClean="0"/>
              <a:t>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269288" y="6373545"/>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77548054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4100734-FF99-944C-8656-684769A3B86B}" type="datetimeFigureOut">
              <a:rPr lang="en-US" smtClean="0"/>
              <a:t>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353746" y="6356349"/>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42333340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100734-FF99-944C-8656-684769A3B86B}" type="datetimeFigureOut">
              <a:rPr lang="en-US" smtClean="0"/>
              <a:t>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153400" y="6349643"/>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35113128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100734-FF99-944C-8656-684769A3B86B}" type="datetimeFigureOut">
              <a:rPr lang="en-US" smtClean="0"/>
              <a:t>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3E6DFB-264B-4D4C-9468-2A87659EAF58}" type="slidenum">
              <a:rPr lang="en-US" smtClean="0"/>
              <a:t>‹#›</a:t>
            </a:fld>
            <a:endParaRPr lang="en-US"/>
          </a:p>
        </p:txBody>
      </p:sp>
    </p:spTree>
    <p:extLst>
      <p:ext uri="{BB962C8B-B14F-4D97-AF65-F5344CB8AC3E}">
        <p14:creationId xmlns:p14="http://schemas.microsoft.com/office/powerpoint/2010/main" val="17851226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3000" b="-3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100734-FF99-944C-8656-684769A3B86B}" type="datetimeFigureOut">
              <a:rPr lang="en-US" smtClean="0"/>
              <a:t>1/30/2025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3E6DFB-264B-4D4C-9468-2A87659EAF58}" type="slidenum">
              <a:rPr lang="en-US" smtClean="0"/>
              <a:t>‹#›</a:t>
            </a:fld>
            <a:endParaRPr lang="en-US"/>
          </a:p>
        </p:txBody>
      </p:sp>
    </p:spTree>
    <p:extLst>
      <p:ext uri="{BB962C8B-B14F-4D97-AF65-F5344CB8AC3E}">
        <p14:creationId xmlns:p14="http://schemas.microsoft.com/office/powerpoint/2010/main" val="17366323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hyperlink" Target="https://libguides.xavier.edu/az.php"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www.circana.com/" TargetMode="External"/><Relationship Id="rId2" Type="http://schemas.openxmlformats.org/officeDocument/2006/relationships/hyperlink" Target="https://nielseniq.com/global/en/landing-page/byzzer/?utm_source=google&amp;utm_campaign=CMP-03129-Q0B9R&amp;utm_medium=paidsearch-branded&amp;gad_source=1&amp;gclid=Cj0KCQiAwbitBhDIARIsABfFYIKEteAebRG6seMdBqZojzOKTC37G_IHmpMXtDs6HjMH3MSOqzYAbUoaAgHrEALw_wcB" TargetMode="External"/><Relationship Id="rId1" Type="http://schemas.openxmlformats.org/officeDocument/2006/relationships/slideLayout" Target="../slideLayouts/slideLayout6.xml"/><Relationship Id="rId4" Type="http://schemas.openxmlformats.org/officeDocument/2006/relationships/hyperlink" Target="http://www.8451.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claritas360.claritas.com/mybestsegments/#zipLookup"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nielsen.com/data-center/top-ten/"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hyperlink" Target="https://www.gfkmrismartsystem.com/home.aspx"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dunnhumby.com/case-studies/using-data-science-to-improve-pricing-competitiveness-of-fresh-beef-category/" TargetMode="Externa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ww.ted.com/talks/nicholas_christakis_how_social_networks_predict_epidemics"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inc.com/geoffrey-james/how-to-write-a-compelling-executive-summary.html" TargetMode="External"/><Relationship Id="rId2" Type="http://schemas.openxmlformats.org/officeDocument/2006/relationships/hyperlink" Target="https://www.inc.com/guides/2010/09/how-to-write-an-executive-summary.html" TargetMode="External"/><Relationship Id="rId1" Type="http://schemas.openxmlformats.org/officeDocument/2006/relationships/slideLayout" Target="../slideLayouts/slideLayout2.xml"/><Relationship Id="rId6" Type="http://schemas.openxmlformats.org/officeDocument/2006/relationships/hyperlink" Target="https://www.pinterest.com/maksymbilyj/executive-summary/?lp=true" TargetMode="External"/><Relationship Id="rId5" Type="http://schemas.openxmlformats.org/officeDocument/2006/relationships/hyperlink" Target="https://guykawasaki.com/the_art_of_the_-3/" TargetMode="External"/><Relationship Id="rId4" Type="http://schemas.openxmlformats.org/officeDocument/2006/relationships/hyperlink" Target="https://www.aresearchguide.com/write-an-executive-summary.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8072" y="969962"/>
            <a:ext cx="9144000" cy="2706687"/>
          </a:xfrm>
        </p:spPr>
        <p:txBody>
          <a:bodyPr/>
          <a:lstStyle/>
          <a:p>
            <a:r>
              <a:rPr lang="en-US" b="1" dirty="0">
                <a:solidFill>
                  <a:srgbClr val="001541"/>
                </a:solidFill>
              </a:rPr>
              <a:t>Secondary Data</a:t>
            </a:r>
          </a:p>
        </p:txBody>
      </p:sp>
      <p:sp>
        <p:nvSpPr>
          <p:cNvPr id="8" name="Subtitle 2"/>
          <p:cNvSpPr>
            <a:spLocks noGrp="1"/>
          </p:cNvSpPr>
          <p:nvPr>
            <p:ph type="subTitle" idx="1"/>
          </p:nvPr>
        </p:nvSpPr>
        <p:spPr>
          <a:xfrm>
            <a:off x="870857" y="3749447"/>
            <a:ext cx="9144000" cy="1655762"/>
          </a:xfrm>
        </p:spPr>
        <p:txBody>
          <a:bodyPr/>
          <a:lstStyle/>
          <a:p>
            <a:r>
              <a:rPr lang="en-US" b="1" dirty="0">
                <a:solidFill>
                  <a:srgbClr val="009CC8"/>
                </a:solidFill>
              </a:rPr>
              <a:t>MKTG 302-01</a:t>
            </a:r>
          </a:p>
          <a:p>
            <a:r>
              <a:rPr lang="en-US" b="1" dirty="0">
                <a:solidFill>
                  <a:srgbClr val="009CC8"/>
                </a:solidFill>
              </a:rPr>
              <a:t>Spring Semester, 2025</a:t>
            </a:r>
          </a:p>
          <a:p>
            <a:r>
              <a:rPr lang="en-US" b="1" dirty="0">
                <a:solidFill>
                  <a:srgbClr val="009CC8"/>
                </a:solidFill>
              </a:rPr>
              <a:t>Prof. Scott Beck</a:t>
            </a:r>
          </a:p>
        </p:txBody>
      </p:sp>
    </p:spTree>
    <p:extLst>
      <p:ext uri="{BB962C8B-B14F-4D97-AF65-F5344CB8AC3E}">
        <p14:creationId xmlns:p14="http://schemas.microsoft.com/office/powerpoint/2010/main" val="51856047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98716" y="669925"/>
            <a:ext cx="9154885" cy="1325563"/>
          </a:xfrm>
        </p:spPr>
        <p:txBody>
          <a:bodyPr/>
          <a:lstStyle/>
          <a:p>
            <a:r>
              <a:rPr lang="en-US" dirty="0">
                <a:solidFill>
                  <a:srgbClr val="001541"/>
                </a:solidFill>
                <a:latin typeface="+mn-lt"/>
              </a:rPr>
              <a:t>Click to add title</a:t>
            </a:r>
          </a:p>
        </p:txBody>
      </p:sp>
      <p:sp>
        <p:nvSpPr>
          <p:cNvPr id="3" name="Content Placeholder 2"/>
          <p:cNvSpPr>
            <a:spLocks noGrp="1"/>
          </p:cNvSpPr>
          <p:nvPr>
            <p:ph idx="1"/>
          </p:nvPr>
        </p:nvSpPr>
        <p:spPr>
          <a:xfrm>
            <a:off x="598716" y="2130425"/>
            <a:ext cx="9154885" cy="4351338"/>
          </a:xfrm>
        </p:spPr>
        <p:txBody>
          <a:bodyPr/>
          <a:lstStyle/>
          <a:p>
            <a:r>
              <a:rPr lang="en-US" dirty="0">
                <a:solidFill>
                  <a:srgbClr val="009CC8"/>
                </a:solidFill>
              </a:rPr>
              <a:t>Click to add text</a:t>
            </a:r>
          </a:p>
        </p:txBody>
      </p:sp>
    </p:spTree>
    <p:extLst>
      <p:ext uri="{BB962C8B-B14F-4D97-AF65-F5344CB8AC3E}">
        <p14:creationId xmlns:p14="http://schemas.microsoft.com/office/powerpoint/2010/main" val="100819799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itchFamily="34" charset="0"/>
              <a:buChar char="•"/>
              <a:defRPr sz="3200">
                <a:solidFill>
                  <a:schemeClr val="tx1"/>
                </a:solidFill>
                <a:latin typeface="Calibri" pitchFamily="34" charset="0"/>
                <a:ea typeface="Geneva"/>
                <a:cs typeface="Geneva"/>
              </a:defRPr>
            </a:lvl1pPr>
            <a:lvl2pPr marL="742950" indent="-285750">
              <a:spcBef>
                <a:spcPct val="20000"/>
              </a:spcBef>
              <a:buFont typeface="Arial" pitchFamily="34" charset="0"/>
              <a:buChar char="–"/>
              <a:defRPr sz="2800">
                <a:solidFill>
                  <a:schemeClr val="tx1"/>
                </a:solidFill>
                <a:latin typeface="Calibri" pitchFamily="34" charset="0"/>
                <a:ea typeface="Geneva"/>
                <a:cs typeface="Geneva"/>
              </a:defRPr>
            </a:lvl2pPr>
            <a:lvl3pPr marL="1143000" indent="-228600">
              <a:spcBef>
                <a:spcPct val="20000"/>
              </a:spcBef>
              <a:buFont typeface="Arial" pitchFamily="34" charset="0"/>
              <a:buChar char="•"/>
              <a:defRPr sz="2400">
                <a:solidFill>
                  <a:schemeClr val="tx1"/>
                </a:solidFill>
                <a:latin typeface="Calibri" pitchFamily="34" charset="0"/>
                <a:ea typeface="Geneva"/>
                <a:cs typeface="Geneva"/>
              </a:defRPr>
            </a:lvl3pPr>
            <a:lvl4pPr marL="1600200" indent="-228600">
              <a:spcBef>
                <a:spcPct val="20000"/>
              </a:spcBef>
              <a:buFont typeface="Arial" pitchFamily="34" charset="0"/>
              <a:buChar char="–"/>
              <a:defRPr sz="2000">
                <a:solidFill>
                  <a:schemeClr val="tx1"/>
                </a:solidFill>
                <a:latin typeface="Calibri" pitchFamily="34" charset="0"/>
                <a:ea typeface="Geneva"/>
                <a:cs typeface="Geneva"/>
              </a:defRPr>
            </a:lvl4pPr>
            <a:lvl5pPr marL="2057400" indent="-228600">
              <a:spcBef>
                <a:spcPct val="20000"/>
              </a:spcBef>
              <a:buFont typeface="Arial" pitchFamily="34" charset="0"/>
              <a:buChar char="»"/>
              <a:defRPr sz="2000">
                <a:solidFill>
                  <a:schemeClr val="tx1"/>
                </a:solidFill>
                <a:latin typeface="Calibri" pitchFamily="34" charset="0"/>
                <a:ea typeface="Geneva"/>
                <a:cs typeface="Geneva"/>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92AE86FE-CC4A-4BDD-8E7B-D334D15973BB}" type="slidenum">
              <a:rPr kumimoji="0" lang="en-US" altLang="en-US" sz="1400" b="0" i="0" u="none" strike="noStrike" kern="1200" cap="none" spc="0" normalizeH="0" baseline="0" noProof="0" smtClean="0">
                <a:ln>
                  <a:noFill/>
                </a:ln>
                <a:solidFill>
                  <a:prstClr val="white"/>
                </a:solidFill>
                <a:effectLst/>
                <a:uLnTx/>
                <a:uFillTx/>
                <a:latin typeface="Arial" pitchFamily="34" charset="0"/>
              </a:rPr>
              <a:pPr marL="0" marR="0" lvl="0" indent="0" algn="r" defTabSz="914400" rtl="0" eaLnBrk="1" fontAlgn="auto" latinLnBrk="0" hangingPunct="1">
                <a:lnSpc>
                  <a:spcPct val="100000"/>
                </a:lnSpc>
                <a:spcBef>
                  <a:spcPct val="0"/>
                </a:spcBef>
                <a:spcAft>
                  <a:spcPts val="0"/>
                </a:spcAft>
                <a:buClrTx/>
                <a:buSzTx/>
                <a:buFontTx/>
                <a:buNone/>
                <a:tabLst/>
                <a:defRPr/>
              </a:pPr>
              <a:t>3</a:t>
            </a:fld>
            <a:endParaRPr kumimoji="0" lang="en-US" altLang="en-US" sz="1400" b="0" i="0" u="none" strike="noStrike" kern="1200" cap="none" spc="0" normalizeH="0" baseline="0" noProof="0">
              <a:ln>
                <a:noFill/>
              </a:ln>
              <a:solidFill>
                <a:prstClr val="white"/>
              </a:solidFill>
              <a:effectLst/>
              <a:uLnTx/>
              <a:uFillTx/>
              <a:latin typeface="Arial" pitchFamily="34" charset="0"/>
            </a:endParaRPr>
          </a:p>
        </p:txBody>
      </p:sp>
      <p:sp>
        <p:nvSpPr>
          <p:cNvPr id="68611" name="Rectangle 2"/>
          <p:cNvSpPr>
            <a:spLocks noGrp="1" noChangeArrowheads="1"/>
          </p:cNvSpPr>
          <p:nvPr>
            <p:ph type="title" idx="4294967295"/>
          </p:nvPr>
        </p:nvSpPr>
        <p:spPr>
          <a:xfrm>
            <a:off x="243773" y="199460"/>
            <a:ext cx="9229000" cy="762000"/>
          </a:xfrm>
        </p:spPr>
        <p:txBody>
          <a:bodyPr>
            <a:noAutofit/>
          </a:bodyPr>
          <a:lstStyle/>
          <a:p>
            <a:pPr eaLnBrk="1" hangingPunct="1"/>
            <a:r>
              <a:rPr lang="en-US" altLang="en-US" sz="4000" dirty="0">
                <a:latin typeface="+mn-lt"/>
                <a:ea typeface="Geneva"/>
                <a:cs typeface="Geneva"/>
              </a:rPr>
              <a:t>An update on your project …</a:t>
            </a:r>
          </a:p>
        </p:txBody>
      </p:sp>
      <p:sp>
        <p:nvSpPr>
          <p:cNvPr id="15365" name="Rectangle 20"/>
          <p:cNvSpPr>
            <a:spLocks noChangeArrowheads="1"/>
          </p:cNvSpPr>
          <p:nvPr/>
        </p:nvSpPr>
        <p:spPr bwMode="auto">
          <a:xfrm>
            <a:off x="802739" y="1216402"/>
            <a:ext cx="8111067" cy="3840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 typeface="Arial" charset="0"/>
              <a:buNone/>
              <a:tabLst/>
              <a:defRPr/>
            </a:pPr>
            <a:r>
              <a:rPr kumimoji="0" lang="en-US" sz="3600" b="0" i="0" u="none" strike="noStrike" kern="1200" cap="none" spc="0" normalizeH="0" baseline="0" noProof="0" dirty="0">
                <a:ln>
                  <a:noFill/>
                </a:ln>
                <a:solidFill>
                  <a:schemeClr val="accent5"/>
                </a:solidFill>
                <a:effectLst/>
                <a:uLnTx/>
                <a:uFillTx/>
                <a:latin typeface="Calibri" panose="020F0502020204030204"/>
                <a:ea typeface="+mn-ea"/>
                <a:cs typeface="+mn-cs"/>
              </a:rPr>
              <a:t>You will focus on the Cincinnati Reds:</a:t>
            </a:r>
          </a:p>
          <a:p>
            <a:pPr marL="457200" marR="0" lvl="0" indent="-45720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chemeClr val="accent5"/>
                </a:solidFill>
                <a:effectLst/>
                <a:uLnTx/>
                <a:uFillTx/>
                <a:latin typeface="Calibri" panose="020F0502020204030204"/>
                <a:ea typeface="+mn-ea"/>
                <a:cs typeface="+mn-cs"/>
              </a:rPr>
              <a:t>Looking at Gen-Z as the target,</a:t>
            </a:r>
          </a:p>
          <a:p>
            <a:pPr marL="457200" marR="0" lvl="0" indent="-4572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3200" dirty="0">
                <a:solidFill>
                  <a:schemeClr val="accent5"/>
                </a:solidFill>
                <a:latin typeface="Calibri" panose="020F0502020204030204"/>
              </a:rPr>
              <a:t>Who’s doing it well (Cincinnati attractions),</a:t>
            </a:r>
          </a:p>
          <a:p>
            <a:pPr marL="457200" marR="0" lvl="0" indent="-4572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3200" dirty="0">
                <a:solidFill>
                  <a:schemeClr val="accent5"/>
                </a:solidFill>
                <a:latin typeface="Calibri" panose="020F0502020204030204"/>
              </a:rPr>
              <a:t>How are other companies trying to survive and thrive,</a:t>
            </a:r>
          </a:p>
          <a:p>
            <a:pPr marL="457200" marR="0" lvl="0" indent="-4572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3200" dirty="0">
                <a:solidFill>
                  <a:schemeClr val="accent5"/>
                </a:solidFill>
                <a:latin typeface="Calibri" panose="020F0502020204030204"/>
              </a:rPr>
              <a:t>Why is Gen-Z not as interested in MLB,</a:t>
            </a:r>
          </a:p>
          <a:p>
            <a:pPr marL="457200" marR="0" lvl="0" indent="-4572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3200" dirty="0">
                <a:solidFill>
                  <a:schemeClr val="accent5"/>
                </a:solidFill>
                <a:latin typeface="Calibri" panose="020F0502020204030204"/>
              </a:rPr>
              <a:t>Not necessarily alcohol – related …</a:t>
            </a:r>
            <a:endParaRPr lang="en-US" sz="3200" dirty="0">
              <a:solidFill>
                <a:srgbClr val="00B050"/>
              </a:solidFill>
              <a:latin typeface="Calibri" panose="020F0502020204030204"/>
            </a:endParaRPr>
          </a:p>
          <a:p>
            <a:pPr marL="457200" marR="0" lvl="0" indent="-45720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accent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6826903"/>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itchFamily="34" charset="0"/>
              <a:buChar char="•"/>
              <a:defRPr sz="3200">
                <a:solidFill>
                  <a:schemeClr val="tx1"/>
                </a:solidFill>
                <a:latin typeface="Calibri" pitchFamily="34" charset="0"/>
                <a:ea typeface="Geneva"/>
                <a:cs typeface="Geneva"/>
              </a:defRPr>
            </a:lvl1pPr>
            <a:lvl2pPr marL="742950" indent="-285750">
              <a:spcBef>
                <a:spcPct val="20000"/>
              </a:spcBef>
              <a:buFont typeface="Arial" pitchFamily="34" charset="0"/>
              <a:buChar char="–"/>
              <a:defRPr sz="2800">
                <a:solidFill>
                  <a:schemeClr val="tx1"/>
                </a:solidFill>
                <a:latin typeface="Calibri" pitchFamily="34" charset="0"/>
                <a:ea typeface="Geneva"/>
                <a:cs typeface="Geneva"/>
              </a:defRPr>
            </a:lvl2pPr>
            <a:lvl3pPr marL="1143000" indent="-228600">
              <a:spcBef>
                <a:spcPct val="20000"/>
              </a:spcBef>
              <a:buFont typeface="Arial" pitchFamily="34" charset="0"/>
              <a:buChar char="•"/>
              <a:defRPr sz="2400">
                <a:solidFill>
                  <a:schemeClr val="tx1"/>
                </a:solidFill>
                <a:latin typeface="Calibri" pitchFamily="34" charset="0"/>
                <a:ea typeface="Geneva"/>
                <a:cs typeface="Geneva"/>
              </a:defRPr>
            </a:lvl3pPr>
            <a:lvl4pPr marL="1600200" indent="-228600">
              <a:spcBef>
                <a:spcPct val="20000"/>
              </a:spcBef>
              <a:buFont typeface="Arial" pitchFamily="34" charset="0"/>
              <a:buChar char="–"/>
              <a:defRPr sz="2000">
                <a:solidFill>
                  <a:schemeClr val="tx1"/>
                </a:solidFill>
                <a:latin typeface="Calibri" pitchFamily="34" charset="0"/>
                <a:ea typeface="Geneva"/>
                <a:cs typeface="Geneva"/>
              </a:defRPr>
            </a:lvl4pPr>
            <a:lvl5pPr marL="2057400" indent="-228600">
              <a:spcBef>
                <a:spcPct val="20000"/>
              </a:spcBef>
              <a:buFont typeface="Arial" pitchFamily="34" charset="0"/>
              <a:buChar char="»"/>
              <a:defRPr sz="2000">
                <a:solidFill>
                  <a:schemeClr val="tx1"/>
                </a:solidFill>
                <a:latin typeface="Calibri" pitchFamily="34" charset="0"/>
                <a:ea typeface="Geneva"/>
                <a:cs typeface="Geneva"/>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92AE86FE-CC4A-4BDD-8E7B-D334D15973BB}" type="slidenum">
              <a:rPr kumimoji="0" lang="en-US" altLang="en-US" sz="1400" b="0" i="0" u="none" strike="noStrike" kern="1200" cap="none" spc="0" normalizeH="0" baseline="0" noProof="0" smtClean="0">
                <a:ln>
                  <a:noFill/>
                </a:ln>
                <a:solidFill>
                  <a:prstClr val="white"/>
                </a:solidFill>
                <a:effectLst/>
                <a:uLnTx/>
                <a:uFillTx/>
                <a:latin typeface="Arial" pitchFamily="34" charset="0"/>
              </a:rPr>
              <a:pPr marL="0" marR="0" lvl="0" indent="0" algn="r" defTabSz="914400" rtl="0" eaLnBrk="1" fontAlgn="auto" latinLnBrk="0" hangingPunct="1">
                <a:lnSpc>
                  <a:spcPct val="100000"/>
                </a:lnSpc>
                <a:spcBef>
                  <a:spcPct val="0"/>
                </a:spcBef>
                <a:spcAft>
                  <a:spcPts val="0"/>
                </a:spcAft>
                <a:buClrTx/>
                <a:buSzTx/>
                <a:buFontTx/>
                <a:buNone/>
                <a:tabLst/>
                <a:defRPr/>
              </a:pPr>
              <a:t>4</a:t>
            </a:fld>
            <a:endParaRPr kumimoji="0" lang="en-US" altLang="en-US" sz="1400" b="0" i="0" u="none" strike="noStrike" kern="1200" cap="none" spc="0" normalizeH="0" baseline="0" noProof="0">
              <a:ln>
                <a:noFill/>
              </a:ln>
              <a:solidFill>
                <a:prstClr val="white"/>
              </a:solidFill>
              <a:effectLst/>
              <a:uLnTx/>
              <a:uFillTx/>
              <a:latin typeface="Arial" pitchFamily="34" charset="0"/>
            </a:endParaRPr>
          </a:p>
        </p:txBody>
      </p:sp>
      <p:sp>
        <p:nvSpPr>
          <p:cNvPr id="68611" name="Rectangle 2"/>
          <p:cNvSpPr>
            <a:spLocks noGrp="1" noChangeArrowheads="1"/>
          </p:cNvSpPr>
          <p:nvPr>
            <p:ph type="title" idx="4294967295"/>
          </p:nvPr>
        </p:nvSpPr>
        <p:spPr>
          <a:xfrm>
            <a:off x="243773" y="199460"/>
            <a:ext cx="9229000" cy="762000"/>
          </a:xfrm>
        </p:spPr>
        <p:txBody>
          <a:bodyPr>
            <a:noAutofit/>
          </a:bodyPr>
          <a:lstStyle/>
          <a:p>
            <a:pPr eaLnBrk="1" hangingPunct="1"/>
            <a:r>
              <a:rPr lang="en-US" altLang="en-US" sz="4000" dirty="0">
                <a:latin typeface="+mn-lt"/>
                <a:ea typeface="Geneva"/>
                <a:cs typeface="Geneva"/>
              </a:rPr>
              <a:t>Student Learning Objectives</a:t>
            </a:r>
          </a:p>
        </p:txBody>
      </p:sp>
      <p:sp>
        <p:nvSpPr>
          <p:cNvPr id="15365" name="Rectangle 20"/>
          <p:cNvSpPr>
            <a:spLocks noChangeArrowheads="1"/>
          </p:cNvSpPr>
          <p:nvPr/>
        </p:nvSpPr>
        <p:spPr bwMode="auto">
          <a:xfrm>
            <a:off x="802739" y="1216402"/>
            <a:ext cx="8111067" cy="3840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 typeface="Arial" charset="0"/>
              <a:buNone/>
              <a:tabLst/>
              <a:defRPr/>
            </a:pPr>
            <a:r>
              <a:rPr kumimoji="0" lang="en-US" sz="3600" b="0" i="0" u="none" strike="noStrike" kern="1200" cap="none" spc="0" normalizeH="0" baseline="0" noProof="0" dirty="0">
                <a:ln>
                  <a:noFill/>
                </a:ln>
                <a:solidFill>
                  <a:schemeClr val="accent5"/>
                </a:solidFill>
                <a:effectLst/>
                <a:uLnTx/>
                <a:uFillTx/>
                <a:latin typeface="Calibri" panose="020F0502020204030204"/>
                <a:ea typeface="+mn-ea"/>
                <a:cs typeface="+mn-cs"/>
              </a:rPr>
              <a:t>By the end of this module you will be able to:</a:t>
            </a:r>
          </a:p>
          <a:p>
            <a:pPr marL="457200" marR="0" lvl="0" indent="-45720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chemeClr val="accent5"/>
                </a:solidFill>
                <a:effectLst/>
                <a:uLnTx/>
                <a:uFillTx/>
                <a:latin typeface="Calibri" panose="020F0502020204030204"/>
                <a:ea typeface="+mn-ea"/>
                <a:cs typeface="+mn-cs"/>
              </a:rPr>
              <a:t>Define secondary data,</a:t>
            </a:r>
          </a:p>
          <a:p>
            <a:pPr marL="457200" marR="0" lvl="0" indent="-4572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3200" dirty="0">
                <a:solidFill>
                  <a:schemeClr val="accent5"/>
                </a:solidFill>
                <a:latin typeface="Calibri" panose="020F0502020204030204"/>
              </a:rPr>
              <a:t>Determine best sources of secondary data, and</a:t>
            </a:r>
          </a:p>
          <a:p>
            <a:pPr marL="457200" marR="0" lvl="0" indent="-4572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3200" dirty="0">
                <a:solidFill>
                  <a:schemeClr val="accent5"/>
                </a:solidFill>
                <a:latin typeface="Calibri" panose="020F0502020204030204"/>
              </a:rPr>
              <a:t>Demonstrate how to use secondary data to support and seek out primary data.</a:t>
            </a:r>
          </a:p>
          <a:p>
            <a:pPr marL="457200" marR="0" lvl="0" indent="-45720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accent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9752021"/>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itchFamily="34" charset="0"/>
              <a:buChar char="•"/>
              <a:defRPr sz="3200">
                <a:solidFill>
                  <a:schemeClr val="tx1"/>
                </a:solidFill>
                <a:latin typeface="Calibri" pitchFamily="34" charset="0"/>
                <a:ea typeface="Geneva"/>
                <a:cs typeface="Geneva"/>
              </a:defRPr>
            </a:lvl1pPr>
            <a:lvl2pPr marL="742950" indent="-285750">
              <a:spcBef>
                <a:spcPct val="20000"/>
              </a:spcBef>
              <a:buFont typeface="Arial" pitchFamily="34" charset="0"/>
              <a:buChar char="–"/>
              <a:defRPr sz="2800">
                <a:solidFill>
                  <a:schemeClr val="tx1"/>
                </a:solidFill>
                <a:latin typeface="Calibri" pitchFamily="34" charset="0"/>
                <a:ea typeface="Geneva"/>
                <a:cs typeface="Geneva"/>
              </a:defRPr>
            </a:lvl2pPr>
            <a:lvl3pPr marL="1143000" indent="-228600">
              <a:spcBef>
                <a:spcPct val="20000"/>
              </a:spcBef>
              <a:buFont typeface="Arial" pitchFamily="34" charset="0"/>
              <a:buChar char="•"/>
              <a:defRPr sz="2400">
                <a:solidFill>
                  <a:schemeClr val="tx1"/>
                </a:solidFill>
                <a:latin typeface="Calibri" pitchFamily="34" charset="0"/>
                <a:ea typeface="Geneva"/>
                <a:cs typeface="Geneva"/>
              </a:defRPr>
            </a:lvl3pPr>
            <a:lvl4pPr marL="1600200" indent="-228600">
              <a:spcBef>
                <a:spcPct val="20000"/>
              </a:spcBef>
              <a:buFont typeface="Arial" pitchFamily="34" charset="0"/>
              <a:buChar char="–"/>
              <a:defRPr sz="2000">
                <a:solidFill>
                  <a:schemeClr val="tx1"/>
                </a:solidFill>
                <a:latin typeface="Calibri" pitchFamily="34" charset="0"/>
                <a:ea typeface="Geneva"/>
                <a:cs typeface="Geneva"/>
              </a:defRPr>
            </a:lvl4pPr>
            <a:lvl5pPr marL="2057400" indent="-228600">
              <a:spcBef>
                <a:spcPct val="20000"/>
              </a:spcBef>
              <a:buFont typeface="Arial" pitchFamily="34" charset="0"/>
              <a:buChar char="»"/>
              <a:defRPr sz="2000">
                <a:solidFill>
                  <a:schemeClr val="tx1"/>
                </a:solidFill>
                <a:latin typeface="Calibri" pitchFamily="34" charset="0"/>
                <a:ea typeface="Geneva"/>
                <a:cs typeface="Geneva"/>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92AE86FE-CC4A-4BDD-8E7B-D334D15973BB}" type="slidenum">
              <a:rPr kumimoji="0" lang="en-US" altLang="en-US" sz="1400" b="0" i="0" u="none" strike="noStrike" kern="1200" cap="none" spc="0" normalizeH="0" baseline="0" noProof="0" smtClean="0">
                <a:ln>
                  <a:noFill/>
                </a:ln>
                <a:solidFill>
                  <a:prstClr val="white"/>
                </a:solidFill>
                <a:effectLst/>
                <a:uLnTx/>
                <a:uFillTx/>
                <a:latin typeface="Arial" pitchFamily="34" charset="0"/>
              </a:rPr>
              <a:pPr marL="0" marR="0" lvl="0" indent="0" algn="r" defTabSz="914400" rtl="0" eaLnBrk="1" fontAlgn="auto" latinLnBrk="0" hangingPunct="1">
                <a:lnSpc>
                  <a:spcPct val="100000"/>
                </a:lnSpc>
                <a:spcBef>
                  <a:spcPct val="0"/>
                </a:spcBef>
                <a:spcAft>
                  <a:spcPts val="0"/>
                </a:spcAft>
                <a:buClrTx/>
                <a:buSzTx/>
                <a:buFontTx/>
                <a:buNone/>
                <a:tabLst/>
                <a:defRPr/>
              </a:pPr>
              <a:t>5</a:t>
            </a:fld>
            <a:endParaRPr kumimoji="0" lang="en-US" altLang="en-US" sz="1400" b="0" i="0" u="none" strike="noStrike" kern="1200" cap="none" spc="0" normalizeH="0" baseline="0" noProof="0">
              <a:ln>
                <a:noFill/>
              </a:ln>
              <a:solidFill>
                <a:prstClr val="white"/>
              </a:solidFill>
              <a:effectLst/>
              <a:uLnTx/>
              <a:uFillTx/>
              <a:latin typeface="Arial" pitchFamily="34" charset="0"/>
            </a:endParaRPr>
          </a:p>
        </p:txBody>
      </p:sp>
      <p:sp>
        <p:nvSpPr>
          <p:cNvPr id="68611" name="Rectangle 2"/>
          <p:cNvSpPr>
            <a:spLocks noGrp="1" noChangeArrowheads="1"/>
          </p:cNvSpPr>
          <p:nvPr>
            <p:ph type="title" idx="4294967295"/>
          </p:nvPr>
        </p:nvSpPr>
        <p:spPr>
          <a:xfrm>
            <a:off x="243773" y="199460"/>
            <a:ext cx="9229000" cy="762000"/>
          </a:xfrm>
        </p:spPr>
        <p:txBody>
          <a:bodyPr>
            <a:noAutofit/>
          </a:bodyPr>
          <a:lstStyle/>
          <a:p>
            <a:pPr eaLnBrk="1" hangingPunct="1"/>
            <a:r>
              <a:rPr lang="en-US" altLang="en-US" sz="4000" dirty="0">
                <a:latin typeface="+mn-lt"/>
                <a:ea typeface="Geneva"/>
                <a:cs typeface="Geneva"/>
              </a:rPr>
              <a:t>Definition of Secondary Data</a:t>
            </a:r>
            <a:endParaRPr lang="en-US" altLang="en-US" sz="4000" dirty="0">
              <a:highlight>
                <a:srgbClr val="FFFF00"/>
              </a:highlight>
              <a:latin typeface="+mn-lt"/>
              <a:ea typeface="Geneva"/>
              <a:cs typeface="Geneva"/>
            </a:endParaRPr>
          </a:p>
        </p:txBody>
      </p:sp>
      <p:sp>
        <p:nvSpPr>
          <p:cNvPr id="15365" name="Rectangle 20"/>
          <p:cNvSpPr>
            <a:spLocks noChangeArrowheads="1"/>
          </p:cNvSpPr>
          <p:nvPr/>
        </p:nvSpPr>
        <p:spPr bwMode="auto">
          <a:xfrm>
            <a:off x="802739" y="1216402"/>
            <a:ext cx="8111067" cy="3840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a:defRPr/>
            </a:pPr>
            <a:r>
              <a:rPr lang="en-US" sz="2800" i="1" u="sng" dirty="0"/>
              <a:t>Secondary data </a:t>
            </a:r>
            <a:r>
              <a:rPr lang="en-US" sz="2800" i="1" dirty="0"/>
              <a:t>are the data that have already been collected through primary sources and made readily available for researchers to use for their own research. </a:t>
            </a:r>
          </a:p>
          <a:p>
            <a:pPr lvl="0">
              <a:defRPr/>
            </a:pPr>
            <a:endParaRPr lang="en-US" sz="2800" i="1" dirty="0"/>
          </a:p>
          <a:p>
            <a:pPr marL="457200" lvl="0" indent="-457200">
              <a:buFont typeface="Arial" panose="020B0604020202020204" pitchFamily="34" charset="0"/>
              <a:buChar char="•"/>
              <a:defRPr/>
            </a:pPr>
            <a:r>
              <a:rPr lang="en-US" sz="2800" i="1" dirty="0"/>
              <a:t>It is a type of data that has already been collected in the past. </a:t>
            </a:r>
          </a:p>
          <a:p>
            <a:pPr marL="457200" lvl="0" indent="-457200">
              <a:buFont typeface="Arial" panose="020B0604020202020204" pitchFamily="34" charset="0"/>
              <a:buChar char="•"/>
              <a:defRPr/>
            </a:pPr>
            <a:r>
              <a:rPr lang="en-US" sz="2800" i="1" dirty="0">
                <a:latin typeface="Calibri" panose="020F0502020204030204"/>
              </a:rPr>
              <a:t>Information not gathered for the immediate study at hand but for some other purpose.</a:t>
            </a:r>
            <a:endParaRPr lang="en-US" sz="2400" i="1" dirty="0">
              <a:latin typeface="Calibri" panose="020F0502020204030204"/>
            </a:endParaRPr>
          </a:p>
          <a:p>
            <a:pPr marL="457200" marR="0" lvl="0" indent="-45720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2400" b="0" i="1" u="none" strike="noStrike" kern="1200" cap="none" spc="0" normalizeH="0" baseline="0" noProof="0" dirty="0">
              <a:ln>
                <a:noFill/>
              </a:ln>
              <a:effectLst/>
              <a:uLnTx/>
              <a:uFillTx/>
              <a:latin typeface="Calibri" panose="020F0502020204030204"/>
            </a:endParaRPr>
          </a:p>
        </p:txBody>
      </p:sp>
    </p:spTree>
    <p:extLst>
      <p:ext uri="{BB962C8B-B14F-4D97-AF65-F5344CB8AC3E}">
        <p14:creationId xmlns:p14="http://schemas.microsoft.com/office/powerpoint/2010/main" val="403683536"/>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699796" y="623596"/>
            <a:ext cx="8839200" cy="882650"/>
          </a:xfrm>
        </p:spPr>
        <p:txBody>
          <a:bodyPr>
            <a:normAutofit fontScale="90000"/>
          </a:bodyPr>
          <a:lstStyle/>
          <a:p>
            <a:pPr eaLnBrk="1" hangingPunct="1"/>
            <a:r>
              <a:rPr lang="en-US" altLang="en-US" dirty="0">
                <a:latin typeface="+mn-lt"/>
              </a:rPr>
              <a:t>Traditional Types of </a:t>
            </a:r>
            <a:r>
              <a:rPr lang="en-US" altLang="en-US" b="1" dirty="0">
                <a:latin typeface="+mn-lt"/>
              </a:rPr>
              <a:t>Internal and External Secondary </a:t>
            </a:r>
            <a:r>
              <a:rPr lang="en-US" altLang="en-US" dirty="0">
                <a:latin typeface="+mn-lt"/>
              </a:rPr>
              <a:t>Data</a:t>
            </a:r>
          </a:p>
        </p:txBody>
      </p:sp>
      <p:sp>
        <p:nvSpPr>
          <p:cNvPr id="15364" name="Rectangle 3"/>
          <p:cNvSpPr>
            <a:spLocks noGrp="1" noChangeArrowheads="1"/>
          </p:cNvSpPr>
          <p:nvPr>
            <p:ph idx="1"/>
          </p:nvPr>
        </p:nvSpPr>
        <p:spPr>
          <a:xfrm>
            <a:off x="1060579" y="1990530"/>
            <a:ext cx="8839200" cy="3886200"/>
          </a:xfrm>
        </p:spPr>
        <p:txBody>
          <a:bodyPr>
            <a:noAutofit/>
          </a:bodyPr>
          <a:lstStyle/>
          <a:p>
            <a:pPr eaLnBrk="1" hangingPunct="1"/>
            <a:r>
              <a:rPr lang="en-US" altLang="en-US" sz="2400" dirty="0"/>
              <a:t>Transaction Data</a:t>
            </a:r>
          </a:p>
          <a:p>
            <a:pPr lvl="1"/>
            <a:r>
              <a:rPr lang="en-US" altLang="en-US" sz="2400" dirty="0"/>
              <a:t>E.g., B2B sales invoices, retail receipts, online transactions, shopping card data</a:t>
            </a:r>
          </a:p>
          <a:p>
            <a:r>
              <a:rPr lang="en-US" altLang="en-US" sz="2400" dirty="0"/>
              <a:t>Customer Communications</a:t>
            </a:r>
          </a:p>
          <a:p>
            <a:pPr lvl="1"/>
            <a:r>
              <a:rPr lang="en-US" altLang="en-US" sz="2400" dirty="0"/>
              <a:t>E.g., inquiries, complaints via telephone, online, mail, in-person</a:t>
            </a:r>
          </a:p>
          <a:p>
            <a:r>
              <a:rPr lang="en-US" altLang="en-US" sz="2400" dirty="0"/>
              <a:t>Marketing Research Tracking Studies</a:t>
            </a:r>
          </a:p>
          <a:p>
            <a:pPr lvl="1"/>
            <a:r>
              <a:rPr lang="en-US" altLang="en-US" sz="2400" dirty="0"/>
              <a:t>E.g., satisfaction, awareness, image studies </a:t>
            </a:r>
          </a:p>
          <a:p>
            <a:r>
              <a:rPr lang="en-US" altLang="en-US" dirty="0"/>
              <a:t>The Xavier University </a:t>
            </a:r>
            <a:r>
              <a:rPr lang="en-US" altLang="en-US" dirty="0">
                <a:hlinkClick r:id="rId2"/>
              </a:rPr>
              <a:t>Library</a:t>
            </a:r>
            <a:endParaRPr lang="en-US" altLang="en-US" dirty="0"/>
          </a:p>
          <a:p>
            <a:r>
              <a:rPr lang="en-US" altLang="en-US" sz="2400" dirty="0"/>
              <a:t>Other Sources</a:t>
            </a:r>
          </a:p>
          <a:p>
            <a:pPr lvl="1"/>
            <a:r>
              <a:rPr lang="en-US" altLang="en-US" sz="2400" dirty="0"/>
              <a:t>E.g., call reports, expense receipts, customer records, financial records, credit memos, warranty cards</a:t>
            </a:r>
          </a:p>
          <a:p>
            <a:pPr lvl="1" eaLnBrk="1" hangingPunct="1"/>
            <a:endParaRPr lang="en-US" altLang="en-US" sz="2000" dirty="0"/>
          </a:p>
          <a:p>
            <a:pPr lvl="1" eaLnBrk="1" hangingPunct="1">
              <a:buFont typeface="Wingdings" pitchFamily="2" charset="2"/>
              <a:buNone/>
            </a:pPr>
            <a:r>
              <a:rPr lang="en-US" altLang="en-US" sz="2000" dirty="0"/>
              <a:t>	</a:t>
            </a:r>
            <a:endParaRPr lang="en-US" altLang="en-US" sz="2000" i="1" dirty="0"/>
          </a:p>
        </p:txBody>
      </p:sp>
    </p:spTree>
    <p:extLst>
      <p:ext uri="{BB962C8B-B14F-4D97-AF65-F5344CB8AC3E}">
        <p14:creationId xmlns:p14="http://schemas.microsoft.com/office/powerpoint/2010/main" val="327892810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371600" y="274638"/>
            <a:ext cx="9296400" cy="1143000"/>
          </a:xfrm>
          <a:prstGeom prst="rect">
            <a:avLst/>
          </a:prstGeom>
        </p:spPr>
        <p:txBody>
          <a:bodyPr/>
          <a:lst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lgn="l"/>
            <a:r>
              <a:rPr lang="en-US" sz="3600" dirty="0">
                <a:latin typeface="+mn-lt"/>
              </a:rPr>
              <a:t>The Evolution and Design of Information Systems (remember systems vs. project approach)</a:t>
            </a:r>
          </a:p>
        </p:txBody>
      </p:sp>
      <p:sp>
        <p:nvSpPr>
          <p:cNvPr id="4" name="Content Placeholder 2"/>
          <p:cNvSpPr txBox="1">
            <a:spLocks/>
          </p:cNvSpPr>
          <p:nvPr/>
        </p:nvSpPr>
        <p:spPr>
          <a:xfrm>
            <a:off x="2186473" y="2175588"/>
            <a:ext cx="7391400" cy="396240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MARKETING INFORMATION SYSTEM (MIS)</a:t>
            </a:r>
            <a:endParaRPr lang="en-US" sz="3600" b="1" dirty="0">
              <a:solidFill>
                <a:schemeClr val="tx2"/>
              </a:solidFill>
              <a:highlight>
                <a:srgbClr val="FFFF00"/>
              </a:highlight>
            </a:endParaRPr>
          </a:p>
          <a:p>
            <a:pPr marL="0" indent="0">
              <a:buNone/>
            </a:pPr>
            <a:r>
              <a:rPr lang="en-US" dirty="0"/>
              <a:t>A set of procedures and methods for the regular, planned collection, analysis, and presentation of information for use in making marketing decisions.</a:t>
            </a:r>
          </a:p>
        </p:txBody>
      </p:sp>
    </p:spTree>
    <p:extLst>
      <p:ext uri="{BB962C8B-B14F-4D97-AF65-F5344CB8AC3E}">
        <p14:creationId xmlns:p14="http://schemas.microsoft.com/office/powerpoint/2010/main" val="428947239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2400300" y="2057400"/>
            <a:ext cx="7391400" cy="396240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CUSTOMER RELATIONSHIP MANAGEMENT (CRM)</a:t>
            </a:r>
            <a:endParaRPr lang="en-US" sz="3600" b="1" dirty="0">
              <a:solidFill>
                <a:schemeClr val="tx2"/>
              </a:solidFill>
              <a:highlight>
                <a:srgbClr val="FFFF00"/>
              </a:highlight>
            </a:endParaRPr>
          </a:p>
          <a:p>
            <a:pPr marL="0" indent="0">
              <a:buNone/>
            </a:pPr>
            <a:r>
              <a:rPr lang="en-US" dirty="0"/>
              <a:t>A system that gathers all relevant information about a company’s customers and makes it available to the employees that interact with the customers.</a:t>
            </a:r>
          </a:p>
        </p:txBody>
      </p:sp>
      <p:sp>
        <p:nvSpPr>
          <p:cNvPr id="3" name="Title 1"/>
          <p:cNvSpPr txBox="1">
            <a:spLocks/>
          </p:cNvSpPr>
          <p:nvPr/>
        </p:nvSpPr>
        <p:spPr>
          <a:xfrm>
            <a:off x="1981200" y="274638"/>
            <a:ext cx="8229600" cy="1143000"/>
          </a:xfrm>
          <a:prstGeom prst="rect">
            <a:avLst/>
          </a:prstGeom>
        </p:spPr>
        <p:txBody>
          <a:bodyPr/>
          <a:lst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sz="4000" dirty="0">
                <a:latin typeface="+mn-lt"/>
              </a:rPr>
              <a:t>The Evolution and Design of Information Systems</a:t>
            </a:r>
          </a:p>
        </p:txBody>
      </p:sp>
    </p:spTree>
    <p:extLst>
      <p:ext uri="{BB962C8B-B14F-4D97-AF65-F5344CB8AC3E}">
        <p14:creationId xmlns:p14="http://schemas.microsoft.com/office/powerpoint/2010/main" val="90900818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981200" y="274638"/>
            <a:ext cx="8229600" cy="1143000"/>
          </a:xfrm>
          <a:prstGeom prst="rect">
            <a:avLst/>
          </a:prstGeom>
        </p:spPr>
        <p:txBody>
          <a:bodyPr/>
          <a:lst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sz="4000" dirty="0">
                <a:latin typeface="+mn-lt"/>
              </a:rPr>
              <a:t>The Evolution and Design of Information Systems</a:t>
            </a:r>
          </a:p>
        </p:txBody>
      </p:sp>
      <p:sp>
        <p:nvSpPr>
          <p:cNvPr id="3" name="Content Placeholder 2"/>
          <p:cNvSpPr txBox="1">
            <a:spLocks/>
          </p:cNvSpPr>
          <p:nvPr/>
        </p:nvSpPr>
        <p:spPr>
          <a:xfrm>
            <a:off x="2400300" y="1828800"/>
            <a:ext cx="7391400" cy="396240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DECISION SUPPORT SYSTEM (DSS)</a:t>
            </a:r>
          </a:p>
          <a:p>
            <a:pPr marL="457200" lvl="1" indent="0">
              <a:buNone/>
            </a:pPr>
            <a:r>
              <a:rPr lang="en-US" dirty="0"/>
              <a:t>A system that combines data, models for guiding decisions, and a user interface that allows users to interact with the system to produce customized information.</a:t>
            </a:r>
          </a:p>
        </p:txBody>
      </p:sp>
      <p:sp>
        <p:nvSpPr>
          <p:cNvPr id="4" name="TextBox 3"/>
          <p:cNvSpPr txBox="1"/>
          <p:nvPr/>
        </p:nvSpPr>
        <p:spPr>
          <a:xfrm>
            <a:off x="2895600" y="5181601"/>
            <a:ext cx="6553200" cy="830997"/>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400" dirty="0">
                <a:solidFill>
                  <a:schemeClr val="accent1">
                    <a:lumMod val="75000"/>
                  </a:schemeClr>
                </a:solidFill>
              </a:rPr>
              <a:t>Think about the process for applying for a loan and how a DSS might be used…</a:t>
            </a:r>
          </a:p>
        </p:txBody>
      </p:sp>
    </p:spTree>
    <p:extLst>
      <p:ext uri="{BB962C8B-B14F-4D97-AF65-F5344CB8AC3E}">
        <p14:creationId xmlns:p14="http://schemas.microsoft.com/office/powerpoint/2010/main" val="424034927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2819400" y="1715614"/>
            <a:ext cx="7391400" cy="396240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KNOWLEDGE MANAGEMENT</a:t>
            </a:r>
          </a:p>
          <a:p>
            <a:pPr marL="457200" lvl="1" indent="0">
              <a:buNone/>
            </a:pPr>
            <a:r>
              <a:rPr lang="en-US" dirty="0"/>
              <a:t>The systematic collection of employee knowledge about customers, products and processes, and the marketplace.</a:t>
            </a:r>
          </a:p>
        </p:txBody>
      </p:sp>
    </p:spTree>
    <p:extLst>
      <p:ext uri="{BB962C8B-B14F-4D97-AF65-F5344CB8AC3E}">
        <p14:creationId xmlns:p14="http://schemas.microsoft.com/office/powerpoint/2010/main" val="59460325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054932" y="838200"/>
            <a:ext cx="8528050" cy="792162"/>
          </a:xfrm>
        </p:spPr>
        <p:txBody>
          <a:bodyPr>
            <a:normAutofit/>
          </a:bodyPr>
          <a:lstStyle/>
          <a:p>
            <a:pPr eaLnBrk="1" hangingPunct="1"/>
            <a:r>
              <a:rPr lang="en-US" altLang="en-US" sz="4000" dirty="0">
                <a:latin typeface="+mn-lt"/>
              </a:rPr>
              <a:t>Limitations of the Systems Approach</a:t>
            </a:r>
          </a:p>
        </p:txBody>
      </p:sp>
      <p:sp>
        <p:nvSpPr>
          <p:cNvPr id="31747" name="Rectangle 3"/>
          <p:cNvSpPr>
            <a:spLocks noGrp="1" noChangeArrowheads="1"/>
          </p:cNvSpPr>
          <p:nvPr>
            <p:ph idx="1"/>
          </p:nvPr>
        </p:nvSpPr>
        <p:spPr>
          <a:xfrm>
            <a:off x="838200" y="1825625"/>
            <a:ext cx="8744782" cy="4351338"/>
          </a:xfrm>
        </p:spPr>
        <p:txBody>
          <a:bodyPr/>
          <a:lstStyle/>
          <a:p>
            <a:pPr eaLnBrk="1" hangingPunct="1"/>
            <a:r>
              <a:rPr lang="en-US" altLang="en-US" sz="2800" dirty="0"/>
              <a:t>Managers won’t always share their decision-making processes</a:t>
            </a:r>
          </a:p>
          <a:p>
            <a:pPr eaLnBrk="1" hangingPunct="1"/>
            <a:r>
              <a:rPr lang="en-US" altLang="en-US" sz="2800" dirty="0"/>
              <a:t>Differing data needs across managers</a:t>
            </a:r>
          </a:p>
          <a:p>
            <a:pPr eaLnBrk="1" hangingPunct="1"/>
            <a:r>
              <a:rPr lang="en-US" altLang="en-US" sz="2800" dirty="0"/>
              <a:t>Time costs</a:t>
            </a:r>
          </a:p>
          <a:p>
            <a:pPr eaLnBrk="1" hangingPunct="1"/>
            <a:r>
              <a:rPr lang="en-US" altLang="en-US" sz="2800" dirty="0"/>
              <a:t>Monetary costs</a:t>
            </a:r>
          </a:p>
          <a:p>
            <a:pPr eaLnBrk="1" hangingPunct="1"/>
            <a:r>
              <a:rPr lang="en-US" altLang="en-US" sz="2800" dirty="0"/>
              <a:t>Data availability—analysis is limited to the data that are in the system</a:t>
            </a:r>
          </a:p>
        </p:txBody>
      </p:sp>
    </p:spTree>
    <p:extLst>
      <p:ext uri="{BB962C8B-B14F-4D97-AF65-F5344CB8AC3E}">
        <p14:creationId xmlns:p14="http://schemas.microsoft.com/office/powerpoint/2010/main" val="215732461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rPr>
              <a:t>External Secondary Data</a:t>
            </a:r>
          </a:p>
        </p:txBody>
      </p:sp>
      <p:sp>
        <p:nvSpPr>
          <p:cNvPr id="3" name="Subtitle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7673358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5000" y="370114"/>
            <a:ext cx="8305800" cy="6090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416797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141444" y="1915885"/>
            <a:ext cx="8581053" cy="396240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buNone/>
            </a:pPr>
            <a:r>
              <a:rPr lang="en-US" dirty="0"/>
              <a:t>Secondary data collected by companies that sell the data to multiple companies, allowing the costs of collecting, editing, coding, and analyzing them to be shared. The data are standardized so that they can be used by multiple companies rather than customized for a specific company.</a:t>
            </a:r>
          </a:p>
          <a:p>
            <a:pPr marL="457200" lvl="1" indent="0">
              <a:buNone/>
            </a:pPr>
            <a:endParaRPr lang="en-US" dirty="0"/>
          </a:p>
          <a:p>
            <a:pPr marL="457200" lvl="1" indent="0">
              <a:buNone/>
            </a:pPr>
            <a:r>
              <a:rPr lang="en-US" dirty="0"/>
              <a:t>Think </a:t>
            </a:r>
            <a:r>
              <a:rPr lang="en-US" dirty="0" err="1">
                <a:hlinkClick r:id="rId2"/>
              </a:rPr>
              <a:t>NielsenIQ</a:t>
            </a:r>
            <a:r>
              <a:rPr lang="en-US" dirty="0"/>
              <a:t>, </a:t>
            </a:r>
            <a:r>
              <a:rPr lang="en-US" dirty="0" err="1">
                <a:hlinkClick r:id="rId3"/>
              </a:rPr>
              <a:t>Circana</a:t>
            </a:r>
            <a:r>
              <a:rPr lang="en-US" dirty="0"/>
              <a:t>, or </a:t>
            </a:r>
            <a:r>
              <a:rPr lang="en-US" dirty="0">
                <a:hlinkClick r:id="rId4"/>
              </a:rPr>
              <a:t>84.51°</a:t>
            </a:r>
            <a:endParaRPr lang="en-US" dirty="0"/>
          </a:p>
        </p:txBody>
      </p:sp>
      <p:sp>
        <p:nvSpPr>
          <p:cNvPr id="3" name="Title 2"/>
          <p:cNvSpPr>
            <a:spLocks noGrp="1"/>
          </p:cNvSpPr>
          <p:nvPr>
            <p:ph type="title"/>
          </p:nvPr>
        </p:nvSpPr>
        <p:spPr>
          <a:xfrm>
            <a:off x="990600" y="838200"/>
            <a:ext cx="8534400" cy="758952"/>
          </a:xfrm>
        </p:spPr>
        <p:txBody>
          <a:bodyPr>
            <a:normAutofit fontScale="90000"/>
          </a:bodyPr>
          <a:lstStyle/>
          <a:p>
            <a:r>
              <a:rPr lang="en-US" b="1" dirty="0">
                <a:latin typeface="+mn-lt"/>
              </a:rPr>
              <a:t>STANDARDIZED MARKETING INFORMATION</a:t>
            </a:r>
            <a:endParaRPr lang="en-US" dirty="0">
              <a:latin typeface="+mn-lt"/>
            </a:endParaRPr>
          </a:p>
        </p:txBody>
      </p:sp>
    </p:spTree>
    <p:extLst>
      <p:ext uri="{BB962C8B-B14F-4D97-AF65-F5344CB8AC3E}">
        <p14:creationId xmlns:p14="http://schemas.microsoft.com/office/powerpoint/2010/main" val="68115181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mn-lt"/>
              </a:rPr>
              <a:t>For the first half of the class …</a:t>
            </a:r>
          </a:p>
        </p:txBody>
      </p:sp>
      <p:sp>
        <p:nvSpPr>
          <p:cNvPr id="3" name="Content Placeholder 2"/>
          <p:cNvSpPr>
            <a:spLocks noGrp="1"/>
          </p:cNvSpPr>
          <p:nvPr>
            <p:ph idx="1"/>
          </p:nvPr>
        </p:nvSpPr>
        <p:spPr/>
        <p:txBody>
          <a:bodyPr/>
          <a:lstStyle/>
          <a:p>
            <a:r>
              <a:rPr lang="en-US" b="1" dirty="0">
                <a:highlight>
                  <a:srgbClr val="FFFF00"/>
                </a:highlight>
              </a:rPr>
              <a:t>Get into your Project Teams</a:t>
            </a:r>
          </a:p>
          <a:p>
            <a:pPr marL="457200" indent="-457200">
              <a:buFont typeface="+mj-lt"/>
              <a:buAutoNum type="arabicPeriod"/>
            </a:pPr>
            <a:r>
              <a:rPr lang="en-US" dirty="0"/>
              <a:t>Create a game plan</a:t>
            </a:r>
          </a:p>
          <a:p>
            <a:pPr marL="630936" lvl="1" indent="-457200">
              <a:buFont typeface="+mj-lt"/>
              <a:buAutoNum type="arabicPeriod"/>
            </a:pPr>
            <a:r>
              <a:rPr lang="en-US" dirty="0"/>
              <a:t>What are the some key themes or ideas that you each found?</a:t>
            </a:r>
          </a:p>
          <a:p>
            <a:pPr marL="630936" lvl="1" indent="-457200">
              <a:buFont typeface="+mj-lt"/>
              <a:buAutoNum type="arabicPeriod"/>
            </a:pPr>
            <a:r>
              <a:rPr lang="en-US" dirty="0"/>
              <a:t>How could you combine your results? Do you need to do some coding as a team to facilitate this process?</a:t>
            </a:r>
          </a:p>
          <a:p>
            <a:pPr marL="630936" lvl="1" indent="-457200">
              <a:buFont typeface="+mj-lt"/>
              <a:buAutoNum type="arabicPeriod"/>
            </a:pPr>
            <a:r>
              <a:rPr lang="en-US" dirty="0"/>
              <a:t>What would you include in an executive summary?  What is each person’s role?</a:t>
            </a:r>
          </a:p>
          <a:p>
            <a:pPr marL="457200" indent="-457200">
              <a:buFont typeface="+mj-lt"/>
              <a:buAutoNum type="arabicPeriod"/>
            </a:pPr>
            <a:r>
              <a:rPr lang="en-US" dirty="0"/>
              <a:t>Do a peer review of each others’ initial executive summary.  What works, what doesn’t?</a:t>
            </a:r>
          </a:p>
          <a:p>
            <a:pPr marL="630936" lvl="1" indent="-457200">
              <a:buFont typeface="+mj-lt"/>
              <a:buAutoNum type="arabicPeriod"/>
            </a:pPr>
            <a:endParaRPr lang="en-US" dirty="0"/>
          </a:p>
        </p:txBody>
      </p:sp>
    </p:spTree>
    <p:extLst>
      <p:ext uri="{BB962C8B-B14F-4D97-AF65-F5344CB8AC3E}">
        <p14:creationId xmlns:p14="http://schemas.microsoft.com/office/powerpoint/2010/main" val="341242314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838200"/>
            <a:ext cx="8839200" cy="914400"/>
          </a:xfrm>
        </p:spPr>
        <p:txBody>
          <a:bodyPr>
            <a:noAutofit/>
          </a:bodyPr>
          <a:lstStyle/>
          <a:p>
            <a:r>
              <a:rPr lang="en-US" sz="4000" dirty="0">
                <a:latin typeface="+mn-lt"/>
              </a:rPr>
              <a:t>Standardized Marketing Information:</a:t>
            </a:r>
            <a:br>
              <a:rPr lang="en-US" sz="4000" dirty="0">
                <a:latin typeface="+mn-lt"/>
              </a:rPr>
            </a:br>
            <a:r>
              <a:rPr lang="en-US" sz="4000" dirty="0">
                <a:latin typeface="+mn-lt"/>
              </a:rPr>
              <a:t>Profiling Customers</a:t>
            </a:r>
          </a:p>
        </p:txBody>
      </p:sp>
      <p:sp>
        <p:nvSpPr>
          <p:cNvPr id="4" name="Content Placeholder 2"/>
          <p:cNvSpPr txBox="1">
            <a:spLocks/>
          </p:cNvSpPr>
          <p:nvPr/>
        </p:nvSpPr>
        <p:spPr>
          <a:xfrm>
            <a:off x="1828800" y="2590800"/>
            <a:ext cx="7391400" cy="396240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GEODEMOGRAPHY</a:t>
            </a:r>
          </a:p>
          <a:p>
            <a:pPr marL="457200" lvl="1" indent="0">
              <a:buNone/>
            </a:pPr>
            <a:r>
              <a:rPr lang="en-US" dirty="0"/>
              <a:t>The availability of demographic, consumer behavior, and lifestyle data by arbitrary geographic boundaries that are typically quite small.</a:t>
            </a:r>
          </a:p>
        </p:txBody>
      </p:sp>
    </p:spTree>
    <p:extLst>
      <p:ext uri="{BB962C8B-B14F-4D97-AF65-F5344CB8AC3E}">
        <p14:creationId xmlns:p14="http://schemas.microsoft.com/office/powerpoint/2010/main" val="154452245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mn-lt"/>
              </a:rPr>
              <a:t>Geo-demographic Data</a:t>
            </a:r>
          </a:p>
        </p:txBody>
      </p:sp>
      <p:sp>
        <p:nvSpPr>
          <p:cNvPr id="3" name="Content Placeholder 2"/>
          <p:cNvSpPr>
            <a:spLocks noGrp="1"/>
          </p:cNvSpPr>
          <p:nvPr>
            <p:ph idx="1"/>
          </p:nvPr>
        </p:nvSpPr>
        <p:spPr/>
        <p:txBody>
          <a:bodyPr/>
          <a:lstStyle/>
          <a:p>
            <a:r>
              <a:rPr lang="en-US" dirty="0">
                <a:hlinkClick r:id="rId2"/>
              </a:rPr>
              <a:t>Claritas</a:t>
            </a:r>
            <a:endParaRPr lang="en-US" dirty="0"/>
          </a:p>
          <a:p>
            <a:endParaRPr lang="en-US" dirty="0"/>
          </a:p>
          <a:p>
            <a:endParaRPr lang="en-US" dirty="0"/>
          </a:p>
          <a:p>
            <a:r>
              <a:rPr lang="en-US" dirty="0"/>
              <a:t>How do you think this information could be used?</a:t>
            </a:r>
          </a:p>
        </p:txBody>
      </p:sp>
    </p:spTree>
    <p:extLst>
      <p:ext uri="{BB962C8B-B14F-4D97-AF65-F5344CB8AC3E}">
        <p14:creationId xmlns:p14="http://schemas.microsoft.com/office/powerpoint/2010/main" val="180131536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9" name="Rectangle 3"/>
          <p:cNvSpPr>
            <a:spLocks noGrp="1" noChangeArrowheads="1"/>
          </p:cNvSpPr>
          <p:nvPr>
            <p:ph type="body" idx="1"/>
          </p:nvPr>
        </p:nvSpPr>
        <p:spPr>
          <a:xfrm>
            <a:off x="838200" y="1474327"/>
            <a:ext cx="8818984" cy="332903"/>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rmAutofit fontScale="92500" lnSpcReduction="20000"/>
          </a:bodyPr>
          <a:lstStyle/>
          <a:p>
            <a:pPr marL="0" indent="0" defTabSz="914400">
              <a:buNone/>
            </a:pPr>
            <a:r>
              <a:rPr lang="en-US" altLang="en-US" sz="2400" dirty="0">
                <a:solidFill>
                  <a:schemeClr val="accent5"/>
                </a:solidFill>
                <a:ea typeface="Geneva"/>
                <a:cs typeface="Geneva"/>
              </a:rPr>
              <a:t>Let’s use </a:t>
            </a:r>
            <a:r>
              <a:rPr lang="en-US" altLang="en-US" sz="2400" dirty="0" err="1">
                <a:solidFill>
                  <a:schemeClr val="accent5"/>
                </a:solidFill>
                <a:ea typeface="Geneva"/>
                <a:cs typeface="Geneva"/>
              </a:rPr>
              <a:t>Circana</a:t>
            </a:r>
            <a:r>
              <a:rPr lang="en-US" altLang="en-US" sz="2400" dirty="0">
                <a:solidFill>
                  <a:schemeClr val="accent5"/>
                </a:solidFill>
                <a:ea typeface="Geneva"/>
                <a:cs typeface="Geneva"/>
              </a:rPr>
              <a:t> Unify deliver Demographics Info for you</a:t>
            </a:r>
            <a:endParaRPr lang="en-US" altLang="en-US" sz="2000" dirty="0">
              <a:solidFill>
                <a:schemeClr val="accent5"/>
              </a:solidFill>
              <a:ea typeface="Geneva"/>
              <a:cs typeface="Geneva"/>
            </a:endParaRPr>
          </a:p>
          <a:p>
            <a:pPr marL="0" indent="0" defTabSz="914400"/>
            <a:endParaRPr lang="en-US" altLang="en-US" sz="2400" dirty="0">
              <a:solidFill>
                <a:schemeClr val="accent5"/>
              </a:solidFill>
              <a:ea typeface="Geneva"/>
              <a:cs typeface="Geneva"/>
            </a:endParaRPr>
          </a:p>
          <a:p>
            <a:pPr marL="0" indent="0"/>
            <a:endParaRPr lang="en-US" altLang="en-US" sz="2400" dirty="0">
              <a:solidFill>
                <a:schemeClr val="accent5"/>
              </a:solidFill>
              <a:ea typeface="Geneva"/>
              <a:cs typeface="Geneva"/>
            </a:endParaRPr>
          </a:p>
        </p:txBody>
      </p:sp>
      <p:sp>
        <p:nvSpPr>
          <p:cNvPr id="6" name="Rectangle 2"/>
          <p:cNvSpPr>
            <a:spLocks noGrp="1"/>
          </p:cNvSpPr>
          <p:nvPr>
            <p:ph type="title"/>
          </p:nvPr>
        </p:nvSpPr>
        <p:spPr>
          <a:xfrm>
            <a:off x="642257" y="664230"/>
            <a:ext cx="9369490" cy="1325563"/>
          </a:xfrm>
        </p:spPr>
        <p:txBody>
          <a:bodyPr>
            <a:normAutofit/>
          </a:bodyPr>
          <a:lstStyle/>
          <a:p>
            <a:r>
              <a:rPr lang="en-US" altLang="en-US" sz="2800" dirty="0">
                <a:latin typeface="+mn-lt"/>
                <a:ea typeface="Geneva"/>
                <a:cs typeface="Geneva"/>
              </a:rPr>
              <a:t>Who buys Coffee?</a:t>
            </a:r>
          </a:p>
        </p:txBody>
      </p:sp>
      <p:sp>
        <p:nvSpPr>
          <p:cNvPr id="7" name="Rectangle 2"/>
          <p:cNvSpPr txBox="1">
            <a:spLocks/>
          </p:cNvSpPr>
          <p:nvPr/>
        </p:nvSpPr>
        <p:spPr bwMode="auto">
          <a:xfrm>
            <a:off x="549962" y="14288"/>
            <a:ext cx="8439149"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pitchFamily="34" charset="0"/>
              <a:buChar char="•"/>
              <a:defRPr sz="3200">
                <a:solidFill>
                  <a:schemeClr val="tx1"/>
                </a:solidFill>
                <a:latin typeface="Calibri" pitchFamily="34" charset="0"/>
                <a:ea typeface="Geneva"/>
                <a:cs typeface="Geneva"/>
              </a:defRPr>
            </a:lvl1pPr>
            <a:lvl2pPr marL="742950" indent="-285750" eaLnBrk="0" hangingPunct="0">
              <a:spcBef>
                <a:spcPct val="20000"/>
              </a:spcBef>
              <a:buFont typeface="Arial" pitchFamily="34" charset="0"/>
              <a:buChar char="–"/>
              <a:defRPr sz="2800">
                <a:solidFill>
                  <a:schemeClr val="tx1"/>
                </a:solidFill>
                <a:latin typeface="Calibri" pitchFamily="34" charset="0"/>
                <a:ea typeface="Geneva"/>
                <a:cs typeface="Geneva"/>
              </a:defRPr>
            </a:lvl2pPr>
            <a:lvl3pPr marL="1143000" indent="-228600" eaLnBrk="0" hangingPunct="0">
              <a:spcBef>
                <a:spcPct val="20000"/>
              </a:spcBef>
              <a:buFont typeface="Arial" pitchFamily="34" charset="0"/>
              <a:buChar char="•"/>
              <a:defRPr sz="2400">
                <a:solidFill>
                  <a:schemeClr val="tx1"/>
                </a:solidFill>
                <a:latin typeface="Calibri" pitchFamily="34" charset="0"/>
                <a:ea typeface="Geneva"/>
                <a:cs typeface="Geneva"/>
              </a:defRPr>
            </a:lvl3pPr>
            <a:lvl4pPr marL="1600200" indent="-228600" eaLnBrk="0" hangingPunct="0">
              <a:spcBef>
                <a:spcPct val="20000"/>
              </a:spcBef>
              <a:buFont typeface="Arial" pitchFamily="34" charset="0"/>
              <a:buChar char="–"/>
              <a:defRPr sz="2000">
                <a:solidFill>
                  <a:schemeClr val="tx1"/>
                </a:solidFill>
                <a:latin typeface="Calibri" pitchFamily="34" charset="0"/>
                <a:ea typeface="Geneva"/>
                <a:cs typeface="Geneva"/>
              </a:defRPr>
            </a:lvl4pPr>
            <a:lvl5pPr marL="2057400" indent="-228600" eaLnBrk="0" hangingPunct="0">
              <a:spcBef>
                <a:spcPct val="20000"/>
              </a:spcBef>
              <a:buFont typeface="Arial" pitchFamily="34" charset="0"/>
              <a:buChar char="»"/>
              <a:defRPr sz="2000">
                <a:solidFill>
                  <a:schemeClr val="tx1"/>
                </a:solidFill>
                <a:latin typeface="Calibri" pitchFamily="34" charset="0"/>
                <a:ea typeface="Geneva"/>
                <a:cs typeface="Geneva"/>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9pPr>
          </a:lstStyle>
          <a:p>
            <a:pPr>
              <a:spcBef>
                <a:spcPct val="0"/>
              </a:spcBef>
              <a:buFontTx/>
              <a:buNone/>
            </a:pPr>
            <a:r>
              <a:rPr lang="en-US" altLang="en-US" sz="4000" dirty="0"/>
              <a:t>Shopper Demographics from Circana</a:t>
            </a:r>
          </a:p>
        </p:txBody>
      </p:sp>
      <p:sp>
        <p:nvSpPr>
          <p:cNvPr id="8" name="TextBox 7"/>
          <p:cNvSpPr txBox="1"/>
          <p:nvPr/>
        </p:nvSpPr>
        <p:spPr>
          <a:xfrm>
            <a:off x="642257" y="6239967"/>
            <a:ext cx="2505814" cy="600164"/>
          </a:xfrm>
          <a:prstGeom prst="rect">
            <a:avLst/>
          </a:prstGeom>
          <a:noFill/>
        </p:spPr>
        <p:txBody>
          <a:bodyPr wrap="none" rtlCol="0">
            <a:spAutoFit/>
          </a:bodyPr>
          <a:lstStyle/>
          <a:p>
            <a:r>
              <a:rPr lang="en-US" sz="1100" dirty="0"/>
              <a:t>Source:  The Partnering Group, Circana</a:t>
            </a:r>
          </a:p>
          <a:p>
            <a:r>
              <a:rPr lang="en-US" sz="1100" dirty="0" err="1"/>
              <a:t>Circana</a:t>
            </a:r>
            <a:r>
              <a:rPr lang="en-US" sz="1100" dirty="0"/>
              <a:t> Unify – 52 </a:t>
            </a:r>
            <a:r>
              <a:rPr lang="en-US" sz="1100" dirty="0" err="1"/>
              <a:t>wks</a:t>
            </a:r>
            <a:r>
              <a:rPr lang="en-US" sz="1100" dirty="0"/>
              <a:t> end Dec 31, 2023</a:t>
            </a:r>
          </a:p>
          <a:p>
            <a:r>
              <a:rPr lang="en-US" sz="1100" dirty="0"/>
              <a:t>TTL Coffee, Total US All Outlets</a:t>
            </a:r>
            <a:endParaRPr lang="en-US" sz="1400" dirty="0"/>
          </a:p>
        </p:txBody>
      </p:sp>
      <p:sp>
        <p:nvSpPr>
          <p:cNvPr id="10" name="TextBox 9"/>
          <p:cNvSpPr txBox="1"/>
          <p:nvPr/>
        </p:nvSpPr>
        <p:spPr>
          <a:xfrm>
            <a:off x="3883262" y="6239967"/>
            <a:ext cx="4875053" cy="577081"/>
          </a:xfrm>
          <a:prstGeom prst="rect">
            <a:avLst/>
          </a:prstGeom>
          <a:noFill/>
        </p:spPr>
        <p:txBody>
          <a:bodyPr wrap="none" rtlCol="0">
            <a:spAutoFit/>
          </a:bodyPr>
          <a:lstStyle/>
          <a:p>
            <a:r>
              <a:rPr lang="en-US" sz="1050" b="1" dirty="0"/>
              <a:t>IRI Unify Report:  Panel, Demographic Analysis – 4 Compare Buyer Demo by Product</a:t>
            </a:r>
          </a:p>
          <a:p>
            <a:r>
              <a:rPr lang="en-US" sz="1050" b="1" dirty="0"/>
              <a:t>Hint:  Change GEOG Dimension to Total US – Multi-Outlet</a:t>
            </a:r>
          </a:p>
          <a:p>
            <a:endParaRPr lang="en-US" sz="1050" dirty="0"/>
          </a:p>
        </p:txBody>
      </p:sp>
      <p:pic>
        <p:nvPicPr>
          <p:cNvPr id="4" name="Picture 3">
            <a:extLst>
              <a:ext uri="{FF2B5EF4-FFF2-40B4-BE49-F238E27FC236}">
                <a16:creationId xmlns:a16="http://schemas.microsoft.com/office/drawing/2014/main" id="{330DD882-D352-482A-A960-7A0F26237655}"/>
              </a:ext>
            </a:extLst>
          </p:cNvPr>
          <p:cNvPicPr>
            <a:picLocks noChangeAspect="1"/>
          </p:cNvPicPr>
          <p:nvPr/>
        </p:nvPicPr>
        <p:blipFill>
          <a:blip r:embed="rId3"/>
          <a:stretch>
            <a:fillRect/>
          </a:stretch>
        </p:blipFill>
        <p:spPr>
          <a:xfrm>
            <a:off x="1726162" y="1748704"/>
            <a:ext cx="6904653" cy="4577002"/>
          </a:xfrm>
          <a:prstGeom prst="rect">
            <a:avLst/>
          </a:prstGeom>
        </p:spPr>
      </p:pic>
    </p:spTree>
    <p:extLst>
      <p:ext uri="{BB962C8B-B14F-4D97-AF65-F5344CB8AC3E}">
        <p14:creationId xmlns:p14="http://schemas.microsoft.com/office/powerpoint/2010/main" val="251468307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84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9"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676400" y="533400"/>
            <a:ext cx="8839200" cy="990600"/>
          </a:xfrm>
          <a:prstGeom prst="rect">
            <a:avLst/>
          </a:prstGeom>
        </p:spPr>
        <p:txBody>
          <a:bodyPr/>
          <a:lst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sz="4000" dirty="0">
                <a:solidFill>
                  <a:schemeClr val="accent1">
                    <a:lumMod val="75000"/>
                  </a:schemeClr>
                </a:solidFill>
                <a:latin typeface="+mn-lt"/>
              </a:rPr>
              <a:t>Measuring Product Sales, Market Share</a:t>
            </a:r>
          </a:p>
        </p:txBody>
      </p:sp>
      <p:sp>
        <p:nvSpPr>
          <p:cNvPr id="5" name="Content Placeholder 4"/>
          <p:cNvSpPr>
            <a:spLocks noGrp="1"/>
          </p:cNvSpPr>
          <p:nvPr>
            <p:ph idx="1"/>
          </p:nvPr>
        </p:nvSpPr>
        <p:spPr>
          <a:xfrm>
            <a:off x="2400300" y="2514600"/>
            <a:ext cx="7391400" cy="3048000"/>
          </a:xfrm>
        </p:spPr>
        <p:txBody>
          <a:bodyPr>
            <a:normAutofit/>
          </a:bodyPr>
          <a:lstStyle/>
          <a:p>
            <a:pPr marL="0" indent="0" algn="ctr">
              <a:buNone/>
            </a:pPr>
            <a:r>
              <a:rPr lang="en-US" sz="4400" dirty="0"/>
              <a:t>(Online) Diary Panels</a:t>
            </a:r>
          </a:p>
          <a:p>
            <a:pPr marL="0" indent="0" algn="ctr">
              <a:buNone/>
            </a:pPr>
            <a:r>
              <a:rPr lang="en-US" sz="4400" dirty="0"/>
              <a:t>Scanners</a:t>
            </a:r>
          </a:p>
          <a:p>
            <a:endParaRPr lang="en-US" sz="4400" dirty="0"/>
          </a:p>
        </p:txBody>
      </p:sp>
    </p:spTree>
    <p:extLst>
      <p:ext uri="{BB962C8B-B14F-4D97-AF65-F5344CB8AC3E}">
        <p14:creationId xmlns:p14="http://schemas.microsoft.com/office/powerpoint/2010/main" val="21125475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676400" y="152400"/>
            <a:ext cx="8839200" cy="1485900"/>
          </a:xfrm>
          <a:prstGeom prst="rect">
            <a:avLst/>
          </a:prstGeom>
        </p:spPr>
        <p:txBody>
          <a:bodyPr/>
          <a:lst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sz="4000" dirty="0">
                <a:latin typeface="+mn-lt"/>
              </a:rPr>
              <a:t>Standardized Marketing Information:</a:t>
            </a:r>
            <a:br>
              <a:rPr lang="en-US" sz="4000" dirty="0">
                <a:latin typeface="+mn-lt"/>
              </a:rPr>
            </a:br>
            <a:r>
              <a:rPr lang="en-US" sz="4000" dirty="0">
                <a:latin typeface="+mn-lt"/>
              </a:rPr>
              <a:t>Measuring Advertising Exposure and Effectiveness</a:t>
            </a:r>
          </a:p>
        </p:txBody>
      </p:sp>
      <p:sp>
        <p:nvSpPr>
          <p:cNvPr id="3" name="Content Placeholder 4"/>
          <p:cNvSpPr txBox="1">
            <a:spLocks/>
          </p:cNvSpPr>
          <p:nvPr/>
        </p:nvSpPr>
        <p:spPr>
          <a:xfrm>
            <a:off x="2547258" y="2057400"/>
            <a:ext cx="4844143" cy="396240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t>Television and Radio</a:t>
            </a:r>
          </a:p>
          <a:p>
            <a:pPr lvl="1"/>
            <a:r>
              <a:rPr lang="en-US" dirty="0">
                <a:hlinkClick r:id="rId2"/>
              </a:rPr>
              <a:t>Nielsen TV ratings</a:t>
            </a:r>
            <a:endParaRPr lang="en-US" dirty="0"/>
          </a:p>
          <a:p>
            <a:pPr lvl="1"/>
            <a:r>
              <a:rPr lang="en-US" dirty="0"/>
              <a:t>Arbitron radio ratings, now owned by Nielsen</a:t>
            </a:r>
          </a:p>
          <a:p>
            <a:pPr lvl="1"/>
            <a:endParaRPr lang="en-US" dirty="0"/>
          </a:p>
          <a:p>
            <a:endParaRPr lang="en-US"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7600" y="2362200"/>
            <a:ext cx="2800350" cy="20596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7696200" y="4648200"/>
            <a:ext cx="2362200" cy="369332"/>
          </a:xfrm>
          <a:prstGeom prst="rect">
            <a:avLst/>
          </a:prstGeom>
          <a:noFill/>
        </p:spPr>
        <p:txBody>
          <a:bodyPr wrap="square" rtlCol="0">
            <a:spAutoFit/>
          </a:bodyPr>
          <a:lstStyle/>
          <a:p>
            <a:pPr algn="ctr"/>
            <a:r>
              <a:rPr lang="en-US" dirty="0"/>
              <a:t>People Meter</a:t>
            </a:r>
          </a:p>
        </p:txBody>
      </p:sp>
    </p:spTree>
    <p:extLst>
      <p:ext uri="{BB962C8B-B14F-4D97-AF65-F5344CB8AC3E}">
        <p14:creationId xmlns:p14="http://schemas.microsoft.com/office/powerpoint/2010/main" val="175721826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676400" y="174171"/>
            <a:ext cx="8839200" cy="1485900"/>
          </a:xfrm>
          <a:prstGeom prst="rect">
            <a:avLst/>
          </a:prstGeom>
        </p:spPr>
        <p:txBody>
          <a:bodyPr/>
          <a:lst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sz="4000" dirty="0">
                <a:latin typeface="+mn-lt"/>
              </a:rPr>
              <a:t>Standardized Marketing Information:</a:t>
            </a:r>
            <a:br>
              <a:rPr lang="en-US" sz="4000" dirty="0">
                <a:latin typeface="+mn-lt"/>
              </a:rPr>
            </a:br>
            <a:r>
              <a:rPr lang="en-US" sz="4000" dirty="0">
                <a:latin typeface="+mn-lt"/>
              </a:rPr>
              <a:t>Measuring Advertising Exposure and Effectiveness</a:t>
            </a:r>
          </a:p>
        </p:txBody>
      </p:sp>
      <p:sp>
        <p:nvSpPr>
          <p:cNvPr id="3" name="Content Placeholder 4"/>
          <p:cNvSpPr txBox="1">
            <a:spLocks/>
          </p:cNvSpPr>
          <p:nvPr/>
        </p:nvSpPr>
        <p:spPr>
          <a:xfrm>
            <a:off x="2828365" y="2362200"/>
            <a:ext cx="7543800" cy="396240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t>Cross-platform Services</a:t>
            </a:r>
          </a:p>
          <a:p>
            <a:pPr lvl="1"/>
            <a:r>
              <a:rPr lang="en-US" dirty="0"/>
              <a:t>Simmons National Consumer Study</a:t>
            </a:r>
          </a:p>
          <a:p>
            <a:pPr lvl="1"/>
            <a:r>
              <a:rPr lang="en-US" dirty="0">
                <a:hlinkClick r:id="rId2"/>
              </a:rPr>
              <a:t>GfK MRI</a:t>
            </a:r>
            <a:r>
              <a:rPr lang="en-US" dirty="0"/>
              <a:t>, </a:t>
            </a:r>
          </a:p>
          <a:p>
            <a:pPr lvl="1"/>
            <a:r>
              <a:rPr lang="en-US" dirty="0"/>
              <a:t>comScore, WebTrends, Nielsen, Circana</a:t>
            </a:r>
          </a:p>
          <a:p>
            <a:endParaRPr lang="en-US" dirty="0"/>
          </a:p>
        </p:txBody>
      </p:sp>
    </p:spTree>
    <p:extLst>
      <p:ext uri="{BB962C8B-B14F-4D97-AF65-F5344CB8AC3E}">
        <p14:creationId xmlns:p14="http://schemas.microsoft.com/office/powerpoint/2010/main" val="186189671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914400" y="914400"/>
            <a:ext cx="8868503" cy="685800"/>
          </a:xfrm>
        </p:spPr>
        <p:txBody>
          <a:bodyPr>
            <a:normAutofit fontScale="90000"/>
          </a:bodyPr>
          <a:lstStyle/>
          <a:p>
            <a:pPr eaLnBrk="1" hangingPunct="1"/>
            <a:r>
              <a:rPr lang="en-US" altLang="en-US" sz="4400" dirty="0">
                <a:latin typeface="+mn-lt"/>
                <a:hlinkClick r:id="rId2"/>
              </a:rPr>
              <a:t>Single-Source Data </a:t>
            </a:r>
            <a:r>
              <a:rPr lang="en-US" altLang="en-US" sz="4400" dirty="0">
                <a:latin typeface="+mn-lt"/>
              </a:rPr>
              <a:t>in a Perfect World</a:t>
            </a:r>
          </a:p>
        </p:txBody>
      </p:sp>
      <p:pic>
        <p:nvPicPr>
          <p:cNvPr id="819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98171" y="1752600"/>
            <a:ext cx="8802448" cy="434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2520254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dirty="0">
                <a:latin typeface="+mn-lt"/>
              </a:rPr>
              <a:t>Other Sources of Data</a:t>
            </a:r>
          </a:p>
        </p:txBody>
      </p:sp>
      <p:sp>
        <p:nvSpPr>
          <p:cNvPr id="4" name="Text Placeholder 3"/>
          <p:cNvSpPr>
            <a:spLocks noGrp="1"/>
          </p:cNvSpPr>
          <p:nvPr>
            <p:ph type="body" idx="1"/>
          </p:nvPr>
        </p:nvSpPr>
        <p:spPr/>
        <p:txBody>
          <a:bodyPr/>
          <a:lstStyle/>
          <a:p>
            <a:endParaRPr lang="en-US"/>
          </a:p>
        </p:txBody>
      </p:sp>
    </p:spTree>
    <p:extLst>
      <p:ext uri="{BB962C8B-B14F-4D97-AF65-F5344CB8AC3E}">
        <p14:creationId xmlns:p14="http://schemas.microsoft.com/office/powerpoint/2010/main" val="393041959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mn-lt"/>
              </a:rPr>
              <a:t>Sources of “Big Data”</a:t>
            </a:r>
          </a:p>
        </p:txBody>
      </p:sp>
      <p:sp>
        <p:nvSpPr>
          <p:cNvPr id="3" name="Content Placeholder 2"/>
          <p:cNvSpPr>
            <a:spLocks noGrp="1"/>
          </p:cNvSpPr>
          <p:nvPr>
            <p:ph idx="1"/>
          </p:nvPr>
        </p:nvSpPr>
        <p:spPr/>
        <p:txBody>
          <a:bodyPr/>
          <a:lstStyle/>
          <a:p>
            <a:pPr marL="0" indent="0">
              <a:buNone/>
            </a:pPr>
            <a:r>
              <a:rPr lang="en-US" sz="3600" b="1" dirty="0">
                <a:solidFill>
                  <a:schemeClr val="tx2"/>
                </a:solidFill>
              </a:rPr>
              <a:t>STRUCTURED DATA</a:t>
            </a:r>
          </a:p>
          <a:p>
            <a:pPr marL="457200" lvl="1" indent="0">
              <a:buNone/>
            </a:pPr>
            <a:r>
              <a:rPr lang="en-US" sz="2400" dirty="0"/>
              <a:t>Data that can be written into rows on a spreadsheet or database based on standard column headings.</a:t>
            </a:r>
          </a:p>
          <a:p>
            <a:pPr marL="457200" lvl="1" indent="0">
              <a:buNone/>
            </a:pPr>
            <a:endParaRPr lang="en-US" sz="2400" dirty="0"/>
          </a:p>
          <a:p>
            <a:pPr marL="457200" lvl="1" indent="0">
              <a:buNone/>
            </a:pPr>
            <a:r>
              <a:rPr lang="en-US" sz="2400" b="1" i="1" dirty="0"/>
              <a:t>Examples:</a:t>
            </a:r>
            <a:r>
              <a:rPr lang="en-US" sz="2400" dirty="0"/>
              <a:t> transactional data, customer profile information obtained from registration materials or other sources</a:t>
            </a:r>
          </a:p>
        </p:txBody>
      </p:sp>
    </p:spTree>
    <p:extLst>
      <p:ext uri="{BB962C8B-B14F-4D97-AF65-F5344CB8AC3E}">
        <p14:creationId xmlns:p14="http://schemas.microsoft.com/office/powerpoint/2010/main" val="376205184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2286000" y="2438400"/>
            <a:ext cx="7391400" cy="396240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UNSTRUCTURED DATA</a:t>
            </a:r>
          </a:p>
          <a:p>
            <a:pPr marL="457200" lvl="1" indent="0">
              <a:buNone/>
            </a:pPr>
            <a:r>
              <a:rPr lang="en-US" dirty="0"/>
              <a:t>Data that take the form of social media comments, blog posts, other text-based communication, photos, video, audio, or any other form that is not easily arranged in structured format.</a:t>
            </a:r>
          </a:p>
          <a:p>
            <a:pPr marL="457200" lvl="1" indent="0">
              <a:buNone/>
            </a:pPr>
            <a:endParaRPr lang="en-US" sz="800" dirty="0"/>
          </a:p>
        </p:txBody>
      </p:sp>
      <p:sp>
        <p:nvSpPr>
          <p:cNvPr id="4" name="Title 3"/>
          <p:cNvSpPr>
            <a:spLocks noGrp="1"/>
          </p:cNvSpPr>
          <p:nvPr>
            <p:ph type="title"/>
          </p:nvPr>
        </p:nvSpPr>
        <p:spPr>
          <a:xfrm>
            <a:off x="914400" y="990600"/>
            <a:ext cx="8534400" cy="758952"/>
          </a:xfrm>
        </p:spPr>
        <p:txBody>
          <a:bodyPr>
            <a:normAutofit/>
          </a:bodyPr>
          <a:lstStyle/>
          <a:p>
            <a:r>
              <a:rPr lang="en-US" sz="4000" dirty="0">
                <a:latin typeface="+mn-lt"/>
              </a:rPr>
              <a:t>Sources of “Big Data”</a:t>
            </a:r>
          </a:p>
        </p:txBody>
      </p:sp>
    </p:spTree>
    <p:extLst>
      <p:ext uri="{BB962C8B-B14F-4D97-AF65-F5344CB8AC3E}">
        <p14:creationId xmlns:p14="http://schemas.microsoft.com/office/powerpoint/2010/main" val="95546523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3051" y="838200"/>
            <a:ext cx="8763000" cy="792162"/>
          </a:xfrm>
        </p:spPr>
        <p:txBody>
          <a:bodyPr>
            <a:normAutofit fontScale="90000"/>
          </a:bodyPr>
          <a:lstStyle/>
          <a:p>
            <a:r>
              <a:rPr lang="en-US" dirty="0">
                <a:latin typeface="+mn-lt"/>
              </a:rPr>
              <a:t>Key Types of Unstructured Data: Social Data</a:t>
            </a:r>
          </a:p>
        </p:txBody>
      </p:sp>
      <p:sp>
        <p:nvSpPr>
          <p:cNvPr id="3" name="Content Placeholder 2"/>
          <p:cNvSpPr>
            <a:spLocks noGrp="1"/>
          </p:cNvSpPr>
          <p:nvPr>
            <p:ph idx="1"/>
          </p:nvPr>
        </p:nvSpPr>
        <p:spPr/>
        <p:txBody>
          <a:bodyPr/>
          <a:lstStyle/>
          <a:p>
            <a:r>
              <a:rPr lang="en-US" b="1" dirty="0"/>
              <a:t>“Voice of the Customer” Data: </a:t>
            </a:r>
            <a:r>
              <a:rPr lang="en-US" dirty="0"/>
              <a:t>unstructured posts on social media networks such as Facebook, Twitter, Google+, YouTube, Instagram, LinkedIn, Tumblr, Pinterest, etc.</a:t>
            </a:r>
          </a:p>
          <a:p>
            <a:r>
              <a:rPr lang="en-US" b="1" dirty="0">
                <a:hlinkClick r:id="rId2"/>
              </a:rPr>
              <a:t>Social Network Analysis</a:t>
            </a:r>
            <a:r>
              <a:rPr lang="en-US" b="1" dirty="0"/>
              <a:t>: </a:t>
            </a:r>
            <a:r>
              <a:rPr lang="en-US" dirty="0"/>
              <a:t>a popular tool for studying the social connections between people.</a:t>
            </a:r>
          </a:p>
        </p:txBody>
      </p:sp>
    </p:spTree>
    <p:extLst>
      <p:ext uri="{BB962C8B-B14F-4D97-AF65-F5344CB8AC3E}">
        <p14:creationId xmlns:p14="http://schemas.microsoft.com/office/powerpoint/2010/main" val="77484309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762000" y="685800"/>
            <a:ext cx="7696200" cy="1143000"/>
          </a:xfrm>
          <a:prstGeom prst="rect">
            <a:avLst/>
          </a:prstGeom>
        </p:spPr>
        <p:txBody>
          <a:bodyPr/>
          <a:lst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sz="4000" dirty="0">
                <a:latin typeface="+mn-lt"/>
              </a:rPr>
              <a:t>Key Types of Unstructured Data: Mobile Data</a:t>
            </a:r>
          </a:p>
        </p:txBody>
      </p:sp>
      <p:sp>
        <p:nvSpPr>
          <p:cNvPr id="3" name="Content Placeholder 2"/>
          <p:cNvSpPr txBox="1">
            <a:spLocks/>
          </p:cNvSpPr>
          <p:nvPr/>
        </p:nvSpPr>
        <p:spPr>
          <a:xfrm>
            <a:off x="1533330" y="2654560"/>
            <a:ext cx="8229600" cy="396240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t>Smartphone and Tablet Data: </a:t>
            </a:r>
            <a:r>
              <a:rPr lang="en-US" dirty="0"/>
              <a:t>data from texting, photo sharing, in-store shopping.</a:t>
            </a:r>
          </a:p>
          <a:p>
            <a:r>
              <a:rPr lang="en-US" b="1" dirty="0"/>
              <a:t>Location-based Services: </a:t>
            </a:r>
            <a:r>
              <a:rPr lang="en-US" dirty="0"/>
              <a:t>geo-targeted text messages, mapping services, location-sharing, and location data from call records.</a:t>
            </a:r>
          </a:p>
        </p:txBody>
      </p:sp>
    </p:spTree>
    <p:extLst>
      <p:ext uri="{BB962C8B-B14F-4D97-AF65-F5344CB8AC3E}">
        <p14:creationId xmlns:p14="http://schemas.microsoft.com/office/powerpoint/2010/main" val="185882951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10101072" cy="1499616"/>
          </a:xfrm>
        </p:spPr>
        <p:txBody>
          <a:bodyPr>
            <a:normAutofit/>
          </a:bodyPr>
          <a:lstStyle/>
          <a:p>
            <a:r>
              <a:rPr lang="en-US" sz="4000" dirty="0">
                <a:latin typeface="+mn-lt"/>
              </a:rPr>
              <a:t>Key Challenges of “Big Data” Integration</a:t>
            </a:r>
          </a:p>
        </p:txBody>
      </p:sp>
      <p:sp>
        <p:nvSpPr>
          <p:cNvPr id="3" name="Content Placeholder 2"/>
          <p:cNvSpPr>
            <a:spLocks noGrp="1"/>
          </p:cNvSpPr>
          <p:nvPr>
            <p:ph idx="1"/>
          </p:nvPr>
        </p:nvSpPr>
        <p:spPr/>
        <p:txBody>
          <a:bodyPr>
            <a:normAutofit/>
          </a:bodyPr>
          <a:lstStyle/>
          <a:p>
            <a:r>
              <a:rPr lang="en-US" sz="3200" dirty="0"/>
              <a:t>Access to and retrieval of data (including data integration)</a:t>
            </a:r>
          </a:p>
          <a:p>
            <a:r>
              <a:rPr lang="en-US" sz="3200" dirty="0"/>
              <a:t>Analytic skills</a:t>
            </a:r>
          </a:p>
          <a:p>
            <a:r>
              <a:rPr lang="en-US" sz="3200" dirty="0"/>
              <a:t>Firm integration of big data</a:t>
            </a:r>
          </a:p>
        </p:txBody>
      </p:sp>
    </p:spTree>
    <p:extLst>
      <p:ext uri="{BB962C8B-B14F-4D97-AF65-F5344CB8AC3E}">
        <p14:creationId xmlns:p14="http://schemas.microsoft.com/office/powerpoint/2010/main" val="396097551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latin typeface="+mn-lt"/>
              </a:rPr>
              <a:t>Coding</a:t>
            </a:r>
            <a:r>
              <a:rPr lang="en-US" dirty="0"/>
              <a:t>…</a:t>
            </a:r>
          </a:p>
        </p:txBody>
      </p:sp>
      <p:sp>
        <p:nvSpPr>
          <p:cNvPr id="3" name="Content Placeholder 2"/>
          <p:cNvSpPr>
            <a:spLocks noGrp="1"/>
          </p:cNvSpPr>
          <p:nvPr>
            <p:ph idx="1"/>
          </p:nvPr>
        </p:nvSpPr>
        <p:spPr>
          <a:xfrm>
            <a:off x="838200" y="1825625"/>
            <a:ext cx="8921620" cy="4351338"/>
          </a:xfrm>
        </p:spPr>
        <p:txBody>
          <a:bodyPr/>
          <a:lstStyle/>
          <a:p>
            <a:r>
              <a:rPr lang="en-US" dirty="0"/>
              <a:t>This is the process of changing words into symbols (usually numbers) to facilitate analysis</a:t>
            </a:r>
          </a:p>
          <a:p>
            <a:r>
              <a:rPr lang="en-US" dirty="0"/>
              <a:t>We will discuss at length in the future but wanted to bring it up now</a:t>
            </a:r>
          </a:p>
        </p:txBody>
      </p:sp>
    </p:spTree>
    <p:extLst>
      <p:ext uri="{BB962C8B-B14F-4D97-AF65-F5344CB8AC3E}">
        <p14:creationId xmlns:p14="http://schemas.microsoft.com/office/powerpoint/2010/main" val="25851932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mn-lt"/>
              </a:rPr>
              <a:t>Executive Summary</a:t>
            </a:r>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2105738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000" dirty="0">
                <a:latin typeface="+mn-lt"/>
              </a:rPr>
              <a:t>Aim</a:t>
            </a:r>
          </a:p>
        </p:txBody>
      </p:sp>
      <p:sp>
        <p:nvSpPr>
          <p:cNvPr id="5" name="Content Placeholder 4"/>
          <p:cNvSpPr>
            <a:spLocks noGrp="1"/>
          </p:cNvSpPr>
          <p:nvPr>
            <p:ph idx="1"/>
          </p:nvPr>
        </p:nvSpPr>
        <p:spPr/>
        <p:txBody>
          <a:bodyPr>
            <a:normAutofit/>
          </a:bodyPr>
          <a:lstStyle/>
          <a:p>
            <a:r>
              <a:rPr lang="en-US" sz="2800" dirty="0"/>
              <a:t>Convey complex ideas in a concise manner</a:t>
            </a:r>
          </a:p>
          <a:p>
            <a:endParaRPr lang="en-US" sz="2800" dirty="0"/>
          </a:p>
          <a:p>
            <a:r>
              <a:rPr lang="en-US" sz="2800" dirty="0"/>
              <a:t>In a single page the reader should know:</a:t>
            </a:r>
          </a:p>
          <a:p>
            <a:pPr marL="470916" lvl="1" indent="-342900">
              <a:buFont typeface="+mj-lt"/>
              <a:buAutoNum type="arabicPeriod"/>
            </a:pPr>
            <a:r>
              <a:rPr lang="en-US" sz="2400" dirty="0"/>
              <a:t>The goal of the report (i.e. what question it answers)</a:t>
            </a:r>
          </a:p>
          <a:p>
            <a:pPr marL="470916" lvl="1" indent="-342900">
              <a:buFont typeface="+mj-lt"/>
              <a:buAutoNum type="arabicPeriod"/>
            </a:pPr>
            <a:r>
              <a:rPr lang="en-US" sz="2400" dirty="0"/>
              <a:t>The basics of the data (this will differ based on method, audience, etc.)</a:t>
            </a:r>
          </a:p>
          <a:p>
            <a:pPr marL="653796" lvl="2" indent="-342900">
              <a:buFont typeface="+mj-lt"/>
              <a:buAutoNum type="arabicPeriod"/>
            </a:pPr>
            <a:r>
              <a:rPr lang="en-US" sz="1800" dirty="0"/>
              <a:t>Where it came from, how it was collected, how it was analyzed, who it represents</a:t>
            </a:r>
          </a:p>
          <a:p>
            <a:pPr marL="470916" lvl="1" indent="-342900">
              <a:buFont typeface="+mj-lt"/>
              <a:buAutoNum type="arabicPeriod"/>
            </a:pPr>
            <a:r>
              <a:rPr lang="en-US" sz="2400" dirty="0"/>
              <a:t>Findings / Insights (Key Takeaways)</a:t>
            </a:r>
          </a:p>
          <a:p>
            <a:pPr marL="470916" lvl="1" indent="-342900">
              <a:buFont typeface="+mj-lt"/>
              <a:buAutoNum type="arabicPeriod"/>
            </a:pPr>
            <a:r>
              <a:rPr lang="en-US" sz="2400" dirty="0"/>
              <a:t>Recommendations (depending—not this time!)</a:t>
            </a:r>
          </a:p>
          <a:p>
            <a:pPr marL="470916" lvl="1" indent="-342900">
              <a:buFont typeface="+mj-lt"/>
              <a:buAutoNum type="arabicPeriod"/>
            </a:pPr>
            <a:endParaRPr lang="en-US" sz="2400" dirty="0"/>
          </a:p>
        </p:txBody>
      </p:sp>
    </p:spTree>
    <p:extLst>
      <p:ext uri="{BB962C8B-B14F-4D97-AF65-F5344CB8AC3E}">
        <p14:creationId xmlns:p14="http://schemas.microsoft.com/office/powerpoint/2010/main" val="282578451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mn-lt"/>
              </a:rPr>
              <a:t>Tips</a:t>
            </a:r>
          </a:p>
        </p:txBody>
      </p:sp>
      <p:sp>
        <p:nvSpPr>
          <p:cNvPr id="3" name="Content Placeholder 2"/>
          <p:cNvSpPr>
            <a:spLocks noGrp="1"/>
          </p:cNvSpPr>
          <p:nvPr>
            <p:ph idx="1"/>
          </p:nvPr>
        </p:nvSpPr>
        <p:spPr/>
        <p:txBody>
          <a:bodyPr/>
          <a:lstStyle/>
          <a:p>
            <a:r>
              <a:rPr lang="en-US" dirty="0"/>
              <a:t>Assume that the reader will not read anything but the summary</a:t>
            </a:r>
          </a:p>
          <a:p>
            <a:r>
              <a:rPr lang="en-US" dirty="0"/>
              <a:t>Be organized: have a beginning, middle and end</a:t>
            </a:r>
          </a:p>
          <a:p>
            <a:r>
              <a:rPr lang="en-US" dirty="0"/>
              <a:t>Keep things focused</a:t>
            </a:r>
          </a:p>
          <a:p>
            <a:r>
              <a:rPr lang="en-US" dirty="0"/>
              <a:t>Decide on a structure (e.g. positives vs. negatives; expected vs. unexpected findings; broad to narrow insights; product vs. service vs. location)</a:t>
            </a:r>
          </a:p>
          <a:p>
            <a:r>
              <a:rPr lang="en-US" dirty="0"/>
              <a:t>Do not repeat yourself</a:t>
            </a:r>
          </a:p>
          <a:p>
            <a:r>
              <a:rPr lang="en-US" dirty="0"/>
              <a:t>Be sure to explain concepts that the reader may not be familiar with</a:t>
            </a:r>
          </a:p>
        </p:txBody>
      </p:sp>
    </p:spTree>
    <p:extLst>
      <p:ext uri="{BB962C8B-B14F-4D97-AF65-F5344CB8AC3E}">
        <p14:creationId xmlns:p14="http://schemas.microsoft.com/office/powerpoint/2010/main" val="271682568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mn-lt"/>
              </a:rPr>
              <a:t>Formatting</a:t>
            </a:r>
          </a:p>
        </p:txBody>
      </p:sp>
      <p:sp>
        <p:nvSpPr>
          <p:cNvPr id="3" name="Content Placeholder 2"/>
          <p:cNvSpPr>
            <a:spLocks noGrp="1"/>
          </p:cNvSpPr>
          <p:nvPr>
            <p:ph idx="1"/>
          </p:nvPr>
        </p:nvSpPr>
        <p:spPr/>
        <p:txBody>
          <a:bodyPr/>
          <a:lstStyle/>
          <a:p>
            <a:r>
              <a:rPr lang="en-US" dirty="0"/>
              <a:t>Some bullet points are fine but it shouldn’t be just bullet points</a:t>
            </a:r>
          </a:p>
          <a:p>
            <a:r>
              <a:rPr lang="en-US" dirty="0"/>
              <a:t>Double-spaced or single spaced</a:t>
            </a:r>
          </a:p>
          <a:p>
            <a:r>
              <a:rPr lang="en-US" dirty="0"/>
              <a:t>Normal margins (1 inch)</a:t>
            </a:r>
          </a:p>
          <a:p>
            <a:pPr lvl="0"/>
            <a:r>
              <a:rPr lang="en-US" sz="2400" dirty="0"/>
              <a:t>Resources:  </a:t>
            </a:r>
            <a:endParaRPr lang="en-US" sz="2000" dirty="0"/>
          </a:p>
          <a:p>
            <a:pPr lvl="1"/>
            <a:r>
              <a:rPr lang="en-US" u="sng" dirty="0">
                <a:hlinkClick r:id="rId2"/>
              </a:rPr>
              <a:t>How to Write an Executive Summary</a:t>
            </a:r>
            <a:endParaRPr lang="en-US" sz="1600" dirty="0"/>
          </a:p>
          <a:p>
            <a:pPr lvl="1"/>
            <a:r>
              <a:rPr lang="en-US" u="sng" dirty="0">
                <a:hlinkClick r:id="rId3"/>
              </a:rPr>
              <a:t>How to Write a Compelling Executive Summary</a:t>
            </a:r>
            <a:endParaRPr lang="en-US" sz="1600" dirty="0"/>
          </a:p>
          <a:p>
            <a:pPr lvl="1"/>
            <a:r>
              <a:rPr lang="en-US" u="sng" dirty="0">
                <a:hlinkClick r:id="rId4"/>
              </a:rPr>
              <a:t>Tips How To Write an Executive Summary Properly</a:t>
            </a:r>
            <a:r>
              <a:rPr lang="en-US" dirty="0"/>
              <a:t> </a:t>
            </a:r>
            <a:endParaRPr lang="en-US" sz="1600" dirty="0"/>
          </a:p>
          <a:p>
            <a:pPr lvl="1"/>
            <a:r>
              <a:rPr lang="en-US" u="sng" dirty="0">
                <a:hlinkClick r:id="rId5"/>
              </a:rPr>
              <a:t>The Art of the Executive Summary</a:t>
            </a:r>
            <a:r>
              <a:rPr lang="en-US" dirty="0"/>
              <a:t> </a:t>
            </a:r>
            <a:endParaRPr lang="en-US" sz="1600" dirty="0"/>
          </a:p>
          <a:p>
            <a:pPr lvl="1"/>
            <a:r>
              <a:rPr lang="en-US" dirty="0"/>
              <a:t>Get creative: </a:t>
            </a:r>
            <a:r>
              <a:rPr lang="en-US" u="sng" dirty="0">
                <a:hlinkClick r:id="rId6"/>
              </a:rPr>
              <a:t>Executive Summary</a:t>
            </a:r>
            <a:r>
              <a:rPr lang="en-US" dirty="0"/>
              <a:t> </a:t>
            </a:r>
            <a:endParaRPr lang="en-US" sz="1600" dirty="0"/>
          </a:p>
          <a:p>
            <a:endParaRPr lang="en-US" dirty="0"/>
          </a:p>
        </p:txBody>
      </p:sp>
    </p:spTree>
    <p:extLst>
      <p:ext uri="{BB962C8B-B14F-4D97-AF65-F5344CB8AC3E}">
        <p14:creationId xmlns:p14="http://schemas.microsoft.com/office/powerpoint/2010/main" val="266595344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mn-lt"/>
              </a:rPr>
              <a:t>During the rest of class …</a:t>
            </a:r>
          </a:p>
        </p:txBody>
      </p:sp>
      <p:sp>
        <p:nvSpPr>
          <p:cNvPr id="3" name="Content Placeholder 2"/>
          <p:cNvSpPr>
            <a:spLocks noGrp="1"/>
          </p:cNvSpPr>
          <p:nvPr>
            <p:ph idx="1"/>
          </p:nvPr>
        </p:nvSpPr>
        <p:spPr/>
        <p:txBody>
          <a:bodyPr/>
          <a:lstStyle/>
          <a:p>
            <a:r>
              <a:rPr lang="en-US" dirty="0"/>
              <a:t>Get with your group</a:t>
            </a:r>
          </a:p>
          <a:p>
            <a:pPr marL="457200" indent="-457200">
              <a:buFont typeface="+mj-lt"/>
              <a:buAutoNum type="arabicPeriod"/>
            </a:pPr>
            <a:r>
              <a:rPr lang="en-US" dirty="0"/>
              <a:t>Create a game plan</a:t>
            </a:r>
          </a:p>
          <a:p>
            <a:pPr marL="630936" lvl="1" indent="-457200">
              <a:buFont typeface="+mj-lt"/>
              <a:buAutoNum type="arabicPeriod"/>
            </a:pPr>
            <a:r>
              <a:rPr lang="en-US" dirty="0"/>
              <a:t>How are you going to combine your results? Do you need to do some coding as a team to facilitate this process?</a:t>
            </a:r>
          </a:p>
          <a:p>
            <a:pPr marL="630936" lvl="1" indent="-457200">
              <a:buFont typeface="+mj-lt"/>
              <a:buAutoNum type="arabicPeriod"/>
            </a:pPr>
            <a:r>
              <a:rPr lang="en-US" dirty="0"/>
              <a:t>What are the some key themes or ideas that you each found?</a:t>
            </a:r>
          </a:p>
          <a:p>
            <a:pPr marL="630936" lvl="1" indent="-457200">
              <a:buFont typeface="+mj-lt"/>
              <a:buAutoNum type="arabicPeriod"/>
            </a:pPr>
            <a:r>
              <a:rPr lang="en-US" dirty="0"/>
              <a:t>How are you going to put together the executive summary?  What is each person’s role?</a:t>
            </a:r>
          </a:p>
          <a:p>
            <a:pPr marL="457200" indent="-457200">
              <a:buFont typeface="+mj-lt"/>
              <a:buAutoNum type="arabicPeriod"/>
            </a:pPr>
            <a:r>
              <a:rPr lang="en-US" dirty="0"/>
              <a:t>Do a peer review of each others’ initial executive summary.  What works, </a:t>
            </a:r>
            <a:r>
              <a:rPr lang="en-US"/>
              <a:t>what doesn’t?</a:t>
            </a:r>
            <a:endParaRPr lang="en-US" dirty="0"/>
          </a:p>
          <a:p>
            <a:pPr marL="630936" lvl="1" indent="-457200">
              <a:buFont typeface="+mj-lt"/>
              <a:buAutoNum type="arabicPeriod"/>
            </a:pPr>
            <a:endParaRPr lang="en-US" dirty="0"/>
          </a:p>
        </p:txBody>
      </p:sp>
    </p:spTree>
    <p:extLst>
      <p:ext uri="{BB962C8B-B14F-4D97-AF65-F5344CB8AC3E}">
        <p14:creationId xmlns:p14="http://schemas.microsoft.com/office/powerpoint/2010/main" val="149684793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3000" b="-3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96880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XU_PPTtemplate2" id="{0469F02D-B852-2749-917C-AD4BF6465C21}" vid="{F25CEA40-8609-7F4F-BE1D-8B08452F0A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xu-powerpoint-template3</Template>
  <TotalTime>1298</TotalTime>
  <Words>1368</Words>
  <Application>Microsoft Office PowerPoint</Application>
  <PresentationFormat>Widescreen</PresentationFormat>
  <Paragraphs>164</Paragraphs>
  <Slides>35</Slides>
  <Notes>7</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Calibri Light</vt:lpstr>
      <vt:lpstr>Wingdings</vt:lpstr>
      <vt:lpstr>Office Theme</vt:lpstr>
      <vt:lpstr>Secondary Data</vt:lpstr>
      <vt:lpstr>Click to add title</vt:lpstr>
      <vt:lpstr>An update on your project …</vt:lpstr>
      <vt:lpstr>Student Learning Objectives</vt:lpstr>
      <vt:lpstr>Definition of Secondary Data</vt:lpstr>
      <vt:lpstr>Traditional Types of Internal and External Secondary Data</vt:lpstr>
      <vt:lpstr>PowerPoint Presentation</vt:lpstr>
      <vt:lpstr>PowerPoint Presentation</vt:lpstr>
      <vt:lpstr>PowerPoint Presentation</vt:lpstr>
      <vt:lpstr>PowerPoint Presentation</vt:lpstr>
      <vt:lpstr>Limitations of the Systems Approach</vt:lpstr>
      <vt:lpstr>External Secondary Data</vt:lpstr>
      <vt:lpstr>PowerPoint Presentation</vt:lpstr>
      <vt:lpstr>STANDARDIZED MARKETING INFORMATION</vt:lpstr>
      <vt:lpstr>For the first half of the class …</vt:lpstr>
      <vt:lpstr>Standardized Marketing Information: Profiling Customers</vt:lpstr>
      <vt:lpstr>Geo-demographic Data</vt:lpstr>
      <vt:lpstr>Who buys Coffee?</vt:lpstr>
      <vt:lpstr>PowerPoint Presentation</vt:lpstr>
      <vt:lpstr>PowerPoint Presentation</vt:lpstr>
      <vt:lpstr>PowerPoint Presentation</vt:lpstr>
      <vt:lpstr>Single-Source Data in a Perfect World</vt:lpstr>
      <vt:lpstr>Other Sources of Data</vt:lpstr>
      <vt:lpstr>Sources of “Big Data”</vt:lpstr>
      <vt:lpstr>Sources of “Big Data”</vt:lpstr>
      <vt:lpstr>Key Types of Unstructured Data: Social Data</vt:lpstr>
      <vt:lpstr>PowerPoint Presentation</vt:lpstr>
      <vt:lpstr>Key Challenges of “Big Data” Integration</vt:lpstr>
      <vt:lpstr>Coding…</vt:lpstr>
      <vt:lpstr>Executive Summary</vt:lpstr>
      <vt:lpstr>Aim</vt:lpstr>
      <vt:lpstr>Tips</vt:lpstr>
      <vt:lpstr>Formatting</vt:lpstr>
      <vt:lpstr>During the rest of class …</vt:lpstr>
      <vt:lpstr>PowerPoint Presentation</vt:lpstr>
    </vt:vector>
  </TitlesOfParts>
  <Company>Xavier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Strategy</dc:title>
  <dc:creator>Beck, Scott</dc:creator>
  <cp:lastModifiedBy>Beck, Scott</cp:lastModifiedBy>
  <cp:revision>70</cp:revision>
  <cp:lastPrinted>2020-08-26T16:29:50Z</cp:lastPrinted>
  <dcterms:created xsi:type="dcterms:W3CDTF">2020-06-29T15:54:52Z</dcterms:created>
  <dcterms:modified xsi:type="dcterms:W3CDTF">2025-01-30T14:23:17Z</dcterms:modified>
</cp:coreProperties>
</file>