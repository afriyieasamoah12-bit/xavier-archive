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4"/>
  </p:notesMasterIdLst>
  <p:sldIdLst>
    <p:sldId id="258" r:id="rId2"/>
    <p:sldId id="349" r:id="rId3"/>
    <p:sldId id="296" r:id="rId4"/>
    <p:sldId id="298" r:id="rId5"/>
    <p:sldId id="331" r:id="rId6"/>
    <p:sldId id="350" r:id="rId7"/>
    <p:sldId id="333" r:id="rId8"/>
    <p:sldId id="337" r:id="rId9"/>
    <p:sldId id="345" r:id="rId10"/>
    <p:sldId id="334" r:id="rId11"/>
    <p:sldId id="335" r:id="rId12"/>
    <p:sldId id="33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C23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94660"/>
  </p:normalViewPr>
  <p:slideViewPr>
    <p:cSldViewPr>
      <p:cViewPr varScale="1">
        <p:scale>
          <a:sx n="107" d="100"/>
          <a:sy n="107" d="100"/>
        </p:scale>
        <p:origin x="1758" y="10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E3434F-2E53-4848-871E-A8BE0D091F8C}" type="doc">
      <dgm:prSet loTypeId="urn:microsoft.com/office/officeart/2005/8/layout/pyramid1" loCatId="pyramid" qsTypeId="urn:microsoft.com/office/officeart/2005/8/quickstyle/simple1" qsCatId="simple" csTypeId="urn:microsoft.com/office/officeart/2005/8/colors/accent1_2" csCatId="accent1" phldr="1"/>
      <dgm:spPr/>
    </dgm:pt>
    <dgm:pt modelId="{6B9A0126-2E7E-45A6-8295-0C904D00A1D0}">
      <dgm:prSet phldrT="[Text]" custT="1"/>
      <dgm:spPr>
        <a:solidFill>
          <a:schemeClr val="accent4">
            <a:lumMod val="60000"/>
            <a:lumOff val="40000"/>
          </a:schemeClr>
        </a:solidFill>
      </dgm:spPr>
      <dgm:t>
        <a:bodyPr anchor="b" anchorCtr="0"/>
        <a:lstStyle/>
        <a:p>
          <a:r>
            <a:rPr lang="en-US" sz="2000" dirty="0">
              <a:solidFill>
                <a:srgbClr val="000000"/>
              </a:solidFill>
            </a:rPr>
            <a:t>Level 3: </a:t>
          </a:r>
        </a:p>
        <a:p>
          <a:r>
            <a:rPr lang="en-US" sz="2000" dirty="0">
              <a:solidFill>
                <a:srgbClr val="000000"/>
              </a:solidFill>
            </a:rPr>
            <a:t>Pareto-optimal</a:t>
          </a:r>
        </a:p>
      </dgm:t>
    </dgm:pt>
    <dgm:pt modelId="{558039FC-B482-4060-A6F4-1CF84E82E3A4}" type="parTrans" cxnId="{BBA75E6A-3D72-4CF9-B5E1-61FD1B2F804E}">
      <dgm:prSet/>
      <dgm:spPr/>
      <dgm:t>
        <a:bodyPr/>
        <a:lstStyle/>
        <a:p>
          <a:endParaRPr lang="en-US"/>
        </a:p>
      </dgm:t>
    </dgm:pt>
    <dgm:pt modelId="{1715E752-4FA6-4B42-87A2-95B1894C9E3A}" type="sibTrans" cxnId="{BBA75E6A-3D72-4CF9-B5E1-61FD1B2F804E}">
      <dgm:prSet/>
      <dgm:spPr/>
      <dgm:t>
        <a:bodyPr/>
        <a:lstStyle/>
        <a:p>
          <a:endParaRPr lang="en-US"/>
        </a:p>
      </dgm:t>
    </dgm:pt>
    <dgm:pt modelId="{DD5D0123-F36B-4E1A-B761-6DF8F8748417}">
      <dgm:prSet phldrT="[Text]" custT="1"/>
      <dgm:spPr>
        <a:solidFill>
          <a:schemeClr val="accent4">
            <a:lumMod val="60000"/>
            <a:lumOff val="40000"/>
          </a:schemeClr>
        </a:solidFill>
      </dgm:spPr>
      <dgm:t>
        <a:bodyPr anchor="ctr" anchorCtr="0"/>
        <a:lstStyle/>
        <a:p>
          <a:r>
            <a:rPr lang="en-US" sz="2000" dirty="0">
              <a:solidFill>
                <a:srgbClr val="000000"/>
              </a:solidFill>
            </a:rPr>
            <a:t>Level 2:</a:t>
          </a:r>
        </a:p>
        <a:p>
          <a:r>
            <a:rPr lang="en-US" sz="2000" dirty="0">
              <a:solidFill>
                <a:srgbClr val="000000"/>
              </a:solidFill>
            </a:rPr>
            <a:t>Settlement demonstrably superior to other feasible settlements</a:t>
          </a:r>
        </a:p>
      </dgm:t>
    </dgm:pt>
    <dgm:pt modelId="{B21CFD7B-84EC-462D-BF05-92404E7E3BA4}" type="parTrans" cxnId="{84F38482-6AE5-4E50-A088-85F9730B9F6B}">
      <dgm:prSet/>
      <dgm:spPr/>
      <dgm:t>
        <a:bodyPr/>
        <a:lstStyle/>
        <a:p>
          <a:endParaRPr lang="en-US"/>
        </a:p>
      </dgm:t>
    </dgm:pt>
    <dgm:pt modelId="{9DB17067-12AC-494B-8ACC-B2F89D4CD29E}" type="sibTrans" cxnId="{84F38482-6AE5-4E50-A088-85F9730B9F6B}">
      <dgm:prSet/>
      <dgm:spPr/>
      <dgm:t>
        <a:bodyPr/>
        <a:lstStyle/>
        <a:p>
          <a:endParaRPr lang="en-US"/>
        </a:p>
      </dgm:t>
    </dgm:pt>
    <dgm:pt modelId="{21977DA2-BAEE-4C59-BC47-0326DF0B2F28}">
      <dgm:prSet phldrT="[Text]" custT="1"/>
      <dgm:spPr>
        <a:solidFill>
          <a:schemeClr val="accent4">
            <a:lumMod val="60000"/>
            <a:lumOff val="40000"/>
          </a:schemeClr>
        </a:solidFill>
      </dgm:spPr>
      <dgm:t>
        <a:bodyPr anchor="ctr" anchorCtr="0"/>
        <a:lstStyle/>
        <a:p>
          <a:r>
            <a:rPr lang="en-US" sz="2000" dirty="0">
              <a:solidFill>
                <a:srgbClr val="000000"/>
              </a:solidFill>
            </a:rPr>
            <a:t>Level 1: </a:t>
          </a:r>
        </a:p>
        <a:p>
          <a:r>
            <a:rPr lang="en-US" sz="2000" dirty="0">
              <a:solidFill>
                <a:srgbClr val="000000"/>
              </a:solidFill>
            </a:rPr>
            <a:t>Mutual settlement </a:t>
          </a:r>
        </a:p>
        <a:p>
          <a:r>
            <a:rPr lang="en-US" sz="2000" dirty="0">
              <a:solidFill>
                <a:srgbClr val="000000"/>
              </a:solidFill>
            </a:rPr>
            <a:t>(positive bargaining zone)</a:t>
          </a:r>
        </a:p>
      </dgm:t>
    </dgm:pt>
    <dgm:pt modelId="{ACB4DA86-3C75-4D65-B39C-42BA000FC754}" type="parTrans" cxnId="{230D8255-01E8-429F-8A4F-EFBDABE23EEF}">
      <dgm:prSet/>
      <dgm:spPr/>
      <dgm:t>
        <a:bodyPr/>
        <a:lstStyle/>
        <a:p>
          <a:endParaRPr lang="en-US"/>
        </a:p>
      </dgm:t>
    </dgm:pt>
    <dgm:pt modelId="{C05CFC4D-0B39-47A6-9B2D-1B7B39713C7F}" type="sibTrans" cxnId="{230D8255-01E8-429F-8A4F-EFBDABE23EEF}">
      <dgm:prSet/>
      <dgm:spPr/>
      <dgm:t>
        <a:bodyPr/>
        <a:lstStyle/>
        <a:p>
          <a:endParaRPr lang="en-US"/>
        </a:p>
      </dgm:t>
    </dgm:pt>
    <dgm:pt modelId="{248117C7-E169-46E2-B04A-4D8B2F380A86}" type="pres">
      <dgm:prSet presAssocID="{CFE3434F-2E53-4848-871E-A8BE0D091F8C}" presName="Name0" presStyleCnt="0">
        <dgm:presLayoutVars>
          <dgm:dir/>
          <dgm:animLvl val="lvl"/>
          <dgm:resizeHandles val="exact"/>
        </dgm:presLayoutVars>
      </dgm:prSet>
      <dgm:spPr/>
    </dgm:pt>
    <dgm:pt modelId="{ACEB6794-1C96-4265-9037-1C211EB3D5B4}" type="pres">
      <dgm:prSet presAssocID="{6B9A0126-2E7E-45A6-8295-0C904D00A1D0}" presName="Name8" presStyleCnt="0"/>
      <dgm:spPr/>
    </dgm:pt>
    <dgm:pt modelId="{94DC5605-4423-4EA5-B618-4028D6A16739}" type="pres">
      <dgm:prSet presAssocID="{6B9A0126-2E7E-45A6-8295-0C904D00A1D0}" presName="level" presStyleLbl="node1" presStyleIdx="0" presStyleCnt="3">
        <dgm:presLayoutVars>
          <dgm:chMax val="1"/>
          <dgm:bulletEnabled val="1"/>
        </dgm:presLayoutVars>
      </dgm:prSet>
      <dgm:spPr/>
    </dgm:pt>
    <dgm:pt modelId="{F536D9F2-7004-4E41-B431-683A63EB18E0}" type="pres">
      <dgm:prSet presAssocID="{6B9A0126-2E7E-45A6-8295-0C904D00A1D0}" presName="levelTx" presStyleLbl="revTx" presStyleIdx="0" presStyleCnt="0">
        <dgm:presLayoutVars>
          <dgm:chMax val="1"/>
          <dgm:bulletEnabled val="1"/>
        </dgm:presLayoutVars>
      </dgm:prSet>
      <dgm:spPr/>
    </dgm:pt>
    <dgm:pt modelId="{74B84FD5-0D9C-4409-BB2D-E6A7F5CC58CA}" type="pres">
      <dgm:prSet presAssocID="{DD5D0123-F36B-4E1A-B761-6DF8F8748417}" presName="Name8" presStyleCnt="0"/>
      <dgm:spPr/>
    </dgm:pt>
    <dgm:pt modelId="{249A77A8-30DE-48CD-A7B9-5F350DABF1DC}" type="pres">
      <dgm:prSet presAssocID="{DD5D0123-F36B-4E1A-B761-6DF8F8748417}" presName="level" presStyleLbl="node1" presStyleIdx="1" presStyleCnt="3">
        <dgm:presLayoutVars>
          <dgm:chMax val="1"/>
          <dgm:bulletEnabled val="1"/>
        </dgm:presLayoutVars>
      </dgm:prSet>
      <dgm:spPr/>
    </dgm:pt>
    <dgm:pt modelId="{ADAC8B5F-07EC-4D08-8B32-AA9989CE6131}" type="pres">
      <dgm:prSet presAssocID="{DD5D0123-F36B-4E1A-B761-6DF8F8748417}" presName="levelTx" presStyleLbl="revTx" presStyleIdx="0" presStyleCnt="0">
        <dgm:presLayoutVars>
          <dgm:chMax val="1"/>
          <dgm:bulletEnabled val="1"/>
        </dgm:presLayoutVars>
      </dgm:prSet>
      <dgm:spPr/>
    </dgm:pt>
    <dgm:pt modelId="{233C901F-C63E-4CF3-8CE1-8423A99C59E5}" type="pres">
      <dgm:prSet presAssocID="{21977DA2-BAEE-4C59-BC47-0326DF0B2F28}" presName="Name8" presStyleCnt="0"/>
      <dgm:spPr/>
    </dgm:pt>
    <dgm:pt modelId="{F8F78895-FAE5-430B-AE32-8FA579D99558}" type="pres">
      <dgm:prSet presAssocID="{21977DA2-BAEE-4C59-BC47-0326DF0B2F28}" presName="level" presStyleLbl="node1" presStyleIdx="2" presStyleCnt="3" custScaleX="100000" custLinFactNeighborX="0" custLinFactNeighborY="7692">
        <dgm:presLayoutVars>
          <dgm:chMax val="1"/>
          <dgm:bulletEnabled val="1"/>
        </dgm:presLayoutVars>
      </dgm:prSet>
      <dgm:spPr/>
    </dgm:pt>
    <dgm:pt modelId="{B99064D4-A306-4E93-9189-6B8A3B7ABAEF}" type="pres">
      <dgm:prSet presAssocID="{21977DA2-BAEE-4C59-BC47-0326DF0B2F28}" presName="levelTx" presStyleLbl="revTx" presStyleIdx="0" presStyleCnt="0">
        <dgm:presLayoutVars>
          <dgm:chMax val="1"/>
          <dgm:bulletEnabled val="1"/>
        </dgm:presLayoutVars>
      </dgm:prSet>
      <dgm:spPr/>
    </dgm:pt>
  </dgm:ptLst>
  <dgm:cxnLst>
    <dgm:cxn modelId="{1C371119-6A49-4FA4-A18E-4706D101D42B}" type="presOf" srcId="{6B9A0126-2E7E-45A6-8295-0C904D00A1D0}" destId="{F536D9F2-7004-4E41-B431-683A63EB18E0}" srcOrd="1" destOrd="0" presId="urn:microsoft.com/office/officeart/2005/8/layout/pyramid1"/>
    <dgm:cxn modelId="{A0454369-3C53-482B-8B66-D285C70C6E11}" type="presOf" srcId="{21977DA2-BAEE-4C59-BC47-0326DF0B2F28}" destId="{F8F78895-FAE5-430B-AE32-8FA579D99558}" srcOrd="0" destOrd="0" presId="urn:microsoft.com/office/officeart/2005/8/layout/pyramid1"/>
    <dgm:cxn modelId="{BBA75E6A-3D72-4CF9-B5E1-61FD1B2F804E}" srcId="{CFE3434F-2E53-4848-871E-A8BE0D091F8C}" destId="{6B9A0126-2E7E-45A6-8295-0C904D00A1D0}" srcOrd="0" destOrd="0" parTransId="{558039FC-B482-4060-A6F4-1CF84E82E3A4}" sibTransId="{1715E752-4FA6-4B42-87A2-95B1894C9E3A}"/>
    <dgm:cxn modelId="{25A84A54-678C-41C5-84CD-598AA8997577}" type="presOf" srcId="{21977DA2-BAEE-4C59-BC47-0326DF0B2F28}" destId="{B99064D4-A306-4E93-9189-6B8A3B7ABAEF}" srcOrd="1" destOrd="0" presId="urn:microsoft.com/office/officeart/2005/8/layout/pyramid1"/>
    <dgm:cxn modelId="{230D8255-01E8-429F-8A4F-EFBDABE23EEF}" srcId="{CFE3434F-2E53-4848-871E-A8BE0D091F8C}" destId="{21977DA2-BAEE-4C59-BC47-0326DF0B2F28}" srcOrd="2" destOrd="0" parTransId="{ACB4DA86-3C75-4D65-B39C-42BA000FC754}" sibTransId="{C05CFC4D-0B39-47A6-9B2D-1B7B39713C7F}"/>
    <dgm:cxn modelId="{3BF4B277-E417-425A-AD7A-B6CF622A4F60}" type="presOf" srcId="{DD5D0123-F36B-4E1A-B761-6DF8F8748417}" destId="{ADAC8B5F-07EC-4D08-8B32-AA9989CE6131}" srcOrd="1" destOrd="0" presId="urn:microsoft.com/office/officeart/2005/8/layout/pyramid1"/>
    <dgm:cxn modelId="{84F38482-6AE5-4E50-A088-85F9730B9F6B}" srcId="{CFE3434F-2E53-4848-871E-A8BE0D091F8C}" destId="{DD5D0123-F36B-4E1A-B761-6DF8F8748417}" srcOrd="1" destOrd="0" parTransId="{B21CFD7B-84EC-462D-BF05-92404E7E3BA4}" sibTransId="{9DB17067-12AC-494B-8ACC-B2F89D4CD29E}"/>
    <dgm:cxn modelId="{A8C6448A-FD83-472D-AA62-5D0AA39D193E}" type="presOf" srcId="{CFE3434F-2E53-4848-871E-A8BE0D091F8C}" destId="{248117C7-E169-46E2-B04A-4D8B2F380A86}" srcOrd="0" destOrd="0" presId="urn:microsoft.com/office/officeart/2005/8/layout/pyramid1"/>
    <dgm:cxn modelId="{1101C59A-F5F7-4709-9EBA-685191B50E41}" type="presOf" srcId="{DD5D0123-F36B-4E1A-B761-6DF8F8748417}" destId="{249A77A8-30DE-48CD-A7B9-5F350DABF1DC}" srcOrd="0" destOrd="0" presId="urn:microsoft.com/office/officeart/2005/8/layout/pyramid1"/>
    <dgm:cxn modelId="{F7627DA4-E238-41B1-8624-64F157E8ED06}" type="presOf" srcId="{6B9A0126-2E7E-45A6-8295-0C904D00A1D0}" destId="{94DC5605-4423-4EA5-B618-4028D6A16739}" srcOrd="0" destOrd="0" presId="urn:microsoft.com/office/officeart/2005/8/layout/pyramid1"/>
    <dgm:cxn modelId="{05A71EFA-11D9-4E5E-BFD1-80955B15A4BC}" type="presParOf" srcId="{248117C7-E169-46E2-B04A-4D8B2F380A86}" destId="{ACEB6794-1C96-4265-9037-1C211EB3D5B4}" srcOrd="0" destOrd="0" presId="urn:microsoft.com/office/officeart/2005/8/layout/pyramid1"/>
    <dgm:cxn modelId="{A5D99926-68AD-4973-AA02-DC80B821D1A5}" type="presParOf" srcId="{ACEB6794-1C96-4265-9037-1C211EB3D5B4}" destId="{94DC5605-4423-4EA5-B618-4028D6A16739}" srcOrd="0" destOrd="0" presId="urn:microsoft.com/office/officeart/2005/8/layout/pyramid1"/>
    <dgm:cxn modelId="{FFA97D34-05CF-484E-83A2-08E3D07EA745}" type="presParOf" srcId="{ACEB6794-1C96-4265-9037-1C211EB3D5B4}" destId="{F536D9F2-7004-4E41-B431-683A63EB18E0}" srcOrd="1" destOrd="0" presId="urn:microsoft.com/office/officeart/2005/8/layout/pyramid1"/>
    <dgm:cxn modelId="{8B6B3FB4-FC93-43AE-BAC5-35AD96B82CF9}" type="presParOf" srcId="{248117C7-E169-46E2-B04A-4D8B2F380A86}" destId="{74B84FD5-0D9C-4409-BB2D-E6A7F5CC58CA}" srcOrd="1" destOrd="0" presId="urn:microsoft.com/office/officeart/2005/8/layout/pyramid1"/>
    <dgm:cxn modelId="{3B32F2DB-E36C-489F-8963-02E1BAD5F8BF}" type="presParOf" srcId="{74B84FD5-0D9C-4409-BB2D-E6A7F5CC58CA}" destId="{249A77A8-30DE-48CD-A7B9-5F350DABF1DC}" srcOrd="0" destOrd="0" presId="urn:microsoft.com/office/officeart/2005/8/layout/pyramid1"/>
    <dgm:cxn modelId="{8DC5D29A-CA01-4456-8833-7C21A8A2F857}" type="presParOf" srcId="{74B84FD5-0D9C-4409-BB2D-E6A7F5CC58CA}" destId="{ADAC8B5F-07EC-4D08-8B32-AA9989CE6131}" srcOrd="1" destOrd="0" presId="urn:microsoft.com/office/officeart/2005/8/layout/pyramid1"/>
    <dgm:cxn modelId="{11FD4EB9-F120-4F60-B39C-FBE3A95A8AC0}" type="presParOf" srcId="{248117C7-E169-46E2-B04A-4D8B2F380A86}" destId="{233C901F-C63E-4CF3-8CE1-8423A99C59E5}" srcOrd="2" destOrd="0" presId="urn:microsoft.com/office/officeart/2005/8/layout/pyramid1"/>
    <dgm:cxn modelId="{858772DC-0FD4-4678-A61E-4C2FA47DB3E6}" type="presParOf" srcId="{233C901F-C63E-4CF3-8CE1-8423A99C59E5}" destId="{F8F78895-FAE5-430B-AE32-8FA579D99558}" srcOrd="0" destOrd="0" presId="urn:microsoft.com/office/officeart/2005/8/layout/pyramid1"/>
    <dgm:cxn modelId="{487D5D83-3010-4B0F-A6CB-577585262A70}" type="presParOf" srcId="{233C901F-C63E-4CF3-8CE1-8423A99C59E5}" destId="{B99064D4-A306-4E93-9189-6B8A3B7ABAEF}"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C5605-4423-4EA5-B618-4028D6A16739}">
      <dsp:nvSpPr>
        <dsp:cNvPr id="0" name=""/>
        <dsp:cNvSpPr/>
      </dsp:nvSpPr>
      <dsp:spPr>
        <a:xfrm>
          <a:off x="2108200" y="0"/>
          <a:ext cx="2108200" cy="1752600"/>
        </a:xfrm>
        <a:prstGeom prst="trapezoid">
          <a:avLst>
            <a:gd name="adj" fmla="val 60145"/>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b" anchorCtr="0">
          <a:noAutofit/>
        </a:bodyPr>
        <a:lstStyle/>
        <a:p>
          <a:pPr marL="0" lvl="0" indent="0" algn="ctr" defTabSz="889000">
            <a:lnSpc>
              <a:spcPct val="90000"/>
            </a:lnSpc>
            <a:spcBef>
              <a:spcPct val="0"/>
            </a:spcBef>
            <a:spcAft>
              <a:spcPct val="35000"/>
            </a:spcAft>
            <a:buNone/>
          </a:pPr>
          <a:r>
            <a:rPr lang="en-US" sz="2000" kern="1200" dirty="0">
              <a:solidFill>
                <a:srgbClr val="000000"/>
              </a:solidFill>
            </a:rPr>
            <a:t>Level 3: </a:t>
          </a:r>
        </a:p>
        <a:p>
          <a:pPr marL="0" lvl="0" indent="0" algn="ctr" defTabSz="889000">
            <a:lnSpc>
              <a:spcPct val="90000"/>
            </a:lnSpc>
            <a:spcBef>
              <a:spcPct val="0"/>
            </a:spcBef>
            <a:spcAft>
              <a:spcPct val="35000"/>
            </a:spcAft>
            <a:buNone/>
          </a:pPr>
          <a:r>
            <a:rPr lang="en-US" sz="2000" kern="1200" dirty="0">
              <a:solidFill>
                <a:srgbClr val="000000"/>
              </a:solidFill>
            </a:rPr>
            <a:t>Pareto-optimal</a:t>
          </a:r>
        </a:p>
      </dsp:txBody>
      <dsp:txXfrm>
        <a:off x="2108200" y="0"/>
        <a:ext cx="2108200" cy="1752600"/>
      </dsp:txXfrm>
    </dsp:sp>
    <dsp:sp modelId="{249A77A8-30DE-48CD-A7B9-5F350DABF1DC}">
      <dsp:nvSpPr>
        <dsp:cNvPr id="0" name=""/>
        <dsp:cNvSpPr/>
      </dsp:nvSpPr>
      <dsp:spPr>
        <a:xfrm>
          <a:off x="1054100" y="1752600"/>
          <a:ext cx="4216400" cy="1752600"/>
        </a:xfrm>
        <a:prstGeom prst="trapezoid">
          <a:avLst>
            <a:gd name="adj" fmla="val 60145"/>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000000"/>
              </a:solidFill>
            </a:rPr>
            <a:t>Level 2:</a:t>
          </a:r>
        </a:p>
        <a:p>
          <a:pPr marL="0" lvl="0" indent="0" algn="ctr" defTabSz="889000">
            <a:lnSpc>
              <a:spcPct val="90000"/>
            </a:lnSpc>
            <a:spcBef>
              <a:spcPct val="0"/>
            </a:spcBef>
            <a:spcAft>
              <a:spcPct val="35000"/>
            </a:spcAft>
            <a:buNone/>
          </a:pPr>
          <a:r>
            <a:rPr lang="en-US" sz="2000" kern="1200" dirty="0">
              <a:solidFill>
                <a:srgbClr val="000000"/>
              </a:solidFill>
            </a:rPr>
            <a:t>Settlement demonstrably superior to other feasible settlements</a:t>
          </a:r>
        </a:p>
      </dsp:txBody>
      <dsp:txXfrm>
        <a:off x="1791969" y="1752600"/>
        <a:ext cx="2740660" cy="1752600"/>
      </dsp:txXfrm>
    </dsp:sp>
    <dsp:sp modelId="{F8F78895-FAE5-430B-AE32-8FA579D99558}">
      <dsp:nvSpPr>
        <dsp:cNvPr id="0" name=""/>
        <dsp:cNvSpPr/>
      </dsp:nvSpPr>
      <dsp:spPr>
        <a:xfrm>
          <a:off x="0" y="3505200"/>
          <a:ext cx="6324600" cy="1752600"/>
        </a:xfrm>
        <a:prstGeom prst="trapezoid">
          <a:avLst>
            <a:gd name="adj" fmla="val 60145"/>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000000"/>
              </a:solidFill>
            </a:rPr>
            <a:t>Level 1: </a:t>
          </a:r>
        </a:p>
        <a:p>
          <a:pPr marL="0" lvl="0" indent="0" algn="ctr" defTabSz="889000">
            <a:lnSpc>
              <a:spcPct val="90000"/>
            </a:lnSpc>
            <a:spcBef>
              <a:spcPct val="0"/>
            </a:spcBef>
            <a:spcAft>
              <a:spcPct val="35000"/>
            </a:spcAft>
            <a:buNone/>
          </a:pPr>
          <a:r>
            <a:rPr lang="en-US" sz="2000" kern="1200" dirty="0">
              <a:solidFill>
                <a:srgbClr val="000000"/>
              </a:solidFill>
            </a:rPr>
            <a:t>Mutual settlement </a:t>
          </a:r>
        </a:p>
        <a:p>
          <a:pPr marL="0" lvl="0" indent="0" algn="ctr" defTabSz="889000">
            <a:lnSpc>
              <a:spcPct val="90000"/>
            </a:lnSpc>
            <a:spcBef>
              <a:spcPct val="0"/>
            </a:spcBef>
            <a:spcAft>
              <a:spcPct val="35000"/>
            </a:spcAft>
            <a:buNone/>
          </a:pPr>
          <a:r>
            <a:rPr lang="en-US" sz="2000" kern="1200" dirty="0">
              <a:solidFill>
                <a:srgbClr val="000000"/>
              </a:solidFill>
            </a:rPr>
            <a:t>(positive bargaining zone)</a:t>
          </a:r>
        </a:p>
      </dsp:txBody>
      <dsp:txXfrm>
        <a:off x="1106804" y="3505200"/>
        <a:ext cx="4110990" cy="175260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3072B2-F8AE-43B3-BD97-E2EC9CC51E7D}" type="datetimeFigureOut">
              <a:rPr lang="en-US" smtClean="0"/>
              <a:t>1/28/2026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3D468-6EF5-4C49-8DB3-DF1611BCF8DB}" type="slidenum">
              <a:rPr lang="en-US" smtClean="0"/>
              <a:t>‹#›</a:t>
            </a:fld>
            <a:endParaRPr lang="en-US" dirty="0"/>
          </a:p>
        </p:txBody>
      </p:sp>
    </p:spTree>
    <p:extLst>
      <p:ext uri="{BB962C8B-B14F-4D97-AF65-F5344CB8AC3E}">
        <p14:creationId xmlns:p14="http://schemas.microsoft.com/office/powerpoint/2010/main" val="4284621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1</a:t>
            </a:fld>
            <a:endParaRPr lang="en-US" dirty="0"/>
          </a:p>
        </p:txBody>
      </p:sp>
    </p:spTree>
    <p:extLst>
      <p:ext uri="{BB962C8B-B14F-4D97-AF65-F5344CB8AC3E}">
        <p14:creationId xmlns:p14="http://schemas.microsoft.com/office/powerpoint/2010/main" val="2352406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2</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3</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4</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5</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6</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7</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8</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9</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10</a:t>
            </a:fld>
            <a:endParaRPr lang="en-US" dirty="0"/>
          </a:p>
        </p:txBody>
      </p:sp>
    </p:spTree>
    <p:extLst>
      <p:ext uri="{BB962C8B-B14F-4D97-AF65-F5344CB8AC3E}">
        <p14:creationId xmlns:p14="http://schemas.microsoft.com/office/powerpoint/2010/main" val="211440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11</a:t>
            </a:fld>
            <a:endParaRPr lang="en-US" dirty="0"/>
          </a:p>
        </p:txBody>
      </p:sp>
    </p:spTree>
    <p:extLst>
      <p:ext uri="{BB962C8B-B14F-4D97-AF65-F5344CB8AC3E}">
        <p14:creationId xmlns:p14="http://schemas.microsoft.com/office/powerpoint/2010/main" val="1020178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53D468-6EF5-4C49-8DB3-DF1611BCF8DB}" type="slidenum">
              <a:rPr lang="en-US" smtClean="0"/>
              <a:t>12</a:t>
            </a:fld>
            <a:endParaRPr lang="en-US" dirty="0"/>
          </a:p>
        </p:txBody>
      </p:sp>
    </p:spTree>
    <p:extLst>
      <p:ext uri="{BB962C8B-B14F-4D97-AF65-F5344CB8AC3E}">
        <p14:creationId xmlns:p14="http://schemas.microsoft.com/office/powerpoint/2010/main" val="1328869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C632680-4024-43EA-8035-0614013E83A5}" type="datetime1">
              <a:rPr lang="en-US" smtClean="0">
                <a:solidFill>
                  <a:srgbClr val="632423">
                    <a:tint val="75000"/>
                  </a:srgbClr>
                </a:solidFill>
              </a:rPr>
              <a:t>1/28/2026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668514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49BF49-3A07-40BA-9BBA-E663501D39AF}" type="datetime1">
              <a:rPr lang="en-US" smtClean="0">
                <a:solidFill>
                  <a:srgbClr val="632423">
                    <a:tint val="75000"/>
                  </a:srgbClr>
                </a:solidFill>
              </a:rPr>
              <a:t>1/28/2026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004046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214DEB-9D1E-49BA-B43C-B835B8D7A747}" type="datetime1">
              <a:rPr lang="en-US" smtClean="0">
                <a:solidFill>
                  <a:srgbClr val="632423">
                    <a:tint val="75000"/>
                  </a:srgbClr>
                </a:solidFill>
              </a:rPr>
              <a:t>1/28/2026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492836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7F30CA-7FFF-4306-9214-7B7580902882}" type="datetime1">
              <a:rPr lang="en-US" smtClean="0">
                <a:solidFill>
                  <a:srgbClr val="632423">
                    <a:tint val="75000"/>
                  </a:srgbClr>
                </a:solidFill>
              </a:rPr>
              <a:t>1/28/2026</a:t>
            </a:fld>
            <a:endParaRPr lang="en-US" dirty="0">
              <a:solidFill>
                <a:srgbClr val="632423">
                  <a:tint val="75000"/>
                </a:srgbClr>
              </a:solidFill>
            </a:endParaRPr>
          </a:p>
        </p:txBody>
      </p:sp>
      <p:sp>
        <p:nvSpPr>
          <p:cNvPr id="6" name="Footer Placeholder 5"/>
          <p:cNvSpPr>
            <a:spLocks noGrp="1"/>
          </p:cNvSpPr>
          <p:nvPr>
            <p:ph type="ftr" sz="quarter" idx="11"/>
          </p:nvPr>
        </p:nvSpPr>
        <p:spPr/>
        <p:txBody>
          <a:bodyPr/>
          <a:lstStyle/>
          <a:p>
            <a:endParaRPr lang="en-US" dirty="0">
              <a:solidFill>
                <a:srgbClr val="632423">
                  <a:tint val="75000"/>
                </a:srgbClr>
              </a:solidFill>
            </a:endParaRPr>
          </a:p>
        </p:txBody>
      </p:sp>
      <p:sp>
        <p:nvSpPr>
          <p:cNvPr id="7" name="Slide Number Placeholder 6"/>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3716145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B3C3F6-74B7-44C1-9CBE-95E3AA052BE3}" type="datetime1">
              <a:rPr lang="en-US" smtClean="0">
                <a:solidFill>
                  <a:srgbClr val="632423">
                    <a:tint val="75000"/>
                  </a:srgbClr>
                </a:solidFill>
              </a:rPr>
              <a:t>1/28/2026</a:t>
            </a:fld>
            <a:endParaRPr lang="en-US" dirty="0">
              <a:solidFill>
                <a:srgbClr val="632423">
                  <a:tint val="75000"/>
                </a:srgbClr>
              </a:solidFill>
            </a:endParaRPr>
          </a:p>
        </p:txBody>
      </p:sp>
      <p:sp>
        <p:nvSpPr>
          <p:cNvPr id="8" name="Footer Placeholder 7"/>
          <p:cNvSpPr>
            <a:spLocks noGrp="1"/>
          </p:cNvSpPr>
          <p:nvPr>
            <p:ph type="ftr" sz="quarter" idx="11"/>
          </p:nvPr>
        </p:nvSpPr>
        <p:spPr/>
        <p:txBody>
          <a:bodyPr/>
          <a:lstStyle/>
          <a:p>
            <a:endParaRPr lang="en-US" dirty="0">
              <a:solidFill>
                <a:srgbClr val="632423">
                  <a:tint val="75000"/>
                </a:srgbClr>
              </a:solidFill>
            </a:endParaRPr>
          </a:p>
        </p:txBody>
      </p:sp>
      <p:sp>
        <p:nvSpPr>
          <p:cNvPr id="9" name="Slide Number Placeholder 8"/>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074975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E6DEBAD-1B65-499B-B30B-B30DBA97BFCE}" type="datetime1">
              <a:rPr lang="en-US" smtClean="0">
                <a:solidFill>
                  <a:srgbClr val="632423">
                    <a:tint val="75000"/>
                  </a:srgbClr>
                </a:solidFill>
              </a:rPr>
              <a:t>1/28/2026</a:t>
            </a:fld>
            <a:endParaRPr lang="en-US" dirty="0">
              <a:solidFill>
                <a:srgbClr val="632423">
                  <a:tint val="75000"/>
                </a:srgbClr>
              </a:solidFill>
            </a:endParaRPr>
          </a:p>
        </p:txBody>
      </p:sp>
      <p:sp>
        <p:nvSpPr>
          <p:cNvPr id="4" name="Footer Placeholder 3"/>
          <p:cNvSpPr>
            <a:spLocks noGrp="1"/>
          </p:cNvSpPr>
          <p:nvPr>
            <p:ph type="ftr" sz="quarter" idx="11"/>
          </p:nvPr>
        </p:nvSpPr>
        <p:spPr/>
        <p:txBody>
          <a:bodyPr/>
          <a:lstStyle/>
          <a:p>
            <a:endParaRPr lang="en-US" dirty="0">
              <a:solidFill>
                <a:srgbClr val="632423">
                  <a:tint val="75000"/>
                </a:srgbClr>
              </a:solidFill>
            </a:endParaRPr>
          </a:p>
        </p:txBody>
      </p:sp>
      <p:sp>
        <p:nvSpPr>
          <p:cNvPr id="5" name="Slide Number Placeholder 4"/>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635548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407F1-3B8E-4FFB-9779-E9FD233CD721}" type="datetime1">
              <a:rPr lang="en-US" smtClean="0">
                <a:solidFill>
                  <a:srgbClr val="632423">
                    <a:tint val="75000"/>
                  </a:srgbClr>
                </a:solidFill>
              </a:rPr>
              <a:t>1/28/2026</a:t>
            </a:fld>
            <a:endParaRPr lang="en-US" dirty="0">
              <a:solidFill>
                <a:srgbClr val="632423">
                  <a:tint val="75000"/>
                </a:srgbClr>
              </a:solidFill>
            </a:endParaRPr>
          </a:p>
        </p:txBody>
      </p:sp>
      <p:sp>
        <p:nvSpPr>
          <p:cNvPr id="3" name="Footer Placeholder 2"/>
          <p:cNvSpPr>
            <a:spLocks noGrp="1"/>
          </p:cNvSpPr>
          <p:nvPr>
            <p:ph type="ftr" sz="quarter" idx="11"/>
          </p:nvPr>
        </p:nvSpPr>
        <p:spPr/>
        <p:txBody>
          <a:bodyPr/>
          <a:lstStyle/>
          <a:p>
            <a:endParaRPr lang="en-US" dirty="0">
              <a:solidFill>
                <a:srgbClr val="632423">
                  <a:tint val="75000"/>
                </a:srgbClr>
              </a:solidFill>
            </a:endParaRPr>
          </a:p>
        </p:txBody>
      </p:sp>
      <p:sp>
        <p:nvSpPr>
          <p:cNvPr id="4" name="Slide Number Placeholder 3"/>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3010625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638BDF-3186-48AB-8767-941C758F90F9}" type="datetime1">
              <a:rPr lang="en-US" smtClean="0">
                <a:solidFill>
                  <a:srgbClr val="632423">
                    <a:tint val="75000"/>
                  </a:srgbClr>
                </a:solidFill>
              </a:rPr>
              <a:t>1/28/2026</a:t>
            </a:fld>
            <a:endParaRPr lang="en-US" dirty="0">
              <a:solidFill>
                <a:srgbClr val="632423">
                  <a:tint val="75000"/>
                </a:srgbClr>
              </a:solidFill>
            </a:endParaRPr>
          </a:p>
        </p:txBody>
      </p:sp>
      <p:sp>
        <p:nvSpPr>
          <p:cNvPr id="6" name="Footer Placeholder 5"/>
          <p:cNvSpPr>
            <a:spLocks noGrp="1"/>
          </p:cNvSpPr>
          <p:nvPr>
            <p:ph type="ftr" sz="quarter" idx="11"/>
          </p:nvPr>
        </p:nvSpPr>
        <p:spPr/>
        <p:txBody>
          <a:bodyPr/>
          <a:lstStyle/>
          <a:p>
            <a:endParaRPr lang="en-US" dirty="0">
              <a:solidFill>
                <a:srgbClr val="632423">
                  <a:tint val="75000"/>
                </a:srgbClr>
              </a:solidFill>
            </a:endParaRPr>
          </a:p>
        </p:txBody>
      </p:sp>
      <p:sp>
        <p:nvSpPr>
          <p:cNvPr id="7" name="Slide Number Placeholder 6"/>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573563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46CC83-C368-4FB2-9508-81CA2D369CA6}" type="datetime1">
              <a:rPr lang="en-US" smtClean="0">
                <a:solidFill>
                  <a:srgbClr val="632423">
                    <a:tint val="75000"/>
                  </a:srgbClr>
                </a:solidFill>
              </a:rPr>
              <a:t>1/28/2026</a:t>
            </a:fld>
            <a:endParaRPr lang="en-US" dirty="0">
              <a:solidFill>
                <a:srgbClr val="632423">
                  <a:tint val="75000"/>
                </a:srgbClr>
              </a:solidFill>
            </a:endParaRPr>
          </a:p>
        </p:txBody>
      </p:sp>
      <p:sp>
        <p:nvSpPr>
          <p:cNvPr id="6" name="Footer Placeholder 5"/>
          <p:cNvSpPr>
            <a:spLocks noGrp="1"/>
          </p:cNvSpPr>
          <p:nvPr>
            <p:ph type="ftr" sz="quarter" idx="11"/>
          </p:nvPr>
        </p:nvSpPr>
        <p:spPr/>
        <p:txBody>
          <a:bodyPr/>
          <a:lstStyle/>
          <a:p>
            <a:endParaRPr lang="en-US" dirty="0">
              <a:solidFill>
                <a:srgbClr val="632423">
                  <a:tint val="75000"/>
                </a:srgbClr>
              </a:solidFill>
            </a:endParaRPr>
          </a:p>
        </p:txBody>
      </p:sp>
      <p:sp>
        <p:nvSpPr>
          <p:cNvPr id="7" name="Slide Number Placeholder 6"/>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603071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F8CF0F-F8B5-4897-93C2-FDDACFCAAC72}" type="datetime1">
              <a:rPr lang="en-US" smtClean="0">
                <a:solidFill>
                  <a:srgbClr val="632423">
                    <a:tint val="75000"/>
                  </a:srgbClr>
                </a:solidFill>
              </a:rPr>
              <a:t>1/28/2026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1722847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E5AEFB-17CE-4D83-986F-0AF580007747}" type="datetime1">
              <a:rPr lang="en-US" smtClean="0">
                <a:solidFill>
                  <a:srgbClr val="632423">
                    <a:tint val="75000"/>
                  </a:srgbClr>
                </a:solidFill>
              </a:rPr>
              <a:t>1/28/2026</a:t>
            </a:fld>
            <a:endParaRPr lang="en-US" dirty="0">
              <a:solidFill>
                <a:srgbClr val="632423">
                  <a:tint val="75000"/>
                </a:srgbClr>
              </a:solidFill>
            </a:endParaRPr>
          </a:p>
        </p:txBody>
      </p:sp>
      <p:sp>
        <p:nvSpPr>
          <p:cNvPr id="5" name="Footer Placeholder 4"/>
          <p:cNvSpPr>
            <a:spLocks noGrp="1"/>
          </p:cNvSpPr>
          <p:nvPr>
            <p:ph type="ftr" sz="quarter" idx="11"/>
          </p:nvPr>
        </p:nvSpPr>
        <p:spPr/>
        <p:txBody>
          <a:bodyPr/>
          <a:lstStyle/>
          <a:p>
            <a:endParaRPr lang="en-US" dirty="0">
              <a:solidFill>
                <a:srgbClr val="632423">
                  <a:tint val="75000"/>
                </a:srgbClr>
              </a:solidFill>
            </a:endParaRPr>
          </a:p>
        </p:txBody>
      </p:sp>
      <p:sp>
        <p:nvSpPr>
          <p:cNvPr id="6" name="Slide Number Placeholder 5"/>
          <p:cNvSpPr>
            <a:spLocks noGrp="1"/>
          </p:cNvSpPr>
          <p:nvPr>
            <p:ph type="sldNum" sz="quarter" idx="12"/>
          </p:nvPr>
        </p:nvSpPr>
        <p:spPr/>
        <p:txBody>
          <a:body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215471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6E39B6-0C38-40E8-86A4-436A675CD9C9}" type="datetime1">
              <a:rPr lang="en-US" smtClean="0">
                <a:solidFill>
                  <a:srgbClr val="632423">
                    <a:tint val="75000"/>
                  </a:srgbClr>
                </a:solidFill>
              </a:rPr>
              <a:t>1/28/2026</a:t>
            </a:fld>
            <a:endParaRPr lang="en-US" dirty="0">
              <a:solidFill>
                <a:srgbClr val="632423">
                  <a:tint val="75000"/>
                </a:srgb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srgbClr val="632423">
                  <a:tint val="75000"/>
                </a:srgb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2D119-4472-444A-BADD-4113D315726F}" type="slidenum">
              <a:rPr lang="en-US" smtClean="0">
                <a:solidFill>
                  <a:srgbClr val="632423">
                    <a:tint val="75000"/>
                  </a:srgbClr>
                </a:solidFill>
              </a:rPr>
              <a:pPr/>
              <a:t>‹#›</a:t>
            </a:fld>
            <a:endParaRPr lang="en-US" dirty="0">
              <a:solidFill>
                <a:srgbClr val="632423">
                  <a:tint val="75000"/>
                </a:srgbClr>
              </a:solidFill>
            </a:endParaRPr>
          </a:p>
        </p:txBody>
      </p:sp>
    </p:spTree>
    <p:extLst>
      <p:ext uri="{BB962C8B-B14F-4D97-AF65-F5344CB8AC3E}">
        <p14:creationId xmlns:p14="http://schemas.microsoft.com/office/powerpoint/2010/main" val="3787129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143000"/>
            <a:ext cx="8458200" cy="5029200"/>
          </a:xfrm>
        </p:spPr>
        <p:txBody>
          <a:bodyPr>
            <a:normAutofit/>
          </a:bodyPr>
          <a:lstStyle/>
          <a:p>
            <a:r>
              <a:rPr lang="en-US" sz="2800" b="1" dirty="0">
                <a:solidFill>
                  <a:srgbClr val="0C2340"/>
                </a:solidFill>
              </a:rPr>
              <a:t>NEGOTIATION AND CONFLICT MANAGEMENT</a:t>
            </a:r>
            <a:br>
              <a:rPr lang="en-US" sz="2800" b="1" dirty="0">
                <a:solidFill>
                  <a:srgbClr val="0C2340"/>
                </a:solidFill>
              </a:rPr>
            </a:br>
            <a:br>
              <a:rPr lang="en-US" sz="2800" dirty="0">
                <a:solidFill>
                  <a:srgbClr val="0C2340"/>
                </a:solidFill>
              </a:rPr>
            </a:br>
            <a:r>
              <a:rPr lang="en-US" sz="2800" dirty="0">
                <a:solidFill>
                  <a:srgbClr val="0C2340"/>
                </a:solidFill>
              </a:rPr>
              <a:t>Integrative Negotiation</a:t>
            </a:r>
            <a:endParaRPr lang="en-US" dirty="0">
              <a:solidFill>
                <a:srgbClr val="0C2340"/>
              </a:solidFill>
            </a:endParaRPr>
          </a:p>
        </p:txBody>
      </p:sp>
      <p:sp>
        <p:nvSpPr>
          <p:cNvPr id="3" name="Slide Number Placeholder 2"/>
          <p:cNvSpPr>
            <a:spLocks noGrp="1"/>
          </p:cNvSpPr>
          <p:nvPr>
            <p:ph type="sldNum" sz="quarter" idx="12"/>
          </p:nvPr>
        </p:nvSpPr>
        <p:spPr/>
        <p:txBody>
          <a:bodyPr/>
          <a:lstStyle/>
          <a:p>
            <a:fld id="{54B2D119-4472-444A-BADD-4113D315726F}" type="slidenum">
              <a:rPr lang="en-US" smtClean="0">
                <a:solidFill>
                  <a:srgbClr val="632423">
                    <a:tint val="75000"/>
                  </a:srgbClr>
                </a:solidFill>
              </a:rPr>
              <a:pPr/>
              <a:t>1</a:t>
            </a:fld>
            <a:endParaRPr lang="en-US" dirty="0">
              <a:solidFill>
                <a:srgbClr val="632423">
                  <a:tint val="75000"/>
                </a:srgbClr>
              </a:solidFill>
            </a:endParaRPr>
          </a:p>
        </p:txBody>
      </p:sp>
    </p:spTree>
    <p:extLst>
      <p:ext uri="{BB962C8B-B14F-4D97-AF65-F5344CB8AC3E}">
        <p14:creationId xmlns:p14="http://schemas.microsoft.com/office/powerpoint/2010/main" val="586530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Phases of Negotiation</a:t>
            </a:r>
          </a:p>
        </p:txBody>
      </p:sp>
      <p:sp>
        <p:nvSpPr>
          <p:cNvPr id="39" name="TextBox 38"/>
          <p:cNvSpPr txBox="1"/>
          <p:nvPr/>
        </p:nvSpPr>
        <p:spPr>
          <a:xfrm>
            <a:off x="274319" y="1188720"/>
            <a:ext cx="8595360" cy="2308324"/>
          </a:xfrm>
          <a:prstGeom prst="rect">
            <a:avLst/>
          </a:prstGeom>
          <a:noFill/>
        </p:spPr>
        <p:txBody>
          <a:bodyPr wrap="square" rtlCol="0">
            <a:spAutoFit/>
          </a:bodyPr>
          <a:lstStyle/>
          <a:p>
            <a:pPr marL="342900" indent="-342900">
              <a:buFont typeface="Wingdings" panose="05000000000000000000" pitchFamily="2" charset="2"/>
              <a:buChar char="§"/>
            </a:pPr>
            <a:r>
              <a:rPr lang="en-US" sz="2400" dirty="0">
                <a:solidFill>
                  <a:srgbClr val="0C2340"/>
                </a:solidFill>
              </a:rPr>
              <a:t>Negotiation consists of three primary phases:</a:t>
            </a:r>
          </a:p>
          <a:p>
            <a:pPr marL="914400" lvl="1" indent="-457200">
              <a:buFont typeface="Wingdings" panose="05000000000000000000" pitchFamily="2" charset="2"/>
              <a:buChar char="§"/>
            </a:pPr>
            <a:r>
              <a:rPr lang="en-US" sz="2400" dirty="0">
                <a:solidFill>
                  <a:srgbClr val="0C2340"/>
                </a:solidFill>
              </a:rPr>
              <a:t>Information transfer</a:t>
            </a:r>
          </a:p>
          <a:p>
            <a:pPr marL="914400" lvl="1" indent="-457200">
              <a:buFont typeface="Wingdings" panose="05000000000000000000" pitchFamily="2" charset="2"/>
              <a:buChar char="§"/>
            </a:pPr>
            <a:r>
              <a:rPr lang="en-US" sz="2400" dirty="0">
                <a:solidFill>
                  <a:srgbClr val="0C2340"/>
                </a:solidFill>
              </a:rPr>
              <a:t>Cooperation (integrative)</a:t>
            </a:r>
          </a:p>
          <a:p>
            <a:pPr marL="914400" lvl="1" indent="-457200">
              <a:buFont typeface="Wingdings" panose="05000000000000000000" pitchFamily="2" charset="2"/>
              <a:buChar char="§"/>
            </a:pPr>
            <a:r>
              <a:rPr lang="en-US" sz="2400" dirty="0">
                <a:solidFill>
                  <a:srgbClr val="0C2340"/>
                </a:solidFill>
              </a:rPr>
              <a:t>Competition (distributive)</a:t>
            </a:r>
          </a:p>
          <a:p>
            <a:pPr marL="914400" lvl="1" indent="-457200">
              <a:buFont typeface="Wingdings" panose="05000000000000000000" pitchFamily="2" charset="2"/>
              <a:buChar char="§"/>
            </a:pPr>
            <a:r>
              <a:rPr lang="en-US" sz="2400" dirty="0">
                <a:solidFill>
                  <a:srgbClr val="0C2340"/>
                </a:solidFill>
              </a:rPr>
              <a:t>Phases overlap, repeat, interact with, and affect each other</a:t>
            </a:r>
          </a:p>
          <a:p>
            <a:pPr marL="800100" lvl="1" indent="-342900">
              <a:buFont typeface="Wingdings" panose="05000000000000000000" pitchFamily="2" charset="2"/>
              <a:buChar char="§"/>
            </a:pPr>
            <a:endParaRPr lang="en-US" sz="2400" dirty="0">
              <a:solidFill>
                <a:srgbClr val="0C2340"/>
              </a:solidFill>
            </a:endParaRP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2</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26" name="Picture 2" descr="Image result for negoti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1107" y="4343400"/>
            <a:ext cx="3401786"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03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animEffect transition="in" filter="fade">
                                      <p:cBhvr>
                                        <p:cTn id="7" dur="500"/>
                                        <p:tgtEl>
                                          <p:spTgt spid="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2" end="2"/>
                                            </p:txEl>
                                          </p:spTgt>
                                        </p:tgtEl>
                                        <p:attrNameLst>
                                          <p:attrName>style.visibility</p:attrName>
                                        </p:attrNameLst>
                                      </p:cBhvr>
                                      <p:to>
                                        <p:strVal val="visible"/>
                                      </p:to>
                                    </p:set>
                                    <p:animEffect transition="in" filter="fade">
                                      <p:cBhvr>
                                        <p:cTn id="12" dur="500"/>
                                        <p:tgtEl>
                                          <p:spTgt spid="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3" end="3"/>
                                            </p:txEl>
                                          </p:spTgt>
                                        </p:tgtEl>
                                        <p:attrNameLst>
                                          <p:attrName>style.visibility</p:attrName>
                                        </p:attrNameLst>
                                      </p:cBhvr>
                                      <p:to>
                                        <p:strVal val="visible"/>
                                      </p:to>
                                    </p:set>
                                    <p:animEffect transition="in" filter="fade">
                                      <p:cBhvr>
                                        <p:cTn id="17" dur="500"/>
                                        <p:tgtEl>
                                          <p:spTgt spid="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xEl>
                                              <p:pRg st="4" end="4"/>
                                            </p:txEl>
                                          </p:spTgt>
                                        </p:tgtEl>
                                        <p:attrNameLst>
                                          <p:attrName>style.visibility</p:attrName>
                                        </p:attrNameLst>
                                      </p:cBhvr>
                                      <p:to>
                                        <p:strVal val="visible"/>
                                      </p:to>
                                    </p:set>
                                    <p:animEffect transition="in" filter="fade">
                                      <p:cBhvr>
                                        <p:cTn id="22" dur="500"/>
                                        <p:tgtEl>
                                          <p:spTgt spid="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Phases of Negotiation</a:t>
            </a:r>
          </a:p>
        </p:txBody>
      </p:sp>
      <p:sp>
        <p:nvSpPr>
          <p:cNvPr id="39" name="TextBox 38"/>
          <p:cNvSpPr txBox="1"/>
          <p:nvPr/>
        </p:nvSpPr>
        <p:spPr>
          <a:xfrm>
            <a:off x="274319" y="1188720"/>
            <a:ext cx="8595360" cy="4524315"/>
          </a:xfrm>
          <a:prstGeom prst="rect">
            <a:avLst/>
          </a:prstGeom>
          <a:noFill/>
        </p:spPr>
        <p:txBody>
          <a:bodyPr wrap="square" rtlCol="0">
            <a:spAutoFit/>
          </a:bodyPr>
          <a:lstStyle/>
          <a:p>
            <a:pPr marL="342900" indent="-342900">
              <a:buFont typeface="Wingdings" panose="05000000000000000000" pitchFamily="2" charset="2"/>
              <a:buChar char="§"/>
            </a:pPr>
            <a:r>
              <a:rPr lang="en-US" sz="2400" dirty="0">
                <a:solidFill>
                  <a:srgbClr val="0C2340"/>
                </a:solidFill>
              </a:rPr>
              <a:t>The information phase involves gathering knowledge regarding the other party’s motives and desires</a:t>
            </a:r>
          </a:p>
          <a:p>
            <a:pPr marL="800100" lvl="1" indent="-342900">
              <a:buFont typeface="Wingdings" panose="05000000000000000000" pitchFamily="2" charset="2"/>
              <a:buChar char="§"/>
            </a:pPr>
            <a:r>
              <a:rPr lang="en-US" sz="2400" dirty="0">
                <a:solidFill>
                  <a:srgbClr val="0C2340"/>
                </a:solidFill>
              </a:rPr>
              <a:t>It continues throughout the entire negotiation</a:t>
            </a:r>
          </a:p>
          <a:p>
            <a:pPr marL="800100" lvl="1" indent="-342900">
              <a:buFont typeface="Wingdings" panose="05000000000000000000" pitchFamily="2" charset="2"/>
              <a:buChar char="§"/>
            </a:pPr>
            <a:r>
              <a:rPr lang="en-US" sz="2400" dirty="0">
                <a:solidFill>
                  <a:srgbClr val="0C2340"/>
                </a:solidFill>
              </a:rPr>
              <a:t>Use open-ended questions</a:t>
            </a:r>
          </a:p>
          <a:p>
            <a:pPr marL="1257300" lvl="2" indent="-342900">
              <a:buFont typeface="Wingdings" panose="05000000000000000000" pitchFamily="2" charset="2"/>
              <a:buChar char="§"/>
            </a:pPr>
            <a:r>
              <a:rPr lang="en-US" sz="2400" dirty="0">
                <a:solidFill>
                  <a:srgbClr val="0C2340"/>
                </a:solidFill>
              </a:rPr>
              <a:t>The more the other party talks, the more likely they are to disclose important information</a:t>
            </a:r>
          </a:p>
          <a:p>
            <a:pPr marL="800100" lvl="1" indent="-342900">
              <a:buFont typeface="Wingdings" panose="05000000000000000000" pitchFamily="2" charset="2"/>
              <a:buChar char="§"/>
            </a:pPr>
            <a:endParaRPr lang="en-US" sz="2400" dirty="0">
              <a:solidFill>
                <a:srgbClr val="0C2340"/>
              </a:solidFill>
            </a:endParaRPr>
          </a:p>
          <a:p>
            <a:pPr marL="342900" indent="-342900">
              <a:buFont typeface="Wingdings" panose="05000000000000000000" pitchFamily="2" charset="2"/>
              <a:buChar char="§"/>
            </a:pPr>
            <a:r>
              <a:rPr lang="en-US" sz="2400" dirty="0">
                <a:solidFill>
                  <a:srgbClr val="0C2340"/>
                </a:solidFill>
              </a:rPr>
              <a:t>Attempt to gather as much information as possible and compare it to your planning documents</a:t>
            </a:r>
          </a:p>
          <a:p>
            <a:pPr marL="800100" lvl="1" indent="-342900">
              <a:buFont typeface="Wingdings" panose="05000000000000000000" pitchFamily="2" charset="2"/>
              <a:buChar char="§"/>
            </a:pPr>
            <a:r>
              <a:rPr lang="en-US" sz="2400" dirty="0">
                <a:solidFill>
                  <a:srgbClr val="0C2340"/>
                </a:solidFill>
              </a:rPr>
              <a:t>Adjust and re-adjust your planning documents as information is gathered</a:t>
            </a:r>
          </a:p>
          <a:p>
            <a:pPr marL="800100" lvl="1" indent="-342900">
              <a:buFont typeface="Wingdings" panose="05000000000000000000" pitchFamily="2" charset="2"/>
              <a:buChar char="§"/>
            </a:pPr>
            <a:endParaRPr lang="en-US" sz="2400" dirty="0">
              <a:solidFill>
                <a:srgbClr val="0C2340"/>
              </a:solidFill>
            </a:endParaRP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3</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15226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animEffect transition="in" filter="fade">
                                      <p:cBhvr>
                                        <p:cTn id="7" dur="500"/>
                                        <p:tgtEl>
                                          <p:spTgt spid="3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
                                            <p:txEl>
                                              <p:pRg st="2" end="2"/>
                                            </p:txEl>
                                          </p:spTgt>
                                        </p:tgtEl>
                                        <p:attrNameLst>
                                          <p:attrName>style.visibility</p:attrName>
                                        </p:attrNameLst>
                                      </p:cBhvr>
                                      <p:to>
                                        <p:strVal val="visible"/>
                                      </p:to>
                                    </p:set>
                                    <p:animEffect transition="in" filter="fade">
                                      <p:cBhvr>
                                        <p:cTn id="10" dur="500"/>
                                        <p:tgtEl>
                                          <p:spTgt spid="3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xEl>
                                              <p:pRg st="3" end="3"/>
                                            </p:txEl>
                                          </p:spTgt>
                                        </p:tgtEl>
                                        <p:attrNameLst>
                                          <p:attrName>style.visibility</p:attrName>
                                        </p:attrNameLst>
                                      </p:cBhvr>
                                      <p:to>
                                        <p:strVal val="visible"/>
                                      </p:to>
                                    </p:set>
                                    <p:animEffect transition="in" filter="fade">
                                      <p:cBhvr>
                                        <p:cTn id="13" dur="500"/>
                                        <p:tgtEl>
                                          <p:spTgt spid="39">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9">
                                            <p:txEl>
                                              <p:pRg st="5" end="5"/>
                                            </p:txEl>
                                          </p:spTgt>
                                        </p:tgtEl>
                                        <p:attrNameLst>
                                          <p:attrName>style.visibility</p:attrName>
                                        </p:attrNameLst>
                                      </p:cBhvr>
                                      <p:to>
                                        <p:strVal val="visible"/>
                                      </p:to>
                                    </p:set>
                                    <p:animEffect transition="in" filter="fade">
                                      <p:cBhvr>
                                        <p:cTn id="18" dur="500"/>
                                        <p:tgtEl>
                                          <p:spTgt spid="39">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9">
                                            <p:txEl>
                                              <p:pRg st="6" end="6"/>
                                            </p:txEl>
                                          </p:spTgt>
                                        </p:tgtEl>
                                        <p:attrNameLst>
                                          <p:attrName>style.visibility</p:attrName>
                                        </p:attrNameLst>
                                      </p:cBhvr>
                                      <p:to>
                                        <p:strVal val="visible"/>
                                      </p:to>
                                    </p:set>
                                    <p:animEffect transition="in" filter="fade">
                                      <p:cBhvr>
                                        <p:cTn id="21" dur="500"/>
                                        <p:tgtEl>
                                          <p:spTgt spid="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a:solidFill>
                  <a:srgbClr val="0C2340"/>
                </a:solidFill>
              </a:rPr>
              <a:t>Integrative Negotiation</a:t>
            </a:r>
            <a:endParaRPr lang="en-US" sz="3200" dirty="0">
              <a:solidFill>
                <a:srgbClr val="0C2340"/>
              </a:solidFill>
            </a:endParaRPr>
          </a:p>
        </p:txBody>
      </p:sp>
      <p:sp>
        <p:nvSpPr>
          <p:cNvPr id="39" name="TextBox 38"/>
          <p:cNvSpPr txBox="1"/>
          <p:nvPr/>
        </p:nvSpPr>
        <p:spPr>
          <a:xfrm>
            <a:off x="274319" y="1188720"/>
            <a:ext cx="8595360" cy="4524315"/>
          </a:xfrm>
          <a:prstGeom prst="rect">
            <a:avLst/>
          </a:prstGeom>
          <a:noFill/>
        </p:spPr>
        <p:txBody>
          <a:bodyPr wrap="square" rtlCol="0">
            <a:spAutoFit/>
          </a:bodyPr>
          <a:lstStyle/>
          <a:p>
            <a:r>
              <a:rPr lang="en-US" sz="2400" dirty="0">
                <a:solidFill>
                  <a:srgbClr val="0C2340"/>
                </a:solidFill>
              </a:rPr>
              <a:t>Integrative negotiations:</a:t>
            </a:r>
          </a:p>
          <a:p>
            <a:endParaRPr lang="en-US" sz="2400" dirty="0">
              <a:solidFill>
                <a:srgbClr val="0C2340"/>
              </a:solidFill>
            </a:endParaRPr>
          </a:p>
          <a:p>
            <a:pPr marL="342900" indent="-342900">
              <a:buFont typeface="Wingdings" panose="05000000000000000000" pitchFamily="2" charset="2"/>
              <a:buChar char="§"/>
            </a:pPr>
            <a:r>
              <a:rPr lang="en-US" sz="2400" dirty="0">
                <a:solidFill>
                  <a:srgbClr val="0C2340"/>
                </a:solidFill>
              </a:rPr>
              <a:t>Possess the capacity to enhance bargaining outcomes without impairing the relationship</a:t>
            </a:r>
          </a:p>
          <a:p>
            <a:pPr marL="342900" indent="-342900">
              <a:buFont typeface="Wingdings" panose="05000000000000000000" pitchFamily="2" charset="2"/>
              <a:buChar char="§"/>
            </a:pPr>
            <a:endParaRPr lang="en-US" sz="2400" dirty="0">
              <a:solidFill>
                <a:srgbClr val="0C2340"/>
              </a:solidFill>
            </a:endParaRPr>
          </a:p>
          <a:p>
            <a:pPr marL="342900" indent="-342900">
              <a:buFont typeface="Wingdings" panose="05000000000000000000" pitchFamily="2" charset="2"/>
              <a:buChar char="§"/>
            </a:pPr>
            <a:r>
              <a:rPr lang="en-US" sz="2400" dirty="0">
                <a:solidFill>
                  <a:srgbClr val="0C2340"/>
                </a:solidFill>
              </a:rPr>
              <a:t>Involve information sharing, creative exploration, and working toward mutually beneficial solutions</a:t>
            </a:r>
          </a:p>
          <a:p>
            <a:pPr marL="342900" indent="-342900">
              <a:buFont typeface="Wingdings" panose="05000000000000000000" pitchFamily="2" charset="2"/>
              <a:buChar char="§"/>
            </a:pPr>
            <a:endParaRPr lang="en-US" sz="2400" dirty="0">
              <a:solidFill>
                <a:srgbClr val="0C2340"/>
              </a:solidFill>
            </a:endParaRPr>
          </a:p>
          <a:p>
            <a:pPr marL="342900" indent="-342900">
              <a:buFont typeface="Wingdings" panose="05000000000000000000" pitchFamily="2" charset="2"/>
              <a:buChar char="§"/>
            </a:pPr>
            <a:r>
              <a:rPr lang="en-US" sz="2400" dirty="0">
                <a:solidFill>
                  <a:srgbClr val="0C2340"/>
                </a:solidFill>
              </a:rPr>
              <a:t>Consist of the development of creative resolutions in which all resources are utilized</a:t>
            </a:r>
          </a:p>
          <a:p>
            <a:pPr marL="342900" indent="-342900">
              <a:buFont typeface="Wingdings" panose="05000000000000000000" pitchFamily="2" charset="2"/>
              <a:buChar char="§"/>
            </a:pPr>
            <a:endParaRPr lang="en-US" sz="2400" dirty="0">
              <a:solidFill>
                <a:srgbClr val="0C2340"/>
              </a:solidFill>
            </a:endParaRPr>
          </a:p>
          <a:p>
            <a:pPr marL="342900" indent="-342900">
              <a:buFont typeface="Wingdings" panose="05000000000000000000" pitchFamily="2" charset="2"/>
              <a:buChar char="§"/>
            </a:pPr>
            <a:endParaRPr lang="en-US" sz="2400" dirty="0">
              <a:solidFill>
                <a:srgbClr val="0C2340"/>
              </a:solidFill>
            </a:endParaRP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4</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96144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2" end="2"/>
                                            </p:txEl>
                                          </p:spTgt>
                                        </p:tgtEl>
                                        <p:attrNameLst>
                                          <p:attrName>style.visibility</p:attrName>
                                        </p:attrNameLst>
                                      </p:cBhvr>
                                      <p:to>
                                        <p:strVal val="visible"/>
                                      </p:to>
                                    </p:set>
                                    <p:animEffect transition="in" filter="fade">
                                      <p:cBhvr>
                                        <p:cTn id="7" dur="500"/>
                                        <p:tgtEl>
                                          <p:spTgt spid="3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
                                            <p:txEl>
                                              <p:pRg st="4" end="4"/>
                                            </p:txEl>
                                          </p:spTgt>
                                        </p:tgtEl>
                                        <p:attrNameLst>
                                          <p:attrName>style.visibility</p:attrName>
                                        </p:attrNameLst>
                                      </p:cBhvr>
                                      <p:to>
                                        <p:strVal val="visible"/>
                                      </p:to>
                                    </p:set>
                                    <p:animEffect transition="in" filter="fade">
                                      <p:cBhvr>
                                        <p:cTn id="10" dur="500"/>
                                        <p:tgtEl>
                                          <p:spTgt spid="39">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xEl>
                                              <p:pRg st="6" end="6"/>
                                            </p:txEl>
                                          </p:spTgt>
                                        </p:tgtEl>
                                        <p:attrNameLst>
                                          <p:attrName>style.visibility</p:attrName>
                                        </p:attrNameLst>
                                      </p:cBhvr>
                                      <p:to>
                                        <p:strVal val="visible"/>
                                      </p:to>
                                    </p:set>
                                    <p:animEffect transition="in" filter="fade">
                                      <p:cBhvr>
                                        <p:cTn id="13" dur="500"/>
                                        <p:tgtEl>
                                          <p:spTgt spid="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a:t>
            </a:r>
          </a:p>
        </p:txBody>
      </p:sp>
      <p:sp>
        <p:nvSpPr>
          <p:cNvPr id="39" name="TextBox 38"/>
          <p:cNvSpPr txBox="1"/>
          <p:nvPr/>
        </p:nvSpPr>
        <p:spPr>
          <a:xfrm>
            <a:off x="274319" y="1188720"/>
            <a:ext cx="8595360" cy="5386090"/>
          </a:xfrm>
          <a:prstGeom prst="rect">
            <a:avLst/>
          </a:prstGeom>
          <a:noFill/>
        </p:spPr>
        <p:txBody>
          <a:bodyPr wrap="square" rtlCol="0">
            <a:spAutoFit/>
          </a:bodyPr>
          <a:lstStyle/>
          <a:p>
            <a:r>
              <a:rPr lang="en-US" sz="2400" dirty="0">
                <a:solidFill>
                  <a:srgbClr val="0C2340"/>
                </a:solidFill>
              </a:rPr>
              <a:t>Do not confuse integrative negotiation with:</a:t>
            </a:r>
          </a:p>
          <a:p>
            <a:endParaRPr lang="en-US" sz="2000" dirty="0">
              <a:solidFill>
                <a:srgbClr val="0C2340"/>
              </a:solidFill>
            </a:endParaRPr>
          </a:p>
          <a:p>
            <a:pPr marL="342900" indent="-342900">
              <a:buFont typeface="Wingdings" panose="05000000000000000000" pitchFamily="2" charset="2"/>
              <a:buChar char="§"/>
            </a:pPr>
            <a:r>
              <a:rPr lang="en-US" sz="2400" dirty="0">
                <a:solidFill>
                  <a:srgbClr val="0C2340"/>
                </a:solidFill>
              </a:rPr>
              <a:t>Compromise – integrative negotiation does not relate to how the pie is divided. Instead it involves how the pie is expanded.</a:t>
            </a:r>
          </a:p>
          <a:p>
            <a:pPr marL="342900" indent="-342900">
              <a:buFont typeface="Wingdings" panose="05000000000000000000" pitchFamily="2" charset="2"/>
              <a:buChar char="§"/>
            </a:pPr>
            <a:endParaRPr lang="en-US" sz="2000" dirty="0">
              <a:solidFill>
                <a:srgbClr val="0C2340"/>
              </a:solidFill>
            </a:endParaRPr>
          </a:p>
          <a:p>
            <a:pPr marL="342900" indent="-342900">
              <a:buFont typeface="Wingdings" panose="05000000000000000000" pitchFamily="2" charset="2"/>
              <a:buChar char="§"/>
            </a:pPr>
            <a:r>
              <a:rPr lang="en-US" sz="2400" dirty="0">
                <a:solidFill>
                  <a:srgbClr val="0C2340"/>
                </a:solidFill>
              </a:rPr>
              <a:t>50-50 split – splitting resources in the middle does not mean that each party received their maximum utility.</a:t>
            </a:r>
          </a:p>
          <a:p>
            <a:pPr marL="342900" indent="-342900">
              <a:buFont typeface="Wingdings" panose="05000000000000000000" pitchFamily="2" charset="2"/>
              <a:buChar char="§"/>
            </a:pPr>
            <a:endParaRPr lang="en-US" sz="2000" dirty="0">
              <a:solidFill>
                <a:srgbClr val="0C2340"/>
              </a:solidFill>
            </a:endParaRPr>
          </a:p>
          <a:p>
            <a:pPr marL="342900" indent="-342900">
              <a:buFont typeface="Wingdings" panose="05000000000000000000" pitchFamily="2" charset="2"/>
              <a:buChar char="§"/>
            </a:pPr>
            <a:r>
              <a:rPr lang="en-US" sz="2400" dirty="0">
                <a:solidFill>
                  <a:srgbClr val="0C2340"/>
                </a:solidFill>
              </a:rPr>
              <a:t>Satisfaction – just because parties are happy with their individual outcome does not mean the outcomes were maximized. The parties may be ignorant to the greater possibilities. </a:t>
            </a:r>
          </a:p>
          <a:p>
            <a:pPr marL="342900" indent="-342900">
              <a:buFont typeface="Wingdings" panose="05000000000000000000" pitchFamily="2" charset="2"/>
              <a:buChar char="§"/>
            </a:pPr>
            <a:endParaRPr lang="en-US" sz="2000" dirty="0">
              <a:solidFill>
                <a:srgbClr val="0C2340"/>
              </a:solidFill>
            </a:endParaRPr>
          </a:p>
          <a:p>
            <a:pPr marL="342900" indent="-342900">
              <a:buFont typeface="Wingdings" panose="05000000000000000000" pitchFamily="2" charset="2"/>
              <a:buChar char="§"/>
            </a:pPr>
            <a:r>
              <a:rPr lang="en-US" sz="2400" dirty="0">
                <a:solidFill>
                  <a:srgbClr val="0C2340"/>
                </a:solidFill>
              </a:rPr>
              <a:t>Building a relationship – a great relationship does not necessarily equal a maximized outcome. Negotiators often consider the other party too much. A balance is necessary.</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5</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80288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2" end="2"/>
                                            </p:txEl>
                                          </p:spTgt>
                                        </p:tgtEl>
                                        <p:attrNameLst>
                                          <p:attrName>style.visibility</p:attrName>
                                        </p:attrNameLst>
                                      </p:cBhvr>
                                      <p:to>
                                        <p:strVal val="visible"/>
                                      </p:to>
                                    </p:set>
                                    <p:animEffect transition="in" filter="fade">
                                      <p:cBhvr>
                                        <p:cTn id="7" dur="500"/>
                                        <p:tgtEl>
                                          <p:spTgt spid="3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4" end="4"/>
                                            </p:txEl>
                                          </p:spTgt>
                                        </p:tgtEl>
                                        <p:attrNameLst>
                                          <p:attrName>style.visibility</p:attrName>
                                        </p:attrNameLst>
                                      </p:cBhvr>
                                      <p:to>
                                        <p:strVal val="visible"/>
                                      </p:to>
                                    </p:set>
                                    <p:animEffect transition="in" filter="fade">
                                      <p:cBhvr>
                                        <p:cTn id="12" dur="500"/>
                                        <p:tgtEl>
                                          <p:spTgt spid="3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6" end="6"/>
                                            </p:txEl>
                                          </p:spTgt>
                                        </p:tgtEl>
                                        <p:attrNameLst>
                                          <p:attrName>style.visibility</p:attrName>
                                        </p:attrNameLst>
                                      </p:cBhvr>
                                      <p:to>
                                        <p:strVal val="visible"/>
                                      </p:to>
                                    </p:set>
                                    <p:animEffect transition="in" filter="fade">
                                      <p:cBhvr>
                                        <p:cTn id="17" dur="500"/>
                                        <p:tgtEl>
                                          <p:spTgt spid="39">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xEl>
                                              <p:pRg st="8" end="8"/>
                                            </p:txEl>
                                          </p:spTgt>
                                        </p:tgtEl>
                                        <p:attrNameLst>
                                          <p:attrName>style.visibility</p:attrName>
                                        </p:attrNameLst>
                                      </p:cBhvr>
                                      <p:to>
                                        <p:strVal val="visible"/>
                                      </p:to>
                                    </p:set>
                                    <p:animEffect transition="in" filter="fade">
                                      <p:cBhvr>
                                        <p:cTn id="22" dur="500"/>
                                        <p:tgtEl>
                                          <p:spTgt spid="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 – Pyramid Model</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6</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aphicFrame>
        <p:nvGraphicFramePr>
          <p:cNvPr id="6" name="Diagram 5"/>
          <p:cNvGraphicFramePr/>
          <p:nvPr/>
        </p:nvGraphicFramePr>
        <p:xfrm>
          <a:off x="1295400" y="1143000"/>
          <a:ext cx="6324600" cy="5257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90260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a:t>
            </a:r>
          </a:p>
        </p:txBody>
      </p:sp>
      <p:sp>
        <p:nvSpPr>
          <p:cNvPr id="39" name="TextBox 38"/>
          <p:cNvSpPr txBox="1"/>
          <p:nvPr/>
        </p:nvSpPr>
        <p:spPr>
          <a:xfrm>
            <a:off x="274319" y="1188720"/>
            <a:ext cx="8595360" cy="5262979"/>
          </a:xfrm>
          <a:prstGeom prst="rect">
            <a:avLst/>
          </a:prstGeom>
          <a:noFill/>
        </p:spPr>
        <p:txBody>
          <a:bodyPr wrap="square" rtlCol="0">
            <a:spAutoFit/>
          </a:bodyPr>
          <a:lstStyle/>
          <a:p>
            <a:pPr marL="457200" indent="-457200">
              <a:buFont typeface="Wingdings" panose="05000000000000000000" pitchFamily="2" charset="2"/>
              <a:buChar char="§"/>
            </a:pPr>
            <a:r>
              <a:rPr lang="en-US" sz="2400" dirty="0">
                <a:solidFill>
                  <a:srgbClr val="0C2340"/>
                </a:solidFill>
              </a:rPr>
              <a:t>Level 1 – An agreement that is within the bargaining zone. Creates value by providing a result that is better than each party’s BATNA (essentially fixed-sum).</a:t>
            </a:r>
          </a:p>
          <a:p>
            <a:pPr marL="457200" indent="-457200">
              <a:buFont typeface="Wingdings" panose="05000000000000000000" pitchFamily="2" charset="2"/>
              <a:buChar char="§"/>
            </a:pPr>
            <a:endParaRPr lang="en-US" sz="2400" dirty="0">
              <a:solidFill>
                <a:srgbClr val="0C2340"/>
              </a:solidFill>
            </a:endParaRPr>
          </a:p>
          <a:p>
            <a:pPr marL="457200" indent="-457200">
              <a:buFont typeface="Wingdings" panose="05000000000000000000" pitchFamily="2" charset="2"/>
              <a:buChar char="§"/>
            </a:pPr>
            <a:endParaRPr lang="en-US" sz="2400" dirty="0">
              <a:solidFill>
                <a:srgbClr val="0C2340"/>
              </a:solidFill>
            </a:endParaRPr>
          </a:p>
          <a:p>
            <a:pPr marL="457200" indent="-457200">
              <a:buFont typeface="Wingdings" panose="05000000000000000000" pitchFamily="2" charset="2"/>
              <a:buChar char="§"/>
            </a:pPr>
            <a:r>
              <a:rPr lang="en-US" sz="2400" dirty="0">
                <a:solidFill>
                  <a:srgbClr val="0C2340"/>
                </a:solidFill>
              </a:rPr>
              <a:t>Level 2 – An agreement that is better for both parties than alternative agreements within the bargaining zone. Recognition that the negotiation is not fixed sum. Just because one party gains, the other does not necessarily lose. </a:t>
            </a:r>
          </a:p>
          <a:p>
            <a:pPr marL="457200" indent="-457200">
              <a:buFont typeface="Wingdings" panose="05000000000000000000" pitchFamily="2" charset="2"/>
              <a:buChar char="§"/>
            </a:pPr>
            <a:endParaRPr lang="en-US" sz="2400" dirty="0">
              <a:solidFill>
                <a:srgbClr val="0C2340"/>
              </a:solidFill>
            </a:endParaRPr>
          </a:p>
          <a:p>
            <a:pPr marL="457200" indent="-457200">
              <a:buFont typeface="Wingdings" panose="05000000000000000000" pitchFamily="2" charset="2"/>
              <a:buChar char="§"/>
            </a:pPr>
            <a:endParaRPr lang="en-US" sz="2400" dirty="0">
              <a:solidFill>
                <a:srgbClr val="0C2340"/>
              </a:solidFill>
            </a:endParaRPr>
          </a:p>
          <a:p>
            <a:pPr marL="457200" indent="-457200">
              <a:buFont typeface="Wingdings" panose="05000000000000000000" pitchFamily="2" charset="2"/>
              <a:buChar char="§"/>
            </a:pPr>
            <a:r>
              <a:rPr lang="en-US" sz="2400" dirty="0">
                <a:solidFill>
                  <a:srgbClr val="0C2340"/>
                </a:solidFill>
              </a:rPr>
              <a:t>Level 3 – An agreement is made at the Pareto optimal frontier. No other agreement exists that could increase benefit for one party without hurting the other party.</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7</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19139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3" end="3"/>
                                            </p:txEl>
                                          </p:spTgt>
                                        </p:tgtEl>
                                        <p:attrNameLst>
                                          <p:attrName>style.visibility</p:attrName>
                                        </p:attrNameLst>
                                      </p:cBhvr>
                                      <p:to>
                                        <p:strVal val="visible"/>
                                      </p:to>
                                    </p:set>
                                    <p:animEffect transition="in" filter="fade">
                                      <p:cBhvr>
                                        <p:cTn id="7" dur="500"/>
                                        <p:tgtEl>
                                          <p:spTgt spid="3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6" end="6"/>
                                            </p:txEl>
                                          </p:spTgt>
                                        </p:tgtEl>
                                        <p:attrNameLst>
                                          <p:attrName>style.visibility</p:attrName>
                                        </p:attrNameLst>
                                      </p:cBhvr>
                                      <p:to>
                                        <p:strVal val="visible"/>
                                      </p:to>
                                    </p:set>
                                    <p:animEffect transition="in" filter="fade">
                                      <p:cBhvr>
                                        <p:cTn id="12" dur="500"/>
                                        <p:tgtEl>
                                          <p:spTgt spid="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a:t>
            </a:r>
          </a:p>
        </p:txBody>
      </p:sp>
      <p:sp>
        <p:nvSpPr>
          <p:cNvPr id="39" name="TextBox 38"/>
          <p:cNvSpPr txBox="1"/>
          <p:nvPr/>
        </p:nvSpPr>
        <p:spPr>
          <a:xfrm>
            <a:off x="274319" y="1188720"/>
            <a:ext cx="8595360" cy="3785652"/>
          </a:xfrm>
          <a:prstGeom prst="rect">
            <a:avLst/>
          </a:prstGeom>
          <a:noFill/>
        </p:spPr>
        <p:txBody>
          <a:bodyPr wrap="square" rtlCol="0">
            <a:spAutoFit/>
          </a:bodyPr>
          <a:lstStyle/>
          <a:p>
            <a:pPr marL="285750" indent="-285750">
              <a:buFont typeface="Wingdings" panose="05000000000000000000" pitchFamily="2" charset="2"/>
              <a:buChar char="§"/>
            </a:pPr>
            <a:r>
              <a:rPr lang="en-US" sz="2400" dirty="0">
                <a:solidFill>
                  <a:srgbClr val="0C2340"/>
                </a:solidFill>
              </a:rPr>
              <a:t>Key feature of integrative negotiation is expansion of the pie</a:t>
            </a:r>
          </a:p>
          <a:p>
            <a:pPr marL="742950" lvl="1" indent="-285750">
              <a:buFont typeface="Wingdings" panose="05000000000000000000" pitchFamily="2" charset="2"/>
              <a:buChar char="§"/>
            </a:pPr>
            <a:r>
              <a:rPr lang="en-US" sz="2400" dirty="0">
                <a:solidFill>
                  <a:srgbClr val="0C2340"/>
                </a:solidFill>
              </a:rPr>
              <a:t>Increase in distributable utility </a:t>
            </a:r>
          </a:p>
          <a:p>
            <a:pPr marL="285750" indent="-285750">
              <a:buFont typeface="Wingdings" panose="05000000000000000000" pitchFamily="2" charset="2"/>
              <a:buChar char="§"/>
            </a:pPr>
            <a:endParaRPr lang="en-US" sz="2400" dirty="0">
              <a:solidFill>
                <a:srgbClr val="0C2340"/>
              </a:solidFill>
            </a:endParaRPr>
          </a:p>
          <a:p>
            <a:pPr marL="285750" indent="-285750">
              <a:buFont typeface="Wingdings" panose="05000000000000000000" pitchFamily="2" charset="2"/>
              <a:buChar char="§"/>
            </a:pPr>
            <a:r>
              <a:rPr lang="en-US" sz="2400" dirty="0">
                <a:solidFill>
                  <a:srgbClr val="0C2340"/>
                </a:solidFill>
              </a:rPr>
              <a:t>Requires two primary happenings</a:t>
            </a:r>
          </a:p>
          <a:p>
            <a:pPr marL="914400" lvl="1" indent="-457200">
              <a:buFont typeface="+mj-lt"/>
              <a:buAutoNum type="arabicPeriod"/>
            </a:pPr>
            <a:r>
              <a:rPr lang="en-US" sz="2400" dirty="0">
                <a:solidFill>
                  <a:srgbClr val="0C2340"/>
                </a:solidFill>
              </a:rPr>
              <a:t>Recognition that the pie can be expanded</a:t>
            </a:r>
          </a:p>
          <a:p>
            <a:pPr marL="914400" lvl="1" indent="-457200">
              <a:buFont typeface="+mj-lt"/>
              <a:buAutoNum type="arabicPeriod"/>
            </a:pPr>
            <a:r>
              <a:rPr lang="en-US" sz="2400" dirty="0">
                <a:solidFill>
                  <a:srgbClr val="0C2340"/>
                </a:solidFill>
              </a:rPr>
              <a:t>Successful execution of pie-expanding strategies </a:t>
            </a:r>
          </a:p>
          <a:p>
            <a:pPr marL="285750" indent="-285750">
              <a:buFont typeface="Wingdings" panose="05000000000000000000" pitchFamily="2" charset="2"/>
              <a:buChar char="§"/>
            </a:pPr>
            <a:endParaRPr lang="en-US" sz="2400" dirty="0">
              <a:solidFill>
                <a:srgbClr val="0C2340"/>
              </a:solidFill>
            </a:endParaRPr>
          </a:p>
          <a:p>
            <a:pPr marL="285750" indent="-285750">
              <a:buFont typeface="Wingdings" panose="05000000000000000000" pitchFamily="2" charset="2"/>
              <a:buChar char="§"/>
            </a:pPr>
            <a:r>
              <a:rPr lang="en-US" sz="2400" dirty="0">
                <a:solidFill>
                  <a:srgbClr val="0C2340"/>
                </a:solidFill>
              </a:rPr>
              <a:t>Involves successfully squashing common negotiator mindsets</a:t>
            </a:r>
          </a:p>
          <a:p>
            <a:pPr marL="742950" lvl="1" indent="-285750">
              <a:buFont typeface="Wingdings" panose="05000000000000000000" pitchFamily="2" charset="2"/>
              <a:buChar char="§"/>
            </a:pPr>
            <a:r>
              <a:rPr lang="en-US" sz="2400" dirty="0">
                <a:solidFill>
                  <a:srgbClr val="0C2340"/>
                </a:solidFill>
              </a:rPr>
              <a:t>Fixed-pie (zero-sum) perception </a:t>
            </a:r>
          </a:p>
          <a:p>
            <a:pPr marL="742950" lvl="1" indent="-285750">
              <a:buFont typeface="Wingdings" panose="05000000000000000000" pitchFamily="2" charset="2"/>
              <a:buChar char="§"/>
            </a:pPr>
            <a:r>
              <a:rPr lang="en-US" sz="2400" dirty="0">
                <a:solidFill>
                  <a:srgbClr val="0C2340"/>
                </a:solidFill>
              </a:rPr>
              <a:t>False conflict</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8</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59355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animEffect transition="in" filter="fade">
                                      <p:cBhvr>
                                        <p:cTn id="7" dur="500"/>
                                        <p:tgtEl>
                                          <p:spTgt spid="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3" end="3"/>
                                            </p:txEl>
                                          </p:spTgt>
                                        </p:tgtEl>
                                        <p:attrNameLst>
                                          <p:attrName>style.visibility</p:attrName>
                                        </p:attrNameLst>
                                      </p:cBhvr>
                                      <p:to>
                                        <p:strVal val="visible"/>
                                      </p:to>
                                    </p:set>
                                    <p:animEffect transition="in" filter="fade">
                                      <p:cBhvr>
                                        <p:cTn id="12" dur="500"/>
                                        <p:tgtEl>
                                          <p:spTgt spid="3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4" end="4"/>
                                            </p:txEl>
                                          </p:spTgt>
                                        </p:tgtEl>
                                        <p:attrNameLst>
                                          <p:attrName>style.visibility</p:attrName>
                                        </p:attrNameLst>
                                      </p:cBhvr>
                                      <p:to>
                                        <p:strVal val="visible"/>
                                      </p:to>
                                    </p:set>
                                    <p:animEffect transition="in" filter="fade">
                                      <p:cBhvr>
                                        <p:cTn id="17" dur="500"/>
                                        <p:tgtEl>
                                          <p:spTgt spid="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xEl>
                                              <p:pRg st="5" end="5"/>
                                            </p:txEl>
                                          </p:spTgt>
                                        </p:tgtEl>
                                        <p:attrNameLst>
                                          <p:attrName>style.visibility</p:attrName>
                                        </p:attrNameLst>
                                      </p:cBhvr>
                                      <p:to>
                                        <p:strVal val="visible"/>
                                      </p:to>
                                    </p:set>
                                    <p:animEffect transition="in" filter="fade">
                                      <p:cBhvr>
                                        <p:cTn id="22" dur="500"/>
                                        <p:tgtEl>
                                          <p:spTgt spid="3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
                                            <p:txEl>
                                              <p:pRg st="7" end="7"/>
                                            </p:txEl>
                                          </p:spTgt>
                                        </p:tgtEl>
                                        <p:attrNameLst>
                                          <p:attrName>style.visibility</p:attrName>
                                        </p:attrNameLst>
                                      </p:cBhvr>
                                      <p:to>
                                        <p:strVal val="visible"/>
                                      </p:to>
                                    </p:set>
                                    <p:animEffect transition="in" filter="fade">
                                      <p:cBhvr>
                                        <p:cTn id="27" dur="500"/>
                                        <p:tgtEl>
                                          <p:spTgt spid="3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xEl>
                                              <p:pRg st="8" end="8"/>
                                            </p:txEl>
                                          </p:spTgt>
                                        </p:tgtEl>
                                        <p:attrNameLst>
                                          <p:attrName>style.visibility</p:attrName>
                                        </p:attrNameLst>
                                      </p:cBhvr>
                                      <p:to>
                                        <p:strVal val="visible"/>
                                      </p:to>
                                    </p:set>
                                    <p:animEffect transition="in" filter="fade">
                                      <p:cBhvr>
                                        <p:cTn id="32" dur="500"/>
                                        <p:tgtEl>
                                          <p:spTgt spid="3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xEl>
                                              <p:pRg st="9" end="9"/>
                                            </p:txEl>
                                          </p:spTgt>
                                        </p:tgtEl>
                                        <p:attrNameLst>
                                          <p:attrName>style.visibility</p:attrName>
                                        </p:attrNameLst>
                                      </p:cBhvr>
                                      <p:to>
                                        <p:strVal val="visible"/>
                                      </p:to>
                                    </p:set>
                                    <p:animEffect transition="in" filter="fade">
                                      <p:cBhvr>
                                        <p:cTn id="37" dur="500"/>
                                        <p:tgtEl>
                                          <p:spTgt spid="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 – Recognition</a:t>
            </a:r>
          </a:p>
        </p:txBody>
      </p:sp>
      <p:sp>
        <p:nvSpPr>
          <p:cNvPr id="39" name="TextBox 38"/>
          <p:cNvSpPr txBox="1"/>
          <p:nvPr/>
        </p:nvSpPr>
        <p:spPr>
          <a:xfrm>
            <a:off x="274319" y="1188720"/>
            <a:ext cx="8595360" cy="4524315"/>
          </a:xfrm>
          <a:prstGeom prst="rect">
            <a:avLst/>
          </a:prstGeom>
          <a:noFill/>
        </p:spPr>
        <p:txBody>
          <a:bodyPr wrap="square" rtlCol="0">
            <a:spAutoFit/>
          </a:bodyPr>
          <a:lstStyle/>
          <a:p>
            <a:pPr marL="285750" indent="-285750">
              <a:buFont typeface="Wingdings" panose="05000000000000000000" pitchFamily="2" charset="2"/>
              <a:buChar char="§"/>
            </a:pPr>
            <a:r>
              <a:rPr lang="en-US" sz="2400" dirty="0">
                <a:solidFill>
                  <a:srgbClr val="0C2340"/>
                </a:solidFill>
              </a:rPr>
              <a:t>Are there multiple issues?</a:t>
            </a:r>
          </a:p>
          <a:p>
            <a:pPr marL="742950" lvl="1" indent="-285750">
              <a:buFont typeface="Wingdings" panose="05000000000000000000" pitchFamily="2" charset="2"/>
              <a:buChar char="§"/>
            </a:pPr>
            <a:r>
              <a:rPr lang="en-US" sz="2400" dirty="0">
                <a:solidFill>
                  <a:srgbClr val="0C2340"/>
                </a:solidFill>
              </a:rPr>
              <a:t>A single issue negotiation is always purely distributive</a:t>
            </a:r>
          </a:p>
          <a:p>
            <a:pPr marL="742950" lvl="1" indent="-285750">
              <a:buFont typeface="Wingdings" panose="05000000000000000000" pitchFamily="2" charset="2"/>
              <a:buChar char="§"/>
            </a:pPr>
            <a:r>
              <a:rPr lang="en-US" sz="2400" dirty="0">
                <a:solidFill>
                  <a:srgbClr val="0C2340"/>
                </a:solidFill>
              </a:rPr>
              <a:t>Multiple issues allow for the possibility of different needs and preferences</a:t>
            </a:r>
          </a:p>
          <a:p>
            <a:pPr marL="742950" lvl="1" indent="-285750">
              <a:buFont typeface="Wingdings" panose="05000000000000000000" pitchFamily="2" charset="2"/>
              <a:buChar char="§"/>
            </a:pPr>
            <a:endParaRPr lang="en-US" sz="2400" dirty="0">
              <a:solidFill>
                <a:srgbClr val="0C2340"/>
              </a:solidFill>
            </a:endParaRPr>
          </a:p>
          <a:p>
            <a:pPr marL="285750" indent="-285750">
              <a:buFont typeface="Wingdings" panose="05000000000000000000" pitchFamily="2" charset="2"/>
              <a:buChar char="§"/>
            </a:pPr>
            <a:r>
              <a:rPr lang="en-US" sz="2400" dirty="0">
                <a:solidFill>
                  <a:srgbClr val="0C2340"/>
                </a:solidFill>
              </a:rPr>
              <a:t>Can additional issues be added?</a:t>
            </a:r>
          </a:p>
          <a:p>
            <a:pPr marL="742950" lvl="1" indent="-285750">
              <a:buFont typeface="Wingdings" panose="05000000000000000000" pitchFamily="2" charset="2"/>
              <a:buChar char="§"/>
            </a:pPr>
            <a:r>
              <a:rPr lang="en-US" sz="2400" dirty="0">
                <a:solidFill>
                  <a:srgbClr val="0C2340"/>
                </a:solidFill>
              </a:rPr>
              <a:t>Expanding the number of issues allows leads to opportunities to expand the pie</a:t>
            </a:r>
          </a:p>
          <a:p>
            <a:pPr marL="742950" lvl="1" indent="-285750">
              <a:buFont typeface="Wingdings" panose="05000000000000000000" pitchFamily="2" charset="2"/>
              <a:buChar char="§"/>
            </a:pPr>
            <a:endParaRPr lang="en-US" sz="2400" dirty="0">
              <a:solidFill>
                <a:srgbClr val="0C2340"/>
              </a:solidFill>
            </a:endParaRPr>
          </a:p>
          <a:p>
            <a:pPr marL="285750" indent="-285750">
              <a:buFont typeface="Wingdings" panose="05000000000000000000" pitchFamily="2" charset="2"/>
              <a:buChar char="§"/>
            </a:pPr>
            <a:r>
              <a:rPr lang="en-US" sz="2400" dirty="0">
                <a:solidFill>
                  <a:srgbClr val="0C2340"/>
                </a:solidFill>
              </a:rPr>
              <a:t>Are side-deals a realistic option?</a:t>
            </a:r>
          </a:p>
          <a:p>
            <a:pPr marL="742950" lvl="1" indent="-285750">
              <a:buFont typeface="Wingdings" panose="05000000000000000000" pitchFamily="2" charset="2"/>
              <a:buChar char="§"/>
            </a:pPr>
            <a:r>
              <a:rPr lang="en-US" sz="2400" dirty="0">
                <a:solidFill>
                  <a:srgbClr val="0C2340"/>
                </a:solidFill>
              </a:rPr>
              <a:t>Future guarantees and promises</a:t>
            </a:r>
          </a:p>
          <a:p>
            <a:pPr marL="742950" lvl="1" indent="-285750">
              <a:buFont typeface="Wingdings" panose="05000000000000000000" pitchFamily="2" charset="2"/>
              <a:buChar char="§"/>
            </a:pPr>
            <a:r>
              <a:rPr lang="en-US" sz="2400" dirty="0">
                <a:solidFill>
                  <a:srgbClr val="0C2340"/>
                </a:solidFill>
              </a:rPr>
              <a:t>Tradeoffs involving other negotiations</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9</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89546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animEffect transition="in" filter="fade">
                                      <p:cBhvr>
                                        <p:cTn id="7" dur="500"/>
                                        <p:tgtEl>
                                          <p:spTgt spid="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2" end="2"/>
                                            </p:txEl>
                                          </p:spTgt>
                                        </p:tgtEl>
                                        <p:attrNameLst>
                                          <p:attrName>style.visibility</p:attrName>
                                        </p:attrNameLst>
                                      </p:cBhvr>
                                      <p:to>
                                        <p:strVal val="visible"/>
                                      </p:to>
                                    </p:set>
                                    <p:animEffect transition="in" filter="fade">
                                      <p:cBhvr>
                                        <p:cTn id="12" dur="500"/>
                                        <p:tgtEl>
                                          <p:spTgt spid="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4" end="4"/>
                                            </p:txEl>
                                          </p:spTgt>
                                        </p:tgtEl>
                                        <p:attrNameLst>
                                          <p:attrName>style.visibility</p:attrName>
                                        </p:attrNameLst>
                                      </p:cBhvr>
                                      <p:to>
                                        <p:strVal val="visible"/>
                                      </p:to>
                                    </p:set>
                                    <p:animEffect transition="in" filter="fade">
                                      <p:cBhvr>
                                        <p:cTn id="17" dur="500"/>
                                        <p:tgtEl>
                                          <p:spTgt spid="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xEl>
                                              <p:pRg st="5" end="5"/>
                                            </p:txEl>
                                          </p:spTgt>
                                        </p:tgtEl>
                                        <p:attrNameLst>
                                          <p:attrName>style.visibility</p:attrName>
                                        </p:attrNameLst>
                                      </p:cBhvr>
                                      <p:to>
                                        <p:strVal val="visible"/>
                                      </p:to>
                                    </p:set>
                                    <p:animEffect transition="in" filter="fade">
                                      <p:cBhvr>
                                        <p:cTn id="22" dur="500"/>
                                        <p:tgtEl>
                                          <p:spTgt spid="3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
                                            <p:txEl>
                                              <p:pRg st="7" end="7"/>
                                            </p:txEl>
                                          </p:spTgt>
                                        </p:tgtEl>
                                        <p:attrNameLst>
                                          <p:attrName>style.visibility</p:attrName>
                                        </p:attrNameLst>
                                      </p:cBhvr>
                                      <p:to>
                                        <p:strVal val="visible"/>
                                      </p:to>
                                    </p:set>
                                    <p:animEffect transition="in" filter="fade">
                                      <p:cBhvr>
                                        <p:cTn id="27" dur="500"/>
                                        <p:tgtEl>
                                          <p:spTgt spid="3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xEl>
                                              <p:pRg st="8" end="8"/>
                                            </p:txEl>
                                          </p:spTgt>
                                        </p:tgtEl>
                                        <p:attrNameLst>
                                          <p:attrName>style.visibility</p:attrName>
                                        </p:attrNameLst>
                                      </p:cBhvr>
                                      <p:to>
                                        <p:strVal val="visible"/>
                                      </p:to>
                                    </p:set>
                                    <p:animEffect transition="in" filter="fade">
                                      <p:cBhvr>
                                        <p:cTn id="32" dur="500"/>
                                        <p:tgtEl>
                                          <p:spTgt spid="3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xEl>
                                              <p:pRg st="9" end="9"/>
                                            </p:txEl>
                                          </p:spTgt>
                                        </p:tgtEl>
                                        <p:attrNameLst>
                                          <p:attrName>style.visibility</p:attrName>
                                        </p:attrNameLst>
                                      </p:cBhvr>
                                      <p:to>
                                        <p:strVal val="visible"/>
                                      </p:to>
                                    </p:set>
                                    <p:animEffect transition="in" filter="fade">
                                      <p:cBhvr>
                                        <p:cTn id="37" dur="500"/>
                                        <p:tgtEl>
                                          <p:spTgt spid="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 – Common Errors</a:t>
            </a:r>
          </a:p>
        </p:txBody>
      </p:sp>
      <p:sp>
        <p:nvSpPr>
          <p:cNvPr id="39" name="TextBox 38"/>
          <p:cNvSpPr txBox="1"/>
          <p:nvPr/>
        </p:nvSpPr>
        <p:spPr>
          <a:xfrm>
            <a:off x="274318" y="1188720"/>
            <a:ext cx="8641082" cy="4154984"/>
          </a:xfrm>
          <a:prstGeom prst="rect">
            <a:avLst/>
          </a:prstGeom>
          <a:noFill/>
        </p:spPr>
        <p:txBody>
          <a:bodyPr wrap="square" rtlCol="0">
            <a:spAutoFit/>
          </a:bodyPr>
          <a:lstStyle/>
          <a:p>
            <a:pPr marL="342900" indent="-342900">
              <a:buFont typeface="Wingdings" panose="05000000000000000000" pitchFamily="2" charset="2"/>
              <a:buChar char="§"/>
            </a:pPr>
            <a:r>
              <a:rPr lang="en-US" sz="2200" dirty="0">
                <a:solidFill>
                  <a:srgbClr val="0C2340"/>
                </a:solidFill>
              </a:rPr>
              <a:t>Fixed-pie perception</a:t>
            </a:r>
          </a:p>
          <a:p>
            <a:pPr marL="800100" lvl="1" indent="-342900">
              <a:buFont typeface="Wingdings" panose="05000000000000000000" pitchFamily="2" charset="2"/>
              <a:buChar char="§"/>
            </a:pPr>
            <a:r>
              <a:rPr lang="en-US" sz="2200" dirty="0">
                <a:solidFill>
                  <a:srgbClr val="0C2340"/>
                </a:solidFill>
              </a:rPr>
              <a:t>The belief that negotiations are always win-lose</a:t>
            </a:r>
          </a:p>
          <a:p>
            <a:pPr marL="1257300" lvl="2" indent="-342900">
              <a:buFont typeface="Wingdings" panose="05000000000000000000" pitchFamily="2" charset="2"/>
              <a:buChar char="§"/>
            </a:pPr>
            <a:r>
              <a:rPr lang="en-US" sz="2200" dirty="0">
                <a:solidFill>
                  <a:srgbClr val="0C2340"/>
                </a:solidFill>
              </a:rPr>
              <a:t>Usually not the case</a:t>
            </a:r>
          </a:p>
          <a:p>
            <a:pPr marL="800100" lvl="1" indent="-342900">
              <a:buFont typeface="Wingdings" panose="05000000000000000000" pitchFamily="2" charset="2"/>
              <a:buChar char="§"/>
            </a:pPr>
            <a:r>
              <a:rPr lang="en-US" sz="2200" dirty="0">
                <a:solidFill>
                  <a:srgbClr val="0C2340"/>
                </a:solidFill>
              </a:rPr>
              <a:t>A gain for one party does not always result in an </a:t>
            </a:r>
            <a:r>
              <a:rPr lang="en-US" sz="2200" u="sng" dirty="0">
                <a:solidFill>
                  <a:srgbClr val="0C2340"/>
                </a:solidFill>
              </a:rPr>
              <a:t>equal loss</a:t>
            </a:r>
            <a:r>
              <a:rPr lang="en-US" sz="2200" dirty="0">
                <a:solidFill>
                  <a:srgbClr val="0C2340"/>
                </a:solidFill>
              </a:rPr>
              <a:t> for the other party</a:t>
            </a:r>
          </a:p>
          <a:p>
            <a:pPr marL="800100" lvl="1" indent="-342900">
              <a:buFont typeface="Wingdings" panose="05000000000000000000" pitchFamily="2" charset="2"/>
              <a:buChar char="§"/>
            </a:pPr>
            <a:r>
              <a:rPr lang="en-US" sz="2200" dirty="0">
                <a:solidFill>
                  <a:srgbClr val="0C2340"/>
                </a:solidFill>
              </a:rPr>
              <a:t>Neglects the potential for increasing the pie and creating value</a:t>
            </a:r>
          </a:p>
          <a:p>
            <a:pPr marL="800100" lvl="1" indent="-342900">
              <a:buFont typeface="Wingdings" panose="05000000000000000000" pitchFamily="2" charset="2"/>
              <a:buChar char="§"/>
            </a:pPr>
            <a:endParaRPr lang="en-US" sz="2200" dirty="0">
              <a:solidFill>
                <a:srgbClr val="0C2340"/>
              </a:solidFill>
            </a:endParaRPr>
          </a:p>
          <a:p>
            <a:pPr marL="342900" indent="-342900">
              <a:buFont typeface="Wingdings" panose="05000000000000000000" pitchFamily="2" charset="2"/>
              <a:buChar char="§"/>
            </a:pPr>
            <a:r>
              <a:rPr lang="en-US" sz="2200" dirty="0">
                <a:solidFill>
                  <a:srgbClr val="0C2340"/>
                </a:solidFill>
              </a:rPr>
              <a:t>False conflict</a:t>
            </a:r>
          </a:p>
          <a:p>
            <a:pPr marL="800100" lvl="1" indent="-342900">
              <a:buFont typeface="Wingdings" panose="05000000000000000000" pitchFamily="2" charset="2"/>
              <a:buChar char="§"/>
            </a:pPr>
            <a:r>
              <a:rPr lang="en-US" sz="2200" dirty="0">
                <a:solidFill>
                  <a:srgbClr val="0C2340"/>
                </a:solidFill>
              </a:rPr>
              <a:t>The preconceived notion that the other party wants something different from oneself </a:t>
            </a:r>
          </a:p>
          <a:p>
            <a:pPr marL="800100" lvl="1" indent="-342900">
              <a:buFont typeface="Wingdings" panose="05000000000000000000" pitchFamily="2" charset="2"/>
              <a:buChar char="§"/>
            </a:pPr>
            <a:r>
              <a:rPr lang="en-US" sz="2200" dirty="0">
                <a:solidFill>
                  <a:srgbClr val="0C2340"/>
                </a:solidFill>
              </a:rPr>
              <a:t>Leads to less than optimal results</a:t>
            </a:r>
          </a:p>
          <a:p>
            <a:pPr marL="800100" lvl="1" indent="-342900">
              <a:buFont typeface="Wingdings" panose="05000000000000000000" pitchFamily="2" charset="2"/>
              <a:buChar char="§"/>
            </a:pPr>
            <a:r>
              <a:rPr lang="en-US" sz="2200" dirty="0">
                <a:solidFill>
                  <a:srgbClr val="0C2340"/>
                </a:solidFill>
              </a:rPr>
              <a:t>Can create a lose-lose situation</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10</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06512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animEffect transition="in" filter="fade">
                                      <p:cBhvr>
                                        <p:cTn id="7" dur="500"/>
                                        <p:tgtEl>
                                          <p:spTgt spid="3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
                                            <p:txEl>
                                              <p:pRg st="2" end="2"/>
                                            </p:txEl>
                                          </p:spTgt>
                                        </p:tgtEl>
                                        <p:attrNameLst>
                                          <p:attrName>style.visibility</p:attrName>
                                        </p:attrNameLst>
                                      </p:cBhvr>
                                      <p:to>
                                        <p:strVal val="visible"/>
                                      </p:to>
                                    </p:set>
                                    <p:animEffect transition="in" filter="fade">
                                      <p:cBhvr>
                                        <p:cTn id="10" dur="500"/>
                                        <p:tgtEl>
                                          <p:spTgt spid="3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xEl>
                                              <p:pRg st="3" end="3"/>
                                            </p:txEl>
                                          </p:spTgt>
                                        </p:tgtEl>
                                        <p:attrNameLst>
                                          <p:attrName>style.visibility</p:attrName>
                                        </p:attrNameLst>
                                      </p:cBhvr>
                                      <p:to>
                                        <p:strVal val="visible"/>
                                      </p:to>
                                    </p:set>
                                    <p:animEffect transition="in" filter="fade">
                                      <p:cBhvr>
                                        <p:cTn id="13" dur="500"/>
                                        <p:tgtEl>
                                          <p:spTgt spid="3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9">
                                            <p:txEl>
                                              <p:pRg st="4" end="4"/>
                                            </p:txEl>
                                          </p:spTgt>
                                        </p:tgtEl>
                                        <p:attrNameLst>
                                          <p:attrName>style.visibility</p:attrName>
                                        </p:attrNameLst>
                                      </p:cBhvr>
                                      <p:to>
                                        <p:strVal val="visible"/>
                                      </p:to>
                                    </p:set>
                                    <p:animEffect transition="in" filter="fade">
                                      <p:cBhvr>
                                        <p:cTn id="16" dur="500"/>
                                        <p:tgtEl>
                                          <p:spTgt spid="39">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9">
                                            <p:txEl>
                                              <p:pRg st="6" end="6"/>
                                            </p:txEl>
                                          </p:spTgt>
                                        </p:tgtEl>
                                        <p:attrNameLst>
                                          <p:attrName>style.visibility</p:attrName>
                                        </p:attrNameLst>
                                      </p:cBhvr>
                                      <p:to>
                                        <p:strVal val="visible"/>
                                      </p:to>
                                    </p:set>
                                    <p:animEffect transition="in" filter="fade">
                                      <p:cBhvr>
                                        <p:cTn id="21" dur="500"/>
                                        <p:tgtEl>
                                          <p:spTgt spid="39">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9">
                                            <p:txEl>
                                              <p:pRg st="7" end="7"/>
                                            </p:txEl>
                                          </p:spTgt>
                                        </p:tgtEl>
                                        <p:attrNameLst>
                                          <p:attrName>style.visibility</p:attrName>
                                        </p:attrNameLst>
                                      </p:cBhvr>
                                      <p:to>
                                        <p:strVal val="visible"/>
                                      </p:to>
                                    </p:set>
                                    <p:animEffect transition="in" filter="fade">
                                      <p:cBhvr>
                                        <p:cTn id="26" dur="500"/>
                                        <p:tgtEl>
                                          <p:spTgt spid="39">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9">
                                            <p:txEl>
                                              <p:pRg st="8" end="8"/>
                                            </p:txEl>
                                          </p:spTgt>
                                        </p:tgtEl>
                                        <p:attrNameLst>
                                          <p:attrName>style.visibility</p:attrName>
                                        </p:attrNameLst>
                                      </p:cBhvr>
                                      <p:to>
                                        <p:strVal val="visible"/>
                                      </p:to>
                                    </p:set>
                                    <p:animEffect transition="in" filter="fade">
                                      <p:cBhvr>
                                        <p:cTn id="29" dur="500"/>
                                        <p:tgtEl>
                                          <p:spTgt spid="39">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9">
                                            <p:txEl>
                                              <p:pRg st="9" end="9"/>
                                            </p:txEl>
                                          </p:spTgt>
                                        </p:tgtEl>
                                        <p:attrNameLst>
                                          <p:attrName>style.visibility</p:attrName>
                                        </p:attrNameLst>
                                      </p:cBhvr>
                                      <p:to>
                                        <p:strVal val="visible"/>
                                      </p:to>
                                    </p:set>
                                    <p:animEffect transition="in" filter="fade">
                                      <p:cBhvr>
                                        <p:cTn id="32" dur="500"/>
                                        <p:tgtEl>
                                          <p:spTgt spid="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 – Steps</a:t>
            </a:r>
          </a:p>
        </p:txBody>
      </p:sp>
      <p:sp>
        <p:nvSpPr>
          <p:cNvPr id="39" name="TextBox 38"/>
          <p:cNvSpPr txBox="1"/>
          <p:nvPr/>
        </p:nvSpPr>
        <p:spPr>
          <a:xfrm>
            <a:off x="274319" y="1188720"/>
            <a:ext cx="8595360" cy="4524315"/>
          </a:xfrm>
          <a:prstGeom prst="rect">
            <a:avLst/>
          </a:prstGeom>
          <a:noFill/>
        </p:spPr>
        <p:txBody>
          <a:bodyPr wrap="square" rtlCol="0">
            <a:spAutoFit/>
          </a:bodyPr>
          <a:lstStyle/>
          <a:p>
            <a:r>
              <a:rPr lang="en-US" sz="2400" dirty="0">
                <a:solidFill>
                  <a:srgbClr val="0C2340"/>
                </a:solidFill>
              </a:rPr>
              <a:t>There are six basic steps to the integrative negotiation process:</a:t>
            </a:r>
          </a:p>
          <a:p>
            <a:endParaRPr lang="en-US" sz="2400" dirty="0">
              <a:solidFill>
                <a:srgbClr val="0C2340"/>
              </a:solidFill>
            </a:endParaRPr>
          </a:p>
          <a:p>
            <a:pPr marL="457200" indent="-457200">
              <a:buFont typeface="+mj-lt"/>
              <a:buAutoNum type="arabicPeriod"/>
            </a:pPr>
            <a:r>
              <a:rPr lang="en-US" sz="2400" dirty="0">
                <a:solidFill>
                  <a:srgbClr val="0C2340"/>
                </a:solidFill>
              </a:rPr>
              <a:t>The negotiators describe and define the topic to be discussed/ problem to be solved.</a:t>
            </a:r>
          </a:p>
          <a:p>
            <a:pPr marL="457200" indent="-457200">
              <a:buFont typeface="+mj-lt"/>
              <a:buAutoNum type="arabicPeriod"/>
            </a:pPr>
            <a:endParaRPr lang="en-US" sz="2400" dirty="0">
              <a:solidFill>
                <a:srgbClr val="0C2340"/>
              </a:solidFill>
            </a:endParaRPr>
          </a:p>
          <a:p>
            <a:pPr marL="457200" indent="-457200">
              <a:buFont typeface="+mj-lt"/>
              <a:buAutoNum type="arabicPeriod"/>
            </a:pPr>
            <a:r>
              <a:rPr lang="en-US" sz="2400" dirty="0">
                <a:solidFill>
                  <a:srgbClr val="0C2340"/>
                </a:solidFill>
              </a:rPr>
              <a:t>An opportunity for each party to identify its issues in regards to the main problem and, in turn, to explore the issues of the other party. </a:t>
            </a:r>
          </a:p>
          <a:p>
            <a:pPr marL="457200" indent="-457200">
              <a:buFont typeface="+mj-lt"/>
              <a:buAutoNum type="arabicPeriod"/>
            </a:pPr>
            <a:endParaRPr lang="en-US" sz="2400" dirty="0">
              <a:solidFill>
                <a:srgbClr val="0C2340"/>
              </a:solidFill>
            </a:endParaRPr>
          </a:p>
          <a:p>
            <a:pPr marL="457200" indent="-457200">
              <a:buFont typeface="+mj-lt"/>
              <a:buAutoNum type="arabicPeriod"/>
            </a:pPr>
            <a:r>
              <a:rPr lang="en-US" sz="2400" dirty="0">
                <a:solidFill>
                  <a:srgbClr val="0C2340"/>
                </a:solidFill>
              </a:rPr>
              <a:t>With a shared understanding of all of the issues, the parties create options or potential solutions to satisfy as many of the issues as possible. </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11</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32289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2" end="2"/>
                                            </p:txEl>
                                          </p:spTgt>
                                        </p:tgtEl>
                                        <p:attrNameLst>
                                          <p:attrName>style.visibility</p:attrName>
                                        </p:attrNameLst>
                                      </p:cBhvr>
                                      <p:to>
                                        <p:strVal val="visible"/>
                                      </p:to>
                                    </p:set>
                                    <p:animEffect transition="in" filter="fade">
                                      <p:cBhvr>
                                        <p:cTn id="7" dur="500"/>
                                        <p:tgtEl>
                                          <p:spTgt spid="3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4" end="4"/>
                                            </p:txEl>
                                          </p:spTgt>
                                        </p:tgtEl>
                                        <p:attrNameLst>
                                          <p:attrName>style.visibility</p:attrName>
                                        </p:attrNameLst>
                                      </p:cBhvr>
                                      <p:to>
                                        <p:strVal val="visible"/>
                                      </p:to>
                                    </p:set>
                                    <p:animEffect transition="in" filter="fade">
                                      <p:cBhvr>
                                        <p:cTn id="12" dur="500"/>
                                        <p:tgtEl>
                                          <p:spTgt spid="3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6" end="6"/>
                                            </p:txEl>
                                          </p:spTgt>
                                        </p:tgtEl>
                                        <p:attrNameLst>
                                          <p:attrName>style.visibility</p:attrName>
                                        </p:attrNameLst>
                                      </p:cBhvr>
                                      <p:to>
                                        <p:strVal val="visible"/>
                                      </p:to>
                                    </p:set>
                                    <p:animEffect transition="in" filter="fade">
                                      <p:cBhvr>
                                        <p:cTn id="17" dur="500"/>
                                        <p:tgtEl>
                                          <p:spTgt spid="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457200"/>
            <a:ext cx="7315200" cy="584775"/>
          </a:xfrm>
          <a:prstGeom prst="rect">
            <a:avLst/>
          </a:prstGeom>
          <a:noFill/>
        </p:spPr>
        <p:txBody>
          <a:bodyPr wrap="square" rtlCol="0">
            <a:spAutoFit/>
          </a:bodyPr>
          <a:lstStyle/>
          <a:p>
            <a:pPr algn="ctr"/>
            <a:r>
              <a:rPr lang="en-US" sz="3200" dirty="0">
                <a:solidFill>
                  <a:srgbClr val="0C2340"/>
                </a:solidFill>
              </a:rPr>
              <a:t>Integrative Negotiation – Steps</a:t>
            </a:r>
          </a:p>
        </p:txBody>
      </p:sp>
      <p:sp>
        <p:nvSpPr>
          <p:cNvPr id="39" name="TextBox 38"/>
          <p:cNvSpPr txBox="1"/>
          <p:nvPr/>
        </p:nvSpPr>
        <p:spPr>
          <a:xfrm>
            <a:off x="274319" y="1188720"/>
            <a:ext cx="8595360" cy="4524315"/>
          </a:xfrm>
          <a:prstGeom prst="rect">
            <a:avLst/>
          </a:prstGeom>
          <a:noFill/>
        </p:spPr>
        <p:txBody>
          <a:bodyPr wrap="square" rtlCol="0">
            <a:spAutoFit/>
          </a:bodyPr>
          <a:lstStyle/>
          <a:p>
            <a:pPr marL="457200" indent="-457200">
              <a:buAutoNum type="arabicPeriod" startAt="4"/>
            </a:pPr>
            <a:r>
              <a:rPr lang="en-US" sz="2400" dirty="0">
                <a:solidFill>
                  <a:srgbClr val="0C2340"/>
                </a:solidFill>
              </a:rPr>
              <a:t>The parties agree on the criteria they will use to evaluate the options and determine which issues are musts.</a:t>
            </a:r>
          </a:p>
          <a:p>
            <a:pPr marL="457200" indent="-457200">
              <a:buAutoNum type="arabicPeriod" startAt="4"/>
            </a:pPr>
            <a:endParaRPr lang="en-US" sz="2400" dirty="0">
              <a:solidFill>
                <a:srgbClr val="0C2340"/>
              </a:solidFill>
            </a:endParaRPr>
          </a:p>
          <a:p>
            <a:pPr marL="457200" indent="-457200">
              <a:buAutoNum type="arabicPeriod" startAt="4"/>
            </a:pPr>
            <a:endParaRPr lang="en-US" sz="2400" dirty="0">
              <a:solidFill>
                <a:srgbClr val="0C2340"/>
              </a:solidFill>
            </a:endParaRPr>
          </a:p>
          <a:p>
            <a:pPr marL="457200" indent="-457200">
              <a:buAutoNum type="arabicPeriod" startAt="4"/>
            </a:pPr>
            <a:r>
              <a:rPr lang="en-US" sz="2400" dirty="0">
                <a:solidFill>
                  <a:srgbClr val="0C2340"/>
                </a:solidFill>
              </a:rPr>
              <a:t>The parties select the options that best meet the agreed upon criteria. Which options are best liked by each party. Focus on those options, reassess, and optimize. </a:t>
            </a:r>
          </a:p>
          <a:p>
            <a:pPr marL="457200" indent="-457200">
              <a:buAutoNum type="arabicPeriod" startAt="4"/>
            </a:pPr>
            <a:endParaRPr lang="en-US" sz="2400" dirty="0">
              <a:solidFill>
                <a:srgbClr val="0C2340"/>
              </a:solidFill>
            </a:endParaRPr>
          </a:p>
          <a:p>
            <a:pPr marL="457200" indent="-457200">
              <a:buAutoNum type="arabicPeriod" startAt="4"/>
            </a:pPr>
            <a:endParaRPr lang="en-US" sz="2400" dirty="0">
              <a:solidFill>
                <a:srgbClr val="0C2340"/>
              </a:solidFill>
            </a:endParaRPr>
          </a:p>
          <a:p>
            <a:pPr marL="457200" indent="-457200">
              <a:buAutoNum type="arabicPeriod" startAt="4"/>
            </a:pPr>
            <a:r>
              <a:rPr lang="en-US" sz="2400" dirty="0">
                <a:solidFill>
                  <a:srgbClr val="0C2340"/>
                </a:solidFill>
              </a:rPr>
              <a:t>The parties integrate or craft these options into a comprehensive solution that solves the main problem, optimizing as many issues as possible, and completes the process. </a:t>
            </a:r>
          </a:p>
        </p:txBody>
      </p:sp>
      <p:sp>
        <p:nvSpPr>
          <p:cNvPr id="2" name="Slide Number Placeholder 1"/>
          <p:cNvSpPr>
            <a:spLocks noGrp="1"/>
          </p:cNvSpPr>
          <p:nvPr>
            <p:ph type="sldNum" sz="quarter" idx="12"/>
          </p:nvPr>
        </p:nvSpPr>
        <p:spPr/>
        <p:txBody>
          <a:bodyPr/>
          <a:lstStyle/>
          <a:p>
            <a:fld id="{54B2D119-4472-444A-BADD-4113D315726F}" type="slidenum">
              <a:rPr lang="en-US" smtClean="0">
                <a:solidFill>
                  <a:srgbClr val="632423">
                    <a:tint val="75000"/>
                  </a:srgbClr>
                </a:solidFill>
              </a:rPr>
              <a:pPr/>
              <a:t>12</a:t>
            </a:fld>
            <a:endParaRPr lang="en-US" dirty="0">
              <a:solidFill>
                <a:srgbClr val="632423">
                  <a:tint val="75000"/>
                </a:srgbClr>
              </a:solidFill>
            </a:endParaRPr>
          </a:p>
        </p:txBody>
      </p:sp>
      <p:sp>
        <p:nvSpPr>
          <p:cNvPr id="7" name="AutoShape 2" descr="http://www.sweetsweetcornerbakery.com/image/double_chocolate_cupcakes.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95064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3" end="3"/>
                                            </p:txEl>
                                          </p:spTgt>
                                        </p:tgtEl>
                                        <p:attrNameLst>
                                          <p:attrName>style.visibility</p:attrName>
                                        </p:attrNameLst>
                                      </p:cBhvr>
                                      <p:to>
                                        <p:strVal val="visible"/>
                                      </p:to>
                                    </p:set>
                                    <p:animEffect transition="in" filter="fade">
                                      <p:cBhvr>
                                        <p:cTn id="12" dur="500"/>
                                        <p:tgtEl>
                                          <p:spTgt spid="3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6" end="6"/>
                                            </p:txEl>
                                          </p:spTgt>
                                        </p:tgtEl>
                                        <p:attrNameLst>
                                          <p:attrName>style.visibility</p:attrName>
                                        </p:attrNameLst>
                                      </p:cBhvr>
                                      <p:to>
                                        <p:strVal val="visible"/>
                                      </p:to>
                                    </p:set>
                                    <p:animEffect transition="in" filter="fade">
                                      <p:cBhvr>
                                        <p:cTn id="17" dur="500"/>
                                        <p:tgtEl>
                                          <p:spTgt spid="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su slide">
  <a:themeElements>
    <a:clrScheme name="Custom 1">
      <a:dk1>
        <a:srgbClr val="632423"/>
      </a:dk1>
      <a:lt1>
        <a:sysClr val="window" lastClr="FFFFFF"/>
      </a:lt1>
      <a:dk2>
        <a:srgbClr val="632423"/>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s">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760</Words>
  <Application>Microsoft Office PowerPoint</Application>
  <PresentationFormat>On-screen Show (4:3)</PresentationFormat>
  <Paragraphs>122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fsu slide</vt:lpstr>
      <vt:lpstr>NEGOTIATION AND CONFLICT MANAGEMENT  Integrative Negotiation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2024-01-23T20:47:33Z</dcterms:created>
  <dcterms:modified xsi:type="dcterms:W3CDTF">2026-01-28T15:23:03Z</dcterms:modified>
</cp:coreProperties>
</file>