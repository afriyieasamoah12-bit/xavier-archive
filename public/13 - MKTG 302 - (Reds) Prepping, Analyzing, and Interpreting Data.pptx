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handoutMasterIdLst>
    <p:handoutMasterId r:id="rId92"/>
  </p:handoutMasterIdLst>
  <p:sldIdLst>
    <p:sldId id="256" r:id="rId2"/>
    <p:sldId id="354" r:id="rId3"/>
    <p:sldId id="707"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9" r:id="rId26"/>
    <p:sldId id="709" r:id="rId27"/>
    <p:sldId id="710" r:id="rId28"/>
    <p:sldId id="711" r:id="rId29"/>
    <p:sldId id="353" r:id="rId30"/>
    <p:sldId id="370" r:id="rId31"/>
    <p:sldId id="371" r:id="rId32"/>
    <p:sldId id="290" r:id="rId33"/>
    <p:sldId id="291" r:id="rId34"/>
    <p:sldId id="355" r:id="rId35"/>
    <p:sldId id="356" r:id="rId36"/>
    <p:sldId id="357"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708" r:id="rId60"/>
    <p:sldId id="351" r:id="rId61"/>
    <p:sldId id="314" r:id="rId62"/>
    <p:sldId id="315" r:id="rId63"/>
    <p:sldId id="316" r:id="rId64"/>
    <p:sldId id="317" r:id="rId65"/>
    <p:sldId id="318" r:id="rId66"/>
    <p:sldId id="324"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474" r:id="rId83"/>
    <p:sldId id="341" r:id="rId84"/>
    <p:sldId id="342" r:id="rId85"/>
    <p:sldId id="343" r:id="rId86"/>
    <p:sldId id="344" r:id="rId87"/>
    <p:sldId id="345" r:id="rId88"/>
    <p:sldId id="350" r:id="rId89"/>
    <p:sldId id="266" r:id="rId90"/>
  </p:sldIdLst>
  <p:sldSz cx="12192000" cy="6858000"/>
  <p:notesSz cx="6881813" cy="9296400"/>
  <p:custDataLst>
    <p:tags r:id="rId9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CC8"/>
    <a:srgbClr val="001541"/>
    <a:srgbClr val="BD707B"/>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68"/>
    <p:restoredTop sz="94890"/>
  </p:normalViewPr>
  <p:slideViewPr>
    <p:cSldViewPr snapToGrid="0" snapToObjects="1" showGuides="1">
      <p:cViewPr varScale="1">
        <p:scale>
          <a:sx n="78" d="100"/>
          <a:sy n="78" d="100"/>
        </p:scale>
        <p:origin x="114" y="73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Overall Rating of Cincinnati Reds GABP </a:t>
            </a:r>
            <a:r>
              <a:rPr lang="en-US" dirty="0" err="1"/>
              <a:t>Reco</a:t>
            </a:r>
            <a:endParaRPr lang="en-US" dirty="0"/>
          </a:p>
        </c:rich>
      </c:tx>
      <c:layout>
        <c:manualLayout>
          <c:xMode val="edge"/>
          <c:yMode val="edge"/>
          <c:x val="0.37080917874396135"/>
          <c:y val="2.334913996568411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Rating</c:v>
                </c:pt>
              </c:strCache>
            </c:strRef>
          </c:tx>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3-0E22-484A-9D38-E49E5F29ED30}"/>
              </c:ext>
            </c:extLst>
          </c:dPt>
          <c:dPt>
            <c:idx val="1"/>
            <c:invertIfNegative val="0"/>
            <c:bubble3D val="0"/>
            <c:spPr>
              <a:solidFill>
                <a:srgbClr val="FF0000"/>
              </a:solidFill>
              <a:ln>
                <a:noFill/>
              </a:ln>
              <a:effectLst/>
            </c:spPr>
            <c:extLst>
              <c:ext xmlns:c16="http://schemas.microsoft.com/office/drawing/2014/chart" uri="{C3380CC4-5D6E-409C-BE32-E72D297353CC}">
                <c16:uniqueId val="{00000004-0E22-484A-9D38-E49E5F29ED30}"/>
              </c:ext>
            </c:extLst>
          </c:dPt>
          <c:dPt>
            <c:idx val="2"/>
            <c:invertIfNegative val="0"/>
            <c:bubble3D val="0"/>
            <c:spPr>
              <a:solidFill>
                <a:srgbClr val="FF0000"/>
              </a:solidFill>
              <a:ln>
                <a:noFill/>
              </a:ln>
              <a:effectLst/>
            </c:spPr>
            <c:extLst>
              <c:ext xmlns:c16="http://schemas.microsoft.com/office/drawing/2014/chart" uri="{C3380CC4-5D6E-409C-BE32-E72D297353CC}">
                <c16:uniqueId val="{00000005-0E22-484A-9D38-E49E5F29ED30}"/>
              </c:ext>
            </c:extLst>
          </c:dPt>
          <c:dPt>
            <c:idx val="3"/>
            <c:invertIfNegative val="0"/>
            <c:bubble3D val="0"/>
            <c:spPr>
              <a:solidFill>
                <a:srgbClr val="FF0000"/>
              </a:solidFill>
              <a:ln>
                <a:noFill/>
              </a:ln>
              <a:effectLst/>
            </c:spPr>
            <c:extLst>
              <c:ext xmlns:c16="http://schemas.microsoft.com/office/drawing/2014/chart" uri="{C3380CC4-5D6E-409C-BE32-E72D297353CC}">
                <c16:uniqueId val="{00000006-0E22-484A-9D38-E49E5F29ED30}"/>
              </c:ext>
            </c:extLst>
          </c:dPt>
          <c:dPt>
            <c:idx val="4"/>
            <c:invertIfNegative val="0"/>
            <c:bubble3D val="0"/>
            <c:spPr>
              <a:solidFill>
                <a:srgbClr val="FF0000"/>
              </a:solidFill>
              <a:ln>
                <a:noFill/>
              </a:ln>
              <a:effectLst/>
            </c:spPr>
            <c:extLst>
              <c:ext xmlns:c16="http://schemas.microsoft.com/office/drawing/2014/chart" uri="{C3380CC4-5D6E-409C-BE32-E72D297353CC}">
                <c16:uniqueId val="{00000007-0E22-484A-9D38-E49E5F29ED30}"/>
              </c:ext>
            </c:extLst>
          </c:dPt>
          <c:dPt>
            <c:idx val="5"/>
            <c:invertIfNegative val="0"/>
            <c:bubble3D val="0"/>
            <c:spPr>
              <a:solidFill>
                <a:srgbClr val="FF0000"/>
              </a:solidFill>
              <a:ln>
                <a:solidFill>
                  <a:srgbClr val="FFFF00"/>
                </a:solidFill>
              </a:ln>
              <a:effectLst/>
            </c:spPr>
            <c:extLst>
              <c:ext xmlns:c16="http://schemas.microsoft.com/office/drawing/2014/chart" uri="{C3380CC4-5D6E-409C-BE32-E72D297353CC}">
                <c16:uniqueId val="{00000008-0E22-484A-9D38-E49E5F29ED30}"/>
              </c:ext>
            </c:extLst>
          </c:dPt>
          <c:dPt>
            <c:idx val="6"/>
            <c:invertIfNegative val="0"/>
            <c:bubble3D val="0"/>
            <c:spPr>
              <a:solidFill>
                <a:srgbClr val="FFFF00"/>
              </a:solidFill>
              <a:ln>
                <a:noFill/>
              </a:ln>
              <a:effectLst/>
            </c:spPr>
            <c:extLst>
              <c:ext xmlns:c16="http://schemas.microsoft.com/office/drawing/2014/chart" uri="{C3380CC4-5D6E-409C-BE32-E72D297353CC}">
                <c16:uniqueId val="{00000009-0E22-484A-9D38-E49E5F29ED30}"/>
              </c:ext>
            </c:extLst>
          </c:dPt>
          <c:dPt>
            <c:idx val="7"/>
            <c:invertIfNegative val="0"/>
            <c:bubble3D val="0"/>
            <c:spPr>
              <a:solidFill>
                <a:srgbClr val="FFFF00"/>
              </a:solidFill>
              <a:ln>
                <a:noFill/>
              </a:ln>
              <a:effectLst/>
            </c:spPr>
            <c:extLst>
              <c:ext xmlns:c16="http://schemas.microsoft.com/office/drawing/2014/chart" uri="{C3380CC4-5D6E-409C-BE32-E72D297353CC}">
                <c16:uniqueId val="{0000000A-0E22-484A-9D38-E49E5F29ED30}"/>
              </c:ext>
            </c:extLst>
          </c:dPt>
          <c:dPt>
            <c:idx val="8"/>
            <c:invertIfNegative val="0"/>
            <c:bubble3D val="0"/>
            <c:spPr>
              <a:solidFill>
                <a:srgbClr val="00B050"/>
              </a:solidFill>
              <a:ln>
                <a:noFill/>
              </a:ln>
              <a:effectLst/>
            </c:spPr>
            <c:extLst>
              <c:ext xmlns:c16="http://schemas.microsoft.com/office/drawing/2014/chart" uri="{C3380CC4-5D6E-409C-BE32-E72D297353CC}">
                <c16:uniqueId val="{0000000B-0E22-484A-9D38-E49E5F29ED30}"/>
              </c:ext>
            </c:extLst>
          </c:dPt>
          <c:dPt>
            <c:idx val="9"/>
            <c:invertIfNegative val="0"/>
            <c:bubble3D val="0"/>
            <c:spPr>
              <a:solidFill>
                <a:srgbClr val="00B050"/>
              </a:solidFill>
              <a:ln>
                <a:noFill/>
              </a:ln>
              <a:effectLst/>
            </c:spPr>
            <c:extLst>
              <c:ext xmlns:c16="http://schemas.microsoft.com/office/drawing/2014/chart" uri="{C3380CC4-5D6E-409C-BE32-E72D297353CC}">
                <c16:uniqueId val="{0000000C-0E22-484A-9D38-E49E5F29ED30}"/>
              </c:ext>
            </c:extLst>
          </c:dPt>
          <c:dPt>
            <c:idx val="10"/>
            <c:invertIfNegative val="0"/>
            <c:bubble3D val="0"/>
            <c:spPr>
              <a:solidFill>
                <a:srgbClr val="00B050"/>
              </a:solidFill>
              <a:ln>
                <a:noFill/>
              </a:ln>
              <a:effectLst/>
            </c:spPr>
            <c:extLst>
              <c:ext xmlns:c16="http://schemas.microsoft.com/office/drawing/2014/chart" uri="{C3380CC4-5D6E-409C-BE32-E72D297353CC}">
                <c16:uniqueId val="{0000000D-0E22-484A-9D38-E49E5F29ED30}"/>
              </c:ext>
            </c:extLst>
          </c:dPt>
          <c:dLbls>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2</c:v>
                </c:pt>
                <c:pt idx="1">
                  <c:v>3</c:v>
                </c:pt>
                <c:pt idx="2">
                  <c:v>8</c:v>
                </c:pt>
                <c:pt idx="3">
                  <c:v>5</c:v>
                </c:pt>
                <c:pt idx="4">
                  <c:v>7</c:v>
                </c:pt>
                <c:pt idx="5">
                  <c:v>14</c:v>
                </c:pt>
                <c:pt idx="6">
                  <c:v>27</c:v>
                </c:pt>
                <c:pt idx="7">
                  <c:v>23</c:v>
                </c:pt>
                <c:pt idx="8">
                  <c:v>13</c:v>
                </c:pt>
                <c:pt idx="9">
                  <c:v>31</c:v>
                </c:pt>
              </c:numCache>
            </c:numRef>
          </c:val>
          <c:extLst>
            <c:ext xmlns:c16="http://schemas.microsoft.com/office/drawing/2014/chart" uri="{C3380CC4-5D6E-409C-BE32-E72D297353CC}">
              <c16:uniqueId val="{00000000-0E22-484A-9D38-E49E5F29ED30}"/>
            </c:ext>
          </c:extLst>
        </c:ser>
        <c:dLbls>
          <c:showLegendKey val="0"/>
          <c:showVal val="0"/>
          <c:showCatName val="0"/>
          <c:showSerName val="0"/>
          <c:showPercent val="0"/>
          <c:showBubbleSize val="0"/>
        </c:dLbls>
        <c:gapWidth val="100"/>
        <c:overlap val="-27"/>
        <c:axId val="513294968"/>
        <c:axId val="513295296"/>
      </c:barChart>
      <c:catAx>
        <c:axId val="513294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3295296"/>
        <c:crosses val="autoZero"/>
        <c:auto val="1"/>
        <c:lblAlgn val="ctr"/>
        <c:lblOffset val="100"/>
        <c:noMultiLvlLbl val="0"/>
      </c:catAx>
      <c:valAx>
        <c:axId val="513295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32949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0" i="0" u="none" strike="noStrike" kern="1200" spc="0" baseline="0">
                <a:solidFill>
                  <a:schemeClr val="tx1">
                    <a:lumMod val="65000"/>
                    <a:lumOff val="35000"/>
                  </a:schemeClr>
                </a:solidFill>
                <a:latin typeface="+mn-lt"/>
                <a:ea typeface="+mn-ea"/>
                <a:cs typeface="+mn-cs"/>
              </a:defRPr>
            </a:pPr>
            <a:r>
              <a:rPr lang="en-US" sz="2800" dirty="0"/>
              <a:t>Overall Rating of Cincinnati Reds GABP </a:t>
            </a:r>
            <a:r>
              <a:rPr lang="en-US" sz="2800" dirty="0" err="1"/>
              <a:t>Reco</a:t>
            </a:r>
            <a:endParaRPr lang="en-US" sz="2800" dirty="0"/>
          </a:p>
        </c:rich>
      </c:tx>
      <c:overlay val="0"/>
      <c:spPr>
        <a:noFill/>
        <a:ln>
          <a:noFill/>
        </a:ln>
        <a:effectLst/>
      </c:spPr>
      <c:txPr>
        <a:bodyPr rot="0" spcFirstLastPara="1" vertOverflow="ellipsis" vert="horz" wrap="square" anchor="ctr" anchorCtr="1"/>
        <a:lstStyle/>
        <a:p>
          <a:pPr>
            <a:defRPr sz="2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Detractors</c:v>
                </c:pt>
              </c:strCache>
            </c:strRef>
          </c:tx>
          <c:spPr>
            <a:solidFill>
              <a:srgbClr val="FF0000"/>
            </a:solidFill>
            <a:ln>
              <a:noFill/>
            </a:ln>
            <a:effectLst/>
          </c:spPr>
          <c:invertIfNegative val="0"/>
          <c:dPt>
            <c:idx val="1"/>
            <c:invertIfNegative val="0"/>
            <c:bubble3D val="0"/>
            <c:spPr>
              <a:solidFill>
                <a:srgbClr val="FFFF00"/>
              </a:solidFill>
              <a:ln>
                <a:noFill/>
              </a:ln>
              <a:effectLst/>
            </c:spPr>
            <c:extLst>
              <c:ext xmlns:c16="http://schemas.microsoft.com/office/drawing/2014/chart" uri="{C3380CC4-5D6E-409C-BE32-E72D297353CC}">
                <c16:uniqueId val="{00000000-6D9C-4769-A5DC-5EEB69E85D63}"/>
              </c:ext>
            </c:extLst>
          </c:dPt>
          <c:dPt>
            <c:idx val="2"/>
            <c:invertIfNegative val="0"/>
            <c:bubble3D val="0"/>
            <c:spPr>
              <a:solidFill>
                <a:schemeClr val="accent6">
                  <a:lumMod val="75000"/>
                </a:schemeClr>
              </a:solidFill>
              <a:ln>
                <a:noFill/>
              </a:ln>
              <a:effectLst/>
            </c:spPr>
            <c:extLst>
              <c:ext xmlns:c16="http://schemas.microsoft.com/office/drawing/2014/chart" uri="{C3380CC4-5D6E-409C-BE32-E72D297353CC}">
                <c16:uniqueId val="{00000001-6D9C-4769-A5DC-5EEB69E85D63}"/>
              </c:ext>
            </c:extLst>
          </c:dPt>
          <c:dLbls>
            <c:dLbl>
              <c:idx val="0"/>
              <c:tx>
                <c:rich>
                  <a:bodyPr/>
                  <a:lstStyle/>
                  <a:p>
                    <a:r>
                      <a:rPr lang="en-US"/>
                      <a:t>39</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F53-4BA1-B318-4EAC78D3937A}"/>
                </c:ext>
              </c:extLst>
            </c:dLbl>
            <c:spPr>
              <a:noFill/>
              <a:ln>
                <a:noFill/>
              </a:ln>
              <a:effectLst/>
            </c:spPr>
            <c:txPr>
              <a:bodyPr rot="0" spcFirstLastPara="1" vertOverflow="ellipsis" vert="horz" wrap="square" lIns="38100" tIns="19050" rIns="38100" bIns="19050" anchor="ctr" anchorCtr="1">
                <a:spAutoFit/>
              </a:bodyPr>
              <a:lstStyle/>
              <a:p>
                <a:pPr>
                  <a:defRPr sz="4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Respondents</c:v>
                </c:pt>
              </c:strCache>
            </c:strRef>
          </c:cat>
          <c:val>
            <c:numRef>
              <c:f>Sheet1!$B$2</c:f>
              <c:numCache>
                <c:formatCode>General</c:formatCode>
                <c:ptCount val="1"/>
                <c:pt idx="0">
                  <c:v>39</c:v>
                </c:pt>
              </c:numCache>
            </c:numRef>
          </c:val>
          <c:extLst>
            <c:ext xmlns:c16="http://schemas.microsoft.com/office/drawing/2014/chart" uri="{C3380CC4-5D6E-409C-BE32-E72D297353CC}">
              <c16:uniqueId val="{00000000-0E22-484A-9D38-E49E5F29ED30}"/>
            </c:ext>
          </c:extLst>
        </c:ser>
        <c:ser>
          <c:idx val="1"/>
          <c:order val="1"/>
          <c:tx>
            <c:strRef>
              <c:f>Sheet1!$C$1</c:f>
              <c:strCache>
                <c:ptCount val="1"/>
                <c:pt idx="0">
                  <c:v>Passives</c:v>
                </c:pt>
              </c:strCache>
            </c:strRef>
          </c:tx>
          <c:spPr>
            <a:solidFill>
              <a:srgbClr val="FFFF00"/>
            </a:solidFill>
            <a:ln>
              <a:noFill/>
            </a:ln>
            <a:effectLst/>
          </c:spPr>
          <c:invertIfNegative val="0"/>
          <c:dLbls>
            <c:dLbl>
              <c:idx val="0"/>
              <c:tx>
                <c:rich>
                  <a:bodyPr/>
                  <a:lstStyle/>
                  <a:p>
                    <a:r>
                      <a:rPr lang="en-US" dirty="0"/>
                      <a:t>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D9C-4769-A5DC-5EEB69E85D63}"/>
                </c:ext>
              </c:extLst>
            </c:dLbl>
            <c:spPr>
              <a:noFill/>
              <a:ln>
                <a:noFill/>
              </a:ln>
              <a:effectLst/>
            </c:spPr>
            <c:txPr>
              <a:bodyPr rot="0" spcFirstLastPara="1" vertOverflow="ellipsis" vert="horz" wrap="square" lIns="38100" tIns="19050" rIns="38100" bIns="19050" anchor="ctr" anchorCtr="1">
                <a:spAutoFit/>
              </a:bodyPr>
              <a:lstStyle/>
              <a:p>
                <a:pPr>
                  <a:defRPr sz="40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Respondents</c:v>
                </c:pt>
              </c:strCache>
            </c:strRef>
          </c:cat>
          <c:val>
            <c:numRef>
              <c:f>Sheet1!$C$2</c:f>
              <c:numCache>
                <c:formatCode>General</c:formatCode>
                <c:ptCount val="1"/>
                <c:pt idx="0">
                  <c:v>50</c:v>
                </c:pt>
              </c:numCache>
            </c:numRef>
          </c:val>
          <c:extLst>
            <c:ext xmlns:c16="http://schemas.microsoft.com/office/drawing/2014/chart" uri="{C3380CC4-5D6E-409C-BE32-E72D297353CC}">
              <c16:uniqueId val="{00000002-6D9C-4769-A5DC-5EEB69E85D63}"/>
            </c:ext>
          </c:extLst>
        </c:ser>
        <c:ser>
          <c:idx val="2"/>
          <c:order val="2"/>
          <c:tx>
            <c:strRef>
              <c:f>Sheet1!$D$1</c:f>
              <c:strCache>
                <c:ptCount val="1"/>
                <c:pt idx="0">
                  <c:v>Promoters</c:v>
                </c:pt>
              </c:strCache>
            </c:strRef>
          </c:tx>
          <c:spPr>
            <a:solidFill>
              <a:srgbClr val="00B050"/>
            </a:solidFill>
            <a:ln>
              <a:noFill/>
            </a:ln>
            <a:effectLst/>
          </c:spPr>
          <c:invertIfNegative val="0"/>
          <c:dLbls>
            <c:dLbl>
              <c:idx val="0"/>
              <c:tx>
                <c:rich>
                  <a:bodyPr rot="0" spcFirstLastPara="1" vertOverflow="ellipsis" vert="horz" wrap="square" lIns="38100" tIns="19050" rIns="38100" bIns="19050" anchor="ctr" anchorCtr="1">
                    <a:spAutoFit/>
                  </a:bodyPr>
                  <a:lstStyle/>
                  <a:p>
                    <a:pPr>
                      <a:defRPr sz="4000" b="0" i="0" u="none" strike="noStrike" kern="1200" baseline="0">
                        <a:solidFill>
                          <a:schemeClr val="tx1">
                            <a:lumMod val="75000"/>
                            <a:lumOff val="25000"/>
                          </a:schemeClr>
                        </a:solidFill>
                        <a:latin typeface="+mn-lt"/>
                        <a:ea typeface="+mn-ea"/>
                        <a:cs typeface="+mn-cs"/>
                      </a:defRPr>
                    </a:pPr>
                    <a:r>
                      <a:rPr lang="en-US" dirty="0"/>
                      <a:t>44</a:t>
                    </a:r>
                  </a:p>
                </c:rich>
              </c:tx>
              <c:spPr>
                <a:noFill/>
                <a:ln>
                  <a:noFill/>
                </a:ln>
                <a:effectLst/>
              </c:spPr>
              <c:txPr>
                <a:bodyPr rot="0" spcFirstLastPara="1" vertOverflow="ellipsis" vert="horz" wrap="square" lIns="38100" tIns="19050" rIns="38100" bIns="19050" anchor="ctr" anchorCtr="1">
                  <a:spAutoFit/>
                </a:bodyPr>
                <a:lstStyle/>
                <a:p>
                  <a:pPr>
                    <a:defRPr sz="4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D9C-4769-A5DC-5EEB69E85D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Respondents</c:v>
                </c:pt>
              </c:strCache>
            </c:strRef>
          </c:cat>
          <c:val>
            <c:numRef>
              <c:f>Sheet1!$D$2</c:f>
              <c:numCache>
                <c:formatCode>General</c:formatCode>
                <c:ptCount val="1"/>
                <c:pt idx="0">
                  <c:v>44</c:v>
                </c:pt>
              </c:numCache>
            </c:numRef>
          </c:val>
          <c:extLst>
            <c:ext xmlns:c16="http://schemas.microsoft.com/office/drawing/2014/chart" uri="{C3380CC4-5D6E-409C-BE32-E72D297353CC}">
              <c16:uniqueId val="{00000003-6D9C-4769-A5DC-5EEB69E85D63}"/>
            </c:ext>
          </c:extLst>
        </c:ser>
        <c:dLbls>
          <c:showLegendKey val="0"/>
          <c:showVal val="0"/>
          <c:showCatName val="0"/>
          <c:showSerName val="0"/>
          <c:showPercent val="0"/>
          <c:showBubbleSize val="0"/>
        </c:dLbls>
        <c:gapWidth val="25"/>
        <c:overlap val="100"/>
        <c:axId val="513294968"/>
        <c:axId val="513295296"/>
      </c:barChart>
      <c:catAx>
        <c:axId val="5132949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3295296"/>
        <c:crosses val="autoZero"/>
        <c:auto val="1"/>
        <c:lblAlgn val="ctr"/>
        <c:lblOffset val="100"/>
        <c:noMultiLvlLbl val="0"/>
      </c:catAx>
      <c:valAx>
        <c:axId val="513295296"/>
        <c:scaling>
          <c:orientation val="minMax"/>
          <c:max val="150"/>
          <c:min val="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crossAx val="5132949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Count Results</a:t>
            </a:r>
          </a:p>
        </c:rich>
      </c:tx>
      <c:overlay val="0"/>
    </c:title>
    <c:autoTitleDeleted val="0"/>
    <c:plotArea>
      <c:layout/>
      <c:barChart>
        <c:barDir val="col"/>
        <c:grouping val="clustered"/>
        <c:varyColors val="0"/>
        <c:ser>
          <c:idx val="0"/>
          <c:order val="0"/>
          <c:tx>
            <c:strRef>
              <c:f>Sheet1!$B$1</c:f>
              <c:strCache>
                <c:ptCount val="1"/>
                <c:pt idx="0">
                  <c:v>No Pool</c:v>
                </c:pt>
              </c:strCache>
            </c:strRef>
          </c:tx>
          <c:invertIfNegative val="0"/>
          <c:cat>
            <c:strRef>
              <c:f>Sheet1!$A$2:$A$3</c:f>
              <c:strCache>
                <c:ptCount val="2"/>
                <c:pt idx="0">
                  <c:v>No Dr. Rec </c:v>
                </c:pt>
                <c:pt idx="1">
                  <c:v>Yes Dr. Rec</c:v>
                </c:pt>
              </c:strCache>
            </c:strRef>
          </c:cat>
          <c:val>
            <c:numRef>
              <c:f>Sheet1!$B$2:$B$3</c:f>
              <c:numCache>
                <c:formatCode>General</c:formatCode>
                <c:ptCount val="2"/>
                <c:pt idx="0">
                  <c:v>107</c:v>
                </c:pt>
                <c:pt idx="1">
                  <c:v>20</c:v>
                </c:pt>
              </c:numCache>
            </c:numRef>
          </c:val>
          <c:extLst>
            <c:ext xmlns:c16="http://schemas.microsoft.com/office/drawing/2014/chart" uri="{C3380CC4-5D6E-409C-BE32-E72D297353CC}">
              <c16:uniqueId val="{00000000-631F-41F6-84F8-79BAB6A02587}"/>
            </c:ext>
          </c:extLst>
        </c:ser>
        <c:ser>
          <c:idx val="1"/>
          <c:order val="1"/>
          <c:tx>
            <c:strRef>
              <c:f>Sheet1!$C$1</c:f>
              <c:strCache>
                <c:ptCount val="1"/>
                <c:pt idx="0">
                  <c:v>Yes Pool</c:v>
                </c:pt>
              </c:strCache>
            </c:strRef>
          </c:tx>
          <c:invertIfNegative val="0"/>
          <c:cat>
            <c:strRef>
              <c:f>Sheet1!$A$2:$A$3</c:f>
              <c:strCache>
                <c:ptCount val="2"/>
                <c:pt idx="0">
                  <c:v>No Dr. Rec </c:v>
                </c:pt>
                <c:pt idx="1">
                  <c:v>Yes Dr. Rec</c:v>
                </c:pt>
              </c:strCache>
            </c:strRef>
          </c:cat>
          <c:val>
            <c:numRef>
              <c:f>Sheet1!$C$2:$C$3</c:f>
              <c:numCache>
                <c:formatCode>General</c:formatCode>
                <c:ptCount val="2"/>
                <c:pt idx="0">
                  <c:v>70</c:v>
                </c:pt>
                <c:pt idx="1">
                  <c:v>34</c:v>
                </c:pt>
              </c:numCache>
            </c:numRef>
          </c:val>
          <c:extLst>
            <c:ext xmlns:c16="http://schemas.microsoft.com/office/drawing/2014/chart" uri="{C3380CC4-5D6E-409C-BE32-E72D297353CC}">
              <c16:uniqueId val="{00000001-631F-41F6-84F8-79BAB6A02587}"/>
            </c:ext>
          </c:extLst>
        </c:ser>
        <c:dLbls>
          <c:showLegendKey val="0"/>
          <c:showVal val="0"/>
          <c:showCatName val="0"/>
          <c:showSerName val="0"/>
          <c:showPercent val="0"/>
          <c:showBubbleSize val="0"/>
        </c:dLbls>
        <c:gapWidth val="150"/>
        <c:axId val="322389888"/>
        <c:axId val="322463616"/>
      </c:barChart>
      <c:catAx>
        <c:axId val="322389888"/>
        <c:scaling>
          <c:orientation val="minMax"/>
        </c:scaling>
        <c:delete val="0"/>
        <c:axPos val="b"/>
        <c:numFmt formatCode="General" sourceLinked="0"/>
        <c:majorTickMark val="none"/>
        <c:minorTickMark val="none"/>
        <c:tickLblPos val="nextTo"/>
        <c:crossAx val="322463616"/>
        <c:crosses val="autoZero"/>
        <c:auto val="1"/>
        <c:lblAlgn val="ctr"/>
        <c:lblOffset val="100"/>
        <c:noMultiLvlLbl val="0"/>
      </c:catAx>
      <c:valAx>
        <c:axId val="322463616"/>
        <c:scaling>
          <c:orientation val="minMax"/>
        </c:scaling>
        <c:delete val="0"/>
        <c:axPos val="l"/>
        <c:majorGridlines/>
        <c:numFmt formatCode="General" sourceLinked="1"/>
        <c:majorTickMark val="none"/>
        <c:minorTickMark val="none"/>
        <c:tickLblPos val="nextTo"/>
        <c:crossAx val="322389888"/>
        <c:crosses val="autoZero"/>
        <c:crossBetween val="between"/>
      </c:valAx>
    </c:plotArea>
    <c:legend>
      <c:legendPos val="r"/>
      <c:overlay val="0"/>
    </c:legend>
    <c:plotVisOnly val="1"/>
    <c:dispBlanksAs val="gap"/>
    <c:showDLblsOverMax val="0"/>
  </c:chart>
  <c:txPr>
    <a:bodyPr/>
    <a:lstStyle/>
    <a:p>
      <a:pPr>
        <a:defRPr sz="16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 Results</a:t>
            </a:r>
          </a:p>
        </c:rich>
      </c:tx>
      <c:overlay val="0"/>
    </c:title>
    <c:autoTitleDeleted val="0"/>
    <c:plotArea>
      <c:layout/>
      <c:barChart>
        <c:barDir val="col"/>
        <c:grouping val="clustered"/>
        <c:varyColors val="0"/>
        <c:ser>
          <c:idx val="0"/>
          <c:order val="0"/>
          <c:tx>
            <c:strRef>
              <c:f>Sheet1!$B$6</c:f>
              <c:strCache>
                <c:ptCount val="1"/>
                <c:pt idx="0">
                  <c:v>No Pool</c:v>
                </c:pt>
              </c:strCache>
            </c:strRef>
          </c:tx>
          <c:invertIfNegative val="0"/>
          <c:cat>
            <c:strRef>
              <c:f>Sheet1!$A$7:$A$8</c:f>
              <c:strCache>
                <c:ptCount val="2"/>
                <c:pt idx="0">
                  <c:v>No Dr. Rec </c:v>
                </c:pt>
                <c:pt idx="1">
                  <c:v>Yes Dr. Rec</c:v>
                </c:pt>
              </c:strCache>
            </c:strRef>
          </c:cat>
          <c:val>
            <c:numRef>
              <c:f>Sheet1!$B$7:$B$8</c:f>
              <c:numCache>
                <c:formatCode>0%</c:formatCode>
                <c:ptCount val="2"/>
                <c:pt idx="0">
                  <c:v>0.61</c:v>
                </c:pt>
                <c:pt idx="1">
                  <c:v>0.37</c:v>
                </c:pt>
              </c:numCache>
            </c:numRef>
          </c:val>
          <c:extLst>
            <c:ext xmlns:c16="http://schemas.microsoft.com/office/drawing/2014/chart" uri="{C3380CC4-5D6E-409C-BE32-E72D297353CC}">
              <c16:uniqueId val="{00000000-D1BC-4DF5-AA6A-5F31FA9FB3A8}"/>
            </c:ext>
          </c:extLst>
        </c:ser>
        <c:ser>
          <c:idx val="1"/>
          <c:order val="1"/>
          <c:tx>
            <c:strRef>
              <c:f>Sheet1!$C$6</c:f>
              <c:strCache>
                <c:ptCount val="1"/>
                <c:pt idx="0">
                  <c:v>Yes Pool</c:v>
                </c:pt>
              </c:strCache>
            </c:strRef>
          </c:tx>
          <c:invertIfNegative val="0"/>
          <c:cat>
            <c:strRef>
              <c:f>Sheet1!$A$7:$A$8</c:f>
              <c:strCache>
                <c:ptCount val="2"/>
                <c:pt idx="0">
                  <c:v>No Dr. Rec </c:v>
                </c:pt>
                <c:pt idx="1">
                  <c:v>Yes Dr. Rec</c:v>
                </c:pt>
              </c:strCache>
            </c:strRef>
          </c:cat>
          <c:val>
            <c:numRef>
              <c:f>Sheet1!$C$7:$C$8</c:f>
              <c:numCache>
                <c:formatCode>0%</c:formatCode>
                <c:ptCount val="2"/>
                <c:pt idx="0">
                  <c:v>0.4</c:v>
                </c:pt>
                <c:pt idx="1">
                  <c:v>0.63</c:v>
                </c:pt>
              </c:numCache>
            </c:numRef>
          </c:val>
          <c:extLst>
            <c:ext xmlns:c16="http://schemas.microsoft.com/office/drawing/2014/chart" uri="{C3380CC4-5D6E-409C-BE32-E72D297353CC}">
              <c16:uniqueId val="{00000001-D1BC-4DF5-AA6A-5F31FA9FB3A8}"/>
            </c:ext>
          </c:extLst>
        </c:ser>
        <c:dLbls>
          <c:showLegendKey val="0"/>
          <c:showVal val="0"/>
          <c:showCatName val="0"/>
          <c:showSerName val="0"/>
          <c:showPercent val="0"/>
          <c:showBubbleSize val="0"/>
        </c:dLbls>
        <c:gapWidth val="150"/>
        <c:axId val="339745408"/>
        <c:axId val="339747200"/>
      </c:barChart>
      <c:catAx>
        <c:axId val="339745408"/>
        <c:scaling>
          <c:orientation val="minMax"/>
        </c:scaling>
        <c:delete val="0"/>
        <c:axPos val="b"/>
        <c:numFmt formatCode="General" sourceLinked="0"/>
        <c:majorTickMark val="none"/>
        <c:minorTickMark val="none"/>
        <c:tickLblPos val="nextTo"/>
        <c:crossAx val="339747200"/>
        <c:crosses val="autoZero"/>
        <c:auto val="1"/>
        <c:lblAlgn val="ctr"/>
        <c:lblOffset val="100"/>
        <c:noMultiLvlLbl val="0"/>
      </c:catAx>
      <c:valAx>
        <c:axId val="339747200"/>
        <c:scaling>
          <c:orientation val="minMax"/>
        </c:scaling>
        <c:delete val="0"/>
        <c:axPos val="l"/>
        <c:majorGridlines/>
        <c:numFmt formatCode="0%" sourceLinked="1"/>
        <c:majorTickMark val="none"/>
        <c:minorTickMark val="none"/>
        <c:tickLblPos val="nextTo"/>
        <c:crossAx val="339745408"/>
        <c:crosses val="autoZero"/>
        <c:crossBetween val="between"/>
      </c:valAx>
    </c:plotArea>
    <c:legend>
      <c:legendPos val="r"/>
      <c:overlay val="0"/>
    </c:legend>
    <c:plotVisOnly val="1"/>
    <c:dispBlanksAs val="gap"/>
    <c:showDLblsOverMax val="0"/>
  </c:chart>
  <c:txPr>
    <a:bodyPr/>
    <a:lstStyle/>
    <a:p>
      <a:pPr>
        <a:defRPr sz="16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03FFF951-6D62-CB4E-866F-40E5C899BB84}" type="datetimeFigureOut">
              <a:rPr lang="en-US" smtClean="0"/>
              <a:t>4/22/2025</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C134B82A-5292-FA40-A7FB-7C93D521ECD4}" type="slidenum">
              <a:rPr lang="en-US" smtClean="0"/>
              <a:t>‹#›</a:t>
            </a:fld>
            <a:endParaRPr lang="en-US"/>
          </a:p>
        </p:txBody>
      </p:sp>
    </p:spTree>
    <p:extLst>
      <p:ext uri="{BB962C8B-B14F-4D97-AF65-F5344CB8AC3E}">
        <p14:creationId xmlns:p14="http://schemas.microsoft.com/office/powerpoint/2010/main" val="87226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963D65B7-7862-7F47-B99E-B3AB2843FF42}" type="datetimeFigureOut">
              <a:rPr lang="en-US" smtClean="0"/>
              <a:t>4/22/2025</a:t>
            </a:fld>
            <a:endParaRPr lang="en-US"/>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EEA2CE63-AE64-8646-9F3E-7DE0B8E53F29}" type="slidenum">
              <a:rPr lang="en-US" smtClean="0"/>
              <a:t>‹#›</a:t>
            </a:fld>
            <a:endParaRPr lang="en-US"/>
          </a:p>
        </p:txBody>
      </p:sp>
    </p:spTree>
    <p:extLst>
      <p:ext uri="{BB962C8B-B14F-4D97-AF65-F5344CB8AC3E}">
        <p14:creationId xmlns:p14="http://schemas.microsoft.com/office/powerpoint/2010/main" val="1415218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a:t>
            </a:fld>
            <a:endParaRPr lang="en-US"/>
          </a:p>
        </p:txBody>
      </p:sp>
    </p:spTree>
    <p:extLst>
      <p:ext uri="{BB962C8B-B14F-4D97-AF65-F5344CB8AC3E}">
        <p14:creationId xmlns:p14="http://schemas.microsoft.com/office/powerpoint/2010/main" val="186017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3</a:t>
            </a:fld>
            <a:endParaRPr lang="en-US"/>
          </a:p>
        </p:txBody>
      </p:sp>
    </p:spTree>
    <p:extLst>
      <p:ext uri="{BB962C8B-B14F-4D97-AF65-F5344CB8AC3E}">
        <p14:creationId xmlns:p14="http://schemas.microsoft.com/office/powerpoint/2010/main" val="706101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25</a:t>
            </a:fld>
            <a:endParaRPr lang="en-US"/>
          </a:p>
        </p:txBody>
      </p:sp>
    </p:spTree>
    <p:extLst>
      <p:ext uri="{BB962C8B-B14F-4D97-AF65-F5344CB8AC3E}">
        <p14:creationId xmlns:p14="http://schemas.microsoft.com/office/powerpoint/2010/main" val="4258175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232240-D07E-4749-BBF7-29566F57DCD7}" type="slidenum">
              <a:rPr lang="en-US" smtClean="0"/>
              <a:t>39</a:t>
            </a:fld>
            <a:endParaRPr lang="en-US"/>
          </a:p>
        </p:txBody>
      </p:sp>
    </p:spTree>
    <p:extLst>
      <p:ext uri="{BB962C8B-B14F-4D97-AF65-F5344CB8AC3E}">
        <p14:creationId xmlns:p14="http://schemas.microsoft.com/office/powerpoint/2010/main" val="1284742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384175" y="685800"/>
            <a:ext cx="6091238" cy="3427413"/>
          </a:xfrm>
          <a:ln cap="flat"/>
        </p:spPr>
      </p:sp>
      <p:sp>
        <p:nvSpPr>
          <p:cNvPr id="79875" name="Rectangle 3"/>
          <p:cNvSpPr>
            <a:spLocks noGrp="1" noChangeArrowheads="1"/>
          </p:cNvSpPr>
          <p:nvPr>
            <p:ph type="body" idx="1"/>
          </p:nvPr>
        </p:nvSpPr>
        <p:spPr>
          <a:xfrm>
            <a:off x="913772" y="4341814"/>
            <a:ext cx="5030456" cy="41163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en-US"/>
          </a:p>
        </p:txBody>
      </p:sp>
    </p:spTree>
    <p:extLst>
      <p:ext uri="{BB962C8B-B14F-4D97-AF65-F5344CB8AC3E}">
        <p14:creationId xmlns:p14="http://schemas.microsoft.com/office/powerpoint/2010/main" val="2480734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60</a:t>
            </a:fld>
            <a:endParaRPr lang="en-US"/>
          </a:p>
        </p:txBody>
      </p:sp>
    </p:spTree>
    <p:extLst>
      <p:ext uri="{BB962C8B-B14F-4D97-AF65-F5344CB8AC3E}">
        <p14:creationId xmlns:p14="http://schemas.microsoft.com/office/powerpoint/2010/main" val="1166801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384175" y="685800"/>
            <a:ext cx="6091238" cy="3427413"/>
          </a:xfrm>
          <a:ln cap="flat"/>
        </p:spPr>
      </p:sp>
      <p:sp>
        <p:nvSpPr>
          <p:cNvPr id="60419" name="Rectangle 3"/>
          <p:cNvSpPr>
            <a:spLocks noGrp="1" noChangeArrowheads="1"/>
          </p:cNvSpPr>
          <p:nvPr>
            <p:ph type="body" idx="1"/>
          </p:nvPr>
        </p:nvSpPr>
        <p:spPr>
          <a:xfrm>
            <a:off x="913772" y="4341814"/>
            <a:ext cx="5030456" cy="41163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en-US" altLang="en-US"/>
          </a:p>
        </p:txBody>
      </p:sp>
    </p:spTree>
    <p:extLst>
      <p:ext uri="{BB962C8B-B14F-4D97-AF65-F5344CB8AC3E}">
        <p14:creationId xmlns:p14="http://schemas.microsoft.com/office/powerpoint/2010/main" val="646100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0:00-1:29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Three Types of t Tests</a:t>
            </a:r>
          </a:p>
          <a:p>
            <a:r>
              <a:rPr lang="en-US" dirty="0"/>
              <a:t>https://youtu.be/4VdXSXfrBTw</a:t>
            </a:r>
          </a:p>
          <a:p>
            <a:endParaRPr lang="en-US" dirty="0"/>
          </a:p>
        </p:txBody>
      </p:sp>
      <p:sp>
        <p:nvSpPr>
          <p:cNvPr id="4" name="Slide Number Placeholder 3"/>
          <p:cNvSpPr>
            <a:spLocks noGrp="1"/>
          </p:cNvSpPr>
          <p:nvPr>
            <p:ph type="sldNum" sz="quarter" idx="5"/>
          </p:nvPr>
        </p:nvSpPr>
        <p:spPr/>
        <p:txBody>
          <a:bodyPr/>
          <a:lstStyle/>
          <a:p>
            <a:fld id="{65180A50-C56D-43B4-9869-2CD6268D4A50}" type="slidenum">
              <a:rPr lang="en-US" smtClean="0"/>
              <a:t>82</a:t>
            </a:fld>
            <a:endParaRPr lang="en-US"/>
          </a:p>
        </p:txBody>
      </p:sp>
    </p:spTree>
    <p:extLst>
      <p:ext uri="{BB962C8B-B14F-4D97-AF65-F5344CB8AC3E}">
        <p14:creationId xmlns:p14="http://schemas.microsoft.com/office/powerpoint/2010/main" val="2006005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89</a:t>
            </a:fld>
            <a:endParaRPr lang="en-US"/>
          </a:p>
        </p:txBody>
      </p:sp>
    </p:spTree>
    <p:extLst>
      <p:ext uri="{BB962C8B-B14F-4D97-AF65-F5344CB8AC3E}">
        <p14:creationId xmlns:p14="http://schemas.microsoft.com/office/powerpoint/2010/main" val="85964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100734-FF99-944C-8656-684769A3B86B}"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12992898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1190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6501948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100734-FF99-944C-8656-684769A3B86B}"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295"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38286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100734-FF99-944C-8656-684769A3B86B}"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7402915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100734-FF99-944C-8656-684769A3B86B}"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24557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100734-FF99-944C-8656-684769A3B86B}"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230456"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9641103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100734-FF99-944C-8656-684769A3B86B}"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153400"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0379475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69288"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754805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353746" y="6356349"/>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42333340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49643"/>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113128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E6DFB-264B-4D4C-9468-2A87659EAF58}" type="slidenum">
              <a:rPr lang="en-US" smtClean="0"/>
              <a:t>‹#›</a:t>
            </a:fld>
            <a:endParaRPr lang="en-US"/>
          </a:p>
        </p:txBody>
      </p:sp>
    </p:spTree>
    <p:extLst>
      <p:ext uri="{BB962C8B-B14F-4D97-AF65-F5344CB8AC3E}">
        <p14:creationId xmlns:p14="http://schemas.microsoft.com/office/powerpoint/2010/main" val="178512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B2BA4C-EF1A-47DC-88A5-8CE59498D642}"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F50474-42DF-4360-B478-5D4E899A4C63}" type="slidenum">
              <a:rPr lang="en-US" smtClean="0"/>
              <a:t>‹#›</a:t>
            </a:fld>
            <a:endParaRPr lang="en-US"/>
          </a:p>
        </p:txBody>
      </p:sp>
      <p:sp>
        <p:nvSpPr>
          <p:cNvPr id="25" name="Title Placeholder 1"/>
          <p:cNvSpPr>
            <a:spLocks noGrp="1"/>
          </p:cNvSpPr>
          <p:nvPr>
            <p:ph type="title"/>
          </p:nvPr>
        </p:nvSpPr>
        <p:spPr>
          <a:xfrm>
            <a:off x="368300" y="228601"/>
            <a:ext cx="11455400" cy="1066801"/>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1" name="Content Placeholder 30"/>
          <p:cNvSpPr>
            <a:spLocks noGrp="1"/>
          </p:cNvSpPr>
          <p:nvPr>
            <p:ph sz="quarter" idx="13"/>
          </p:nvPr>
        </p:nvSpPr>
        <p:spPr>
          <a:xfrm>
            <a:off x="365760" y="1298448"/>
            <a:ext cx="1146048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3827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00734-FF99-944C-8656-684769A3B86B}" type="datetimeFigureOut">
              <a:rPr lang="en-US" smtClean="0"/>
              <a:t>4/22/2025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E6DFB-264B-4D4C-9468-2A87659EAF58}" type="slidenum">
              <a:rPr lang="en-US" smtClean="0"/>
              <a:t>‹#›</a:t>
            </a:fld>
            <a:endParaRPr lang="en-US"/>
          </a:p>
        </p:txBody>
      </p:sp>
    </p:spTree>
    <p:extLst>
      <p:ext uri="{BB962C8B-B14F-4D97-AF65-F5344CB8AC3E}">
        <p14:creationId xmlns:p14="http://schemas.microsoft.com/office/powerpoint/2010/main" val="1736632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4.xml"/><Relationship Id="rId7" Type="http://schemas.openxmlformats.org/officeDocument/2006/relationships/image" Target="../media/image7.svg"/><Relationship Id="rId12" Type="http://schemas.openxmlformats.org/officeDocument/2006/relationships/image" Target="../media/image11.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hyperlink" Target="https://www.slido.com/powerpoint-polling?utm_source=powerpoint&amp;utm_medium=placeholder-slide" TargetMode="External"/><Relationship Id="rId10" Type="http://schemas.openxmlformats.org/officeDocument/2006/relationships/image" Target="../media/image9.svg"/><Relationship Id="rId4" Type="http://schemas.openxmlformats.org/officeDocument/2006/relationships/slideLayout" Target="../slideLayouts/slideLayout7.xml"/><Relationship Id="rId9" Type="http://schemas.openxmlformats.org/officeDocument/2006/relationships/image" Target="../media/image8.png"/></Relationships>
</file>

<file path=ppt/slides/_rels/slide2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7.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9.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1.svg"/><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video" Target="https://www.youtube.com/embed/4VdXSXfrBTw?feature=oembed" TargetMode="External"/><Relationship Id="rId4" Type="http://schemas.openxmlformats.org/officeDocument/2006/relationships/image" Target="../media/image33.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lstStyle/>
          <a:p>
            <a:r>
              <a:rPr lang="en-US" b="1" dirty="0">
                <a:solidFill>
                  <a:srgbClr val="001541"/>
                </a:solidFill>
              </a:rPr>
              <a:t>Prepping, Testing, &amp; Interpreting Data</a:t>
            </a:r>
          </a:p>
        </p:txBody>
      </p:sp>
      <p:sp>
        <p:nvSpPr>
          <p:cNvPr id="8" name="Subtitle 2"/>
          <p:cNvSpPr>
            <a:spLocks noGrp="1"/>
          </p:cNvSpPr>
          <p:nvPr>
            <p:ph type="subTitle" idx="1"/>
          </p:nvPr>
        </p:nvSpPr>
        <p:spPr>
          <a:xfrm>
            <a:off x="870857" y="3749447"/>
            <a:ext cx="9144000" cy="1655762"/>
          </a:xfrm>
        </p:spPr>
        <p:txBody>
          <a:bodyPr/>
          <a:lstStyle/>
          <a:p>
            <a:r>
              <a:rPr lang="en-US" b="1" dirty="0">
                <a:solidFill>
                  <a:srgbClr val="009CC8"/>
                </a:solidFill>
              </a:rPr>
              <a:t>MKTG 302-01</a:t>
            </a:r>
          </a:p>
          <a:p>
            <a:r>
              <a:rPr lang="en-US" b="1" dirty="0">
                <a:solidFill>
                  <a:srgbClr val="009CC8"/>
                </a:solidFill>
              </a:rPr>
              <a:t>Spring Semester, 2025</a:t>
            </a:r>
          </a:p>
          <a:p>
            <a:r>
              <a:rPr lang="en-US" b="1" dirty="0">
                <a:solidFill>
                  <a:srgbClr val="009CC8"/>
                </a:solidFill>
              </a:rPr>
              <a:t>Scott Beck</a:t>
            </a:r>
          </a:p>
        </p:txBody>
      </p:sp>
    </p:spTree>
    <p:extLst>
      <p:ext uri="{BB962C8B-B14F-4D97-AF65-F5344CB8AC3E}">
        <p14:creationId xmlns:p14="http://schemas.microsoft.com/office/powerpoint/2010/main" val="5185604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609600"/>
            <a:ext cx="11455400" cy="1066801"/>
          </a:xfrm>
        </p:spPr>
        <p:txBody>
          <a:bodyPr>
            <a:normAutofit/>
          </a:bodyPr>
          <a:lstStyle/>
          <a:p>
            <a:r>
              <a:rPr lang="en-US" sz="5400" dirty="0"/>
              <a:t>Student Learning Objectives</a:t>
            </a:r>
          </a:p>
        </p:txBody>
      </p:sp>
      <p:sp>
        <p:nvSpPr>
          <p:cNvPr id="3" name="Content Placeholder 2"/>
          <p:cNvSpPr>
            <a:spLocks noGrp="1"/>
          </p:cNvSpPr>
          <p:nvPr>
            <p:ph sz="quarter" idx="13"/>
          </p:nvPr>
        </p:nvSpPr>
        <p:spPr>
          <a:xfrm>
            <a:off x="914400" y="2136556"/>
            <a:ext cx="8481527" cy="4712208"/>
          </a:xfrm>
        </p:spPr>
        <p:txBody>
          <a:bodyPr>
            <a:normAutofit/>
          </a:bodyPr>
          <a:lstStyle/>
          <a:p>
            <a:r>
              <a:rPr lang="en-US" dirty="0"/>
              <a:t>Ability to code your responses for easier tabulation during analysis</a:t>
            </a:r>
          </a:p>
          <a:p>
            <a:r>
              <a:rPr lang="en-US" dirty="0"/>
              <a:t>Review other ways to “clean” data</a:t>
            </a:r>
          </a:p>
          <a:p>
            <a:r>
              <a:rPr lang="en-US" dirty="0"/>
              <a:t>Discover ways to incorporate and analyze your findings into impactful research and consulting for your client</a:t>
            </a:r>
          </a:p>
          <a:p>
            <a:r>
              <a:rPr lang="en-US" dirty="0"/>
              <a:t>Application of Univariate and Multivariate Analyses in your overall review and presentation of your data (you will use both)</a:t>
            </a:r>
          </a:p>
        </p:txBody>
      </p:sp>
    </p:spTree>
    <p:extLst>
      <p:ext uri="{BB962C8B-B14F-4D97-AF65-F5344CB8AC3E}">
        <p14:creationId xmlns:p14="http://schemas.microsoft.com/office/powerpoint/2010/main" val="600953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6" y="669925"/>
            <a:ext cx="9154885" cy="1325563"/>
          </a:xfrm>
        </p:spPr>
        <p:txBody>
          <a:bodyPr/>
          <a:lstStyle/>
          <a:p>
            <a:r>
              <a:rPr lang="en-US" dirty="0">
                <a:solidFill>
                  <a:srgbClr val="001541"/>
                </a:solidFill>
                <a:latin typeface="+mn-lt"/>
              </a:rPr>
              <a:t>Reminder …</a:t>
            </a:r>
          </a:p>
        </p:txBody>
      </p:sp>
      <p:sp>
        <p:nvSpPr>
          <p:cNvPr id="3" name="Content Placeholder 2"/>
          <p:cNvSpPr>
            <a:spLocks noGrp="1"/>
          </p:cNvSpPr>
          <p:nvPr>
            <p:ph idx="1"/>
          </p:nvPr>
        </p:nvSpPr>
        <p:spPr>
          <a:xfrm>
            <a:off x="598716" y="2130425"/>
            <a:ext cx="9154885" cy="4351338"/>
          </a:xfrm>
        </p:spPr>
        <p:txBody>
          <a:bodyPr>
            <a:normAutofit fontScale="92500" lnSpcReduction="10000"/>
          </a:bodyPr>
          <a:lstStyle/>
          <a:p>
            <a:r>
              <a:rPr lang="en-US" dirty="0">
                <a:solidFill>
                  <a:srgbClr val="009CC8"/>
                </a:solidFill>
              </a:rPr>
              <a:t>Apr 15 – 1</a:t>
            </a:r>
            <a:r>
              <a:rPr lang="en-US" baseline="30000" dirty="0">
                <a:solidFill>
                  <a:srgbClr val="009CC8"/>
                </a:solidFill>
              </a:rPr>
              <a:t>st</a:t>
            </a:r>
            <a:r>
              <a:rPr lang="en-US" dirty="0">
                <a:solidFill>
                  <a:srgbClr val="009CC8"/>
                </a:solidFill>
              </a:rPr>
              <a:t> draft, lecture on reporting and measurement</a:t>
            </a:r>
          </a:p>
          <a:p>
            <a:r>
              <a:rPr lang="en-US" dirty="0">
                <a:solidFill>
                  <a:srgbClr val="009CC8"/>
                </a:solidFill>
              </a:rPr>
              <a:t>Apr 17 – Easter Break – no classes</a:t>
            </a:r>
          </a:p>
          <a:p>
            <a:r>
              <a:rPr lang="en-US" dirty="0">
                <a:solidFill>
                  <a:srgbClr val="009CC8"/>
                </a:solidFill>
              </a:rPr>
              <a:t>Apr 22 – Finish lecture on reporting and measurement</a:t>
            </a:r>
          </a:p>
          <a:p>
            <a:pPr lvl="1"/>
            <a:r>
              <a:rPr lang="en-US" dirty="0">
                <a:solidFill>
                  <a:srgbClr val="009CC8"/>
                </a:solidFill>
              </a:rPr>
              <a:t>Work on Project in class</a:t>
            </a:r>
          </a:p>
          <a:p>
            <a:r>
              <a:rPr lang="en-US" dirty="0">
                <a:solidFill>
                  <a:srgbClr val="009CC8"/>
                </a:solidFill>
              </a:rPr>
              <a:t>Apr 24 – Quiz #3</a:t>
            </a:r>
          </a:p>
          <a:p>
            <a:r>
              <a:rPr lang="en-US" dirty="0">
                <a:solidFill>
                  <a:srgbClr val="009CC8"/>
                </a:solidFill>
              </a:rPr>
              <a:t>Apr 29 – 2</a:t>
            </a:r>
            <a:r>
              <a:rPr lang="en-US" baseline="30000" dirty="0">
                <a:solidFill>
                  <a:srgbClr val="009CC8"/>
                </a:solidFill>
              </a:rPr>
              <a:t>nd</a:t>
            </a:r>
            <a:r>
              <a:rPr lang="en-US" dirty="0">
                <a:solidFill>
                  <a:srgbClr val="009CC8"/>
                </a:solidFill>
              </a:rPr>
              <a:t> draft (</a:t>
            </a:r>
            <a:r>
              <a:rPr lang="en-US" u="sng" dirty="0">
                <a:solidFill>
                  <a:srgbClr val="FF0000"/>
                </a:solidFill>
              </a:rPr>
              <a:t>new date</a:t>
            </a:r>
            <a:r>
              <a:rPr lang="en-US" dirty="0">
                <a:solidFill>
                  <a:srgbClr val="009CC8"/>
                </a:solidFill>
              </a:rPr>
              <a:t>!)</a:t>
            </a:r>
          </a:p>
          <a:p>
            <a:pPr lvl="1"/>
            <a:r>
              <a:rPr lang="en-US" dirty="0">
                <a:solidFill>
                  <a:srgbClr val="009CC8"/>
                </a:solidFill>
              </a:rPr>
              <a:t>Discussion with Burke, Inc. is cancelled!</a:t>
            </a:r>
          </a:p>
          <a:p>
            <a:r>
              <a:rPr lang="en-US" dirty="0">
                <a:solidFill>
                  <a:srgbClr val="009CC8"/>
                </a:solidFill>
              </a:rPr>
              <a:t>Apr 30 – GABP Cincinnati Reds game and tour</a:t>
            </a:r>
          </a:p>
          <a:p>
            <a:r>
              <a:rPr lang="en-US" dirty="0">
                <a:solidFill>
                  <a:srgbClr val="009CC8"/>
                </a:solidFill>
              </a:rPr>
              <a:t>May 1 – Wrap up Project!</a:t>
            </a:r>
          </a:p>
          <a:p>
            <a:r>
              <a:rPr lang="en-US" dirty="0">
                <a:solidFill>
                  <a:srgbClr val="009CC8"/>
                </a:solidFill>
              </a:rPr>
              <a:t>May 6 – Presentation to Cincinnati Reds</a:t>
            </a:r>
          </a:p>
        </p:txBody>
      </p:sp>
    </p:spTree>
    <p:extLst>
      <p:ext uri="{BB962C8B-B14F-4D97-AF65-F5344CB8AC3E}">
        <p14:creationId xmlns:p14="http://schemas.microsoft.com/office/powerpoint/2010/main" val="71619024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667000" y="15240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EDITING</a:t>
            </a:r>
          </a:p>
          <a:p>
            <a:pPr marL="457200" lvl="1" indent="0">
              <a:buNone/>
            </a:pPr>
            <a:r>
              <a:rPr lang="en-US" dirty="0"/>
              <a:t>The inspection and correction of the data received from each element of the sample (or census).  </a:t>
            </a:r>
          </a:p>
          <a:p>
            <a:pPr marL="457200" lvl="1" indent="0">
              <a:buNone/>
            </a:pPr>
            <a:r>
              <a:rPr lang="en-US" dirty="0"/>
              <a:t>Also called “cleaning”</a:t>
            </a:r>
          </a:p>
        </p:txBody>
      </p:sp>
    </p:spTree>
    <p:extLst>
      <p:ext uri="{BB962C8B-B14F-4D97-AF65-F5344CB8AC3E}">
        <p14:creationId xmlns:p14="http://schemas.microsoft.com/office/powerpoint/2010/main" val="38331563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24100" y="2611355"/>
            <a:ext cx="7772400" cy="3276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Primary Tasks in the Editing Process</a:t>
            </a:r>
          </a:p>
        </p:txBody>
      </p:sp>
      <p:sp>
        <p:nvSpPr>
          <p:cNvPr id="3" name="Content Placeholder 2"/>
          <p:cNvSpPr>
            <a:spLocks noGrp="1"/>
          </p:cNvSpPr>
          <p:nvPr>
            <p:ph idx="4294967295"/>
          </p:nvPr>
        </p:nvSpPr>
        <p:spPr>
          <a:xfrm>
            <a:off x="2286000" y="2573255"/>
            <a:ext cx="7848600" cy="3352800"/>
          </a:xfrm>
          <a:prstGeom prst="rect">
            <a:avLst/>
          </a:prstGeom>
        </p:spPr>
        <p:txBody>
          <a:bodyPr>
            <a:normAutofit/>
          </a:bodyPr>
          <a:lstStyle/>
          <a:p>
            <a:r>
              <a:rPr lang="en-US" sz="2400" dirty="0"/>
              <a:t>Convert all responses to consistent units</a:t>
            </a:r>
          </a:p>
          <a:p>
            <a:r>
              <a:rPr lang="en-US" sz="2400" dirty="0"/>
              <a:t>Assess degree of nonresponse</a:t>
            </a:r>
          </a:p>
          <a:p>
            <a:r>
              <a:rPr lang="en-US" sz="2400" dirty="0"/>
              <a:t>Where possible check for consistency across responses</a:t>
            </a:r>
          </a:p>
          <a:p>
            <a:r>
              <a:rPr lang="en-US" sz="2400" dirty="0"/>
              <a:t>Look for evidence that the respondent wasn’t really thinking about his or her answers</a:t>
            </a:r>
          </a:p>
          <a:p>
            <a:r>
              <a:rPr lang="en-US" sz="2400" dirty="0"/>
              <a:t>Verify that branching questions were followed correctly</a:t>
            </a:r>
          </a:p>
          <a:p>
            <a:r>
              <a:rPr lang="en-US" sz="2400" dirty="0"/>
              <a:t>Add any needed codes</a:t>
            </a:r>
          </a:p>
          <a:p>
            <a:endParaRPr lang="en-US" dirty="0"/>
          </a:p>
        </p:txBody>
      </p:sp>
    </p:spTree>
    <p:extLst>
      <p:ext uri="{BB962C8B-B14F-4D97-AF65-F5344CB8AC3E}">
        <p14:creationId xmlns:p14="http://schemas.microsoft.com/office/powerpoint/2010/main" val="126731591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2801470" y="126402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CODING</a:t>
            </a:r>
          </a:p>
          <a:p>
            <a:pPr marL="457200" lvl="1" indent="0">
              <a:buNone/>
            </a:pPr>
            <a:r>
              <a:rPr lang="en-US" dirty="0"/>
              <a:t>The process of transforming raw data into symbols (usually numbers).</a:t>
            </a:r>
          </a:p>
        </p:txBody>
      </p:sp>
    </p:spTree>
    <p:extLst>
      <p:ext uri="{BB962C8B-B14F-4D97-AF65-F5344CB8AC3E}">
        <p14:creationId xmlns:p14="http://schemas.microsoft.com/office/powerpoint/2010/main" val="407674069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a:t>Coding Closed-Ended Items</a:t>
            </a:r>
          </a:p>
        </p:txBody>
      </p:sp>
      <p:sp>
        <p:nvSpPr>
          <p:cNvPr id="21507" name="Rectangle 15"/>
          <p:cNvSpPr>
            <a:spLocks noChangeArrowheads="1"/>
          </p:cNvSpPr>
          <p:nvPr/>
        </p:nvSpPr>
        <p:spPr bwMode="auto">
          <a:xfrm>
            <a:off x="3019136" y="2554727"/>
            <a:ext cx="6650182" cy="1661203"/>
          </a:xfrm>
          <a:prstGeom prst="rect">
            <a:avLst/>
          </a:prstGeom>
          <a:solidFill>
            <a:schemeClr val="accent1"/>
          </a:solidFill>
          <a:ln w="508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47107" name="Text Box 3"/>
          <p:cNvSpPr txBox="1">
            <a:spLocks noChangeArrowheads="1"/>
          </p:cNvSpPr>
          <p:nvPr/>
        </p:nvSpPr>
        <p:spPr bwMode="auto">
          <a:xfrm>
            <a:off x="4176716" y="2726936"/>
            <a:ext cx="5058353" cy="405589"/>
          </a:xfrm>
          <a:prstGeom prst="rect">
            <a:avLst/>
          </a:prstGeom>
          <a:noFill/>
          <a:ln w="12700">
            <a:noFill/>
            <a:miter lim="800000"/>
            <a:headEnd/>
            <a:tailEnd/>
          </a:ln>
          <a:effectLst/>
        </p:spPr>
        <p:txBody>
          <a:bodyPr lIns="81628" tIns="40813" rIns="81628" bIns="40813">
            <a:spAutoFit/>
          </a:bodyPr>
          <a:lstStyle/>
          <a:p>
            <a:pPr algn="ctr" eaLnBrk="0" hangingPunct="0">
              <a:spcBef>
                <a:spcPct val="50000"/>
              </a:spcBef>
              <a:defRPr/>
            </a:pPr>
            <a:r>
              <a:rPr lang="en-US" sz="2100" b="1" dirty="0">
                <a:solidFill>
                  <a:schemeClr val="bg1"/>
                </a:solidFill>
              </a:rPr>
              <a:t>What is your overall opinion of Uber?</a:t>
            </a:r>
          </a:p>
        </p:txBody>
      </p:sp>
      <p:sp>
        <p:nvSpPr>
          <p:cNvPr id="47108" name="Text Box 4"/>
          <p:cNvSpPr txBox="1">
            <a:spLocks noChangeArrowheads="1"/>
          </p:cNvSpPr>
          <p:nvPr/>
        </p:nvSpPr>
        <p:spPr bwMode="auto">
          <a:xfrm>
            <a:off x="3504046" y="3322407"/>
            <a:ext cx="1939636" cy="405589"/>
          </a:xfrm>
          <a:prstGeom prst="rect">
            <a:avLst/>
          </a:prstGeom>
          <a:noFill/>
          <a:ln w="12700">
            <a:noFill/>
            <a:miter lim="800000"/>
            <a:headEnd/>
            <a:tailEnd/>
          </a:ln>
          <a:effectLst/>
        </p:spPr>
        <p:txBody>
          <a:bodyPr lIns="81628" tIns="40813" rIns="81628" bIns="40813">
            <a:spAutoFit/>
          </a:bodyPr>
          <a:lstStyle/>
          <a:p>
            <a:pPr algn="ctr" eaLnBrk="0" hangingPunct="0">
              <a:spcBef>
                <a:spcPct val="50000"/>
              </a:spcBef>
              <a:defRPr/>
            </a:pPr>
            <a:r>
              <a:rPr lang="en-US" sz="2100" b="1" dirty="0">
                <a:solidFill>
                  <a:schemeClr val="bg1"/>
                </a:solidFill>
              </a:rPr>
              <a:t>unfavorable</a:t>
            </a:r>
          </a:p>
        </p:txBody>
      </p:sp>
      <p:sp>
        <p:nvSpPr>
          <p:cNvPr id="47109" name="Text Box 5"/>
          <p:cNvSpPr txBox="1">
            <a:spLocks noChangeArrowheads="1"/>
          </p:cNvSpPr>
          <p:nvPr/>
        </p:nvSpPr>
        <p:spPr bwMode="auto">
          <a:xfrm>
            <a:off x="7937500" y="3322407"/>
            <a:ext cx="1941080" cy="405589"/>
          </a:xfrm>
          <a:prstGeom prst="rect">
            <a:avLst/>
          </a:prstGeom>
          <a:noFill/>
          <a:ln w="12700">
            <a:noFill/>
            <a:miter lim="800000"/>
            <a:headEnd/>
            <a:tailEnd/>
          </a:ln>
          <a:effectLst/>
        </p:spPr>
        <p:txBody>
          <a:bodyPr lIns="81628" tIns="40813" rIns="81628" bIns="40813">
            <a:spAutoFit/>
          </a:bodyPr>
          <a:lstStyle/>
          <a:p>
            <a:pPr algn="ctr" eaLnBrk="0" hangingPunct="0">
              <a:spcBef>
                <a:spcPct val="50000"/>
              </a:spcBef>
              <a:defRPr/>
            </a:pPr>
            <a:r>
              <a:rPr lang="en-US" sz="2100" b="1" dirty="0">
                <a:solidFill>
                  <a:schemeClr val="bg1"/>
                </a:solidFill>
              </a:rPr>
              <a:t>favorable</a:t>
            </a:r>
          </a:p>
        </p:txBody>
      </p:sp>
      <p:sp>
        <p:nvSpPr>
          <p:cNvPr id="21511" name="Rectangle 6"/>
          <p:cNvSpPr>
            <a:spLocks noChangeArrowheads="1"/>
          </p:cNvSpPr>
          <p:nvPr/>
        </p:nvSpPr>
        <p:spPr bwMode="auto">
          <a:xfrm>
            <a:off x="5512955" y="3455303"/>
            <a:ext cx="207818" cy="199344"/>
          </a:xfrm>
          <a:prstGeom prst="rect">
            <a:avLst/>
          </a:prstGeom>
          <a:solidFill>
            <a:schemeClr val="bg1"/>
          </a:solidFill>
          <a:ln w="381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1512" name="Rectangle 7"/>
          <p:cNvSpPr>
            <a:spLocks noChangeArrowheads="1"/>
          </p:cNvSpPr>
          <p:nvPr/>
        </p:nvSpPr>
        <p:spPr bwMode="auto">
          <a:xfrm>
            <a:off x="5928591" y="3455303"/>
            <a:ext cx="207818" cy="199344"/>
          </a:xfrm>
          <a:prstGeom prst="rect">
            <a:avLst/>
          </a:prstGeom>
          <a:solidFill>
            <a:schemeClr val="bg1"/>
          </a:solidFill>
          <a:ln w="381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1513" name="Rectangle 8"/>
          <p:cNvSpPr>
            <a:spLocks noChangeArrowheads="1"/>
          </p:cNvSpPr>
          <p:nvPr/>
        </p:nvSpPr>
        <p:spPr bwMode="auto">
          <a:xfrm>
            <a:off x="6344227" y="3455303"/>
            <a:ext cx="207818" cy="199344"/>
          </a:xfrm>
          <a:prstGeom prst="rect">
            <a:avLst/>
          </a:prstGeom>
          <a:solidFill>
            <a:schemeClr val="bg1"/>
          </a:solidFill>
          <a:ln w="381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1514" name="Rectangle 9"/>
          <p:cNvSpPr>
            <a:spLocks noChangeArrowheads="1"/>
          </p:cNvSpPr>
          <p:nvPr/>
        </p:nvSpPr>
        <p:spPr bwMode="auto">
          <a:xfrm>
            <a:off x="6690591" y="3455303"/>
            <a:ext cx="207818" cy="199344"/>
          </a:xfrm>
          <a:prstGeom prst="rect">
            <a:avLst/>
          </a:prstGeom>
          <a:solidFill>
            <a:schemeClr val="bg1"/>
          </a:solidFill>
          <a:ln w="381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1515" name="Rectangle 10"/>
          <p:cNvSpPr>
            <a:spLocks noChangeArrowheads="1"/>
          </p:cNvSpPr>
          <p:nvPr/>
        </p:nvSpPr>
        <p:spPr bwMode="auto">
          <a:xfrm>
            <a:off x="7036955" y="3455303"/>
            <a:ext cx="207818" cy="199344"/>
          </a:xfrm>
          <a:prstGeom prst="rect">
            <a:avLst/>
          </a:prstGeom>
          <a:solidFill>
            <a:schemeClr val="bg1"/>
          </a:solidFill>
          <a:ln w="381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1516" name="Rectangle 11"/>
          <p:cNvSpPr>
            <a:spLocks noChangeArrowheads="1"/>
          </p:cNvSpPr>
          <p:nvPr/>
        </p:nvSpPr>
        <p:spPr bwMode="auto">
          <a:xfrm>
            <a:off x="7452591" y="3455303"/>
            <a:ext cx="207818" cy="199344"/>
          </a:xfrm>
          <a:prstGeom prst="rect">
            <a:avLst/>
          </a:prstGeom>
          <a:solidFill>
            <a:schemeClr val="bg1"/>
          </a:solidFill>
          <a:ln w="381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1517" name="Rectangle 12"/>
          <p:cNvSpPr>
            <a:spLocks noChangeArrowheads="1"/>
          </p:cNvSpPr>
          <p:nvPr/>
        </p:nvSpPr>
        <p:spPr bwMode="auto">
          <a:xfrm>
            <a:off x="7798955" y="3455303"/>
            <a:ext cx="207818" cy="199344"/>
          </a:xfrm>
          <a:prstGeom prst="rect">
            <a:avLst/>
          </a:prstGeom>
          <a:solidFill>
            <a:schemeClr val="bg1"/>
          </a:solidFill>
          <a:ln w="38100">
            <a:solidFill>
              <a:schemeClr val="tx1"/>
            </a:solidFill>
            <a:miter lim="800000"/>
            <a:headEnd/>
            <a:tailEnd/>
          </a:ln>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47118" name="Text Box 14"/>
          <p:cNvSpPr txBox="1">
            <a:spLocks noChangeArrowheads="1"/>
          </p:cNvSpPr>
          <p:nvPr/>
        </p:nvSpPr>
        <p:spPr bwMode="auto">
          <a:xfrm>
            <a:off x="3502188" y="3658098"/>
            <a:ext cx="6580909" cy="405589"/>
          </a:xfrm>
          <a:prstGeom prst="rect">
            <a:avLst/>
          </a:prstGeom>
          <a:noFill/>
          <a:ln w="12700">
            <a:noFill/>
            <a:miter lim="800000"/>
            <a:headEnd/>
            <a:tailEnd/>
          </a:ln>
          <a:effectLst/>
        </p:spPr>
        <p:txBody>
          <a:bodyPr lIns="81628" tIns="40813" rIns="81628" bIns="40813">
            <a:spAutoFit/>
          </a:bodyPr>
          <a:lstStyle/>
          <a:p>
            <a:pPr eaLnBrk="0" hangingPunct="0">
              <a:spcBef>
                <a:spcPct val="50000"/>
              </a:spcBef>
              <a:defRPr/>
            </a:pPr>
            <a:r>
              <a:rPr lang="en-US" sz="2100" b="1" i="1" dirty="0">
                <a:solidFill>
                  <a:schemeClr val="tx2"/>
                </a:solidFill>
              </a:rPr>
              <a:t>(Typical coding:</a:t>
            </a:r>
            <a:r>
              <a:rPr lang="en-US" sz="2100" b="1" dirty="0">
                <a:solidFill>
                  <a:schemeClr val="tx2"/>
                </a:solidFill>
              </a:rPr>
              <a:t>  1     2    3    4   5    6    7 </a:t>
            </a:r>
            <a:r>
              <a:rPr lang="en-US" sz="2100" b="1" i="1" dirty="0">
                <a:solidFill>
                  <a:schemeClr val="tx2"/>
                </a:solidFill>
              </a:rPr>
              <a:t>)</a:t>
            </a:r>
          </a:p>
        </p:txBody>
      </p:sp>
      <p:sp>
        <p:nvSpPr>
          <p:cNvPr id="2" name="TextBox 1"/>
          <p:cNvSpPr txBox="1"/>
          <p:nvPr/>
        </p:nvSpPr>
        <p:spPr>
          <a:xfrm>
            <a:off x="2674278" y="5191895"/>
            <a:ext cx="6143151"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800" dirty="0"/>
              <a:t>Qualtrics does this for you automatically. </a:t>
            </a:r>
          </a:p>
        </p:txBody>
      </p:sp>
    </p:spTree>
    <p:extLst>
      <p:ext uri="{BB962C8B-B14F-4D97-AF65-F5344CB8AC3E}">
        <p14:creationId xmlns:p14="http://schemas.microsoft.com/office/powerpoint/2010/main" val="428508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609600"/>
            <a:ext cx="11455400" cy="1066801"/>
          </a:xfrm>
        </p:spPr>
        <p:txBody>
          <a:bodyPr>
            <a:normAutofit/>
          </a:bodyPr>
          <a:lstStyle/>
          <a:p>
            <a:r>
              <a:rPr lang="en-US" sz="5400" dirty="0"/>
              <a:t>Important:</a:t>
            </a:r>
          </a:p>
        </p:txBody>
      </p:sp>
      <p:sp>
        <p:nvSpPr>
          <p:cNvPr id="3" name="Content Placeholder 2"/>
          <p:cNvSpPr>
            <a:spLocks noGrp="1"/>
          </p:cNvSpPr>
          <p:nvPr>
            <p:ph sz="quarter" idx="13"/>
          </p:nvPr>
        </p:nvSpPr>
        <p:spPr>
          <a:xfrm>
            <a:off x="914400" y="2136556"/>
            <a:ext cx="10515600" cy="4712208"/>
          </a:xfrm>
        </p:spPr>
        <p:txBody>
          <a:bodyPr>
            <a:normAutofit/>
          </a:bodyPr>
          <a:lstStyle/>
          <a:p>
            <a:r>
              <a:rPr lang="en-US" sz="2800" dirty="0"/>
              <a:t>Make sure that you were consistent with low numbers (or high numbers) expressing good and high numbers (or low number) expressing bad.</a:t>
            </a:r>
          </a:p>
          <a:p>
            <a:endParaRPr lang="en-US" sz="2800" dirty="0"/>
          </a:p>
          <a:p>
            <a:r>
              <a:rPr lang="en-US" sz="2800" dirty="0"/>
              <a:t>Some times we switch the scale on a few items on purpose to make sure that people are paying attention.  This is called “</a:t>
            </a:r>
            <a:r>
              <a:rPr lang="en-US" sz="2800" b="1" u="sng" dirty="0"/>
              <a:t>reverse coding</a:t>
            </a:r>
            <a:r>
              <a:rPr lang="en-US" sz="2800" dirty="0"/>
              <a:t>”</a:t>
            </a:r>
          </a:p>
          <a:p>
            <a:pPr lvl="1"/>
            <a:r>
              <a:rPr lang="en-US" sz="2400" dirty="0"/>
              <a:t>To avoid confusion we often mathematically “switch” any reverse coded items before analysis</a:t>
            </a:r>
          </a:p>
          <a:p>
            <a:pPr lvl="1"/>
            <a:r>
              <a:rPr lang="en-US" sz="2400" dirty="0"/>
              <a:t>Take the number of items in the scale (7 in the previous slide) add 1, and then subtract the answer from this.</a:t>
            </a:r>
          </a:p>
          <a:p>
            <a:pPr lvl="2"/>
            <a:r>
              <a:rPr lang="en-US" sz="1800" dirty="0"/>
              <a:t>A 7 becomes a 1, 3 becomes a 5, etc.</a:t>
            </a:r>
          </a:p>
          <a:p>
            <a:endParaRPr lang="en-US" sz="2800" dirty="0"/>
          </a:p>
        </p:txBody>
      </p:sp>
    </p:spTree>
    <p:extLst>
      <p:ext uri="{BB962C8B-B14F-4D97-AF65-F5344CB8AC3E}">
        <p14:creationId xmlns:p14="http://schemas.microsoft.com/office/powerpoint/2010/main" val="1847930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Can fix the numbering in </a:t>
            </a:r>
            <a:r>
              <a:rPr lang="en-US" dirty="0" err="1"/>
              <a:t>Qualtrics</a:t>
            </a:r>
            <a:endParaRPr lang="en-US" dirty="0"/>
          </a:p>
        </p:txBody>
      </p:sp>
      <p:sp>
        <p:nvSpPr>
          <p:cNvPr id="5" name="Content Placeholder 4"/>
          <p:cNvSpPr>
            <a:spLocks noGrp="1"/>
          </p:cNvSpPr>
          <p:nvPr>
            <p:ph idx="1"/>
          </p:nvPr>
        </p:nvSpPr>
        <p:spPr/>
        <p:txBody>
          <a:bodyPr>
            <a:normAutofit/>
          </a:bodyPr>
          <a:lstStyle/>
          <a:p>
            <a:r>
              <a:rPr lang="en-US" sz="2800" dirty="0"/>
              <a:t>This needs to be done BEFORE you download the data</a:t>
            </a:r>
          </a:p>
          <a:p>
            <a:r>
              <a:rPr lang="en-US" sz="2800" dirty="0"/>
              <a:t>Let me show you how….</a:t>
            </a:r>
          </a:p>
        </p:txBody>
      </p:sp>
    </p:spTree>
    <p:extLst>
      <p:ext uri="{BB962C8B-B14F-4D97-AF65-F5344CB8AC3E}">
        <p14:creationId xmlns:p14="http://schemas.microsoft.com/office/powerpoint/2010/main" val="11648518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37393" y="685800"/>
            <a:ext cx="10721207" cy="1303867"/>
          </a:xfrm>
        </p:spPr>
        <p:txBody>
          <a:bodyPr>
            <a:normAutofit/>
          </a:bodyPr>
          <a:lstStyle/>
          <a:p>
            <a:pPr eaLnBrk="1" hangingPunct="1"/>
            <a:r>
              <a:rPr lang="en-US" altLang="en-US" dirty="0"/>
              <a:t>Coding Closed-Ended Items: Check All That Apply</a:t>
            </a:r>
          </a:p>
        </p:txBody>
      </p:sp>
      <p:sp>
        <p:nvSpPr>
          <p:cNvPr id="22531" name="Rectangle 13"/>
          <p:cNvSpPr>
            <a:spLocks noChangeArrowheads="1"/>
          </p:cNvSpPr>
          <p:nvPr/>
        </p:nvSpPr>
        <p:spPr bwMode="auto">
          <a:xfrm>
            <a:off x="2401455" y="1884790"/>
            <a:ext cx="4313670" cy="3970275"/>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81638" tIns="40819" rIns="81638" bIns="40819"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grpSp>
        <p:nvGrpSpPr>
          <p:cNvPr id="22532" name="Group 11"/>
          <p:cNvGrpSpPr>
            <a:grpSpLocks/>
          </p:cNvGrpSpPr>
          <p:nvPr/>
        </p:nvGrpSpPr>
        <p:grpSpPr bwMode="auto">
          <a:xfrm>
            <a:off x="2286000" y="1884790"/>
            <a:ext cx="3986068" cy="3970275"/>
            <a:chOff x="480" y="1666"/>
            <a:chExt cx="2762" cy="2868"/>
          </a:xfrm>
        </p:grpSpPr>
        <p:sp>
          <p:nvSpPr>
            <p:cNvPr id="22534" name="Text Box 3"/>
            <p:cNvSpPr txBox="1">
              <a:spLocks noChangeArrowheads="1"/>
            </p:cNvSpPr>
            <p:nvPr/>
          </p:nvSpPr>
          <p:spPr bwMode="auto">
            <a:xfrm>
              <a:off x="480" y="1680"/>
              <a:ext cx="201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429" tIns="45714" rIns="91429" bIns="45714">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endParaRPr lang="en-US" altLang="en-US" b="1">
                <a:latin typeface="CG Times (WN)" charset="0"/>
              </a:endParaRPr>
            </a:p>
          </p:txBody>
        </p:sp>
        <p:sp>
          <p:nvSpPr>
            <p:cNvPr id="48132" name="Text Box 4"/>
            <p:cNvSpPr txBox="1">
              <a:spLocks noChangeArrowheads="1"/>
            </p:cNvSpPr>
            <p:nvPr/>
          </p:nvSpPr>
          <p:spPr bwMode="auto">
            <a:xfrm>
              <a:off x="560" y="1666"/>
              <a:ext cx="2682" cy="2868"/>
            </a:xfrm>
            <a:prstGeom prst="rect">
              <a:avLst/>
            </a:prstGeom>
            <a:noFill/>
            <a:ln w="12700">
              <a:noFill/>
              <a:miter lim="800000"/>
              <a:headEnd/>
              <a:tailEnd/>
            </a:ln>
            <a:effectLst/>
          </p:spPr>
          <p:txBody>
            <a:bodyPr wrap="square" lIns="91429" tIns="45714" rIns="91429" bIns="45714">
              <a:spAutoFit/>
            </a:bodyPr>
            <a:lstStyle/>
            <a:p>
              <a:pPr eaLnBrk="0" hangingPunct="0">
                <a:spcBef>
                  <a:spcPct val="50000"/>
                </a:spcBef>
                <a:defRPr/>
              </a:pPr>
              <a:r>
                <a:rPr lang="en-US" sz="2100" b="1" dirty="0"/>
                <a:t>How did you learn about Brown Furniture Company? (check all that apply)</a:t>
              </a:r>
            </a:p>
            <a:p>
              <a:pPr eaLnBrk="0" hangingPunct="0">
                <a:spcBef>
                  <a:spcPct val="50000"/>
                </a:spcBef>
                <a:defRPr/>
              </a:pPr>
              <a:r>
                <a:rPr lang="en-US" sz="2100" b="1" dirty="0"/>
                <a:t>	newspaper advertising</a:t>
              </a:r>
            </a:p>
            <a:p>
              <a:pPr eaLnBrk="0" hangingPunct="0">
                <a:spcBef>
                  <a:spcPct val="50000"/>
                </a:spcBef>
                <a:defRPr/>
              </a:pPr>
              <a:r>
                <a:rPr lang="en-US" sz="2100" b="1" dirty="0"/>
                <a:t>	radio advertising</a:t>
              </a:r>
            </a:p>
            <a:p>
              <a:pPr eaLnBrk="0" hangingPunct="0">
                <a:spcBef>
                  <a:spcPct val="50000"/>
                </a:spcBef>
                <a:defRPr/>
              </a:pPr>
              <a:r>
                <a:rPr lang="en-US" sz="2100" b="1" dirty="0"/>
                <a:t>	billboard advertising</a:t>
              </a:r>
            </a:p>
            <a:p>
              <a:pPr eaLnBrk="0" hangingPunct="0">
                <a:spcBef>
                  <a:spcPct val="50000"/>
                </a:spcBef>
                <a:defRPr/>
              </a:pPr>
              <a:r>
                <a:rPr lang="en-US" sz="2100" b="1" dirty="0"/>
                <a:t>	recommended by others</a:t>
              </a:r>
            </a:p>
            <a:p>
              <a:pPr eaLnBrk="0" hangingPunct="0">
                <a:spcBef>
                  <a:spcPct val="50000"/>
                </a:spcBef>
                <a:defRPr/>
              </a:pPr>
              <a:r>
                <a:rPr lang="en-US" sz="2100" b="1" dirty="0"/>
                <a:t>	drove by store</a:t>
              </a:r>
            </a:p>
            <a:p>
              <a:pPr eaLnBrk="0" hangingPunct="0">
                <a:spcBef>
                  <a:spcPct val="50000"/>
                </a:spcBef>
                <a:defRPr/>
              </a:pPr>
              <a:r>
                <a:rPr lang="en-US" sz="2100" b="1" dirty="0"/>
                <a:t>	other: _______________</a:t>
              </a:r>
            </a:p>
          </p:txBody>
        </p:sp>
        <p:sp>
          <p:nvSpPr>
            <p:cNvPr id="22536" name="Rectangle 5"/>
            <p:cNvSpPr>
              <a:spLocks noChangeArrowheads="1"/>
            </p:cNvSpPr>
            <p:nvPr/>
          </p:nvSpPr>
          <p:spPr bwMode="auto">
            <a:xfrm>
              <a:off x="720" y="2592"/>
              <a:ext cx="144" cy="1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2537" name="Rectangle 6"/>
            <p:cNvSpPr>
              <a:spLocks noChangeArrowheads="1"/>
            </p:cNvSpPr>
            <p:nvPr/>
          </p:nvSpPr>
          <p:spPr bwMode="auto">
            <a:xfrm>
              <a:off x="720" y="2928"/>
              <a:ext cx="144" cy="1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2538" name="Rectangle 7"/>
            <p:cNvSpPr>
              <a:spLocks noChangeArrowheads="1"/>
            </p:cNvSpPr>
            <p:nvPr/>
          </p:nvSpPr>
          <p:spPr bwMode="auto">
            <a:xfrm>
              <a:off x="720" y="3264"/>
              <a:ext cx="144" cy="1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2539" name="Rectangle 8"/>
            <p:cNvSpPr>
              <a:spLocks noChangeArrowheads="1"/>
            </p:cNvSpPr>
            <p:nvPr/>
          </p:nvSpPr>
          <p:spPr bwMode="auto">
            <a:xfrm>
              <a:off x="720" y="3600"/>
              <a:ext cx="144" cy="1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2540" name="Rectangle 9"/>
            <p:cNvSpPr>
              <a:spLocks noChangeArrowheads="1"/>
            </p:cNvSpPr>
            <p:nvPr/>
          </p:nvSpPr>
          <p:spPr bwMode="auto">
            <a:xfrm>
              <a:off x="720" y="3936"/>
              <a:ext cx="144" cy="1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22541" name="Rectangle 10"/>
            <p:cNvSpPr>
              <a:spLocks noChangeArrowheads="1"/>
            </p:cNvSpPr>
            <p:nvPr/>
          </p:nvSpPr>
          <p:spPr bwMode="auto">
            <a:xfrm>
              <a:off x="720" y="4272"/>
              <a:ext cx="144" cy="14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grpSp>
      <p:sp>
        <p:nvSpPr>
          <p:cNvPr id="48140" name="Text Box 12"/>
          <p:cNvSpPr txBox="1">
            <a:spLocks noChangeArrowheads="1"/>
          </p:cNvSpPr>
          <p:nvPr/>
        </p:nvSpPr>
        <p:spPr bwMode="auto">
          <a:xfrm>
            <a:off x="6817570" y="1870950"/>
            <a:ext cx="3255818" cy="3837379"/>
          </a:xfrm>
          <a:prstGeom prst="rect">
            <a:avLst/>
          </a:prstGeom>
          <a:noFill/>
          <a:ln w="12700">
            <a:noFill/>
            <a:miter lim="800000"/>
            <a:headEnd/>
            <a:tailEnd/>
          </a:ln>
          <a:effectLst/>
        </p:spPr>
        <p:txBody>
          <a:bodyPr lIns="81628" tIns="40813" rIns="81628" bIns="40813">
            <a:spAutoFit/>
          </a:bodyPr>
          <a:lstStyle/>
          <a:p>
            <a:pPr algn="ctr" eaLnBrk="0" hangingPunct="0">
              <a:spcBef>
                <a:spcPct val="50000"/>
              </a:spcBef>
              <a:defRPr/>
            </a:pPr>
            <a:r>
              <a:rPr lang="en-US" sz="2500" b="1" i="1" dirty="0">
                <a:solidFill>
                  <a:schemeClr val="tx2"/>
                </a:solidFill>
              </a:rPr>
              <a:t>TYPICAL CODING:</a:t>
            </a:r>
          </a:p>
          <a:p>
            <a:pPr algn="ctr" eaLnBrk="0" hangingPunct="0">
              <a:spcBef>
                <a:spcPct val="50000"/>
              </a:spcBef>
              <a:defRPr/>
            </a:pPr>
            <a:r>
              <a:rPr lang="en-US" sz="2100" b="1" i="1" dirty="0">
                <a:solidFill>
                  <a:schemeClr val="tx2"/>
                </a:solidFill>
              </a:rPr>
              <a:t>6 different variables</a:t>
            </a:r>
          </a:p>
          <a:p>
            <a:pPr algn="ctr" eaLnBrk="0" hangingPunct="0">
              <a:spcBef>
                <a:spcPct val="50000"/>
              </a:spcBef>
              <a:defRPr/>
            </a:pPr>
            <a:r>
              <a:rPr lang="en-US" sz="2100" b="1" i="1" dirty="0">
                <a:solidFill>
                  <a:schemeClr val="tx2"/>
                </a:solidFill>
              </a:rPr>
              <a:t>(1 if checked; 0 if not)</a:t>
            </a:r>
          </a:p>
          <a:p>
            <a:pPr algn="ctr" eaLnBrk="0" hangingPunct="0">
              <a:spcBef>
                <a:spcPct val="50000"/>
              </a:spcBef>
              <a:defRPr/>
            </a:pPr>
            <a:r>
              <a:rPr lang="en-US" sz="2100" b="1" i="1" dirty="0">
                <a:solidFill>
                  <a:schemeClr val="tx2"/>
                </a:solidFill>
              </a:rPr>
              <a:t>(1 if checked; 0 if not)</a:t>
            </a:r>
          </a:p>
          <a:p>
            <a:pPr algn="ctr" eaLnBrk="0" hangingPunct="0">
              <a:spcBef>
                <a:spcPct val="50000"/>
              </a:spcBef>
              <a:defRPr/>
            </a:pPr>
            <a:r>
              <a:rPr lang="en-US" sz="2100" b="1" i="1" dirty="0">
                <a:solidFill>
                  <a:schemeClr val="tx2"/>
                </a:solidFill>
              </a:rPr>
              <a:t>(1 if checked; 0 if not)</a:t>
            </a:r>
          </a:p>
          <a:p>
            <a:pPr algn="ctr" eaLnBrk="0" hangingPunct="0">
              <a:spcBef>
                <a:spcPct val="50000"/>
              </a:spcBef>
              <a:defRPr/>
            </a:pPr>
            <a:r>
              <a:rPr lang="en-US" sz="2100" b="1" i="1" dirty="0">
                <a:solidFill>
                  <a:schemeClr val="tx2"/>
                </a:solidFill>
              </a:rPr>
              <a:t>(1 if checked; 0 if not)</a:t>
            </a:r>
          </a:p>
          <a:p>
            <a:pPr algn="ctr" eaLnBrk="0" hangingPunct="0">
              <a:spcBef>
                <a:spcPct val="50000"/>
              </a:spcBef>
              <a:defRPr/>
            </a:pPr>
            <a:r>
              <a:rPr lang="en-US" sz="2100" b="1" i="1" dirty="0">
                <a:solidFill>
                  <a:schemeClr val="tx2"/>
                </a:solidFill>
              </a:rPr>
              <a:t>(1 if checked; 0 if not)</a:t>
            </a:r>
          </a:p>
          <a:p>
            <a:pPr algn="ctr" eaLnBrk="0" hangingPunct="0">
              <a:spcBef>
                <a:spcPct val="50000"/>
              </a:spcBef>
              <a:defRPr/>
            </a:pPr>
            <a:r>
              <a:rPr lang="en-US" sz="2100" b="1" i="1" dirty="0">
                <a:solidFill>
                  <a:schemeClr val="tx2"/>
                </a:solidFill>
              </a:rPr>
              <a:t>(1 if checked; 0 if not)</a:t>
            </a:r>
          </a:p>
        </p:txBody>
      </p:sp>
      <p:sp>
        <p:nvSpPr>
          <p:cNvPr id="2" name="TextBox 1"/>
          <p:cNvSpPr txBox="1"/>
          <p:nvPr/>
        </p:nvSpPr>
        <p:spPr>
          <a:xfrm>
            <a:off x="2214418" y="5942266"/>
            <a:ext cx="8077200" cy="83099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400" dirty="0"/>
              <a:t>Again, </a:t>
            </a:r>
            <a:r>
              <a:rPr lang="en-US" sz="2400" dirty="0" err="1"/>
              <a:t>Qualtrics</a:t>
            </a:r>
            <a:r>
              <a:rPr lang="en-US" sz="2400" dirty="0"/>
              <a:t> does this for you automatically, but if you export your data it is important to keep this in mind.</a:t>
            </a:r>
          </a:p>
        </p:txBody>
      </p:sp>
    </p:spTree>
    <p:extLst>
      <p:ext uri="{BB962C8B-B14F-4D97-AF65-F5344CB8AC3E}">
        <p14:creationId xmlns:p14="http://schemas.microsoft.com/office/powerpoint/2010/main" val="364617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dirty="0"/>
              <a:t>Coding Open-Ended Items</a:t>
            </a:r>
          </a:p>
        </p:txBody>
      </p:sp>
      <p:sp>
        <p:nvSpPr>
          <p:cNvPr id="49155" name="Text Box 3"/>
          <p:cNvSpPr txBox="1">
            <a:spLocks noChangeArrowheads="1"/>
          </p:cNvSpPr>
          <p:nvPr/>
        </p:nvSpPr>
        <p:spPr bwMode="auto">
          <a:xfrm>
            <a:off x="1024128" y="2048089"/>
            <a:ext cx="10405871" cy="1051919"/>
          </a:xfrm>
          <a:prstGeom prst="rect">
            <a:avLst/>
          </a:prstGeom>
          <a:noFill/>
          <a:ln w="12700">
            <a:noFill/>
            <a:miter lim="800000"/>
            <a:headEnd/>
            <a:tailEnd/>
          </a:ln>
          <a:effectLst/>
        </p:spPr>
        <p:txBody>
          <a:bodyPr wrap="square" lIns="81628" tIns="40813" rIns="81628" bIns="40813">
            <a:spAutoFit/>
          </a:bodyPr>
          <a:lstStyle/>
          <a:p>
            <a:pPr eaLnBrk="0" hangingPunct="0">
              <a:spcBef>
                <a:spcPct val="50000"/>
              </a:spcBef>
              <a:defRPr/>
            </a:pPr>
            <a:r>
              <a:rPr lang="en-US" sz="2100" b="1" i="1" dirty="0">
                <a:solidFill>
                  <a:schemeClr val="tx2"/>
                </a:solidFill>
              </a:rPr>
              <a:t>Factual open-ended items seeking concrete responses are relatively easy to code. Numeric answers are typically recorded as given by the respondent, while other types of responses are given a specific code number.</a:t>
            </a:r>
          </a:p>
        </p:txBody>
      </p:sp>
      <p:grpSp>
        <p:nvGrpSpPr>
          <p:cNvPr id="23556" name="Group 8"/>
          <p:cNvGrpSpPr>
            <a:grpSpLocks/>
          </p:cNvGrpSpPr>
          <p:nvPr/>
        </p:nvGrpSpPr>
        <p:grpSpPr bwMode="auto">
          <a:xfrm>
            <a:off x="2324869" y="3383577"/>
            <a:ext cx="7550727" cy="2990166"/>
            <a:chOff x="480" y="2400"/>
            <a:chExt cx="5232" cy="2160"/>
          </a:xfrm>
        </p:grpSpPr>
        <p:sp>
          <p:nvSpPr>
            <p:cNvPr id="23557" name="Rectangle 5"/>
            <p:cNvSpPr>
              <a:spLocks noChangeArrowheads="1"/>
            </p:cNvSpPr>
            <p:nvPr/>
          </p:nvSpPr>
          <p:spPr bwMode="auto">
            <a:xfrm>
              <a:off x="480" y="2400"/>
              <a:ext cx="5232" cy="216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49156" name="Text Box 4"/>
            <p:cNvSpPr txBox="1">
              <a:spLocks noChangeArrowheads="1"/>
            </p:cNvSpPr>
            <p:nvPr/>
          </p:nvSpPr>
          <p:spPr bwMode="auto">
            <a:xfrm>
              <a:off x="528" y="2544"/>
              <a:ext cx="4992" cy="1687"/>
            </a:xfrm>
            <a:prstGeom prst="rect">
              <a:avLst/>
            </a:prstGeom>
            <a:solidFill>
              <a:srgbClr val="FFFF99"/>
            </a:solidFill>
            <a:ln w="12700">
              <a:noFill/>
              <a:miter lim="800000"/>
              <a:headEnd/>
              <a:tailEnd/>
            </a:ln>
            <a:effectLst/>
          </p:spPr>
          <p:txBody>
            <a:bodyPr lIns="91429" tIns="45714" rIns="91429" bIns="45714">
              <a:spAutoFit/>
            </a:bodyPr>
            <a:lstStyle/>
            <a:p>
              <a:pPr marL="408188" indent="-408188" eaLnBrk="0" hangingPunct="0">
                <a:spcBef>
                  <a:spcPct val="50000"/>
                </a:spcBef>
                <a:buFontTx/>
                <a:buAutoNum type="arabicParenBoth"/>
                <a:defRPr/>
              </a:pPr>
              <a:r>
                <a:rPr lang="en-US" sz="2100" b="1" dirty="0"/>
                <a:t>In what year were you born?  </a:t>
              </a:r>
              <a:r>
                <a:rPr lang="en-US" sz="2100" b="1" i="1" dirty="0">
                  <a:solidFill>
                    <a:schemeClr val="tx2"/>
                  </a:solidFill>
                </a:rPr>
                <a:t>(code year)</a:t>
              </a:r>
            </a:p>
            <a:p>
              <a:pPr marL="408188" indent="-408188" eaLnBrk="0" hangingPunct="0">
                <a:spcBef>
                  <a:spcPct val="50000"/>
                </a:spcBef>
                <a:buFontTx/>
                <a:buAutoNum type="arabicParenBoth"/>
                <a:defRPr/>
              </a:pPr>
              <a:r>
                <a:rPr lang="en-US" sz="2100" b="1" dirty="0"/>
                <a:t>How many times have you ordered pizza from Domino's in the last month?  </a:t>
              </a:r>
              <a:r>
                <a:rPr lang="en-US" sz="2100" b="1" i="1" dirty="0">
                  <a:solidFill>
                    <a:schemeClr val="tx2"/>
                  </a:solidFill>
                </a:rPr>
                <a:t>(code number)</a:t>
              </a:r>
            </a:p>
            <a:p>
              <a:pPr marL="408188" indent="-408188" eaLnBrk="0" hangingPunct="0">
                <a:spcBef>
                  <a:spcPct val="50000"/>
                </a:spcBef>
                <a:defRPr/>
              </a:pPr>
              <a:r>
                <a:rPr lang="en-US" sz="2100" b="1" dirty="0"/>
                <a:t>(3) Name the first 3 brands of coffee that come to mind.  </a:t>
              </a:r>
              <a:r>
                <a:rPr lang="en-US" sz="2100" b="1" i="1" dirty="0">
                  <a:solidFill>
                    <a:schemeClr val="tx2"/>
                  </a:solidFill>
                </a:rPr>
                <a:t>(code as 3 separate variables; assign numbers to represent each coffee shop mentioned)</a:t>
              </a:r>
            </a:p>
          </p:txBody>
        </p:sp>
      </p:grpSp>
      <p:sp>
        <p:nvSpPr>
          <p:cNvPr id="2" name="TextBox 1"/>
          <p:cNvSpPr txBox="1"/>
          <p:nvPr/>
        </p:nvSpPr>
        <p:spPr>
          <a:xfrm>
            <a:off x="1524000" y="6019800"/>
            <a:ext cx="8763000" cy="83099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sz="2400" dirty="0"/>
              <a:t>Sometimes when you ask for a number, people will use words.  You need to look for this and correct any occurrences.</a:t>
            </a:r>
          </a:p>
        </p:txBody>
      </p:sp>
    </p:spTree>
    <p:extLst>
      <p:ext uri="{BB962C8B-B14F-4D97-AF65-F5344CB8AC3E}">
        <p14:creationId xmlns:p14="http://schemas.microsoft.com/office/powerpoint/2010/main" val="170576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Coding Open-Ended Items</a:t>
            </a:r>
          </a:p>
        </p:txBody>
      </p:sp>
      <p:sp>
        <p:nvSpPr>
          <p:cNvPr id="50179" name="Text Box 3"/>
          <p:cNvSpPr txBox="1">
            <a:spLocks noChangeArrowheads="1"/>
          </p:cNvSpPr>
          <p:nvPr/>
        </p:nvSpPr>
        <p:spPr bwMode="auto">
          <a:xfrm>
            <a:off x="2382596" y="2603083"/>
            <a:ext cx="7498773" cy="724008"/>
          </a:xfrm>
          <a:prstGeom prst="rect">
            <a:avLst/>
          </a:prstGeom>
          <a:noFill/>
          <a:ln w="12700">
            <a:noFill/>
            <a:miter lim="800000"/>
            <a:headEnd/>
            <a:tailEnd/>
          </a:ln>
          <a:effectLst/>
        </p:spPr>
        <p:txBody>
          <a:bodyPr lIns="81628" tIns="40813" rIns="81628" bIns="40813">
            <a:spAutoFit/>
          </a:bodyPr>
          <a:lstStyle/>
          <a:p>
            <a:pPr eaLnBrk="0" hangingPunct="0">
              <a:spcBef>
                <a:spcPct val="50000"/>
              </a:spcBef>
              <a:defRPr/>
            </a:pPr>
            <a:r>
              <a:rPr lang="en-US" sz="2100" b="1" i="1" dirty="0">
                <a:solidFill>
                  <a:schemeClr val="tx2"/>
                </a:solidFill>
              </a:rPr>
              <a:t>Exploratory open-ended items seeking less structured responses are much more difficult to code.</a:t>
            </a:r>
          </a:p>
        </p:txBody>
      </p:sp>
      <p:grpSp>
        <p:nvGrpSpPr>
          <p:cNvPr id="24580" name="Group 4"/>
          <p:cNvGrpSpPr>
            <a:grpSpLocks/>
          </p:cNvGrpSpPr>
          <p:nvPr/>
        </p:nvGrpSpPr>
        <p:grpSpPr bwMode="auto">
          <a:xfrm>
            <a:off x="2319096" y="3390900"/>
            <a:ext cx="7562273" cy="2667000"/>
            <a:chOff x="206" y="2989"/>
            <a:chExt cx="5240" cy="2669"/>
          </a:xfrm>
        </p:grpSpPr>
        <p:sp>
          <p:nvSpPr>
            <p:cNvPr id="24585" name="Rectangle 5"/>
            <p:cNvSpPr>
              <a:spLocks noChangeArrowheads="1"/>
            </p:cNvSpPr>
            <p:nvPr/>
          </p:nvSpPr>
          <p:spPr bwMode="auto">
            <a:xfrm>
              <a:off x="214" y="3498"/>
              <a:ext cx="5232" cy="216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a:p>
          </p:txBody>
        </p:sp>
        <p:sp>
          <p:nvSpPr>
            <p:cNvPr id="50182" name="Text Box 6"/>
            <p:cNvSpPr txBox="1">
              <a:spLocks noChangeArrowheads="1"/>
            </p:cNvSpPr>
            <p:nvPr/>
          </p:nvSpPr>
          <p:spPr bwMode="auto">
            <a:xfrm>
              <a:off x="206" y="2989"/>
              <a:ext cx="5201" cy="739"/>
            </a:xfrm>
            <a:prstGeom prst="rect">
              <a:avLst/>
            </a:prstGeom>
            <a:solidFill>
              <a:srgbClr val="FFFF99"/>
            </a:solidFill>
            <a:ln w="12700">
              <a:noFill/>
              <a:miter lim="800000"/>
              <a:headEnd/>
              <a:tailEnd/>
            </a:ln>
            <a:effectLst/>
          </p:spPr>
          <p:txBody>
            <a:bodyPr wrap="square" lIns="91429" tIns="45714" rIns="91429" bIns="45714">
              <a:spAutoFit/>
            </a:bodyPr>
            <a:lstStyle/>
            <a:p>
              <a:pPr marL="408188" indent="-408188" eaLnBrk="0" hangingPunct="0">
                <a:spcBef>
                  <a:spcPct val="50000"/>
                </a:spcBef>
                <a:defRPr/>
              </a:pPr>
              <a:r>
                <a:rPr lang="en-US" sz="2100" b="1" dirty="0"/>
                <a:t>	In your own words, give us two or three reasons why you prefer to leave the state after graduation.</a:t>
              </a:r>
            </a:p>
          </p:txBody>
        </p:sp>
      </p:grpSp>
      <p:sp>
        <p:nvSpPr>
          <p:cNvPr id="24581" name="Line 13"/>
          <p:cNvSpPr>
            <a:spLocks noChangeShapeType="1"/>
          </p:cNvSpPr>
          <p:nvPr/>
        </p:nvSpPr>
        <p:spPr bwMode="auto">
          <a:xfrm>
            <a:off x="3482399" y="4267200"/>
            <a:ext cx="616527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81638" tIns="40819" rIns="81638" bIns="40819" anchor="ctr"/>
          <a:lstStyle/>
          <a:p>
            <a:endParaRPr lang="en-US"/>
          </a:p>
        </p:txBody>
      </p:sp>
      <p:sp>
        <p:nvSpPr>
          <p:cNvPr id="24582" name="Line 14"/>
          <p:cNvSpPr>
            <a:spLocks noChangeShapeType="1"/>
          </p:cNvSpPr>
          <p:nvPr/>
        </p:nvSpPr>
        <p:spPr bwMode="auto">
          <a:xfrm>
            <a:off x="3482399" y="4724400"/>
            <a:ext cx="616527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81638" tIns="40819" rIns="81638" bIns="40819" anchor="ctr"/>
          <a:lstStyle/>
          <a:p>
            <a:endParaRPr lang="en-US"/>
          </a:p>
        </p:txBody>
      </p:sp>
      <p:sp>
        <p:nvSpPr>
          <p:cNvPr id="24583" name="Line 15"/>
          <p:cNvSpPr>
            <a:spLocks noChangeShapeType="1"/>
          </p:cNvSpPr>
          <p:nvPr/>
        </p:nvSpPr>
        <p:spPr bwMode="auto">
          <a:xfrm>
            <a:off x="3482399" y="5181600"/>
            <a:ext cx="616527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81638" tIns="40819" rIns="81638" bIns="40819" anchor="ctr"/>
          <a:lstStyle/>
          <a:p>
            <a:endParaRPr lang="en-US"/>
          </a:p>
        </p:txBody>
      </p:sp>
      <p:sp>
        <p:nvSpPr>
          <p:cNvPr id="24584" name="Line 16"/>
          <p:cNvSpPr>
            <a:spLocks noChangeShapeType="1"/>
          </p:cNvSpPr>
          <p:nvPr/>
        </p:nvSpPr>
        <p:spPr bwMode="auto">
          <a:xfrm>
            <a:off x="3482399" y="5638800"/>
            <a:ext cx="616527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81638" tIns="40819" rIns="81638" bIns="40819" anchor="ctr"/>
          <a:lstStyle/>
          <a:p>
            <a:endParaRPr lang="en-US"/>
          </a:p>
        </p:txBody>
      </p:sp>
    </p:spTree>
    <p:extLst>
      <p:ext uri="{BB962C8B-B14F-4D97-AF65-F5344CB8AC3E}">
        <p14:creationId xmlns:p14="http://schemas.microsoft.com/office/powerpoint/2010/main" val="393092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4"/>
          <p:cNvSpPr>
            <a:spLocks noChangeArrowheads="1"/>
          </p:cNvSpPr>
          <p:nvPr/>
        </p:nvSpPr>
        <p:spPr bwMode="auto">
          <a:xfrm>
            <a:off x="2393796" y="2177823"/>
            <a:ext cx="7341465" cy="2270803"/>
          </a:xfrm>
          <a:prstGeom prst="rect">
            <a:avLst/>
          </a:prstGeom>
          <a:solidFill>
            <a:schemeClr val="tx2">
              <a:lumMod val="40000"/>
              <a:lumOff val="60000"/>
            </a:schemeClr>
          </a:solidFill>
          <a:ln w="12700">
            <a:solidFill>
              <a:schemeClr val="tx1"/>
            </a:solidFill>
            <a:miter lim="800000"/>
            <a:headEnd/>
            <a:tailEnd/>
          </a:ln>
          <a:effectLst/>
        </p:spPr>
        <p:txBody>
          <a:bodyPr wrap="none" lIns="81638" tIns="40819" rIns="81638" bIns="40819" anchor="ctr"/>
          <a:lstStyle/>
          <a:p>
            <a:pPr>
              <a:defRPr/>
            </a:pPr>
            <a:endParaRPr lang="en-US"/>
          </a:p>
        </p:txBody>
      </p:sp>
      <p:sp>
        <p:nvSpPr>
          <p:cNvPr id="25603" name="Rectangle 2"/>
          <p:cNvSpPr>
            <a:spLocks noGrp="1" noChangeArrowheads="1"/>
          </p:cNvSpPr>
          <p:nvPr>
            <p:ph type="title"/>
          </p:nvPr>
        </p:nvSpPr>
        <p:spPr>
          <a:xfrm>
            <a:off x="914400" y="600519"/>
            <a:ext cx="10363199" cy="1143461"/>
          </a:xfrm>
        </p:spPr>
        <p:txBody>
          <a:bodyPr>
            <a:normAutofit fontScale="90000"/>
          </a:bodyPr>
          <a:lstStyle/>
          <a:p>
            <a:pPr eaLnBrk="1" hangingPunct="1"/>
            <a:r>
              <a:rPr lang="en-US" altLang="en-US" dirty="0"/>
              <a:t>Process for Coding Exploratory Open-Ended Questions</a:t>
            </a:r>
          </a:p>
        </p:txBody>
      </p:sp>
      <p:sp>
        <p:nvSpPr>
          <p:cNvPr id="25604" name="Rectangle 3"/>
          <p:cNvSpPr>
            <a:spLocks noGrp="1" noChangeArrowheads="1"/>
          </p:cNvSpPr>
          <p:nvPr>
            <p:ph sz="quarter" idx="13"/>
          </p:nvPr>
        </p:nvSpPr>
        <p:spPr>
          <a:xfrm>
            <a:off x="2465965" y="2251185"/>
            <a:ext cx="7135091" cy="2525828"/>
          </a:xfrm>
          <a:prstGeom prst="rect">
            <a:avLst/>
          </a:prstGeom>
        </p:spPr>
        <p:txBody>
          <a:bodyPr/>
          <a:lstStyle/>
          <a:p>
            <a:pPr marL="612282" indent="-612282">
              <a:buClr>
                <a:schemeClr val="tx2"/>
              </a:buClr>
              <a:buSzPct val="140000"/>
              <a:buFontTx/>
              <a:buAutoNum type="arabicPeriod"/>
            </a:pPr>
            <a:r>
              <a:rPr lang="en-US" altLang="en-US" sz="2300" b="1" dirty="0"/>
              <a:t>Identify usable responses</a:t>
            </a:r>
          </a:p>
          <a:p>
            <a:pPr marL="612282" indent="-612282">
              <a:buClr>
                <a:schemeClr val="tx2"/>
              </a:buClr>
              <a:buSzPct val="140000"/>
              <a:buFontTx/>
              <a:buAutoNum type="arabicPeriod"/>
            </a:pPr>
            <a:r>
              <a:rPr lang="en-US" altLang="en-US" sz="2300" b="1" dirty="0"/>
              <a:t>Develop categories for responses</a:t>
            </a:r>
            <a:endParaRPr lang="en-US" altLang="en-US" sz="2300" dirty="0"/>
          </a:p>
          <a:p>
            <a:pPr marL="612282" indent="-612282">
              <a:buClr>
                <a:schemeClr val="tx2"/>
              </a:buClr>
              <a:buSzPct val="140000"/>
              <a:buFontTx/>
              <a:buAutoNum type="arabicPeriod"/>
            </a:pPr>
            <a:r>
              <a:rPr lang="en-US" altLang="en-US" sz="2300" b="1" dirty="0"/>
              <a:t>Sort responses into categories</a:t>
            </a:r>
            <a:r>
              <a:rPr lang="en-US" altLang="en-US" sz="2300" dirty="0"/>
              <a:t>, using multiple coders; compare results</a:t>
            </a:r>
          </a:p>
          <a:p>
            <a:pPr marL="612282" indent="-612282">
              <a:buClr>
                <a:schemeClr val="tx2"/>
              </a:buClr>
              <a:buSzPct val="140000"/>
              <a:buFontTx/>
              <a:buAutoNum type="arabicPeriod"/>
            </a:pPr>
            <a:r>
              <a:rPr lang="en-US" altLang="en-US" sz="2300" b="1" dirty="0"/>
              <a:t>Assess the degree of agreement between coders</a:t>
            </a:r>
            <a:endParaRPr lang="en-US" altLang="en-US" sz="2300" dirty="0"/>
          </a:p>
          <a:p>
            <a:pPr marL="612282" indent="-612282">
              <a:buClr>
                <a:srgbClr val="FF9933"/>
              </a:buClr>
              <a:buSzPct val="140000"/>
              <a:buFontTx/>
              <a:buAutoNum type="arabicPeriod"/>
            </a:pPr>
            <a:endParaRPr lang="en-US" altLang="en-US" sz="2100" dirty="0"/>
          </a:p>
          <a:p>
            <a:pPr marL="612282" indent="-612282">
              <a:buClr>
                <a:srgbClr val="FF9933"/>
              </a:buClr>
              <a:buSzPct val="140000"/>
              <a:buFontTx/>
              <a:buAutoNum type="arabicPeriod"/>
            </a:pPr>
            <a:endParaRPr lang="en-US" altLang="en-US" sz="2100" dirty="0"/>
          </a:p>
        </p:txBody>
      </p:sp>
      <p:sp>
        <p:nvSpPr>
          <p:cNvPr id="2" name="TextBox 1"/>
          <p:cNvSpPr txBox="1"/>
          <p:nvPr/>
        </p:nvSpPr>
        <p:spPr>
          <a:xfrm>
            <a:off x="2566409" y="4521988"/>
            <a:ext cx="6934200" cy="156966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sz="2400" dirty="0"/>
              <a:t>This is similar to what you did for your laddering interviews. </a:t>
            </a:r>
          </a:p>
          <a:p>
            <a:r>
              <a:rPr lang="en-US" sz="2400" dirty="0"/>
              <a:t>As with your interviews, you will need to assign numbers to responses.</a:t>
            </a:r>
          </a:p>
        </p:txBody>
      </p:sp>
    </p:spTree>
    <p:extLst>
      <p:ext uri="{BB962C8B-B14F-4D97-AF65-F5344CB8AC3E}">
        <p14:creationId xmlns:p14="http://schemas.microsoft.com/office/powerpoint/2010/main" val="254816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title"/>
          </p:nvPr>
        </p:nvSpPr>
        <p:spPr>
          <a:xfrm>
            <a:off x="2632364" y="34610"/>
            <a:ext cx="7578148" cy="1143461"/>
          </a:xfrm>
        </p:spPr>
        <p:txBody>
          <a:bodyPr/>
          <a:lstStyle/>
          <a:p>
            <a:pPr eaLnBrk="1" hangingPunct="1"/>
            <a:r>
              <a:rPr lang="en-US" altLang="en-US" dirty="0"/>
              <a:t>Avery Fitness Center Survey</a:t>
            </a: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604" y="1367028"/>
            <a:ext cx="7952792" cy="5456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1828800" y="304801"/>
            <a:ext cx="8458200" cy="95410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US" sz="2800" dirty="0"/>
              <a:t>How would you code  each of these questions?  Do you see any potential problems?</a:t>
            </a:r>
          </a:p>
        </p:txBody>
      </p:sp>
    </p:spTree>
    <p:extLst>
      <p:ext uri="{BB962C8B-B14F-4D97-AF65-F5344CB8AC3E}">
        <p14:creationId xmlns:p14="http://schemas.microsoft.com/office/powerpoint/2010/main" val="36920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219200"/>
            <a:ext cx="8305800"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828800" y="152401"/>
            <a:ext cx="8458200" cy="95410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US" sz="2800" dirty="0"/>
              <a:t>How would you code  each of these questions?  Do you see any potential problems?</a:t>
            </a:r>
          </a:p>
        </p:txBody>
      </p:sp>
    </p:spTree>
    <p:extLst>
      <p:ext uri="{BB962C8B-B14F-4D97-AF65-F5344CB8AC3E}">
        <p14:creationId xmlns:p14="http://schemas.microsoft.com/office/powerpoint/2010/main" val="110195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2801470" y="126402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CODEBOOK</a:t>
            </a:r>
          </a:p>
          <a:p>
            <a:pPr marL="457200" lvl="1" indent="0">
              <a:buNone/>
            </a:pPr>
            <a:r>
              <a:rPr lang="en-US" dirty="0"/>
              <a:t>A document that contains explicit directions about how data from data collection forms are coded in the data file.</a:t>
            </a:r>
          </a:p>
        </p:txBody>
      </p:sp>
    </p:spTree>
    <p:extLst>
      <p:ext uri="{BB962C8B-B14F-4D97-AF65-F5344CB8AC3E}">
        <p14:creationId xmlns:p14="http://schemas.microsoft.com/office/powerpoint/2010/main" val="220074603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2624930" y="496275"/>
            <a:ext cx="7578148" cy="1143461"/>
          </a:xfrm>
          <a:prstGeom prst="rect">
            <a:avLst/>
          </a:prstGeom>
        </p:spPr>
        <p:txBody>
          <a:bodyPr lIns="81638" tIns="40819" rIns="81638" bIns="40819"/>
          <a:lstStyle/>
          <a:p>
            <a:pPr algn="ctr">
              <a:defRPr/>
            </a:pPr>
            <a:r>
              <a:rPr lang="en-US" sz="4400" dirty="0">
                <a:latin typeface="+mj-lt"/>
                <a:ea typeface="+mj-ea"/>
                <a:cs typeface="+mj-cs"/>
              </a:rPr>
              <a:t>Developing a Codebook</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178070"/>
            <a:ext cx="8305800" cy="5679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9192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609600"/>
            <a:ext cx="8305800" cy="5679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8136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4600" y="24384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BLUNDER</a:t>
            </a:r>
          </a:p>
          <a:p>
            <a:pPr marL="457200" lvl="1" indent="0">
              <a:buNone/>
            </a:pPr>
            <a:r>
              <a:rPr lang="en-US" dirty="0"/>
              <a:t>An error that arises during editing, coding, or data entry.</a:t>
            </a:r>
          </a:p>
        </p:txBody>
      </p:sp>
      <p:sp>
        <p:nvSpPr>
          <p:cNvPr id="3" name="Title 2"/>
          <p:cNvSpPr>
            <a:spLocks noGrp="1"/>
          </p:cNvSpPr>
          <p:nvPr>
            <p:ph type="title"/>
          </p:nvPr>
        </p:nvSpPr>
        <p:spPr/>
        <p:txBody>
          <a:bodyPr/>
          <a:lstStyle/>
          <a:p>
            <a:r>
              <a:rPr lang="en-US" dirty="0"/>
              <a:t>Cleaning the Data</a:t>
            </a:r>
          </a:p>
        </p:txBody>
      </p:sp>
      <p:sp>
        <p:nvSpPr>
          <p:cNvPr id="9" name="Content Placeholder 2"/>
          <p:cNvSpPr txBox="1">
            <a:spLocks/>
          </p:cNvSpPr>
          <p:nvPr/>
        </p:nvSpPr>
        <p:spPr>
          <a:xfrm>
            <a:off x="2700866" y="4343400"/>
            <a:ext cx="7492005"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dirty="0"/>
              <a:t>	- </a:t>
            </a:r>
            <a:r>
              <a:rPr lang="en-US" i="1" dirty="0"/>
              <a:t>blunders are usually due to researcher 	    carelessness</a:t>
            </a:r>
          </a:p>
        </p:txBody>
      </p:sp>
    </p:spTree>
    <p:extLst>
      <p:ext uri="{BB962C8B-B14F-4D97-AF65-F5344CB8AC3E}">
        <p14:creationId xmlns:p14="http://schemas.microsoft.com/office/powerpoint/2010/main" val="238980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2590801" y="1758462"/>
            <a:ext cx="7050231" cy="2667000"/>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
        <p:nvSpPr>
          <p:cNvPr id="32772" name="Rectangle 3"/>
          <p:cNvSpPr>
            <a:spLocks noGrp="1" noChangeArrowheads="1"/>
          </p:cNvSpPr>
          <p:nvPr>
            <p:ph sz="quarter" idx="13"/>
          </p:nvPr>
        </p:nvSpPr>
        <p:spPr>
          <a:xfrm>
            <a:off x="2819400" y="1224494"/>
            <a:ext cx="6872052" cy="3347507"/>
          </a:xfrm>
          <a:prstGeom prst="rect">
            <a:avLst/>
          </a:prstGeom>
        </p:spPr>
        <p:txBody>
          <a:bodyPr>
            <a:normAutofit/>
          </a:bodyPr>
          <a:lstStyle/>
          <a:p>
            <a:pPr marL="0" indent="0">
              <a:buNone/>
            </a:pPr>
            <a:endParaRPr lang="en-US" altLang="en-US" sz="2400" dirty="0"/>
          </a:p>
          <a:p>
            <a:pPr algn="ctr" eaLnBrk="1" hangingPunct="1">
              <a:lnSpc>
                <a:spcPct val="90000"/>
              </a:lnSpc>
              <a:buFontTx/>
              <a:buNone/>
            </a:pPr>
            <a:endParaRPr lang="en-US" altLang="en-US" sz="700" dirty="0">
              <a:solidFill>
                <a:srgbClr val="3333FF"/>
              </a:solidFill>
            </a:endParaRPr>
          </a:p>
          <a:p>
            <a:pPr algn="ctr" eaLnBrk="1" hangingPunct="1">
              <a:lnSpc>
                <a:spcPct val="90000"/>
              </a:lnSpc>
              <a:buFontTx/>
              <a:buNone/>
            </a:pPr>
            <a:r>
              <a:rPr lang="en-US" altLang="en-US" sz="2900" b="1" i="1" dirty="0"/>
              <a:t>How to identify blunders:</a:t>
            </a:r>
          </a:p>
          <a:p>
            <a:pPr eaLnBrk="1" hangingPunct="1">
              <a:lnSpc>
                <a:spcPct val="90000"/>
              </a:lnSpc>
              <a:buClr>
                <a:srgbClr val="FF9933"/>
              </a:buClr>
              <a:buSzPct val="140000"/>
              <a:buFontTx/>
              <a:buChar char="•"/>
            </a:pPr>
            <a:endParaRPr lang="en-US" altLang="en-US" sz="700" b="1" dirty="0"/>
          </a:p>
          <a:p>
            <a:pPr eaLnBrk="1" hangingPunct="1">
              <a:lnSpc>
                <a:spcPct val="90000"/>
              </a:lnSpc>
              <a:buClr>
                <a:srgbClr val="FF9933"/>
              </a:buClr>
              <a:buSzPct val="140000"/>
              <a:buFont typeface="Arial" pitchFamily="34" charset="0"/>
              <a:buNone/>
            </a:pPr>
            <a:r>
              <a:rPr lang="en-US" altLang="en-US" sz="2100" dirty="0"/>
              <a:t>		</a:t>
            </a:r>
            <a:r>
              <a:rPr lang="en-US" altLang="en-US" sz="2800" dirty="0"/>
              <a:t>Run frequency analysis on all variables</a:t>
            </a:r>
          </a:p>
          <a:p>
            <a:pPr eaLnBrk="1" hangingPunct="1">
              <a:lnSpc>
                <a:spcPct val="90000"/>
              </a:lnSpc>
              <a:buClr>
                <a:srgbClr val="FF9933"/>
              </a:buClr>
              <a:buSzPct val="140000"/>
              <a:buFont typeface="Arial" pitchFamily="34" charset="0"/>
              <a:buNone/>
            </a:pPr>
            <a:r>
              <a:rPr lang="en-US" altLang="en-US" sz="2800" dirty="0"/>
              <a:t>		Check a sample of questionnaires against 	the data file</a:t>
            </a:r>
          </a:p>
          <a:p>
            <a:pPr eaLnBrk="1" hangingPunct="1">
              <a:lnSpc>
                <a:spcPct val="90000"/>
              </a:lnSpc>
              <a:buClr>
                <a:srgbClr val="FF9933"/>
              </a:buClr>
              <a:buSzPct val="140000"/>
              <a:buFont typeface="Arial" pitchFamily="34" charset="0"/>
              <a:buNone/>
            </a:pPr>
            <a:r>
              <a:rPr lang="en-US" altLang="en-US" sz="2800" dirty="0"/>
              <a:t>		Double-entry of data (preferred)</a:t>
            </a:r>
          </a:p>
          <a:p>
            <a:pPr eaLnBrk="1" hangingPunct="1">
              <a:lnSpc>
                <a:spcPct val="90000"/>
              </a:lnSpc>
              <a:buClr>
                <a:srgbClr val="FF9933"/>
              </a:buClr>
              <a:buSzPct val="140000"/>
              <a:buFont typeface="Arial" pitchFamily="34" charset="0"/>
              <a:buNone/>
            </a:pPr>
            <a:endParaRPr lang="en-US" altLang="en-US" sz="2100" dirty="0"/>
          </a:p>
        </p:txBody>
      </p:sp>
      <p:sp>
        <p:nvSpPr>
          <p:cNvPr id="3" name="TextBox 2"/>
          <p:cNvSpPr txBox="1"/>
          <p:nvPr/>
        </p:nvSpPr>
        <p:spPr>
          <a:xfrm>
            <a:off x="2362201" y="4929695"/>
            <a:ext cx="7467600" cy="120032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sz="2400" dirty="0"/>
              <a:t>This is more of an issue when you use a paper survey and have to enter the data by hand.  With </a:t>
            </a:r>
            <a:r>
              <a:rPr lang="en-US" sz="2400" dirty="0" err="1"/>
              <a:t>Qualtrics</a:t>
            </a:r>
            <a:r>
              <a:rPr lang="en-US" sz="2400" dirty="0"/>
              <a:t> we avoid this problem, but it is worth knowing about.</a:t>
            </a:r>
          </a:p>
        </p:txBody>
      </p:sp>
    </p:spTree>
    <p:extLst>
      <p:ext uri="{BB962C8B-B14F-4D97-AF65-F5344CB8AC3E}">
        <p14:creationId xmlns:p14="http://schemas.microsoft.com/office/powerpoint/2010/main" val="370219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604500" cy="1066801"/>
          </a:xfrm>
        </p:spPr>
        <p:txBody>
          <a:bodyPr/>
          <a:lstStyle/>
          <a:p>
            <a:r>
              <a:rPr lang="en-US" dirty="0"/>
              <a:t>Dealing With Bad Respondents</a:t>
            </a:r>
          </a:p>
        </p:txBody>
      </p:sp>
      <p:sp>
        <p:nvSpPr>
          <p:cNvPr id="3" name="Content Placeholder 2"/>
          <p:cNvSpPr>
            <a:spLocks noGrp="1"/>
          </p:cNvSpPr>
          <p:nvPr>
            <p:ph sz="quarter" idx="13"/>
          </p:nvPr>
        </p:nvSpPr>
        <p:spPr>
          <a:xfrm>
            <a:off x="914400" y="1905000"/>
            <a:ext cx="10972800" cy="4572000"/>
          </a:xfrm>
        </p:spPr>
        <p:txBody>
          <a:bodyPr>
            <a:normAutofit lnSpcReduction="10000"/>
          </a:bodyPr>
          <a:lstStyle/>
          <a:p>
            <a:r>
              <a:rPr lang="en-US" sz="2400" dirty="0"/>
              <a:t>Sometimes people will give you bad data:</a:t>
            </a:r>
          </a:p>
          <a:p>
            <a:pPr lvl="1"/>
            <a:r>
              <a:rPr lang="en-US" sz="2400" dirty="0"/>
              <a:t>Non response (next slide)</a:t>
            </a:r>
          </a:p>
          <a:p>
            <a:pPr lvl="1"/>
            <a:r>
              <a:rPr lang="en-US" sz="2400" dirty="0"/>
              <a:t>Rushing</a:t>
            </a:r>
          </a:p>
          <a:p>
            <a:pPr lvl="1"/>
            <a:r>
              <a:rPr lang="en-US" sz="2400" dirty="0"/>
              <a:t>Failing to understand instructions</a:t>
            </a:r>
          </a:p>
          <a:p>
            <a:pPr lvl="1"/>
            <a:r>
              <a:rPr lang="en-US" sz="2400" dirty="0"/>
              <a:t>Lazy</a:t>
            </a:r>
          </a:p>
          <a:p>
            <a:pPr lvl="1"/>
            <a:r>
              <a:rPr lang="en-US" sz="2400" dirty="0"/>
              <a:t>Deceptive</a:t>
            </a:r>
          </a:p>
          <a:p>
            <a:r>
              <a:rPr lang="en-US" sz="2400" dirty="0"/>
              <a:t>You cannot catch all cases but you should always be on the look out</a:t>
            </a:r>
          </a:p>
          <a:p>
            <a:r>
              <a:rPr lang="en-US" sz="2800" b="1" dirty="0"/>
              <a:t>What kinds of things might alert you to bad data?</a:t>
            </a:r>
          </a:p>
          <a:p>
            <a:endParaRPr lang="en-US" sz="2400" dirty="0"/>
          </a:p>
          <a:p>
            <a:r>
              <a:rPr lang="en-US" sz="2400" dirty="0"/>
              <a:t>If you identify a “bad respondent” you should eliminate them from analysis</a:t>
            </a:r>
          </a:p>
          <a:p>
            <a:pPr lvl="1"/>
            <a:r>
              <a:rPr lang="en-US" dirty="0"/>
              <a:t>IMPORTANT: Keep track of how many people you eliminate from analysis and why!!!!!</a:t>
            </a:r>
          </a:p>
        </p:txBody>
      </p:sp>
    </p:spTree>
    <p:extLst>
      <p:ext uri="{BB962C8B-B14F-4D97-AF65-F5344CB8AC3E}">
        <p14:creationId xmlns:p14="http://schemas.microsoft.com/office/powerpoint/2010/main" val="3016294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fade">
                                      <p:cBhvr>
                                        <p:cTn id="4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08050" y="762003"/>
            <a:ext cx="10909300" cy="1066801"/>
          </a:xfrm>
        </p:spPr>
        <p:txBody>
          <a:bodyPr/>
          <a:lstStyle/>
          <a:p>
            <a:pPr eaLnBrk="1" hangingPunct="1"/>
            <a:r>
              <a:rPr lang="en-US" altLang="en-US" dirty="0"/>
              <a:t>Handling Missing Data</a:t>
            </a:r>
          </a:p>
        </p:txBody>
      </p:sp>
      <p:sp>
        <p:nvSpPr>
          <p:cNvPr id="33795" name="Rectangle 3"/>
          <p:cNvSpPr>
            <a:spLocks noGrp="1" noChangeArrowheads="1"/>
          </p:cNvSpPr>
          <p:nvPr>
            <p:ph sz="quarter" idx="13"/>
          </p:nvPr>
        </p:nvSpPr>
        <p:spPr>
          <a:xfrm>
            <a:off x="2286000" y="4495801"/>
            <a:ext cx="7620000" cy="1801105"/>
          </a:xfrm>
          <a:prstGeom prst="rect">
            <a:avLst/>
          </a:prstGeom>
        </p:spPr>
        <p:txBody>
          <a:bodyPr>
            <a:normAutofit/>
          </a:bodyPr>
          <a:lstStyle/>
          <a:p>
            <a:pPr lvl="1" eaLnBrk="1" hangingPunct="1">
              <a:buFont typeface="Arial" pitchFamily="34" charset="0"/>
              <a:buNone/>
            </a:pPr>
            <a:r>
              <a:rPr lang="en-US" altLang="en-US" sz="2400" i="1" dirty="0"/>
              <a:t>	</a:t>
            </a:r>
            <a:r>
              <a:rPr lang="en-US" altLang="en-US" sz="2400" b="1" i="1" dirty="0">
                <a:solidFill>
                  <a:schemeClr val="tx2"/>
                </a:solidFill>
              </a:rPr>
              <a:t>If a particular case has a significant amount of item nonresponse, it should probably be eliminated during the editing process.</a:t>
            </a:r>
          </a:p>
        </p:txBody>
      </p:sp>
      <p:sp>
        <p:nvSpPr>
          <p:cNvPr id="5" name="Content Placeholder 2"/>
          <p:cNvSpPr txBox="1">
            <a:spLocks/>
          </p:cNvSpPr>
          <p:nvPr/>
        </p:nvSpPr>
        <p:spPr>
          <a:xfrm>
            <a:off x="2667000" y="19812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ITEM NONRESPONSE</a:t>
            </a:r>
          </a:p>
          <a:p>
            <a:pPr marL="457200" lvl="1" indent="0">
              <a:buNone/>
            </a:pPr>
            <a:r>
              <a:rPr lang="en-US" dirty="0"/>
              <a:t>A source of error that arises when a respondent agrees to an interview but refuses, or is unable, to answer specific questions.</a:t>
            </a:r>
          </a:p>
        </p:txBody>
      </p:sp>
    </p:spTree>
    <p:extLst>
      <p:ext uri="{BB962C8B-B14F-4D97-AF65-F5344CB8AC3E}">
        <p14:creationId xmlns:p14="http://schemas.microsoft.com/office/powerpoint/2010/main" val="3616955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024128" y="585216"/>
            <a:ext cx="10558272" cy="1499616"/>
          </a:xfrm>
        </p:spPr>
        <p:txBody>
          <a:bodyPr>
            <a:normAutofit/>
          </a:bodyPr>
          <a:lstStyle/>
          <a:p>
            <a:pPr eaLnBrk="1" hangingPunct="1"/>
            <a:r>
              <a:rPr lang="en-US" altLang="en-US" sz="4400" dirty="0"/>
              <a:t>Alternative Strategies for Handling Missing Data</a:t>
            </a:r>
          </a:p>
        </p:txBody>
      </p:sp>
      <p:sp>
        <p:nvSpPr>
          <p:cNvPr id="2" name="Content Placeholder 1"/>
          <p:cNvSpPr>
            <a:spLocks noGrp="1"/>
          </p:cNvSpPr>
          <p:nvPr>
            <p:ph idx="1"/>
          </p:nvPr>
        </p:nvSpPr>
        <p:spPr/>
        <p:txBody>
          <a:bodyPr>
            <a:normAutofit/>
          </a:bodyPr>
          <a:lstStyle/>
          <a:p>
            <a:pPr>
              <a:lnSpc>
                <a:spcPct val="90000"/>
              </a:lnSpc>
            </a:pPr>
            <a:r>
              <a:rPr lang="en-US" altLang="en-US" sz="2800" dirty="0"/>
              <a:t>Eliminate the case with the missing item(s) from all further analyses</a:t>
            </a:r>
          </a:p>
          <a:p>
            <a:pPr>
              <a:lnSpc>
                <a:spcPct val="90000"/>
              </a:lnSpc>
            </a:pPr>
            <a:r>
              <a:rPr lang="en-US" altLang="en-US" sz="2800" dirty="0"/>
              <a:t>Eliminate the case with the missing item in analyses using the variable</a:t>
            </a:r>
          </a:p>
          <a:p>
            <a:pPr>
              <a:lnSpc>
                <a:spcPct val="90000"/>
              </a:lnSpc>
            </a:pPr>
            <a:r>
              <a:rPr lang="en-US" altLang="en-US" sz="2800" dirty="0"/>
              <a:t>Substitute values for the missing items</a:t>
            </a:r>
          </a:p>
          <a:p>
            <a:pPr>
              <a:lnSpc>
                <a:spcPct val="90000"/>
              </a:lnSpc>
            </a:pPr>
            <a:r>
              <a:rPr lang="en-US" altLang="en-US" sz="2800" dirty="0"/>
              <a:t>Contact the respondent again</a:t>
            </a:r>
          </a:p>
          <a:p>
            <a:endParaRPr lang="en-US" sz="2800" dirty="0"/>
          </a:p>
        </p:txBody>
      </p:sp>
    </p:spTree>
    <p:extLst>
      <p:ext uri="{BB962C8B-B14F-4D97-AF65-F5344CB8AC3E}">
        <p14:creationId xmlns:p14="http://schemas.microsoft.com/office/powerpoint/2010/main" val="2891753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685800"/>
            <a:ext cx="10287000" cy="1066801"/>
          </a:xfrm>
        </p:spPr>
        <p:txBody>
          <a:bodyPr/>
          <a:lstStyle/>
          <a:p>
            <a:r>
              <a:rPr lang="en-US" dirty="0"/>
              <a:t>Notes for your projects</a:t>
            </a:r>
          </a:p>
        </p:txBody>
      </p:sp>
      <p:sp>
        <p:nvSpPr>
          <p:cNvPr id="3" name="Content Placeholder 2"/>
          <p:cNvSpPr>
            <a:spLocks noGrp="1"/>
          </p:cNvSpPr>
          <p:nvPr>
            <p:ph sz="quarter" idx="13"/>
          </p:nvPr>
        </p:nvSpPr>
        <p:spPr>
          <a:xfrm>
            <a:off x="1066800" y="2145792"/>
            <a:ext cx="8263812" cy="4712208"/>
          </a:xfrm>
        </p:spPr>
        <p:txBody>
          <a:bodyPr>
            <a:normAutofit/>
          </a:bodyPr>
          <a:lstStyle/>
          <a:p>
            <a:r>
              <a:rPr lang="en-US" sz="2800" dirty="0"/>
              <a:t>Keep track of:</a:t>
            </a:r>
          </a:p>
          <a:p>
            <a:pPr marL="513652" lvl="1" indent="-342900"/>
            <a:r>
              <a:rPr lang="en-US" sz="2400" dirty="0"/>
              <a:t>How many respondent you had total (from your official start date after I give approval)</a:t>
            </a:r>
          </a:p>
          <a:p>
            <a:pPr marL="513652" lvl="1" indent="-342900"/>
            <a:r>
              <a:rPr lang="en-US" sz="2400" dirty="0"/>
              <a:t>How many you eliminate from analysis</a:t>
            </a:r>
          </a:p>
          <a:p>
            <a:pPr marL="513652" lvl="1" indent="-342900"/>
            <a:r>
              <a:rPr lang="en-US" sz="2400" dirty="0"/>
              <a:t>The reasons they are eliminated from analysis</a:t>
            </a:r>
          </a:p>
          <a:p>
            <a:pPr marL="513652" lvl="1" indent="-342900"/>
            <a:r>
              <a:rPr lang="en-US" sz="2400" dirty="0"/>
              <a:t>Keep a document where you have </a:t>
            </a:r>
          </a:p>
          <a:p>
            <a:pPr marL="627952" lvl="2" indent="-285750"/>
            <a:r>
              <a:rPr lang="en-US" sz="1800" dirty="0"/>
              <a:t>Respondent number</a:t>
            </a:r>
          </a:p>
          <a:p>
            <a:pPr marL="627952" lvl="2" indent="-285750"/>
            <a:r>
              <a:rPr lang="en-US" sz="1800" dirty="0"/>
              <a:t>Reason for elimination</a:t>
            </a:r>
          </a:p>
        </p:txBody>
      </p:sp>
    </p:spTree>
    <p:extLst>
      <p:ext uri="{BB962C8B-B14F-4D97-AF65-F5344CB8AC3E}">
        <p14:creationId xmlns:p14="http://schemas.microsoft.com/office/powerpoint/2010/main" val="2698631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lstStyle/>
          <a:p>
            <a:r>
              <a:rPr lang="en-US" b="1" dirty="0">
                <a:solidFill>
                  <a:srgbClr val="001541"/>
                </a:solidFill>
              </a:rPr>
              <a:t>Analysis and Interpretation:</a:t>
            </a:r>
            <a:br>
              <a:rPr lang="en-US" b="1" dirty="0">
                <a:solidFill>
                  <a:srgbClr val="001541"/>
                </a:solidFill>
              </a:rPr>
            </a:br>
            <a:r>
              <a:rPr lang="en-US" b="1" dirty="0">
                <a:solidFill>
                  <a:srgbClr val="001541"/>
                </a:solidFill>
              </a:rPr>
              <a:t>Univariate (Individual Variables)</a:t>
            </a:r>
          </a:p>
        </p:txBody>
      </p:sp>
    </p:spTree>
    <p:extLst>
      <p:ext uri="{BB962C8B-B14F-4D97-AF65-F5344CB8AC3E}">
        <p14:creationId xmlns:p14="http://schemas.microsoft.com/office/powerpoint/2010/main" val="67085036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3"/>
          <p:cNvSpPr>
            <a:spLocks noChangeArrowheads="1"/>
          </p:cNvSpPr>
          <p:nvPr/>
        </p:nvSpPr>
        <p:spPr bwMode="auto">
          <a:xfrm>
            <a:off x="1140308" y="949649"/>
            <a:ext cx="9039389" cy="5707224"/>
          </a:xfrm>
          <a:prstGeom prst="rect">
            <a:avLst/>
          </a:prstGeom>
          <a:noFill/>
          <a:ln w="9525">
            <a:noFill/>
            <a:miter lim="800000"/>
            <a:headEnd/>
            <a:tailEnd/>
          </a:ln>
        </p:spPr>
        <p:txBody>
          <a:bodyPr lIns="91428" tIns="45714" rIns="91428" bIns="45714"/>
          <a:lstStyle/>
          <a:p>
            <a:pPr marL="457200" indent="-457200" defTabSz="914172">
              <a:spcBef>
                <a:spcPct val="20000"/>
              </a:spcBef>
              <a:buFont typeface="Arial" panose="020B0604020202020204" pitchFamily="34" charset="0"/>
              <a:buChar char="•"/>
              <a:defRPr/>
            </a:pPr>
            <a:r>
              <a:rPr lang="en-US" sz="2300" b="1" i="1" dirty="0">
                <a:solidFill>
                  <a:schemeClr val="tx2"/>
                </a:solidFill>
              </a:rPr>
              <a:t>Quiz is worth 10% of your grade</a:t>
            </a:r>
          </a:p>
          <a:p>
            <a:pPr marL="914400" lvl="1" indent="-457200" defTabSz="914172">
              <a:spcBef>
                <a:spcPct val="20000"/>
              </a:spcBef>
              <a:buFont typeface="Arial" panose="020B0604020202020204" pitchFamily="34" charset="0"/>
              <a:buChar char="•"/>
              <a:defRPr/>
            </a:pPr>
            <a:r>
              <a:rPr lang="en-US" sz="2300" b="1" i="1" dirty="0">
                <a:solidFill>
                  <a:schemeClr val="tx2"/>
                </a:solidFill>
              </a:rPr>
              <a:t>Delivered in class</a:t>
            </a:r>
          </a:p>
          <a:p>
            <a:pPr marL="914400" lvl="1" indent="-457200" defTabSz="914172">
              <a:spcBef>
                <a:spcPct val="20000"/>
              </a:spcBef>
              <a:buFont typeface="Arial" panose="020B0604020202020204" pitchFamily="34" charset="0"/>
              <a:buChar char="•"/>
              <a:defRPr/>
            </a:pPr>
            <a:r>
              <a:rPr lang="en-US" sz="2300" b="1" i="1" dirty="0">
                <a:solidFill>
                  <a:schemeClr val="tx2"/>
                </a:solidFill>
              </a:rPr>
              <a:t>Use Canvas to take the quiz</a:t>
            </a:r>
          </a:p>
          <a:p>
            <a:pPr marL="914400" lvl="1" indent="-457200" defTabSz="914172">
              <a:spcBef>
                <a:spcPct val="20000"/>
              </a:spcBef>
              <a:buFont typeface="Arial" panose="020B0604020202020204" pitchFamily="34" charset="0"/>
              <a:buChar char="•"/>
              <a:defRPr/>
            </a:pPr>
            <a:r>
              <a:rPr lang="en-US" sz="2300" b="1" i="1" dirty="0">
                <a:solidFill>
                  <a:schemeClr val="tx2"/>
                </a:solidFill>
              </a:rPr>
              <a:t>Lockdown Browser will NOT be used</a:t>
            </a:r>
          </a:p>
          <a:p>
            <a:pPr marL="914400" lvl="1" indent="-457200" defTabSz="914172">
              <a:spcBef>
                <a:spcPct val="20000"/>
              </a:spcBef>
              <a:buFont typeface="Arial" panose="020B0604020202020204" pitchFamily="34" charset="0"/>
              <a:buChar char="•"/>
              <a:defRPr/>
            </a:pPr>
            <a:r>
              <a:rPr lang="en-US" sz="2300" b="1" i="1" dirty="0">
                <a:solidFill>
                  <a:schemeClr val="tx2"/>
                </a:solidFill>
              </a:rPr>
              <a:t>Similar format as previous quizzes</a:t>
            </a:r>
          </a:p>
          <a:p>
            <a:pPr marL="457200" indent="-457200" defTabSz="914172">
              <a:spcBef>
                <a:spcPct val="20000"/>
              </a:spcBef>
              <a:buFont typeface="Arial" panose="020B0604020202020204" pitchFamily="34" charset="0"/>
              <a:buChar char="•"/>
              <a:defRPr/>
            </a:pPr>
            <a:r>
              <a:rPr lang="en-US" sz="2300" b="1" i="1" dirty="0">
                <a:solidFill>
                  <a:schemeClr val="tx2"/>
                </a:solidFill>
              </a:rPr>
              <a:t>Material:</a:t>
            </a:r>
          </a:p>
          <a:p>
            <a:pPr marL="914400" lvl="1" indent="-457200" defTabSz="914172">
              <a:spcBef>
                <a:spcPct val="20000"/>
              </a:spcBef>
              <a:buFont typeface="Arial" panose="020B0604020202020204" pitchFamily="34" charset="0"/>
              <a:buChar char="•"/>
              <a:defRPr/>
            </a:pPr>
            <a:r>
              <a:rPr lang="en-US" sz="2300" b="1" i="1" dirty="0">
                <a:solidFill>
                  <a:schemeClr val="tx2"/>
                </a:solidFill>
              </a:rPr>
              <a:t>Decks 9-13</a:t>
            </a:r>
          </a:p>
          <a:p>
            <a:pPr marL="1371600" lvl="2" indent="-457200" defTabSz="914172">
              <a:spcBef>
                <a:spcPct val="20000"/>
              </a:spcBef>
              <a:buFont typeface="Arial" panose="020B0604020202020204" pitchFamily="34" charset="0"/>
              <a:buChar char="•"/>
              <a:defRPr/>
            </a:pPr>
            <a:r>
              <a:rPr lang="en-US" sz="2300" b="1" i="1" dirty="0">
                <a:solidFill>
                  <a:schemeClr val="tx2"/>
                </a:solidFill>
              </a:rPr>
              <a:t>Focus is on collecting Primary Data and Survey Research</a:t>
            </a:r>
          </a:p>
          <a:p>
            <a:pPr marL="1371600" lvl="2" indent="-457200" defTabSz="914172">
              <a:spcBef>
                <a:spcPct val="20000"/>
              </a:spcBef>
              <a:buFont typeface="Arial" panose="020B0604020202020204" pitchFamily="34" charset="0"/>
              <a:buChar char="•"/>
              <a:defRPr/>
            </a:pPr>
            <a:r>
              <a:rPr lang="en-US" sz="2300" b="1" i="1" dirty="0">
                <a:solidFill>
                  <a:schemeClr val="tx2"/>
                </a:solidFill>
              </a:rPr>
              <a:t>Know Sampling Types</a:t>
            </a:r>
          </a:p>
          <a:p>
            <a:pPr marL="1371600" lvl="2" indent="-457200" defTabSz="914172">
              <a:spcBef>
                <a:spcPct val="20000"/>
              </a:spcBef>
              <a:buFont typeface="Arial" panose="020B0604020202020204" pitchFamily="34" charset="0"/>
              <a:buChar char="•"/>
              <a:defRPr/>
            </a:pPr>
            <a:r>
              <a:rPr lang="en-US" sz="2300" b="1" i="1" dirty="0">
                <a:solidFill>
                  <a:schemeClr val="tx2"/>
                </a:solidFill>
              </a:rPr>
              <a:t>Be able to calculate sample needed (i.e., Z-table, Qualtrics Sample Calculator, etc.)</a:t>
            </a:r>
          </a:p>
          <a:p>
            <a:pPr marL="1371600" lvl="2" indent="-457200" defTabSz="914172">
              <a:spcBef>
                <a:spcPct val="20000"/>
              </a:spcBef>
              <a:buFont typeface="Arial" panose="020B0604020202020204" pitchFamily="34" charset="0"/>
              <a:buChar char="•"/>
              <a:defRPr/>
            </a:pPr>
            <a:r>
              <a:rPr lang="en-US" sz="2300" b="1" i="1" dirty="0">
                <a:solidFill>
                  <a:schemeClr val="tx2"/>
                </a:solidFill>
              </a:rPr>
              <a:t>Know Error Types</a:t>
            </a:r>
          </a:p>
        </p:txBody>
      </p:sp>
      <p:sp>
        <p:nvSpPr>
          <p:cNvPr id="195588" name="Rectangle 4"/>
          <p:cNvSpPr>
            <a:spLocks noChangeArrowheads="1"/>
          </p:cNvSpPr>
          <p:nvPr/>
        </p:nvSpPr>
        <p:spPr bwMode="auto">
          <a:xfrm>
            <a:off x="2133600" y="5562600"/>
            <a:ext cx="7774420" cy="1063170"/>
          </a:xfrm>
          <a:prstGeom prst="rect">
            <a:avLst/>
          </a:prstGeom>
          <a:noFill/>
          <a:ln w="9525">
            <a:noFill/>
            <a:miter lim="800000"/>
            <a:headEnd/>
            <a:tailEnd/>
          </a:ln>
        </p:spPr>
        <p:txBody>
          <a:bodyPr lIns="91428" tIns="45714" rIns="91428" bIns="45714" anchor="b"/>
          <a:lstStyle/>
          <a:p>
            <a:pPr algn="ctr" defTabSz="914172">
              <a:defRPr/>
            </a:pPr>
            <a:endParaRPr lang="en-US" sz="4000" b="1" i="1" dirty="0">
              <a:latin typeface="+mj-lt"/>
            </a:endParaRPr>
          </a:p>
        </p:txBody>
      </p:sp>
      <p:sp>
        <p:nvSpPr>
          <p:cNvPr id="5" name="Title 4"/>
          <p:cNvSpPr>
            <a:spLocks noGrp="1"/>
          </p:cNvSpPr>
          <p:nvPr>
            <p:ph type="title"/>
          </p:nvPr>
        </p:nvSpPr>
        <p:spPr>
          <a:xfrm>
            <a:off x="129074" y="29223"/>
            <a:ext cx="10515600" cy="1325563"/>
          </a:xfrm>
        </p:spPr>
        <p:txBody>
          <a:bodyPr>
            <a:normAutofit/>
          </a:bodyPr>
          <a:lstStyle/>
          <a:p>
            <a:r>
              <a:rPr lang="en-US" b="1" dirty="0"/>
              <a:t>Quiz: </a:t>
            </a:r>
            <a:r>
              <a:rPr lang="en-US" b="1" i="1" dirty="0"/>
              <a:t>Considerations</a:t>
            </a:r>
            <a:endParaRPr lang="en-US" dirty="0"/>
          </a:p>
        </p:txBody>
      </p:sp>
    </p:spTree>
    <p:extLst>
      <p:ext uri="{BB962C8B-B14F-4D97-AF65-F5344CB8AC3E}">
        <p14:creationId xmlns:p14="http://schemas.microsoft.com/office/powerpoint/2010/main" val="4066506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F7560D6-3425-46FD-A668-6C4311180B83}"/>
              </a:ext>
            </a:extLst>
          </p:cNvPr>
          <p:cNvSpPr/>
          <p:nvPr>
            <p:custDataLst>
              <p:tags r:id="rId2"/>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300" b="1">
                <a:solidFill>
                  <a:srgbClr val="000000"/>
                </a:solidFill>
              </a:rPr>
              <a:t>Type of research in which the major emphasis is on determining cause-and-effect relationships.</a:t>
            </a:r>
          </a:p>
        </p:txBody>
      </p:sp>
      <p:sp>
        <p:nvSpPr>
          <p:cNvPr id="5" name="Rectangle 4">
            <a:extLst>
              <a:ext uri="{FF2B5EF4-FFF2-40B4-BE49-F238E27FC236}">
                <a16:creationId xmlns:a16="http://schemas.microsoft.com/office/drawing/2014/main" id="{CE175C0B-8D6F-46D4-AE22-05F426BFACF4}"/>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5">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7" name="Graphic 6">
            <a:extLst>
              <a:ext uri="{FF2B5EF4-FFF2-40B4-BE49-F238E27FC236}">
                <a16:creationId xmlns:a16="http://schemas.microsoft.com/office/drawing/2014/main" id="{C736AC0A-95B9-499D-991C-7A174606A6EC}"/>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296462" y="6190785"/>
            <a:ext cx="296462" cy="296462"/>
          </a:xfrm>
          <a:prstGeom prst="rect">
            <a:avLst/>
          </a:prstGeom>
        </p:spPr>
      </p:pic>
      <p:sp>
        <p:nvSpPr>
          <p:cNvPr id="8" name="Trapezoid 7">
            <a:extLst>
              <a:ext uri="{FF2B5EF4-FFF2-40B4-BE49-F238E27FC236}">
                <a16:creationId xmlns:a16="http://schemas.microsoft.com/office/drawing/2014/main" id="{79971179-383B-4FB9-B763-D315925DE84A}"/>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10" name="Graphic 9">
            <a:extLst>
              <a:ext uri="{FF2B5EF4-FFF2-40B4-BE49-F238E27FC236}">
                <a16:creationId xmlns:a16="http://schemas.microsoft.com/office/drawing/2014/main" id="{EEF0F1C4-A6BE-4F24-AC59-5026FCAECF62}"/>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10746748" y="6153727"/>
            <a:ext cx="1111733" cy="370578"/>
          </a:xfrm>
          <a:prstGeom prst="rect">
            <a:avLst/>
          </a:prstGeom>
        </p:spPr>
      </p:pic>
      <p:pic>
        <p:nvPicPr>
          <p:cNvPr id="12" name="Graphic 11">
            <a:extLst>
              <a:ext uri="{FF2B5EF4-FFF2-40B4-BE49-F238E27FC236}">
                <a16:creationId xmlns:a16="http://schemas.microsoft.com/office/drawing/2014/main" id="{5599C58F-3744-4CCD-B1B1-A4FBFCFC6300}"/>
              </a:ext>
            </a:extLst>
          </p:cNvPr>
          <p:cNvPicPr>
            <a:picLocks/>
          </p:cNvPicPr>
          <p:nvPr>
            <p:custDataLst>
              <p:tags r:id="rId3"/>
            </p:custDataLst>
          </p:nvPr>
        </p:nvPicPr>
        <p:blipFill>
          <a:blip r:embed="rId11">
            <a:extLst>
              <a:ext uri="{96DAC541-7B7A-43D3-8B79-37D633B846F1}">
                <asvg:svgBlip xmlns:asvg="http://schemas.microsoft.com/office/drawing/2016/SVG/main" r:embed="rId12"/>
              </a:ext>
            </a:extLst>
          </a:blip>
          <a:stretch>
            <a:fillRect/>
          </a:stretch>
        </p:blipFill>
        <p:spPr>
          <a:xfrm>
            <a:off x="444693" y="1742703"/>
            <a:ext cx="2371696" cy="2371696"/>
          </a:xfrm>
          <a:prstGeom prst="rect">
            <a:avLst/>
          </a:prstGeom>
        </p:spPr>
      </p:pic>
    </p:spTree>
    <p:custDataLst>
      <p:tags r:id="rId1"/>
    </p:custDataLst>
    <p:extLst>
      <p:ext uri="{BB962C8B-B14F-4D97-AF65-F5344CB8AC3E}">
        <p14:creationId xmlns:p14="http://schemas.microsoft.com/office/powerpoint/2010/main" val="225842501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4"/>
                                        </p:tgtEl>
                                      </p:cBhvr>
                                    </p:animEffect>
                                    <p:animScale>
                                      <p:cBhvr>
                                        <p:cTn id="7" dur="25"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D04A5A4-363D-4046-A90C-52E1B99FB393}"/>
              </a:ext>
            </a:extLst>
          </p:cNvPr>
          <p:cNvPicPr>
            <a:picLocks/>
          </p:cNvPicPr>
          <p:nvPr>
            <p:custDataLst>
              <p:tags r:id="rId2"/>
            </p:custDataLst>
          </p:nvPr>
        </p:nvPicPr>
        <p:blipFill>
          <a:blip r:embed="rId5">
            <a:extLst>
              <a:ext uri="{96DAC541-7B7A-43D3-8B79-37D633B846F1}">
                <asvg:svgBlip xmlns:asvg="http://schemas.microsoft.com/office/drawing/2016/SVG/main" r:embed="rId6"/>
              </a:ext>
            </a:extLst>
          </a:blip>
          <a:stretch>
            <a:fillRect/>
          </a:stretch>
        </p:blipFill>
        <p:spPr>
          <a:xfrm>
            <a:off x="444693" y="1742703"/>
            <a:ext cx="2371696" cy="2371696"/>
          </a:xfrm>
          <a:prstGeom prst="rect">
            <a:avLst/>
          </a:prstGeom>
        </p:spPr>
      </p:pic>
      <p:sp>
        <p:nvSpPr>
          <p:cNvPr id="4" name="Rectangle 3">
            <a:extLst>
              <a:ext uri="{FF2B5EF4-FFF2-40B4-BE49-F238E27FC236}">
                <a16:creationId xmlns:a16="http://schemas.microsoft.com/office/drawing/2014/main" id="{96E9CC17-6783-40E8-B198-F28459BBA28C}"/>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rgbClr val="000000"/>
                </a:solidFill>
              </a:rPr>
              <a:t>Scientific investigation in which an investigator manipulates one or more independent variables and observes the degree to which the dependent variables change.
</a:t>
            </a:r>
          </a:p>
        </p:txBody>
      </p:sp>
      <p:sp>
        <p:nvSpPr>
          <p:cNvPr id="5" name="Rectangle 4">
            <a:extLst>
              <a:ext uri="{FF2B5EF4-FFF2-40B4-BE49-F238E27FC236}">
                <a16:creationId xmlns:a16="http://schemas.microsoft.com/office/drawing/2014/main" id="{5B3A68B8-7863-4DB4-9B42-64D80E4DB087}"/>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7" name="Graphic 6">
            <a:extLst>
              <a:ext uri="{FF2B5EF4-FFF2-40B4-BE49-F238E27FC236}">
                <a16:creationId xmlns:a16="http://schemas.microsoft.com/office/drawing/2014/main" id="{0A42715B-7BD8-402F-AA0E-712787DC8829}"/>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8" name="Trapezoid 7">
            <a:extLst>
              <a:ext uri="{FF2B5EF4-FFF2-40B4-BE49-F238E27FC236}">
                <a16:creationId xmlns:a16="http://schemas.microsoft.com/office/drawing/2014/main" id="{66DEEFC6-1B28-400D-9787-22D0C95BF6C0}"/>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10" name="Graphic 9">
            <a:extLst>
              <a:ext uri="{FF2B5EF4-FFF2-40B4-BE49-F238E27FC236}">
                <a16:creationId xmlns:a16="http://schemas.microsoft.com/office/drawing/2014/main" id="{94D78C87-4C87-4901-BAFE-ABF975C0D595}"/>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4686330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4"/>
                                        </p:tgtEl>
                                      </p:cBhvr>
                                    </p:animEffect>
                                    <p:animScale>
                                      <p:cBhvr>
                                        <p:cTn id="7" dur="25"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3"/>
          <p:cNvSpPr>
            <a:spLocks noChangeArrowheads="1"/>
          </p:cNvSpPr>
          <p:nvPr/>
        </p:nvSpPr>
        <p:spPr bwMode="auto">
          <a:xfrm>
            <a:off x="1140308" y="949649"/>
            <a:ext cx="9039389" cy="5707224"/>
          </a:xfrm>
          <a:prstGeom prst="rect">
            <a:avLst/>
          </a:prstGeom>
          <a:noFill/>
          <a:ln w="9525">
            <a:noFill/>
            <a:miter lim="800000"/>
            <a:headEnd/>
            <a:tailEnd/>
          </a:ln>
        </p:spPr>
        <p:txBody>
          <a:bodyPr lIns="91428" tIns="45714" rIns="91428" bIns="45714"/>
          <a:lstStyle/>
          <a:p>
            <a:pPr marL="457200" indent="-457200" defTabSz="914172">
              <a:spcBef>
                <a:spcPct val="20000"/>
              </a:spcBef>
              <a:buFont typeface="Arial" panose="020B0604020202020204" pitchFamily="34" charset="0"/>
              <a:buChar char="•"/>
              <a:defRPr/>
            </a:pPr>
            <a:r>
              <a:rPr lang="en-US" sz="2300" b="1" i="1" dirty="0">
                <a:solidFill>
                  <a:schemeClr val="tx2"/>
                </a:solidFill>
              </a:rPr>
              <a:t>Project is worth 20% of your grade</a:t>
            </a:r>
          </a:p>
          <a:p>
            <a:pPr marL="914400" lvl="1" indent="-457200" defTabSz="914172">
              <a:spcBef>
                <a:spcPct val="20000"/>
              </a:spcBef>
              <a:buFont typeface="Arial" panose="020B0604020202020204" pitchFamily="34" charset="0"/>
              <a:buChar char="•"/>
              <a:defRPr/>
            </a:pPr>
            <a:r>
              <a:rPr lang="en-US" sz="2300" b="1" i="1" dirty="0">
                <a:solidFill>
                  <a:schemeClr val="tx2"/>
                </a:solidFill>
              </a:rPr>
              <a:t>This is a GROUP project</a:t>
            </a:r>
          </a:p>
          <a:p>
            <a:pPr marL="914400" lvl="1" indent="-457200" defTabSz="914172">
              <a:spcBef>
                <a:spcPct val="20000"/>
              </a:spcBef>
              <a:buFont typeface="Arial" panose="020B0604020202020204" pitchFamily="34" charset="0"/>
              <a:buChar char="•"/>
              <a:defRPr/>
            </a:pPr>
            <a:r>
              <a:rPr lang="en-US" sz="2300" b="1" i="1" dirty="0">
                <a:solidFill>
                  <a:schemeClr val="tx2"/>
                </a:solidFill>
              </a:rPr>
              <a:t>Deliver Feedback via </a:t>
            </a:r>
            <a:r>
              <a:rPr lang="en-US" sz="2300" b="1" i="1" dirty="0" err="1">
                <a:solidFill>
                  <a:schemeClr val="tx2"/>
                </a:solidFill>
              </a:rPr>
              <a:t>Qualtrics</a:t>
            </a:r>
            <a:r>
              <a:rPr lang="en-US" sz="2300" b="1" i="1" dirty="0">
                <a:solidFill>
                  <a:schemeClr val="tx2"/>
                </a:solidFill>
              </a:rPr>
              <a:t> survey</a:t>
            </a:r>
          </a:p>
          <a:p>
            <a:pPr marL="457200" indent="-457200" defTabSz="914172">
              <a:spcBef>
                <a:spcPct val="20000"/>
              </a:spcBef>
              <a:buFont typeface="Arial" panose="020B0604020202020204" pitchFamily="34" charset="0"/>
              <a:buChar char="•"/>
              <a:defRPr/>
            </a:pPr>
            <a:r>
              <a:rPr lang="en-US" sz="2300" b="1" i="1" dirty="0">
                <a:solidFill>
                  <a:schemeClr val="tx2"/>
                </a:solidFill>
              </a:rPr>
              <a:t>Oral Presentation (10%)</a:t>
            </a:r>
          </a:p>
          <a:p>
            <a:pPr marL="914400" lvl="1" indent="-457200" defTabSz="914172">
              <a:spcBef>
                <a:spcPct val="20000"/>
              </a:spcBef>
              <a:buFont typeface="Arial" panose="020B0604020202020204" pitchFamily="34" charset="0"/>
              <a:buChar char="•"/>
              <a:defRPr/>
            </a:pPr>
            <a:r>
              <a:rPr lang="en-US" sz="2300" b="1" i="1" dirty="0">
                <a:solidFill>
                  <a:schemeClr val="tx2"/>
                </a:solidFill>
              </a:rPr>
              <a:t>Full participation</a:t>
            </a:r>
          </a:p>
          <a:p>
            <a:pPr marL="914400" lvl="1" indent="-457200" defTabSz="914172">
              <a:spcBef>
                <a:spcPct val="20000"/>
              </a:spcBef>
              <a:buFont typeface="Arial" panose="020B0604020202020204" pitchFamily="34" charset="0"/>
              <a:buChar char="•"/>
              <a:defRPr/>
            </a:pPr>
            <a:r>
              <a:rPr lang="en-US" sz="2300" b="1" i="1" dirty="0">
                <a:solidFill>
                  <a:schemeClr val="tx2"/>
                </a:solidFill>
              </a:rPr>
              <a:t>(25 for MKTG 302-01) minutes including rough copy of solution!</a:t>
            </a:r>
          </a:p>
          <a:p>
            <a:pPr marL="457200" indent="-457200" defTabSz="914172">
              <a:spcBef>
                <a:spcPct val="20000"/>
              </a:spcBef>
              <a:buFont typeface="Arial" panose="020B0604020202020204" pitchFamily="34" charset="0"/>
              <a:buChar char="•"/>
              <a:defRPr/>
            </a:pPr>
            <a:r>
              <a:rPr lang="en-US" sz="2300" b="1" i="1" dirty="0">
                <a:solidFill>
                  <a:schemeClr val="tx2"/>
                </a:solidFill>
              </a:rPr>
              <a:t>Written Report (10%)</a:t>
            </a:r>
          </a:p>
          <a:p>
            <a:pPr marL="914400" lvl="1" indent="-457200" defTabSz="914172">
              <a:spcBef>
                <a:spcPct val="20000"/>
              </a:spcBef>
              <a:buFont typeface="Arial" panose="020B0604020202020204" pitchFamily="34" charset="0"/>
              <a:buChar char="•"/>
              <a:defRPr/>
            </a:pPr>
            <a:r>
              <a:rPr lang="en-US" sz="2300" b="1" i="1" dirty="0">
                <a:solidFill>
                  <a:schemeClr val="tx2"/>
                </a:solidFill>
              </a:rPr>
              <a:t>Deliver</a:t>
            </a:r>
          </a:p>
          <a:p>
            <a:pPr marL="1371600" lvl="2" indent="-457200" defTabSz="914172">
              <a:spcBef>
                <a:spcPct val="20000"/>
              </a:spcBef>
              <a:buFont typeface="Arial" panose="020B0604020202020204" pitchFamily="34" charset="0"/>
              <a:buChar char="•"/>
              <a:defRPr/>
            </a:pPr>
            <a:r>
              <a:rPr lang="en-US" sz="2300" b="1" i="1" dirty="0">
                <a:solidFill>
                  <a:schemeClr val="tx2"/>
                </a:solidFill>
              </a:rPr>
              <a:t>Objective/Aim</a:t>
            </a:r>
          </a:p>
          <a:p>
            <a:pPr marL="1371600" lvl="2" indent="-457200" defTabSz="914172">
              <a:spcBef>
                <a:spcPct val="20000"/>
              </a:spcBef>
              <a:buFont typeface="Arial" panose="020B0604020202020204" pitchFamily="34" charset="0"/>
              <a:buChar char="•"/>
              <a:defRPr/>
            </a:pPr>
            <a:r>
              <a:rPr lang="en-US" sz="2300" b="1" i="1" dirty="0">
                <a:solidFill>
                  <a:schemeClr val="tx2"/>
                </a:solidFill>
              </a:rPr>
              <a:t>Methodology (would you do anything differently?)</a:t>
            </a:r>
          </a:p>
          <a:p>
            <a:pPr marL="1371600" lvl="2" indent="-457200" defTabSz="914172">
              <a:spcBef>
                <a:spcPct val="20000"/>
              </a:spcBef>
              <a:buFont typeface="Arial" panose="020B0604020202020204" pitchFamily="34" charset="0"/>
              <a:buChar char="•"/>
              <a:defRPr/>
            </a:pPr>
            <a:r>
              <a:rPr lang="en-US" sz="2300" b="1" i="1" dirty="0">
                <a:solidFill>
                  <a:schemeClr val="tx2"/>
                </a:solidFill>
              </a:rPr>
              <a:t>Executive Summary</a:t>
            </a:r>
          </a:p>
          <a:p>
            <a:pPr marL="1371600" lvl="2" indent="-457200" defTabSz="914172">
              <a:spcBef>
                <a:spcPct val="20000"/>
              </a:spcBef>
              <a:buFont typeface="Arial" panose="020B0604020202020204" pitchFamily="34" charset="0"/>
              <a:buChar char="•"/>
              <a:defRPr/>
            </a:pPr>
            <a:r>
              <a:rPr lang="en-US" sz="2300" b="1" i="1" dirty="0">
                <a:solidFill>
                  <a:schemeClr val="tx2"/>
                </a:solidFill>
              </a:rPr>
              <a:t>Key Findings (include Qualitative and Quantitative)</a:t>
            </a:r>
          </a:p>
          <a:p>
            <a:pPr marL="1371600" lvl="2" indent="-457200" defTabSz="914172">
              <a:spcBef>
                <a:spcPct val="20000"/>
              </a:spcBef>
              <a:buFont typeface="Arial" panose="020B0604020202020204" pitchFamily="34" charset="0"/>
              <a:buChar char="•"/>
              <a:defRPr/>
            </a:pPr>
            <a:r>
              <a:rPr lang="en-US" sz="2300" b="1" i="1" dirty="0">
                <a:solidFill>
                  <a:schemeClr val="tx2"/>
                </a:solidFill>
              </a:rPr>
              <a:t>Recommendations – deliver a rough copy!</a:t>
            </a:r>
          </a:p>
        </p:txBody>
      </p:sp>
      <p:sp>
        <p:nvSpPr>
          <p:cNvPr id="195588" name="Rectangle 4"/>
          <p:cNvSpPr>
            <a:spLocks noChangeArrowheads="1"/>
          </p:cNvSpPr>
          <p:nvPr/>
        </p:nvSpPr>
        <p:spPr bwMode="auto">
          <a:xfrm>
            <a:off x="2133600" y="5562600"/>
            <a:ext cx="7774420" cy="1063170"/>
          </a:xfrm>
          <a:prstGeom prst="rect">
            <a:avLst/>
          </a:prstGeom>
          <a:noFill/>
          <a:ln w="9525">
            <a:noFill/>
            <a:miter lim="800000"/>
            <a:headEnd/>
            <a:tailEnd/>
          </a:ln>
        </p:spPr>
        <p:txBody>
          <a:bodyPr lIns="91428" tIns="45714" rIns="91428" bIns="45714" anchor="b"/>
          <a:lstStyle/>
          <a:p>
            <a:pPr algn="ctr" defTabSz="914172">
              <a:defRPr/>
            </a:pPr>
            <a:endParaRPr lang="en-US" sz="4000" b="1" i="1" dirty="0">
              <a:latin typeface="+mj-lt"/>
            </a:endParaRPr>
          </a:p>
        </p:txBody>
      </p:sp>
      <p:sp>
        <p:nvSpPr>
          <p:cNvPr id="5" name="Title 4"/>
          <p:cNvSpPr>
            <a:spLocks noGrp="1"/>
          </p:cNvSpPr>
          <p:nvPr>
            <p:ph type="title"/>
          </p:nvPr>
        </p:nvSpPr>
        <p:spPr>
          <a:xfrm>
            <a:off x="129074" y="29223"/>
            <a:ext cx="10515600" cy="1325563"/>
          </a:xfrm>
        </p:spPr>
        <p:txBody>
          <a:bodyPr>
            <a:normAutofit/>
          </a:bodyPr>
          <a:lstStyle/>
          <a:p>
            <a:r>
              <a:rPr lang="en-US" b="1" dirty="0"/>
              <a:t>Final Analysis: </a:t>
            </a:r>
            <a:r>
              <a:rPr lang="en-US" b="1" i="1" dirty="0"/>
              <a:t>Considerations</a:t>
            </a:r>
            <a:endParaRPr lang="en-US" dirty="0"/>
          </a:p>
        </p:txBody>
      </p:sp>
    </p:spTree>
    <p:extLst>
      <p:ext uri="{BB962C8B-B14F-4D97-AF65-F5344CB8AC3E}">
        <p14:creationId xmlns:p14="http://schemas.microsoft.com/office/powerpoint/2010/main" val="1445679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Frequency Distribution of Whether to Recommend The Cincinnati Reds suggests ...</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428744618"/>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FCA65E19-62ED-448E-9B4E-C40D36D5B9E6}"/>
              </a:ext>
            </a:extLst>
          </p:cNvPr>
          <p:cNvSpPr txBox="1"/>
          <p:nvPr/>
        </p:nvSpPr>
        <p:spPr>
          <a:xfrm>
            <a:off x="838200" y="6176963"/>
            <a:ext cx="373679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Source:  Xavier University Proprietary Study, Spring, 2025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N = 133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CI = 90%</a:t>
            </a:r>
          </a:p>
        </p:txBody>
      </p:sp>
      <p:sp>
        <p:nvSpPr>
          <p:cNvPr id="4" name="TextBox 3">
            <a:extLst>
              <a:ext uri="{FF2B5EF4-FFF2-40B4-BE49-F238E27FC236}">
                <a16:creationId xmlns:a16="http://schemas.microsoft.com/office/drawing/2014/main" id="{56D46DDE-31F1-414F-9783-5644096F3676}"/>
              </a:ext>
            </a:extLst>
          </p:cNvPr>
          <p:cNvSpPr txBox="1"/>
          <p:nvPr/>
        </p:nvSpPr>
        <p:spPr>
          <a:xfrm>
            <a:off x="7831015" y="6377354"/>
            <a:ext cx="232467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PROPRIETARY and CONFIDENTIAL</a:t>
            </a:r>
          </a:p>
        </p:txBody>
      </p:sp>
    </p:spTree>
    <p:extLst>
      <p:ext uri="{BB962C8B-B14F-4D97-AF65-F5344CB8AC3E}">
        <p14:creationId xmlns:p14="http://schemas.microsoft.com/office/powerpoint/2010/main" val="14443637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Cincinnati Reds have a Net Promoter Score of </a:t>
            </a:r>
            <a:r>
              <a:rPr lang="en-US" sz="4000" b="1" dirty="0"/>
              <a:t>+4</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07532103"/>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6097CE0F-FA33-4145-88B2-794A536122A3}"/>
              </a:ext>
            </a:extLst>
          </p:cNvPr>
          <p:cNvSpPr txBox="1"/>
          <p:nvPr/>
        </p:nvSpPr>
        <p:spPr>
          <a:xfrm>
            <a:off x="838200" y="6176963"/>
            <a:ext cx="373679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Source:  Xavier University Proprietary Study, Spring, 2025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N = 133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CI = 90%</a:t>
            </a:r>
          </a:p>
        </p:txBody>
      </p:sp>
      <p:sp>
        <p:nvSpPr>
          <p:cNvPr id="5" name="TextBox 4">
            <a:extLst>
              <a:ext uri="{FF2B5EF4-FFF2-40B4-BE49-F238E27FC236}">
                <a16:creationId xmlns:a16="http://schemas.microsoft.com/office/drawing/2014/main" id="{2E7DFFF8-9C75-4781-AEB8-F5D7E499C288}"/>
              </a:ext>
            </a:extLst>
          </p:cNvPr>
          <p:cNvSpPr txBox="1"/>
          <p:nvPr/>
        </p:nvSpPr>
        <p:spPr>
          <a:xfrm>
            <a:off x="7831015" y="6377354"/>
            <a:ext cx="232467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PROPRIETARY and CONFIDENTIAL</a:t>
            </a:r>
          </a:p>
        </p:txBody>
      </p:sp>
    </p:spTree>
    <p:extLst>
      <p:ext uri="{BB962C8B-B14F-4D97-AF65-F5344CB8AC3E}">
        <p14:creationId xmlns:p14="http://schemas.microsoft.com/office/powerpoint/2010/main" val="115606299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3"/>
          <p:cNvSpPr>
            <a:spLocks noChangeArrowheads="1"/>
          </p:cNvSpPr>
          <p:nvPr/>
        </p:nvSpPr>
        <p:spPr bwMode="auto">
          <a:xfrm>
            <a:off x="2521239" y="1981201"/>
            <a:ext cx="7774420" cy="3636681"/>
          </a:xfrm>
          <a:prstGeom prst="rect">
            <a:avLst/>
          </a:prstGeom>
          <a:noFill/>
          <a:ln w="9525">
            <a:noFill/>
            <a:miter lim="800000"/>
            <a:headEnd/>
            <a:tailEnd/>
          </a:ln>
        </p:spPr>
        <p:txBody>
          <a:bodyPr lIns="91428" tIns="45714" rIns="91428" bIns="45714"/>
          <a:lstStyle/>
          <a:p>
            <a:pPr marL="342991" indent="-342991" defTabSz="914172">
              <a:spcBef>
                <a:spcPct val="20000"/>
              </a:spcBef>
              <a:defRPr/>
            </a:pPr>
            <a:r>
              <a:rPr lang="en-US" sz="3200" b="1" dirty="0">
                <a:solidFill>
                  <a:schemeClr val="tx2"/>
                </a:solidFill>
              </a:rPr>
              <a:t>(1)</a:t>
            </a:r>
            <a:r>
              <a:rPr lang="en-US" sz="3200" dirty="0"/>
              <a:t> Is the variable to be analyzed by itself (univariate analysis) or in relationship to other variables (multivariate analysis)?</a:t>
            </a:r>
          </a:p>
          <a:p>
            <a:pPr marL="342991" indent="-342991" defTabSz="914172">
              <a:spcBef>
                <a:spcPct val="20000"/>
              </a:spcBef>
              <a:defRPr/>
            </a:pPr>
            <a:r>
              <a:rPr lang="en-US" sz="3200" b="1" dirty="0">
                <a:solidFill>
                  <a:schemeClr val="tx2"/>
                </a:solidFill>
              </a:rPr>
              <a:t>(2)</a:t>
            </a:r>
            <a:r>
              <a:rPr lang="en-US" sz="3200" dirty="0">
                <a:solidFill>
                  <a:schemeClr val="tx2"/>
                </a:solidFill>
              </a:rPr>
              <a:t> </a:t>
            </a:r>
            <a:r>
              <a:rPr lang="en-US" sz="3200" dirty="0"/>
              <a:t>What level of measurement was used?</a:t>
            </a:r>
          </a:p>
          <a:p>
            <a:pPr marL="342991" indent="-342991" defTabSz="914172">
              <a:spcBef>
                <a:spcPct val="20000"/>
              </a:spcBef>
              <a:buBlip>
                <a:blip r:embed="rId2"/>
              </a:buBlip>
              <a:defRPr/>
            </a:pPr>
            <a:endParaRPr lang="en-US" sz="700" dirty="0"/>
          </a:p>
          <a:p>
            <a:pPr marL="342991" indent="-342991" defTabSz="914172">
              <a:spcBef>
                <a:spcPct val="20000"/>
              </a:spcBef>
              <a:buClr>
                <a:srgbClr val="FFFFFF"/>
              </a:buClr>
              <a:defRPr/>
            </a:pPr>
            <a:r>
              <a:rPr lang="en-US" sz="2900" b="1" i="1" dirty="0">
                <a:solidFill>
                  <a:srgbClr val="FF9933"/>
                </a:solidFill>
              </a:rPr>
              <a:t>	</a:t>
            </a:r>
            <a:r>
              <a:rPr lang="en-US" sz="2900" b="1" i="1" dirty="0">
                <a:solidFill>
                  <a:schemeClr val="tx2"/>
                </a:solidFill>
              </a:rPr>
              <a:t>If you can answer these two questions, data analysis is easy...</a:t>
            </a:r>
          </a:p>
        </p:txBody>
      </p:sp>
      <p:sp>
        <p:nvSpPr>
          <p:cNvPr id="195588" name="Rectangle 4"/>
          <p:cNvSpPr>
            <a:spLocks noChangeArrowheads="1"/>
          </p:cNvSpPr>
          <p:nvPr/>
        </p:nvSpPr>
        <p:spPr bwMode="auto">
          <a:xfrm>
            <a:off x="2133600" y="5562600"/>
            <a:ext cx="7774420" cy="1063170"/>
          </a:xfrm>
          <a:prstGeom prst="rect">
            <a:avLst/>
          </a:prstGeom>
          <a:noFill/>
          <a:ln w="9525">
            <a:noFill/>
            <a:miter lim="800000"/>
            <a:headEnd/>
            <a:tailEnd/>
          </a:ln>
        </p:spPr>
        <p:txBody>
          <a:bodyPr lIns="91428" tIns="45714" rIns="91428" bIns="45714" anchor="b"/>
          <a:lstStyle/>
          <a:p>
            <a:pPr algn="ctr" defTabSz="914172">
              <a:defRPr/>
            </a:pPr>
            <a:endParaRPr lang="en-US" sz="4000" b="1" i="1" dirty="0">
              <a:latin typeface="+mj-lt"/>
            </a:endParaRPr>
          </a:p>
        </p:txBody>
      </p:sp>
      <p:sp>
        <p:nvSpPr>
          <p:cNvPr id="5" name="Title 4"/>
          <p:cNvSpPr>
            <a:spLocks noGrp="1"/>
          </p:cNvSpPr>
          <p:nvPr>
            <p:ph type="title"/>
          </p:nvPr>
        </p:nvSpPr>
        <p:spPr/>
        <p:txBody>
          <a:bodyPr>
            <a:normAutofit/>
          </a:bodyPr>
          <a:lstStyle/>
          <a:p>
            <a:r>
              <a:rPr lang="en-US" b="1" dirty="0"/>
              <a:t>Data Analysis: </a:t>
            </a:r>
            <a:r>
              <a:rPr lang="en-US" b="1" i="1" dirty="0"/>
              <a:t>Two Key Considerations</a:t>
            </a:r>
            <a:endParaRPr lang="en-US" dirty="0"/>
          </a:p>
        </p:txBody>
      </p:sp>
    </p:spTree>
    <p:extLst>
      <p:ext uri="{BB962C8B-B14F-4D97-AF65-F5344CB8AC3E}">
        <p14:creationId xmlns:p14="http://schemas.microsoft.com/office/powerpoint/2010/main" val="2288879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801470" y="126402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CATEGORICAL MEASURES</a:t>
            </a:r>
          </a:p>
          <a:p>
            <a:pPr marL="457200" lvl="1" indent="0">
              <a:buNone/>
            </a:pPr>
            <a:r>
              <a:rPr lang="en-US" dirty="0"/>
              <a:t>A commonly used expression for </a:t>
            </a:r>
            <a:r>
              <a:rPr lang="en-US" b="1" u="sng" dirty="0"/>
              <a:t>nominal</a:t>
            </a:r>
            <a:r>
              <a:rPr lang="en-US" dirty="0"/>
              <a:t> and </a:t>
            </a:r>
            <a:r>
              <a:rPr lang="en-US" b="1" u="sng" dirty="0"/>
              <a:t>ordinal</a:t>
            </a:r>
            <a:r>
              <a:rPr lang="en-US" dirty="0"/>
              <a:t> measures.</a:t>
            </a:r>
          </a:p>
        </p:txBody>
      </p:sp>
      <p:sp>
        <p:nvSpPr>
          <p:cNvPr id="4" name="Content Placeholder 2"/>
          <p:cNvSpPr txBox="1">
            <a:spLocks/>
          </p:cNvSpPr>
          <p:nvPr/>
        </p:nvSpPr>
        <p:spPr>
          <a:xfrm>
            <a:off x="2801465" y="3203715"/>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CONTINUOUS MEASURES</a:t>
            </a:r>
          </a:p>
          <a:p>
            <a:pPr marL="457200" lvl="1" indent="0">
              <a:buNone/>
            </a:pPr>
            <a:r>
              <a:rPr lang="en-US" dirty="0"/>
              <a:t>A commonly used expression for </a:t>
            </a:r>
            <a:r>
              <a:rPr lang="en-US" b="1" u="sng" dirty="0"/>
              <a:t>interval</a:t>
            </a:r>
            <a:r>
              <a:rPr lang="en-US" dirty="0"/>
              <a:t> and </a:t>
            </a:r>
            <a:r>
              <a:rPr lang="en-US" b="1" u="sng" dirty="0"/>
              <a:t>ratio</a:t>
            </a:r>
            <a:r>
              <a:rPr lang="en-US" dirty="0"/>
              <a:t> measures.</a:t>
            </a:r>
          </a:p>
        </p:txBody>
      </p:sp>
    </p:spTree>
    <p:extLst>
      <p:ext uri="{BB962C8B-B14F-4D97-AF65-F5344CB8AC3E}">
        <p14:creationId xmlns:p14="http://schemas.microsoft.com/office/powerpoint/2010/main" val="391036443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3"/>
          <p:cNvSpPr>
            <a:spLocks noChangeArrowheads="1"/>
          </p:cNvSpPr>
          <p:nvPr/>
        </p:nvSpPr>
        <p:spPr bwMode="auto">
          <a:xfrm>
            <a:off x="1017037" y="1981201"/>
            <a:ext cx="9278622" cy="4400938"/>
          </a:xfrm>
          <a:prstGeom prst="rect">
            <a:avLst/>
          </a:prstGeom>
          <a:noFill/>
          <a:ln w="9525">
            <a:noFill/>
            <a:miter lim="800000"/>
            <a:headEnd/>
            <a:tailEnd/>
          </a:ln>
        </p:spPr>
        <p:txBody>
          <a:bodyPr lIns="91428" tIns="45714" rIns="91428" bIns="45714"/>
          <a:lstStyle/>
          <a:p>
            <a:pPr marL="457200" indent="-457200" defTabSz="914172">
              <a:spcBef>
                <a:spcPct val="20000"/>
              </a:spcBef>
              <a:buFont typeface="Arial" panose="020B0604020202020204" pitchFamily="34" charset="0"/>
              <a:buChar char="•"/>
              <a:defRPr/>
            </a:pPr>
            <a:r>
              <a:rPr lang="en-US" sz="3200" b="1" i="1" u="sng" dirty="0">
                <a:solidFill>
                  <a:schemeClr val="tx2"/>
                </a:solidFill>
              </a:rPr>
              <a:t>Categorical</a:t>
            </a:r>
            <a:r>
              <a:rPr lang="en-US" sz="3200" b="1" i="1" dirty="0">
                <a:solidFill>
                  <a:schemeClr val="tx2"/>
                </a:solidFill>
              </a:rPr>
              <a:t>: Collected with respect to “category” variables such as demographics, etc. where we assign values to them (i.e., Male = 1, Female = 2, etc.)</a:t>
            </a:r>
          </a:p>
          <a:p>
            <a:pPr marL="457200" indent="-457200" defTabSz="914172">
              <a:spcBef>
                <a:spcPct val="20000"/>
              </a:spcBef>
              <a:buFont typeface="Arial" panose="020B0604020202020204" pitchFamily="34" charset="0"/>
              <a:buChar char="•"/>
              <a:defRPr/>
            </a:pPr>
            <a:r>
              <a:rPr lang="en-US" sz="3200" b="1" i="1" u="sng" dirty="0">
                <a:solidFill>
                  <a:schemeClr val="tx2"/>
                </a:solidFill>
              </a:rPr>
              <a:t>Numerical</a:t>
            </a:r>
            <a:r>
              <a:rPr lang="en-US" sz="3200" b="1" i="1" dirty="0">
                <a:solidFill>
                  <a:schemeClr val="tx2"/>
                </a:solidFill>
              </a:rPr>
              <a:t>:  Collected as part of naturally occurring numerical values such as height and weight or age.  Also known as Scale Data.</a:t>
            </a:r>
          </a:p>
          <a:p>
            <a:pPr marL="457200" indent="-457200" defTabSz="914172">
              <a:spcBef>
                <a:spcPct val="20000"/>
              </a:spcBef>
              <a:buFont typeface="Arial" panose="020B0604020202020204" pitchFamily="34" charset="0"/>
              <a:buChar char="•"/>
              <a:defRPr/>
            </a:pPr>
            <a:endParaRPr lang="en-US" sz="2900" b="1" i="1" dirty="0">
              <a:solidFill>
                <a:schemeClr val="tx2"/>
              </a:solidFill>
            </a:endParaRPr>
          </a:p>
        </p:txBody>
      </p:sp>
      <p:sp>
        <p:nvSpPr>
          <p:cNvPr id="195588" name="Rectangle 4"/>
          <p:cNvSpPr>
            <a:spLocks noChangeArrowheads="1"/>
          </p:cNvSpPr>
          <p:nvPr/>
        </p:nvSpPr>
        <p:spPr bwMode="auto">
          <a:xfrm>
            <a:off x="2133600" y="5562600"/>
            <a:ext cx="7774420" cy="1063170"/>
          </a:xfrm>
          <a:prstGeom prst="rect">
            <a:avLst/>
          </a:prstGeom>
          <a:noFill/>
          <a:ln w="9525">
            <a:noFill/>
            <a:miter lim="800000"/>
            <a:headEnd/>
            <a:tailEnd/>
          </a:ln>
        </p:spPr>
        <p:txBody>
          <a:bodyPr lIns="91428" tIns="45714" rIns="91428" bIns="45714" anchor="b"/>
          <a:lstStyle/>
          <a:p>
            <a:pPr algn="ctr" defTabSz="914172">
              <a:defRPr/>
            </a:pPr>
            <a:endParaRPr lang="en-US" sz="4000" b="1" i="1" dirty="0">
              <a:latin typeface="+mj-lt"/>
            </a:endParaRPr>
          </a:p>
        </p:txBody>
      </p:sp>
      <p:sp>
        <p:nvSpPr>
          <p:cNvPr id="5" name="Title 4"/>
          <p:cNvSpPr>
            <a:spLocks noGrp="1"/>
          </p:cNvSpPr>
          <p:nvPr>
            <p:ph type="title"/>
          </p:nvPr>
        </p:nvSpPr>
        <p:spPr/>
        <p:txBody>
          <a:bodyPr>
            <a:normAutofit/>
          </a:bodyPr>
          <a:lstStyle/>
          <a:p>
            <a:r>
              <a:rPr lang="en-US" b="1" dirty="0"/>
              <a:t>Types of Data</a:t>
            </a:r>
            <a:endParaRPr lang="en-US" dirty="0"/>
          </a:p>
        </p:txBody>
      </p:sp>
    </p:spTree>
    <p:extLst>
      <p:ext uri="{BB962C8B-B14F-4D97-AF65-F5344CB8AC3E}">
        <p14:creationId xmlns:p14="http://schemas.microsoft.com/office/powerpoint/2010/main" val="1791358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3"/>
          <p:cNvSpPr>
            <a:spLocks noChangeArrowheads="1"/>
          </p:cNvSpPr>
          <p:nvPr/>
        </p:nvSpPr>
        <p:spPr bwMode="auto">
          <a:xfrm>
            <a:off x="1017037" y="1981201"/>
            <a:ext cx="9278622" cy="4400938"/>
          </a:xfrm>
          <a:prstGeom prst="rect">
            <a:avLst/>
          </a:prstGeom>
          <a:noFill/>
          <a:ln w="9525">
            <a:noFill/>
            <a:miter lim="800000"/>
            <a:headEnd/>
            <a:tailEnd/>
          </a:ln>
        </p:spPr>
        <p:txBody>
          <a:bodyPr lIns="91428" tIns="45714" rIns="91428" bIns="45714"/>
          <a:lstStyle/>
          <a:p>
            <a:pPr marL="457200" indent="-457200" defTabSz="914172">
              <a:spcBef>
                <a:spcPct val="20000"/>
              </a:spcBef>
              <a:buFont typeface="Arial" panose="020B0604020202020204" pitchFamily="34" charset="0"/>
              <a:buChar char="•"/>
              <a:defRPr/>
            </a:pPr>
            <a:r>
              <a:rPr lang="en-US" sz="3200" b="1" i="1" u="sng" dirty="0">
                <a:solidFill>
                  <a:schemeClr val="tx2"/>
                </a:solidFill>
              </a:rPr>
              <a:t>Nominal</a:t>
            </a:r>
            <a:r>
              <a:rPr lang="en-US" sz="3200" b="1" i="1" dirty="0">
                <a:solidFill>
                  <a:schemeClr val="tx2"/>
                </a:solidFill>
              </a:rPr>
              <a:t>: QUALITATIVE data with no real numerical value (i.e., gender, etc.) where there’s no ranking or natural order.</a:t>
            </a:r>
          </a:p>
          <a:p>
            <a:pPr marL="457200" indent="-457200" defTabSz="914172">
              <a:spcBef>
                <a:spcPct val="20000"/>
              </a:spcBef>
              <a:buFont typeface="Arial" panose="020B0604020202020204" pitchFamily="34" charset="0"/>
              <a:buChar char="•"/>
              <a:defRPr/>
            </a:pPr>
            <a:r>
              <a:rPr lang="en-US" sz="3200" b="1" i="1" u="sng" dirty="0">
                <a:solidFill>
                  <a:schemeClr val="tx2"/>
                </a:solidFill>
              </a:rPr>
              <a:t>Ordinal</a:t>
            </a:r>
            <a:r>
              <a:rPr lang="en-US" sz="3200" b="1" i="1" dirty="0">
                <a:solidFill>
                  <a:schemeClr val="tx2"/>
                </a:solidFill>
              </a:rPr>
              <a:t>:  QUALITATIVE data with a real numerical value (i.e., income, age, etc.) where ranking or natural order exists.  Other examples include satisfaction levels, etc.</a:t>
            </a:r>
          </a:p>
          <a:p>
            <a:pPr marL="457200" indent="-457200" defTabSz="914172">
              <a:spcBef>
                <a:spcPct val="20000"/>
              </a:spcBef>
              <a:buFont typeface="Arial" panose="020B0604020202020204" pitchFamily="34" charset="0"/>
              <a:buChar char="•"/>
              <a:defRPr/>
            </a:pPr>
            <a:endParaRPr lang="en-US" sz="2900" b="1" i="1" dirty="0">
              <a:solidFill>
                <a:schemeClr val="tx2"/>
              </a:solidFill>
            </a:endParaRPr>
          </a:p>
        </p:txBody>
      </p:sp>
      <p:sp>
        <p:nvSpPr>
          <p:cNvPr id="195588" name="Rectangle 4"/>
          <p:cNvSpPr>
            <a:spLocks noChangeArrowheads="1"/>
          </p:cNvSpPr>
          <p:nvPr/>
        </p:nvSpPr>
        <p:spPr bwMode="auto">
          <a:xfrm>
            <a:off x="2133600" y="5562600"/>
            <a:ext cx="7774420" cy="1063170"/>
          </a:xfrm>
          <a:prstGeom prst="rect">
            <a:avLst/>
          </a:prstGeom>
          <a:noFill/>
          <a:ln w="9525">
            <a:noFill/>
            <a:miter lim="800000"/>
            <a:headEnd/>
            <a:tailEnd/>
          </a:ln>
        </p:spPr>
        <p:txBody>
          <a:bodyPr lIns="91428" tIns="45714" rIns="91428" bIns="45714" anchor="b"/>
          <a:lstStyle/>
          <a:p>
            <a:pPr algn="ctr" defTabSz="914172">
              <a:defRPr/>
            </a:pPr>
            <a:endParaRPr lang="en-US" sz="4000" b="1" i="1" dirty="0">
              <a:latin typeface="+mj-lt"/>
            </a:endParaRPr>
          </a:p>
        </p:txBody>
      </p:sp>
      <p:sp>
        <p:nvSpPr>
          <p:cNvPr id="5" name="Title 4"/>
          <p:cNvSpPr>
            <a:spLocks noGrp="1"/>
          </p:cNvSpPr>
          <p:nvPr>
            <p:ph type="title"/>
          </p:nvPr>
        </p:nvSpPr>
        <p:spPr/>
        <p:txBody>
          <a:bodyPr>
            <a:normAutofit/>
          </a:bodyPr>
          <a:lstStyle/>
          <a:p>
            <a:r>
              <a:rPr lang="en-US" b="1" dirty="0"/>
              <a:t>Types of Categorical Data</a:t>
            </a:r>
            <a:endParaRPr lang="en-US" dirty="0"/>
          </a:p>
        </p:txBody>
      </p:sp>
    </p:spTree>
    <p:extLst>
      <p:ext uri="{BB962C8B-B14F-4D97-AF65-F5344CB8AC3E}">
        <p14:creationId xmlns:p14="http://schemas.microsoft.com/office/powerpoint/2010/main" val="6681221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3"/>
          <p:cNvSpPr>
            <a:spLocks noChangeArrowheads="1"/>
          </p:cNvSpPr>
          <p:nvPr/>
        </p:nvSpPr>
        <p:spPr bwMode="auto">
          <a:xfrm>
            <a:off x="1017037" y="1981201"/>
            <a:ext cx="9278622" cy="4400938"/>
          </a:xfrm>
          <a:prstGeom prst="rect">
            <a:avLst/>
          </a:prstGeom>
          <a:noFill/>
          <a:ln w="9525">
            <a:noFill/>
            <a:miter lim="800000"/>
            <a:headEnd/>
            <a:tailEnd/>
          </a:ln>
        </p:spPr>
        <p:txBody>
          <a:bodyPr lIns="91428" tIns="45714" rIns="91428" bIns="45714"/>
          <a:lstStyle/>
          <a:p>
            <a:pPr marL="457200" indent="-457200" defTabSz="914172">
              <a:spcBef>
                <a:spcPct val="20000"/>
              </a:spcBef>
              <a:buFont typeface="Arial" panose="020B0604020202020204" pitchFamily="34" charset="0"/>
              <a:buChar char="•"/>
              <a:defRPr/>
            </a:pPr>
            <a:r>
              <a:rPr lang="en-US" sz="3200" b="1" i="1" u="sng" dirty="0">
                <a:solidFill>
                  <a:schemeClr val="tx2"/>
                </a:solidFill>
              </a:rPr>
              <a:t>Interval</a:t>
            </a:r>
            <a:r>
              <a:rPr lang="en-US" sz="3200" b="1" i="1" dirty="0">
                <a:solidFill>
                  <a:schemeClr val="tx2"/>
                </a:solidFill>
              </a:rPr>
              <a:t>: Collected with respect to “numerical” values such as Standardized Test Scores (inherent ordering)</a:t>
            </a:r>
          </a:p>
          <a:p>
            <a:pPr marL="914400" lvl="1" indent="-457200" defTabSz="914172">
              <a:spcBef>
                <a:spcPct val="20000"/>
              </a:spcBef>
              <a:buFont typeface="Arial" panose="020B0604020202020204" pitchFamily="34" charset="0"/>
              <a:buChar char="•"/>
              <a:defRPr/>
            </a:pPr>
            <a:r>
              <a:rPr lang="en-US" sz="3200" b="1" i="1" dirty="0">
                <a:solidFill>
                  <a:schemeClr val="tx2"/>
                </a:solidFill>
              </a:rPr>
              <a:t>Always expressed in numbers</a:t>
            </a:r>
          </a:p>
          <a:p>
            <a:pPr marL="914400" lvl="1" indent="-457200" defTabSz="914172">
              <a:spcBef>
                <a:spcPct val="20000"/>
              </a:spcBef>
              <a:buFont typeface="Arial" panose="020B0604020202020204" pitchFamily="34" charset="0"/>
              <a:buChar char="•"/>
              <a:defRPr/>
            </a:pPr>
            <a:r>
              <a:rPr lang="en-US" sz="3200" b="1" i="1" dirty="0">
                <a:solidFill>
                  <a:schemeClr val="tx2"/>
                </a:solidFill>
              </a:rPr>
              <a:t>Spaces between values are equal</a:t>
            </a:r>
          </a:p>
          <a:p>
            <a:pPr marL="914400" lvl="1" indent="-457200" defTabSz="914172">
              <a:spcBef>
                <a:spcPct val="20000"/>
              </a:spcBef>
              <a:buFont typeface="Arial" panose="020B0604020202020204" pitchFamily="34" charset="0"/>
              <a:buChar char="•"/>
              <a:defRPr/>
            </a:pPr>
            <a:r>
              <a:rPr lang="en-US" sz="3200" b="1" i="1" dirty="0">
                <a:solidFill>
                  <a:schemeClr val="tx2"/>
                </a:solidFill>
              </a:rPr>
              <a:t>Zero does not exist</a:t>
            </a:r>
          </a:p>
          <a:p>
            <a:pPr marL="457200" indent="-457200" defTabSz="914172">
              <a:spcBef>
                <a:spcPct val="20000"/>
              </a:spcBef>
              <a:buFont typeface="Arial" panose="020B0604020202020204" pitchFamily="34" charset="0"/>
              <a:buChar char="•"/>
              <a:defRPr/>
            </a:pPr>
            <a:r>
              <a:rPr lang="en-US" sz="3200" b="1" i="1" u="sng" dirty="0">
                <a:solidFill>
                  <a:schemeClr val="tx2"/>
                </a:solidFill>
              </a:rPr>
              <a:t>Ratio</a:t>
            </a:r>
            <a:r>
              <a:rPr lang="en-US" sz="3200" b="1" i="1" dirty="0">
                <a:solidFill>
                  <a:schemeClr val="tx2"/>
                </a:solidFill>
              </a:rPr>
              <a:t>:  data that are ordered or ranked</a:t>
            </a:r>
          </a:p>
          <a:p>
            <a:pPr marL="914400" lvl="1" indent="-457200" defTabSz="914172">
              <a:spcBef>
                <a:spcPct val="20000"/>
              </a:spcBef>
              <a:buFont typeface="Arial" panose="020B0604020202020204" pitchFamily="34" charset="0"/>
              <a:buChar char="•"/>
              <a:defRPr/>
            </a:pPr>
            <a:r>
              <a:rPr lang="en-US" sz="3200" b="1" i="1" dirty="0">
                <a:solidFill>
                  <a:schemeClr val="tx2"/>
                </a:solidFill>
              </a:rPr>
              <a:t>Zero exists as meaningful</a:t>
            </a:r>
          </a:p>
          <a:p>
            <a:pPr marL="457200" indent="-457200" defTabSz="914172">
              <a:spcBef>
                <a:spcPct val="20000"/>
              </a:spcBef>
              <a:buFont typeface="Arial" panose="020B0604020202020204" pitchFamily="34" charset="0"/>
              <a:buChar char="•"/>
              <a:defRPr/>
            </a:pPr>
            <a:endParaRPr lang="en-US" sz="2900" b="1" i="1" dirty="0">
              <a:solidFill>
                <a:schemeClr val="tx2"/>
              </a:solidFill>
            </a:endParaRPr>
          </a:p>
        </p:txBody>
      </p:sp>
      <p:sp>
        <p:nvSpPr>
          <p:cNvPr id="195588" name="Rectangle 4"/>
          <p:cNvSpPr>
            <a:spLocks noChangeArrowheads="1"/>
          </p:cNvSpPr>
          <p:nvPr/>
        </p:nvSpPr>
        <p:spPr bwMode="auto">
          <a:xfrm>
            <a:off x="2133600" y="5562600"/>
            <a:ext cx="7774420" cy="1063170"/>
          </a:xfrm>
          <a:prstGeom prst="rect">
            <a:avLst/>
          </a:prstGeom>
          <a:noFill/>
          <a:ln w="9525">
            <a:noFill/>
            <a:miter lim="800000"/>
            <a:headEnd/>
            <a:tailEnd/>
          </a:ln>
        </p:spPr>
        <p:txBody>
          <a:bodyPr lIns="91428" tIns="45714" rIns="91428" bIns="45714" anchor="b"/>
          <a:lstStyle/>
          <a:p>
            <a:pPr algn="ctr" defTabSz="914172">
              <a:defRPr/>
            </a:pPr>
            <a:endParaRPr lang="en-US" sz="4000" b="1" i="1" dirty="0">
              <a:latin typeface="+mj-lt"/>
            </a:endParaRPr>
          </a:p>
        </p:txBody>
      </p:sp>
      <p:sp>
        <p:nvSpPr>
          <p:cNvPr id="5" name="Title 4"/>
          <p:cNvSpPr>
            <a:spLocks noGrp="1"/>
          </p:cNvSpPr>
          <p:nvPr>
            <p:ph type="title"/>
          </p:nvPr>
        </p:nvSpPr>
        <p:spPr/>
        <p:txBody>
          <a:bodyPr>
            <a:normAutofit/>
          </a:bodyPr>
          <a:lstStyle/>
          <a:p>
            <a:r>
              <a:rPr lang="en-US" b="1" dirty="0"/>
              <a:t>Types of Numerical Data</a:t>
            </a:r>
            <a:endParaRPr lang="en-US" dirty="0"/>
          </a:p>
        </p:txBody>
      </p:sp>
    </p:spTree>
    <p:extLst>
      <p:ext uri="{BB962C8B-B14F-4D97-AF65-F5344CB8AC3E}">
        <p14:creationId xmlns:p14="http://schemas.microsoft.com/office/powerpoint/2010/main" val="3121987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6215777" y="4290185"/>
            <a:ext cx="3129396" cy="1712515"/>
          </a:xfrm>
          <a:prstGeom prst="ellipse">
            <a:avLst/>
          </a:prstGeom>
        </p:spPr>
        <p:style>
          <a:lnRef idx="1">
            <a:schemeClr val="accent1"/>
          </a:lnRef>
          <a:fillRef idx="2">
            <a:schemeClr val="accent1"/>
          </a:fillRef>
          <a:effectRef idx="1">
            <a:schemeClr val="accent1"/>
          </a:effectRef>
          <a:fontRef idx="minor">
            <a:schemeClr val="dk1"/>
          </a:fontRef>
        </p:style>
        <p:txBody>
          <a:bodyPr lIns="81638" tIns="40819" rIns="81638" bIns="40819" anchor="ctr"/>
          <a:lstStyle/>
          <a:p>
            <a:pPr algn="ctr">
              <a:defRPr/>
            </a:pPr>
            <a:endParaRPr lang="en-US"/>
          </a:p>
        </p:txBody>
      </p:sp>
      <p:sp>
        <p:nvSpPr>
          <p:cNvPr id="39939" name="Rectangle 2"/>
          <p:cNvSpPr>
            <a:spLocks noGrp="1" noChangeArrowheads="1"/>
          </p:cNvSpPr>
          <p:nvPr>
            <p:ph type="title"/>
          </p:nvPr>
        </p:nvSpPr>
        <p:spPr/>
        <p:txBody>
          <a:bodyPr>
            <a:normAutofit/>
          </a:bodyPr>
          <a:lstStyle/>
          <a:p>
            <a:pPr eaLnBrk="1" hangingPunct="1"/>
            <a:r>
              <a:rPr lang="en-US" altLang="en-US" dirty="0"/>
              <a:t>Basic Univariate Statistics: Categorical Measures </a:t>
            </a:r>
          </a:p>
        </p:txBody>
      </p:sp>
      <p:sp>
        <p:nvSpPr>
          <p:cNvPr id="6" name="TextBox 5"/>
          <p:cNvSpPr txBox="1"/>
          <p:nvPr/>
        </p:nvSpPr>
        <p:spPr>
          <a:xfrm>
            <a:off x="6371208" y="4468814"/>
            <a:ext cx="2818534" cy="1236597"/>
          </a:xfrm>
          <a:prstGeom prst="rect">
            <a:avLst/>
          </a:prstGeom>
          <a:noFill/>
        </p:spPr>
        <p:txBody>
          <a:bodyPr lIns="81638" tIns="40819" rIns="81638" bIns="40819">
            <a:spAutoFit/>
          </a:bodyPr>
          <a:lstStyle/>
          <a:p>
            <a:pPr algn="ctr">
              <a:defRPr/>
            </a:pPr>
            <a:r>
              <a:rPr lang="en-US" sz="2500" b="1" dirty="0">
                <a:solidFill>
                  <a:schemeClr val="tx2"/>
                </a:solidFill>
              </a:rPr>
              <a:t>…an incredibly common and useful type of analysis</a:t>
            </a:r>
          </a:p>
        </p:txBody>
      </p:sp>
      <p:sp>
        <p:nvSpPr>
          <p:cNvPr id="8" name="Content Placeholder 2"/>
          <p:cNvSpPr txBox="1">
            <a:spLocks/>
          </p:cNvSpPr>
          <p:nvPr/>
        </p:nvSpPr>
        <p:spPr>
          <a:xfrm>
            <a:off x="2190750" y="2259003"/>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FREQUENCY ANALYSIS</a:t>
            </a:r>
          </a:p>
          <a:p>
            <a:pPr marL="457200" lvl="1" indent="0">
              <a:buNone/>
            </a:pPr>
            <a:r>
              <a:rPr lang="en-US" dirty="0"/>
              <a:t>A count of the number of cases that fall into each of the possible response categories.</a:t>
            </a:r>
          </a:p>
        </p:txBody>
      </p:sp>
    </p:spTree>
    <p:extLst>
      <p:ext uri="{BB962C8B-B14F-4D97-AF65-F5344CB8AC3E}">
        <p14:creationId xmlns:p14="http://schemas.microsoft.com/office/powerpoint/2010/main" val="614954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395414"/>
            <a:ext cx="9167657" cy="44892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787585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Qualtrics</a:t>
            </a:r>
            <a:r>
              <a:rPr lang="en-US" dirty="0"/>
              <a:t> Generates this for you Automatically</a:t>
            </a:r>
          </a:p>
        </p:txBody>
      </p:sp>
      <p:sp>
        <p:nvSpPr>
          <p:cNvPr id="3" name="Content Placeholder 2"/>
          <p:cNvSpPr>
            <a:spLocks noGrp="1"/>
          </p:cNvSpPr>
          <p:nvPr>
            <p:ph idx="1"/>
          </p:nvPr>
        </p:nvSpPr>
        <p:spPr>
          <a:xfrm>
            <a:off x="2044390" y="1752600"/>
            <a:ext cx="8229600" cy="1676400"/>
          </a:xfrm>
        </p:spPr>
        <p:txBody>
          <a:bodyPr/>
          <a:lstStyle/>
          <a:p>
            <a:r>
              <a:rPr lang="en-US" dirty="0"/>
              <a:t>In </a:t>
            </a:r>
            <a:r>
              <a:rPr lang="en-US" dirty="0" err="1"/>
              <a:t>Qualtrics</a:t>
            </a:r>
            <a:r>
              <a:rPr lang="en-US" dirty="0"/>
              <a:t> go to Reports, click on initial reports</a:t>
            </a:r>
          </a:p>
        </p:txBody>
      </p:sp>
      <p:pic>
        <p:nvPicPr>
          <p:cNvPr id="4" name="Picture 3"/>
          <p:cNvPicPr>
            <a:picLocks noChangeAspect="1"/>
          </p:cNvPicPr>
          <p:nvPr/>
        </p:nvPicPr>
        <p:blipFill>
          <a:blip r:embed="rId3"/>
          <a:stretch>
            <a:fillRect/>
          </a:stretch>
        </p:blipFill>
        <p:spPr>
          <a:xfrm>
            <a:off x="1668152" y="2209800"/>
            <a:ext cx="8982075" cy="4446319"/>
          </a:xfrm>
          <a:prstGeom prst="rect">
            <a:avLst/>
          </a:prstGeom>
        </p:spPr>
      </p:pic>
    </p:spTree>
    <p:extLst>
      <p:ext uri="{BB962C8B-B14F-4D97-AF65-F5344CB8AC3E}">
        <p14:creationId xmlns:p14="http://schemas.microsoft.com/office/powerpoint/2010/main" val="77053020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90600" y="685800"/>
            <a:ext cx="7578148" cy="1143461"/>
          </a:xfrm>
        </p:spPr>
        <p:txBody>
          <a:bodyPr/>
          <a:lstStyle/>
          <a:p>
            <a:pPr eaLnBrk="1" hangingPunct="1"/>
            <a:r>
              <a:rPr lang="en-US" altLang="en-US" dirty="0"/>
              <a:t>Use of Percentages</a:t>
            </a:r>
          </a:p>
        </p:txBody>
      </p:sp>
      <p:sp>
        <p:nvSpPr>
          <p:cNvPr id="40963" name="Rectangle 3"/>
          <p:cNvSpPr>
            <a:spLocks noGrp="1" noChangeArrowheads="1"/>
          </p:cNvSpPr>
          <p:nvPr>
            <p:ph idx="1"/>
          </p:nvPr>
        </p:nvSpPr>
        <p:spPr>
          <a:xfrm>
            <a:off x="3200400" y="3885970"/>
            <a:ext cx="9372600" cy="2081942"/>
          </a:xfrm>
        </p:spPr>
        <p:txBody>
          <a:bodyPr/>
          <a:lstStyle/>
          <a:p>
            <a:pPr eaLnBrk="1" hangingPunct="1"/>
            <a:r>
              <a:rPr lang="en-US" altLang="en-US" dirty="0"/>
              <a:t>To get these in Qualtrics:</a:t>
            </a:r>
          </a:p>
          <a:p>
            <a:pPr lvl="1" eaLnBrk="1" hangingPunct="1">
              <a:buFont typeface="Arial" pitchFamily="34" charset="0"/>
              <a:buNone/>
            </a:pPr>
            <a:r>
              <a:rPr lang="en-US" altLang="en-US" dirty="0"/>
              <a:t>	</a:t>
            </a:r>
            <a:r>
              <a:rPr lang="en-US" altLang="en-US" sz="2500" b="1" i="1" dirty="0">
                <a:solidFill>
                  <a:schemeClr val="tx2"/>
                </a:solidFill>
              </a:rPr>
              <a:t>On the Far Right, next to the output for a question, click on “Metric” select “Percentage”</a:t>
            </a:r>
          </a:p>
          <a:p>
            <a:pPr lvl="1" eaLnBrk="1" hangingPunct="1">
              <a:buFont typeface="Arial" pitchFamily="34" charset="0"/>
              <a:buNone/>
            </a:pPr>
            <a:endParaRPr lang="en-US" altLang="en-US" sz="2500" b="1" i="1" dirty="0"/>
          </a:p>
        </p:txBody>
      </p:sp>
      <p:sp>
        <p:nvSpPr>
          <p:cNvPr id="4" name="Rectangle 3"/>
          <p:cNvSpPr txBox="1">
            <a:spLocks noChangeArrowheads="1"/>
          </p:cNvSpPr>
          <p:nvPr/>
        </p:nvSpPr>
        <p:spPr>
          <a:xfrm>
            <a:off x="1066800" y="2286000"/>
            <a:ext cx="10820400" cy="218420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SzPct val="75000"/>
              <a:buFont typeface="Wingdings" pitchFamily="2" charset="2"/>
              <a:buChar char=""/>
              <a:defRPr sz="2400" kern="1200">
                <a:solidFill>
                  <a:schemeClr val="tx2"/>
                </a:solidFill>
                <a:latin typeface="+mn-lt"/>
                <a:ea typeface="+mn-ea"/>
                <a:cs typeface="+mn-cs"/>
              </a:defRPr>
            </a:lvl1pPr>
            <a:lvl2pPr marL="742950" indent="-285750" algn="l" defTabSz="914400" rtl="0" eaLnBrk="1" latinLnBrk="0" hangingPunct="1">
              <a:spcBef>
                <a:spcPct val="20000"/>
              </a:spcBef>
              <a:buClr>
                <a:schemeClr val="accent2"/>
              </a:buClr>
              <a:buSzPct val="85000"/>
              <a:buFont typeface="Courier New" pitchFamily="49" charset="0"/>
              <a:buChar char="o"/>
              <a:defRPr sz="2000" kern="1200">
                <a:solidFill>
                  <a:schemeClr val="tx2"/>
                </a:solidFill>
                <a:latin typeface="+mn-lt"/>
                <a:ea typeface="+mn-ea"/>
                <a:cs typeface="+mn-cs"/>
              </a:defRPr>
            </a:lvl2pPr>
            <a:lvl3pPr marL="11430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60020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400" kern="1200" baseline="0">
                <a:solidFill>
                  <a:schemeClr val="tx2"/>
                </a:solidFill>
                <a:latin typeface="+mn-lt"/>
                <a:ea typeface="+mn-ea"/>
                <a:cs typeface="+mn-cs"/>
              </a:defRPr>
            </a:lvl5pPr>
            <a:lvl6pPr marL="2514600" indent="-228600" algn="l" defTabSz="914400" rtl="0" eaLnBrk="1" latinLnBrk="0" hangingPunct="1">
              <a:spcBef>
                <a:spcPct val="20000"/>
              </a:spcBef>
              <a:buClr>
                <a:schemeClr val="accent6"/>
              </a:buClr>
              <a:buFont typeface="Arial" pitchFamily="34" charset="0"/>
              <a:buChar char="•"/>
              <a:defRPr sz="1400" kern="1200">
                <a:solidFill>
                  <a:schemeClr val="tx2"/>
                </a:solidFill>
                <a:latin typeface="+mn-lt"/>
                <a:ea typeface="+mn-ea"/>
                <a:cs typeface="+mn-cs"/>
              </a:defRPr>
            </a:lvl6pPr>
            <a:lvl7pPr marL="2971800" indent="-22860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7pPr>
            <a:lvl8pPr marL="3429000" indent="-22860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8pPr>
            <a:lvl9pPr marL="3886200" indent="-228600" algn="l" defTabSz="914400" rtl="0" eaLnBrk="1" latinLnBrk="0" hangingPunct="1">
              <a:spcBef>
                <a:spcPct val="20000"/>
              </a:spcBef>
              <a:buClr>
                <a:schemeClr val="accent5"/>
              </a:buClr>
              <a:buFont typeface="Arial" pitchFamily="34" charset="0"/>
              <a:buChar char="•"/>
              <a:defRPr sz="1400" kern="1200">
                <a:solidFill>
                  <a:schemeClr val="tx2"/>
                </a:solidFill>
                <a:latin typeface="+mn-lt"/>
                <a:ea typeface="+mn-ea"/>
                <a:cs typeface="+mn-cs"/>
              </a:defRPr>
            </a:lvl9pPr>
          </a:lstStyle>
          <a:p>
            <a:r>
              <a:rPr lang="en-US" altLang="en-US" dirty="0"/>
              <a:t>Percentages are very useful for interpreting the results of categorical analyses and should be included whenever possible.</a:t>
            </a:r>
          </a:p>
          <a:p>
            <a:pPr lvl="1">
              <a:buFont typeface="Arial" pitchFamily="34" charset="0"/>
              <a:buNone/>
            </a:pPr>
            <a:r>
              <a:rPr lang="en-US" altLang="en-US" dirty="0"/>
              <a:t>	</a:t>
            </a:r>
            <a:r>
              <a:rPr lang="en-US" altLang="en-US" sz="2500" b="1" i="1" dirty="0"/>
              <a:t>Unless your sample size is VERY large, however, report percentages as whole numbers (i.e., no decimals)</a:t>
            </a:r>
          </a:p>
          <a:p>
            <a:pPr lvl="1">
              <a:buFont typeface="Arial" pitchFamily="34" charset="0"/>
              <a:buNone/>
            </a:pPr>
            <a:endParaRPr lang="en-US" altLang="en-US" sz="2500" b="1" i="1" dirty="0"/>
          </a:p>
        </p:txBody>
      </p:sp>
      <p:pic>
        <p:nvPicPr>
          <p:cNvPr id="2" name="Picture 1"/>
          <p:cNvPicPr>
            <a:picLocks noChangeAspect="1"/>
          </p:cNvPicPr>
          <p:nvPr/>
        </p:nvPicPr>
        <p:blipFill>
          <a:blip r:embed="rId2"/>
          <a:stretch>
            <a:fillRect/>
          </a:stretch>
        </p:blipFill>
        <p:spPr>
          <a:xfrm>
            <a:off x="506282" y="4993685"/>
            <a:ext cx="3496551" cy="1402746"/>
          </a:xfrm>
          <a:prstGeom prst="rect">
            <a:avLst/>
          </a:prstGeom>
        </p:spPr>
      </p:pic>
    </p:spTree>
    <p:extLst>
      <p:ext uri="{BB962C8B-B14F-4D97-AF65-F5344CB8AC3E}">
        <p14:creationId xmlns:p14="http://schemas.microsoft.com/office/powerpoint/2010/main" val="3679144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158" y="2790825"/>
            <a:ext cx="8305800" cy="406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4034" name="Rectangle 3"/>
          <p:cNvSpPr>
            <a:spLocks noGrp="1" noChangeArrowheads="1"/>
          </p:cNvSpPr>
          <p:nvPr>
            <p:ph type="title"/>
          </p:nvPr>
        </p:nvSpPr>
        <p:spPr>
          <a:xfrm>
            <a:off x="2214159" y="728558"/>
            <a:ext cx="7647421" cy="1143461"/>
          </a:xfrm>
          <a:noFill/>
        </p:spPr>
        <p:txBody>
          <a:bodyPr vert="horz" lIns="91422" tIns="45711" rIns="91422" bIns="45711" rtlCol="0" anchor="ctr">
            <a:normAutofit/>
          </a:bodyPr>
          <a:lstStyle/>
          <a:p>
            <a:pPr eaLnBrk="1" hangingPunct="1"/>
            <a:r>
              <a:rPr lang="en-US" altLang="en-US" dirty="0"/>
              <a:t>Frequency Analysis</a:t>
            </a:r>
          </a:p>
        </p:txBody>
      </p:sp>
      <p:sp>
        <p:nvSpPr>
          <p:cNvPr id="44035" name="Rectangle 2"/>
          <p:cNvSpPr>
            <a:spLocks noGrp="1" noChangeArrowheads="1"/>
          </p:cNvSpPr>
          <p:nvPr>
            <p:ph idx="1"/>
          </p:nvPr>
        </p:nvSpPr>
        <p:spPr>
          <a:xfrm>
            <a:off x="2214158" y="1828800"/>
            <a:ext cx="7620000" cy="3733554"/>
          </a:xfrm>
        </p:spPr>
        <p:txBody>
          <a:bodyPr/>
          <a:lstStyle/>
          <a:p>
            <a:pPr eaLnBrk="1" hangingPunct="1"/>
            <a:r>
              <a:rPr lang="en-US" altLang="en-US" sz="2100" dirty="0"/>
              <a:t>Researchers almost always work with “valid” percentages which are simply percentages after taking out cases with missing data on the variable being analyzed.</a:t>
            </a:r>
          </a:p>
        </p:txBody>
      </p:sp>
      <p:sp>
        <p:nvSpPr>
          <p:cNvPr id="9" name="Rounded Rectangle 8"/>
          <p:cNvSpPr/>
          <p:nvPr/>
        </p:nvSpPr>
        <p:spPr>
          <a:xfrm>
            <a:off x="6858000" y="3751596"/>
            <a:ext cx="1385455" cy="2458581"/>
          </a:xfrm>
          <a:prstGeom prst="round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Tree>
    <p:extLst>
      <p:ext uri="{BB962C8B-B14F-4D97-AF65-F5344CB8AC3E}">
        <p14:creationId xmlns:p14="http://schemas.microsoft.com/office/powerpoint/2010/main" val="427318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6"/>
          <p:cNvSpPr/>
          <p:nvPr/>
        </p:nvSpPr>
        <p:spPr>
          <a:xfrm>
            <a:off x="3810001" y="2057401"/>
            <a:ext cx="5472545" cy="2396061"/>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
        <p:nvSpPr>
          <p:cNvPr id="45060" name="Title 1"/>
          <p:cNvSpPr>
            <a:spLocks noGrp="1"/>
          </p:cNvSpPr>
          <p:nvPr>
            <p:ph type="title"/>
          </p:nvPr>
        </p:nvSpPr>
        <p:spPr/>
        <p:txBody>
          <a:bodyPr/>
          <a:lstStyle/>
          <a:p>
            <a:pPr eaLnBrk="1" hangingPunct="1"/>
            <a:r>
              <a:rPr lang="en-US" altLang="en-US" dirty="0"/>
              <a:t>Presenting Frequency Analysis Results</a:t>
            </a:r>
          </a:p>
        </p:txBody>
      </p:sp>
      <p:sp>
        <p:nvSpPr>
          <p:cNvPr id="45059" name="Content Placeholder 2"/>
          <p:cNvSpPr>
            <a:spLocks noGrp="1"/>
          </p:cNvSpPr>
          <p:nvPr>
            <p:ph idx="1"/>
          </p:nvPr>
        </p:nvSpPr>
        <p:spPr>
          <a:xfrm>
            <a:off x="2514600" y="2053301"/>
            <a:ext cx="7391400" cy="3962400"/>
          </a:xfrm>
        </p:spPr>
        <p:txBody>
          <a:bodyPr/>
          <a:lstStyle/>
          <a:p>
            <a:pPr eaLnBrk="1" hangingPunct="1">
              <a:buFont typeface="Arial" pitchFamily="34" charset="0"/>
              <a:buNone/>
            </a:pPr>
            <a:endParaRPr lang="en-US" altLang="en-US" dirty="0"/>
          </a:p>
          <a:p>
            <a:pPr eaLnBrk="1" hangingPunct="1">
              <a:buFont typeface="Arial" pitchFamily="34" charset="0"/>
              <a:buNone/>
            </a:pPr>
            <a:r>
              <a:rPr lang="en-US" altLang="en-US" dirty="0"/>
              <a:t>			</a:t>
            </a:r>
            <a:r>
              <a:rPr lang="en-US" altLang="en-US" b="1" dirty="0">
                <a:solidFill>
                  <a:schemeClr val="tx2"/>
                </a:solidFill>
              </a:rPr>
              <a:t>GENDER</a:t>
            </a:r>
            <a:r>
              <a:rPr lang="en-US" altLang="en-US" dirty="0"/>
              <a:t>	number       percent</a:t>
            </a:r>
          </a:p>
          <a:p>
            <a:pPr eaLnBrk="1" hangingPunct="1">
              <a:buFont typeface="Arial" pitchFamily="34" charset="0"/>
              <a:buNone/>
            </a:pPr>
            <a:r>
              <a:rPr lang="en-US" altLang="en-US" dirty="0"/>
              <a:t>			male	     	     45	    	20%</a:t>
            </a:r>
          </a:p>
          <a:p>
            <a:pPr eaLnBrk="1" hangingPunct="1">
              <a:buFont typeface="Arial" pitchFamily="34" charset="0"/>
              <a:buNone/>
            </a:pPr>
            <a:r>
              <a:rPr lang="en-US" altLang="en-US" dirty="0"/>
              <a:t>			female	   	   177	            80%</a:t>
            </a:r>
          </a:p>
          <a:p>
            <a:pPr eaLnBrk="1" hangingPunct="1">
              <a:buFont typeface="Arial" pitchFamily="34" charset="0"/>
              <a:buNone/>
            </a:pPr>
            <a:r>
              <a:rPr lang="en-US" altLang="en-US" dirty="0"/>
              <a:t>			total		   222	          100%</a:t>
            </a:r>
          </a:p>
        </p:txBody>
      </p:sp>
      <p:cxnSp>
        <p:nvCxnSpPr>
          <p:cNvPr id="5" name="Straight Connector 4"/>
          <p:cNvCxnSpPr/>
          <p:nvPr/>
        </p:nvCxnSpPr>
        <p:spPr>
          <a:xfrm>
            <a:off x="4294910" y="2895600"/>
            <a:ext cx="4710545" cy="138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294910" y="3810000"/>
            <a:ext cx="4710545" cy="138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294909" y="4084129"/>
            <a:ext cx="1364476" cy="369332"/>
          </a:xfrm>
          <a:prstGeom prst="rect">
            <a:avLst/>
          </a:prstGeom>
          <a:noFill/>
        </p:spPr>
        <p:txBody>
          <a:bodyPr wrap="none" rtlCol="0">
            <a:spAutoFit/>
          </a:bodyPr>
          <a:lstStyle/>
          <a:p>
            <a:r>
              <a:rPr lang="en-US" dirty="0"/>
              <a:t>(missing = 9)</a:t>
            </a:r>
          </a:p>
        </p:txBody>
      </p:sp>
    </p:spTree>
    <p:extLst>
      <p:ext uri="{BB962C8B-B14F-4D97-AF65-F5344CB8AC3E}">
        <p14:creationId xmlns:p14="http://schemas.microsoft.com/office/powerpoint/2010/main" val="3822300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990600" y="685800"/>
            <a:ext cx="7647421" cy="1143461"/>
          </a:xfrm>
        </p:spPr>
        <p:txBody>
          <a:bodyPr/>
          <a:lstStyle/>
          <a:p>
            <a:pPr eaLnBrk="1" hangingPunct="1"/>
            <a:r>
              <a:rPr lang="en-US" altLang="en-US" dirty="0"/>
              <a:t>Uses of Frequency Analysis</a:t>
            </a:r>
          </a:p>
        </p:txBody>
      </p:sp>
      <p:sp>
        <p:nvSpPr>
          <p:cNvPr id="46083" name="Rectangle 3"/>
          <p:cNvSpPr>
            <a:spLocks noGrp="1" noChangeArrowheads="1"/>
          </p:cNvSpPr>
          <p:nvPr>
            <p:ph idx="1"/>
          </p:nvPr>
        </p:nvSpPr>
        <p:spPr>
          <a:xfrm>
            <a:off x="2563091" y="2438400"/>
            <a:ext cx="7391400" cy="3962400"/>
          </a:xfrm>
        </p:spPr>
        <p:txBody>
          <a:bodyPr/>
          <a:lstStyle/>
          <a:p>
            <a:pPr eaLnBrk="1" hangingPunct="1"/>
            <a:r>
              <a:rPr lang="en-US" altLang="en-US" sz="2900" dirty="0"/>
              <a:t>Univariate categorical analysis</a:t>
            </a:r>
          </a:p>
          <a:p>
            <a:pPr eaLnBrk="1" hangingPunct="1"/>
            <a:r>
              <a:rPr lang="en-US" altLang="en-US" sz="2900" dirty="0"/>
              <a:t>Identify blunders and cases with excessive item nonresponse</a:t>
            </a:r>
          </a:p>
          <a:p>
            <a:pPr eaLnBrk="1" hangingPunct="1"/>
            <a:r>
              <a:rPr lang="en-US" altLang="en-US" sz="2900" dirty="0"/>
              <a:t>Identify outliers</a:t>
            </a:r>
          </a:p>
          <a:p>
            <a:pPr eaLnBrk="1" hangingPunct="1"/>
            <a:r>
              <a:rPr lang="en-US" altLang="en-US" sz="2900" dirty="0"/>
              <a:t>Identify the median</a:t>
            </a:r>
          </a:p>
          <a:p>
            <a:pPr eaLnBrk="1" hangingPunct="1">
              <a:buFontTx/>
              <a:buNone/>
            </a:pPr>
            <a:endParaRPr lang="en-US" altLang="en-US" dirty="0"/>
          </a:p>
        </p:txBody>
      </p:sp>
    </p:spTree>
    <p:extLst>
      <p:ext uri="{BB962C8B-B14F-4D97-AF65-F5344CB8AC3E}">
        <p14:creationId xmlns:p14="http://schemas.microsoft.com/office/powerpoint/2010/main" val="7983880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2801470" y="446575"/>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OUTLIER</a:t>
            </a:r>
          </a:p>
          <a:p>
            <a:pPr marL="457200" lvl="1" indent="0">
              <a:buNone/>
            </a:pPr>
            <a:r>
              <a:rPr lang="en-US" dirty="0"/>
              <a:t>An observation so different in magnitude from the rest of the observations that the analyst chooses to treat it as a special case.</a:t>
            </a:r>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0861" y="2656385"/>
            <a:ext cx="6418729" cy="4015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own Arrow 1"/>
          <p:cNvSpPr/>
          <p:nvPr/>
        </p:nvSpPr>
        <p:spPr>
          <a:xfrm>
            <a:off x="4426535" y="5216250"/>
            <a:ext cx="228600"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58175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679575" y="184907"/>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HISTOGRAM</a:t>
            </a:r>
          </a:p>
          <a:p>
            <a:pPr marL="457200" lvl="1" indent="0">
              <a:buNone/>
            </a:pPr>
            <a:r>
              <a:rPr lang="en-US" dirty="0"/>
              <a:t>A form of bar chart on which the values of the variable are placed along the </a:t>
            </a:r>
            <a:r>
              <a:rPr lang="en-US" i="1" dirty="0"/>
              <a:t>x</a:t>
            </a:r>
            <a:r>
              <a:rPr lang="en-US" dirty="0"/>
              <a:t>-axis and the absolute or relative frequency of the values is shown on the </a:t>
            </a:r>
            <a:r>
              <a:rPr lang="en-US" i="1" dirty="0"/>
              <a:t>y</a:t>
            </a:r>
            <a:r>
              <a:rPr lang="en-US" dirty="0"/>
              <a:t>-axis.</a:t>
            </a:r>
          </a:p>
        </p:txBody>
      </p:sp>
      <p:sp>
        <p:nvSpPr>
          <p:cNvPr id="2" name="TextBox 1"/>
          <p:cNvSpPr txBox="1"/>
          <p:nvPr/>
        </p:nvSpPr>
        <p:spPr>
          <a:xfrm>
            <a:off x="2590800" y="2895600"/>
            <a:ext cx="7162800"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Qualtrics also does this for you but you may need to ask for it.  Simply click on “Add Visualization” and it will automatically create a bar chart (aka histogram) for you. You may need to specify your preferences.</a:t>
            </a:r>
          </a:p>
        </p:txBody>
      </p:sp>
      <p:sp>
        <p:nvSpPr>
          <p:cNvPr id="4" name="AutoShape 2" descr="https://xavier.co1.qualtrics.com/ControlPanel/Graphic.php?IM=654821fd1357c0eb9e8404a8441ca4cc382f16bd07fdfe4f6db4094a4bf5ab50&amp;cachedgraphsec=true&amp;r=0.9839138535317034"/>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8212150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862164"/>
            <a:ext cx="7162800" cy="465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505205" y="477976"/>
            <a:ext cx="6096000" cy="1200329"/>
          </a:xfrm>
          <a:prstGeom prst="rect">
            <a:avLst/>
          </a:prstGeom>
          <a:noFill/>
        </p:spPr>
        <p:txBody>
          <a:bodyPr wrap="square" rtlCol="0">
            <a:spAutoFit/>
          </a:bodyPr>
          <a:lstStyle/>
          <a:p>
            <a:r>
              <a:rPr lang="en-US" sz="2400" dirty="0"/>
              <a:t>The </a:t>
            </a:r>
            <a:r>
              <a:rPr lang="en-US" sz="2400" b="1" dirty="0">
                <a:solidFill>
                  <a:schemeClr val="tx2"/>
                </a:solidFill>
              </a:rPr>
              <a:t>MEDIAN</a:t>
            </a:r>
            <a:r>
              <a:rPr lang="en-US" sz="2400" dirty="0"/>
              <a:t> level of education is found by identifying the level that contains the 50</a:t>
            </a:r>
            <a:r>
              <a:rPr lang="en-US" sz="2400" baseline="30000" dirty="0"/>
              <a:t>th</a:t>
            </a:r>
            <a:r>
              <a:rPr lang="en-US" sz="2400" dirty="0"/>
              <a:t> percentile in the frequency distribution.</a:t>
            </a:r>
          </a:p>
        </p:txBody>
      </p:sp>
      <p:cxnSp>
        <p:nvCxnSpPr>
          <p:cNvPr id="6" name="Straight Connector 5"/>
          <p:cNvCxnSpPr/>
          <p:nvPr/>
        </p:nvCxnSpPr>
        <p:spPr>
          <a:xfrm>
            <a:off x="9220200" y="1078139"/>
            <a:ext cx="7620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954490" y="1078140"/>
            <a:ext cx="0" cy="395106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220205" y="5029200"/>
            <a:ext cx="762000" cy="0"/>
          </a:xfrm>
          <a:prstGeom prst="line">
            <a:avLst/>
          </a:prstGeom>
          <a:ln w="76200">
            <a:headEnd type="triangle"/>
            <a:tailEnd type="non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2133601" y="6018737"/>
            <a:ext cx="8077205" cy="830997"/>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en-US" sz="2400" dirty="0"/>
              <a:t>Your item must be ordinal or higher.  Meaningless for nominal questions.</a:t>
            </a:r>
          </a:p>
        </p:txBody>
      </p:sp>
    </p:spTree>
    <p:extLst>
      <p:ext uri="{BB962C8B-B14F-4D97-AF65-F5344CB8AC3E}">
        <p14:creationId xmlns:p14="http://schemas.microsoft.com/office/powerpoint/2010/main" val="300915699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title"/>
          </p:nvPr>
        </p:nvSpPr>
        <p:spPr>
          <a:noFill/>
        </p:spPr>
        <p:txBody>
          <a:bodyPr vert="horz" lIns="91422" tIns="45711" rIns="91422" bIns="45711" rtlCol="0" anchor="ctr">
            <a:normAutofit/>
          </a:bodyPr>
          <a:lstStyle/>
          <a:p>
            <a:pPr eaLnBrk="1" hangingPunct="1"/>
            <a:r>
              <a:rPr lang="en-US" altLang="en-US" dirty="0"/>
              <a:t>Basic </a:t>
            </a:r>
            <a:r>
              <a:rPr lang="en-US" altLang="en-US" dirty="0" err="1"/>
              <a:t>Univariate</a:t>
            </a:r>
            <a:r>
              <a:rPr lang="en-US" altLang="en-US" dirty="0"/>
              <a:t> Statistics: Continuous Measures</a:t>
            </a:r>
          </a:p>
        </p:txBody>
      </p:sp>
      <p:sp>
        <p:nvSpPr>
          <p:cNvPr id="6" name="Content Placeholder 2"/>
          <p:cNvSpPr txBox="1">
            <a:spLocks/>
          </p:cNvSpPr>
          <p:nvPr/>
        </p:nvSpPr>
        <p:spPr>
          <a:xfrm>
            <a:off x="2467535" y="2084833"/>
            <a:ext cx="7391400" cy="2739935"/>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DESCRIPTIVE STATISTICS</a:t>
            </a:r>
          </a:p>
          <a:p>
            <a:pPr marL="457200" lvl="1" indent="0">
              <a:buNone/>
            </a:pPr>
            <a:r>
              <a:rPr lang="en-US" dirty="0"/>
              <a:t>Statistics that describe the distribution of responses on a variable. The most commonly used descriptive statistics are the </a:t>
            </a:r>
            <a:r>
              <a:rPr lang="en-US" b="1" u="sng" dirty="0"/>
              <a:t>mean</a:t>
            </a:r>
            <a:r>
              <a:rPr lang="en-US" dirty="0"/>
              <a:t> and </a:t>
            </a:r>
            <a:r>
              <a:rPr lang="en-US" b="1" u="sng" dirty="0"/>
              <a:t>standard deviation</a:t>
            </a:r>
            <a:r>
              <a:rPr lang="en-US" dirty="0"/>
              <a:t>.</a:t>
            </a:r>
          </a:p>
        </p:txBody>
      </p:sp>
      <p:sp>
        <p:nvSpPr>
          <p:cNvPr id="2" name="TextBox 1"/>
          <p:cNvSpPr txBox="1"/>
          <p:nvPr/>
        </p:nvSpPr>
        <p:spPr>
          <a:xfrm>
            <a:off x="2286000" y="4679783"/>
            <a:ext cx="7754470" cy="52322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pPr algn="ctr"/>
            <a:r>
              <a:rPr lang="en-US" sz="2800" dirty="0"/>
              <a:t>Again, </a:t>
            </a:r>
            <a:r>
              <a:rPr lang="en-US" sz="2800" dirty="0" err="1"/>
              <a:t>Qualtrics</a:t>
            </a:r>
            <a:r>
              <a:rPr lang="en-US" sz="2800" dirty="0"/>
              <a:t> will do this for you automatically!</a:t>
            </a:r>
          </a:p>
        </p:txBody>
      </p:sp>
      <p:sp>
        <p:nvSpPr>
          <p:cNvPr id="5" name="TextBox 4"/>
          <p:cNvSpPr txBox="1"/>
          <p:nvPr/>
        </p:nvSpPr>
        <p:spPr>
          <a:xfrm>
            <a:off x="2286000" y="5562601"/>
            <a:ext cx="7754470" cy="95410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sz="2800" dirty="0"/>
              <a:t>For your continuous measures it is most often appropriate to report the MEAN!</a:t>
            </a:r>
          </a:p>
        </p:txBody>
      </p:sp>
      <p:sp>
        <p:nvSpPr>
          <p:cNvPr id="3" name="Right Arrow 2"/>
          <p:cNvSpPr/>
          <p:nvPr/>
        </p:nvSpPr>
        <p:spPr>
          <a:xfrm>
            <a:off x="1524000" y="5808856"/>
            <a:ext cx="1066800" cy="461595"/>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rot="10800000">
            <a:off x="9582150" y="5808855"/>
            <a:ext cx="1066800" cy="461595"/>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rot="7965348">
            <a:off x="9279734" y="5152004"/>
            <a:ext cx="1066800" cy="461595"/>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rot="2106527">
            <a:off x="1846417" y="5108191"/>
            <a:ext cx="1066800" cy="461595"/>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5-Point Star 3"/>
          <p:cNvSpPr/>
          <p:nvPr/>
        </p:nvSpPr>
        <p:spPr>
          <a:xfrm>
            <a:off x="8667750" y="5991123"/>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5-Point Star 10"/>
          <p:cNvSpPr/>
          <p:nvPr/>
        </p:nvSpPr>
        <p:spPr>
          <a:xfrm>
            <a:off x="2683125" y="6056249"/>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625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3429000" y="4648201"/>
            <a:ext cx="5749636" cy="531585"/>
          </a:xfrm>
          <a:prstGeom prst="roundRect">
            <a:avLst/>
          </a:prstGeom>
        </p:spPr>
        <p:style>
          <a:lnRef idx="3">
            <a:schemeClr val="lt1"/>
          </a:lnRef>
          <a:fillRef idx="1">
            <a:schemeClr val="accent1"/>
          </a:fillRef>
          <a:effectRef idx="1">
            <a:schemeClr val="accent1"/>
          </a:effectRef>
          <a:fontRef idx="minor">
            <a:schemeClr val="lt1"/>
          </a:fontRef>
        </p:style>
        <p:txBody>
          <a:bodyPr lIns="81638" tIns="40819" rIns="81638" bIns="40819" anchor="ctr"/>
          <a:lstStyle/>
          <a:p>
            <a:pPr algn="ctr">
              <a:defRPr/>
            </a:pPr>
            <a:endParaRPr lang="en-US"/>
          </a:p>
        </p:txBody>
      </p:sp>
      <p:sp>
        <p:nvSpPr>
          <p:cNvPr id="54274" name="Rectangle 2"/>
          <p:cNvSpPr>
            <a:spLocks noGrp="1" noChangeArrowheads="1"/>
          </p:cNvSpPr>
          <p:nvPr>
            <p:ph type="title"/>
          </p:nvPr>
        </p:nvSpPr>
        <p:spPr>
          <a:xfrm>
            <a:off x="2189357" y="762001"/>
            <a:ext cx="7664739" cy="1143461"/>
          </a:xfrm>
        </p:spPr>
        <p:txBody>
          <a:bodyPr/>
          <a:lstStyle/>
          <a:p>
            <a:pPr eaLnBrk="1" hangingPunct="1"/>
            <a:r>
              <a:rPr lang="en-US" altLang="en-US" sz="3700" dirty="0"/>
              <a:t>Converting Continuous Measures to Categorical Measures</a:t>
            </a:r>
          </a:p>
        </p:txBody>
      </p:sp>
      <p:sp>
        <p:nvSpPr>
          <p:cNvPr id="54275" name="Rectangle 3"/>
          <p:cNvSpPr>
            <a:spLocks noGrp="1" noChangeArrowheads="1"/>
          </p:cNvSpPr>
          <p:nvPr>
            <p:ph idx="1"/>
          </p:nvPr>
        </p:nvSpPr>
        <p:spPr>
          <a:xfrm>
            <a:off x="2209800" y="2209800"/>
            <a:ext cx="7391400" cy="3962400"/>
          </a:xfrm>
        </p:spPr>
        <p:txBody>
          <a:bodyPr/>
          <a:lstStyle/>
          <a:p>
            <a:pPr eaLnBrk="1" hangingPunct="1">
              <a:lnSpc>
                <a:spcPct val="90000"/>
              </a:lnSpc>
              <a:buFont typeface="Arial" pitchFamily="34" charset="0"/>
              <a:buNone/>
            </a:pPr>
            <a:r>
              <a:rPr lang="en-US" altLang="en-US" sz="2900" dirty="0"/>
              <a:t>	Sometimes it is useful to convert continuous measures to categorical measures.</a:t>
            </a:r>
          </a:p>
          <a:p>
            <a:pPr lvl="1" eaLnBrk="1" hangingPunct="1">
              <a:lnSpc>
                <a:spcPct val="90000"/>
              </a:lnSpc>
              <a:buFont typeface="Arial" pitchFamily="34" charset="0"/>
              <a:buNone/>
            </a:pPr>
            <a:r>
              <a:rPr lang="en-US" altLang="en-US" sz="2100" i="1" dirty="0"/>
              <a:t>	This is legitimate, because measures at higher levels of measurement (in this case, continuous measures) have all the properties of measures at lower levels of measurement (categorical measures).</a:t>
            </a:r>
          </a:p>
          <a:p>
            <a:pPr eaLnBrk="1" hangingPunct="1">
              <a:lnSpc>
                <a:spcPct val="90000"/>
              </a:lnSpc>
              <a:buFont typeface="Arial" pitchFamily="34" charset="0"/>
              <a:buNone/>
            </a:pPr>
            <a:r>
              <a:rPr lang="en-US" altLang="en-US" sz="2900" b="1" dirty="0"/>
              <a:t>	</a:t>
            </a:r>
          </a:p>
          <a:p>
            <a:pPr eaLnBrk="1" hangingPunct="1">
              <a:lnSpc>
                <a:spcPct val="90000"/>
              </a:lnSpc>
              <a:buFont typeface="Arial" pitchFamily="34" charset="0"/>
              <a:buNone/>
            </a:pPr>
            <a:r>
              <a:rPr lang="en-US" altLang="en-US" sz="2900" b="1" dirty="0">
                <a:solidFill>
                  <a:schemeClr val="accent2"/>
                </a:solidFill>
              </a:rPr>
              <a:t>		   </a:t>
            </a:r>
            <a:r>
              <a:rPr lang="en-US" altLang="en-US" sz="2900" b="1" dirty="0">
                <a:solidFill>
                  <a:schemeClr val="tx2"/>
                </a:solidFill>
              </a:rPr>
              <a:t> Why do this?</a:t>
            </a:r>
            <a:r>
              <a:rPr lang="en-US" altLang="en-US" sz="2900" b="1" dirty="0">
                <a:solidFill>
                  <a:schemeClr val="accent2"/>
                </a:solidFill>
              </a:rPr>
              <a:t> </a:t>
            </a:r>
            <a:r>
              <a:rPr lang="en-US" altLang="en-US" sz="2900" dirty="0"/>
              <a:t>Ease of interpretation</a:t>
            </a:r>
          </a:p>
        </p:txBody>
      </p:sp>
    </p:spTree>
    <p:extLst>
      <p:ext uri="{BB962C8B-B14F-4D97-AF65-F5344CB8AC3E}">
        <p14:creationId xmlns:p14="http://schemas.microsoft.com/office/powerpoint/2010/main" val="28885612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017818" y="2008987"/>
            <a:ext cx="4779818" cy="2790821"/>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
        <p:nvSpPr>
          <p:cNvPr id="55300" name="Rectangle 3"/>
          <p:cNvSpPr>
            <a:spLocks noGrp="1" noChangeArrowheads="1"/>
          </p:cNvSpPr>
          <p:nvPr>
            <p:ph idx="1"/>
          </p:nvPr>
        </p:nvSpPr>
        <p:spPr>
          <a:xfrm>
            <a:off x="2819400" y="1974285"/>
            <a:ext cx="7391400" cy="3962400"/>
          </a:xfrm>
        </p:spPr>
        <p:txBody>
          <a:bodyPr vert="horz" lIns="92063" tIns="46032" rIns="92063" bIns="46032" rtlCol="0">
            <a:normAutofit/>
          </a:bodyPr>
          <a:lstStyle/>
          <a:p>
            <a:pPr marL="306141" indent="-306141">
              <a:buNone/>
            </a:pPr>
            <a:r>
              <a:rPr lang="en-US" altLang="en-US" sz="2900" b="1" i="1" dirty="0">
                <a:solidFill>
                  <a:schemeClr val="tx2"/>
                </a:solidFill>
              </a:rPr>
              <a:t>		        COMMON APPROACHES</a:t>
            </a:r>
          </a:p>
          <a:p>
            <a:pPr marL="306141" indent="-306141" algn="ctr">
              <a:buNone/>
            </a:pPr>
            <a:r>
              <a:rPr lang="en-US" altLang="en-US" sz="2900" dirty="0"/>
              <a:t>judgment </a:t>
            </a:r>
          </a:p>
          <a:p>
            <a:pPr marL="306141" indent="-306141" algn="ctr">
              <a:buNone/>
            </a:pPr>
            <a:r>
              <a:rPr lang="en-US" altLang="en-US" sz="2900" dirty="0"/>
              <a:t>median split</a:t>
            </a:r>
          </a:p>
          <a:p>
            <a:pPr marL="306141" indent="-306141" algn="ctr">
              <a:buNone/>
            </a:pPr>
            <a:r>
              <a:rPr lang="en-US" altLang="en-US" sz="2900" dirty="0"/>
              <a:t>cumulative % breakdowns</a:t>
            </a:r>
          </a:p>
          <a:p>
            <a:pPr marL="306141" indent="-306141" algn="ctr">
              <a:buNone/>
            </a:pPr>
            <a:r>
              <a:rPr lang="en-US" altLang="en-US" sz="2900" dirty="0"/>
              <a:t>two-box technique</a:t>
            </a:r>
          </a:p>
        </p:txBody>
      </p:sp>
      <p:cxnSp>
        <p:nvCxnSpPr>
          <p:cNvPr id="6" name="Straight Connector 5"/>
          <p:cNvCxnSpPr/>
          <p:nvPr/>
        </p:nvCxnSpPr>
        <p:spPr>
          <a:xfrm>
            <a:off x="4017818" y="2540571"/>
            <a:ext cx="4779818" cy="138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53824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2801470" y="118089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MEDIAN SPLIT</a:t>
            </a:r>
          </a:p>
          <a:p>
            <a:pPr marL="457200" lvl="1" indent="0">
              <a:buNone/>
            </a:pPr>
            <a:r>
              <a:rPr lang="en-US" dirty="0"/>
              <a:t>A technique for converting a continuous measure into a categorical measure with two approximately equal-sized groups. The groups are formed by “splitting” the continuous measure at its median value.</a:t>
            </a:r>
          </a:p>
        </p:txBody>
      </p:sp>
    </p:spTree>
    <p:extLst>
      <p:ext uri="{BB962C8B-B14F-4D97-AF65-F5344CB8AC3E}">
        <p14:creationId xmlns:p14="http://schemas.microsoft.com/office/powerpoint/2010/main" val="273058489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862164"/>
            <a:ext cx="7162800" cy="465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505205" y="477976"/>
            <a:ext cx="6096000" cy="1200329"/>
          </a:xfrm>
          <a:prstGeom prst="rect">
            <a:avLst/>
          </a:prstGeom>
          <a:noFill/>
        </p:spPr>
        <p:txBody>
          <a:bodyPr wrap="square" rtlCol="0">
            <a:spAutoFit/>
          </a:bodyPr>
          <a:lstStyle/>
          <a:p>
            <a:r>
              <a:rPr lang="en-US" sz="2400" dirty="0"/>
              <a:t>The </a:t>
            </a:r>
            <a:r>
              <a:rPr lang="en-US" sz="2400" b="1" dirty="0">
                <a:solidFill>
                  <a:schemeClr val="tx2"/>
                </a:solidFill>
              </a:rPr>
              <a:t>MEDIAN</a:t>
            </a:r>
            <a:r>
              <a:rPr lang="en-US" sz="2400" dirty="0"/>
              <a:t> level of education is found by identifying the level that contains the 50</a:t>
            </a:r>
            <a:r>
              <a:rPr lang="en-US" sz="2400" baseline="30000" dirty="0"/>
              <a:t>th</a:t>
            </a:r>
            <a:r>
              <a:rPr lang="en-US" sz="2400" dirty="0"/>
              <a:t> percentile in the frequency distribution.</a:t>
            </a:r>
          </a:p>
        </p:txBody>
      </p:sp>
      <p:cxnSp>
        <p:nvCxnSpPr>
          <p:cNvPr id="6" name="Straight Connector 5"/>
          <p:cNvCxnSpPr/>
          <p:nvPr/>
        </p:nvCxnSpPr>
        <p:spPr>
          <a:xfrm>
            <a:off x="9220200" y="1078139"/>
            <a:ext cx="762000"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954490" y="1078140"/>
            <a:ext cx="0" cy="395106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220205" y="5029200"/>
            <a:ext cx="762000" cy="0"/>
          </a:xfrm>
          <a:prstGeom prst="line">
            <a:avLst/>
          </a:prstGeom>
          <a:ln w="76200">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40743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7490" y="752669"/>
            <a:ext cx="9448800" cy="3962400"/>
          </a:xfrm>
        </p:spPr>
        <p:txBody>
          <a:bodyPr>
            <a:normAutofit/>
          </a:bodyPr>
          <a:lstStyle/>
          <a:p>
            <a:pPr marL="0" indent="0">
              <a:buNone/>
            </a:pPr>
            <a:r>
              <a:rPr lang="en-US" sz="2800" dirty="0"/>
              <a:t>Using a median split will result in two education groups, a lower education group (64%; less than high school, high school degree, some college, associate’s degree, four-year college degree) and a higher education group (36%; advanced degree).</a:t>
            </a:r>
          </a:p>
          <a:p>
            <a:pPr marL="0" indent="0">
              <a:buNone/>
            </a:pPr>
            <a:endParaRPr lang="en-US" sz="1050" dirty="0"/>
          </a:p>
          <a:p>
            <a:pPr marL="0" indent="0">
              <a:buNone/>
            </a:pPr>
            <a:r>
              <a:rPr lang="en-US" sz="2800" b="1" i="1" dirty="0">
                <a:solidFill>
                  <a:schemeClr val="tx2"/>
                </a:solidFill>
              </a:rPr>
              <a:t>An alternative approach that would produce a more even split of AFC respondents would be to combine those with a four-year or advanced degree as the higher education group.</a:t>
            </a:r>
          </a:p>
        </p:txBody>
      </p:sp>
      <p:sp>
        <p:nvSpPr>
          <p:cNvPr id="2" name="TextBox 1"/>
          <p:cNvSpPr txBox="1"/>
          <p:nvPr/>
        </p:nvSpPr>
        <p:spPr>
          <a:xfrm>
            <a:off x="1905000" y="5130968"/>
            <a:ext cx="8305800" cy="156966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2400" dirty="0"/>
              <a:t>This might be useful for you on some of your usage questions.  It is likely that high usage people behave differently than low usage.  You will need to look at your data to determine what “high” and “low” mean in your sample.</a:t>
            </a:r>
          </a:p>
        </p:txBody>
      </p:sp>
    </p:spTree>
    <p:extLst>
      <p:ext uri="{BB962C8B-B14F-4D97-AF65-F5344CB8AC3E}">
        <p14:creationId xmlns:p14="http://schemas.microsoft.com/office/powerpoint/2010/main" val="306849437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2801470" y="118089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CUMULATIVE PERCENTAGE BREAKDOWN</a:t>
            </a:r>
          </a:p>
          <a:p>
            <a:pPr marL="457200" lvl="1" indent="0">
              <a:buNone/>
            </a:pPr>
            <a:r>
              <a:rPr lang="en-US" dirty="0"/>
              <a:t>A technique for converting a continuous measure into a categorical measure. The categories are formed based on the cumulative percentages obtained in a frequency analysis.</a:t>
            </a:r>
          </a:p>
        </p:txBody>
      </p:sp>
    </p:spTree>
    <p:extLst>
      <p:ext uri="{BB962C8B-B14F-4D97-AF65-F5344CB8AC3E}">
        <p14:creationId xmlns:p14="http://schemas.microsoft.com/office/powerpoint/2010/main" val="139412941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550" y="1869116"/>
            <a:ext cx="7162800" cy="465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394365" y="256295"/>
            <a:ext cx="6096000" cy="1569660"/>
          </a:xfrm>
          <a:prstGeom prst="rect">
            <a:avLst/>
          </a:prstGeom>
          <a:noFill/>
        </p:spPr>
        <p:txBody>
          <a:bodyPr wrap="square" rtlCol="0">
            <a:spAutoFit/>
          </a:bodyPr>
          <a:lstStyle/>
          <a:p>
            <a:r>
              <a:rPr lang="en-US" sz="2400" dirty="0"/>
              <a:t>If we wanted three approximately equal-sized education groups instead of six, we could use the </a:t>
            </a:r>
            <a:r>
              <a:rPr lang="en-US" sz="2400" b="1" dirty="0">
                <a:solidFill>
                  <a:schemeClr val="tx2"/>
                </a:solidFill>
              </a:rPr>
              <a:t>cumulative percentage breakdown</a:t>
            </a:r>
            <a:r>
              <a:rPr lang="en-US" sz="2400" dirty="0"/>
              <a:t> to construct the groups.</a:t>
            </a:r>
          </a:p>
        </p:txBody>
      </p:sp>
      <p:sp>
        <p:nvSpPr>
          <p:cNvPr id="3" name="Right Brace 2"/>
          <p:cNvSpPr/>
          <p:nvPr/>
        </p:nvSpPr>
        <p:spPr>
          <a:xfrm>
            <a:off x="9220200" y="3387435"/>
            <a:ext cx="304800" cy="838200"/>
          </a:xfrm>
          <a:prstGeom prst="righ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p:cNvSpPr/>
          <p:nvPr/>
        </p:nvSpPr>
        <p:spPr>
          <a:xfrm>
            <a:off x="9220200" y="4606635"/>
            <a:ext cx="304800" cy="384464"/>
          </a:xfrm>
          <a:prstGeom prst="righ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p:cNvSpPr/>
          <p:nvPr/>
        </p:nvSpPr>
        <p:spPr>
          <a:xfrm>
            <a:off x="9220200" y="5257800"/>
            <a:ext cx="304800" cy="308264"/>
          </a:xfrm>
          <a:prstGeom prst="righ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p:cNvSpPr txBox="1"/>
          <p:nvPr/>
        </p:nvSpPr>
        <p:spPr>
          <a:xfrm>
            <a:off x="9712035" y="3616040"/>
            <a:ext cx="762000" cy="381000"/>
          </a:xfrm>
          <a:prstGeom prst="rect">
            <a:avLst/>
          </a:prstGeom>
          <a:noFill/>
        </p:spPr>
        <p:txBody>
          <a:bodyPr wrap="square" rtlCol="0">
            <a:spAutoFit/>
          </a:bodyPr>
          <a:lstStyle/>
          <a:p>
            <a:r>
              <a:rPr lang="en-US" b="1" dirty="0">
                <a:solidFill>
                  <a:schemeClr val="tx2"/>
                </a:solidFill>
              </a:rPr>
              <a:t>lower</a:t>
            </a:r>
          </a:p>
        </p:txBody>
      </p:sp>
      <p:sp>
        <p:nvSpPr>
          <p:cNvPr id="12" name="TextBox 11"/>
          <p:cNvSpPr txBox="1"/>
          <p:nvPr/>
        </p:nvSpPr>
        <p:spPr>
          <a:xfrm>
            <a:off x="9615044" y="4613595"/>
            <a:ext cx="1094516" cy="369332"/>
          </a:xfrm>
          <a:prstGeom prst="rect">
            <a:avLst/>
          </a:prstGeom>
          <a:noFill/>
        </p:spPr>
        <p:txBody>
          <a:bodyPr wrap="square" rtlCol="0">
            <a:spAutoFit/>
          </a:bodyPr>
          <a:lstStyle/>
          <a:p>
            <a:r>
              <a:rPr lang="en-US" b="1" dirty="0">
                <a:solidFill>
                  <a:schemeClr val="tx2"/>
                </a:solidFill>
              </a:rPr>
              <a:t>medium</a:t>
            </a:r>
          </a:p>
        </p:txBody>
      </p:sp>
      <p:sp>
        <p:nvSpPr>
          <p:cNvPr id="13" name="TextBox 12"/>
          <p:cNvSpPr txBox="1"/>
          <p:nvPr/>
        </p:nvSpPr>
        <p:spPr>
          <a:xfrm>
            <a:off x="9656605" y="5223210"/>
            <a:ext cx="914410" cy="369332"/>
          </a:xfrm>
          <a:prstGeom prst="rect">
            <a:avLst/>
          </a:prstGeom>
          <a:noFill/>
        </p:spPr>
        <p:txBody>
          <a:bodyPr wrap="square" rtlCol="0">
            <a:spAutoFit/>
          </a:bodyPr>
          <a:lstStyle/>
          <a:p>
            <a:r>
              <a:rPr lang="en-US" b="1" dirty="0">
                <a:solidFill>
                  <a:schemeClr val="tx2"/>
                </a:solidFill>
              </a:rPr>
              <a:t>highest</a:t>
            </a:r>
          </a:p>
        </p:txBody>
      </p:sp>
    </p:spTree>
    <p:extLst>
      <p:ext uri="{BB962C8B-B14F-4D97-AF65-F5344CB8AC3E}">
        <p14:creationId xmlns:p14="http://schemas.microsoft.com/office/powerpoint/2010/main" val="221257729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2801470" y="118089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TWO-BOX TECHNIQUE</a:t>
            </a:r>
          </a:p>
          <a:p>
            <a:pPr marL="457200" lvl="1" indent="0">
              <a:buNone/>
            </a:pPr>
            <a:r>
              <a:rPr lang="en-US" dirty="0"/>
              <a:t>A technique for converting an interval-level rating scale into a categorical measure, usually used for presentation purposes. The percentage of respondents choosing one of the top two positions on a rating scale is reported.</a:t>
            </a:r>
          </a:p>
        </p:txBody>
      </p:sp>
    </p:spTree>
    <p:extLst>
      <p:ext uri="{BB962C8B-B14F-4D97-AF65-F5344CB8AC3E}">
        <p14:creationId xmlns:p14="http://schemas.microsoft.com/office/powerpoint/2010/main" val="125234657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762000"/>
            <a:ext cx="9144000" cy="5541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413569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779450"/>
            <a:ext cx="9144000" cy="4089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70919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a:t>
            </a:r>
          </a:p>
        </p:txBody>
      </p:sp>
      <p:sp>
        <p:nvSpPr>
          <p:cNvPr id="3" name="Content Placeholder 2"/>
          <p:cNvSpPr>
            <a:spLocks noGrp="1"/>
          </p:cNvSpPr>
          <p:nvPr>
            <p:ph idx="1"/>
          </p:nvPr>
        </p:nvSpPr>
        <p:spPr>
          <a:xfrm>
            <a:off x="1024128" y="2286000"/>
            <a:ext cx="10710672" cy="4023360"/>
          </a:xfrm>
        </p:spPr>
        <p:txBody>
          <a:bodyPr>
            <a:normAutofit/>
          </a:bodyPr>
          <a:lstStyle/>
          <a:p>
            <a:r>
              <a:rPr lang="en-US" sz="2800" dirty="0"/>
              <a:t>Go into </a:t>
            </a:r>
            <a:r>
              <a:rPr lang="en-US" sz="2800" dirty="0" err="1"/>
              <a:t>qualtrics</a:t>
            </a:r>
            <a:r>
              <a:rPr lang="en-US" sz="2800" dirty="0"/>
              <a:t> and start looking at your data</a:t>
            </a:r>
          </a:p>
          <a:p>
            <a:endParaRPr lang="en-US" sz="2800" dirty="0"/>
          </a:p>
          <a:p>
            <a:r>
              <a:rPr lang="en-US" sz="2800" dirty="0"/>
              <a:t>For now we are looking at univariate analysis (looking at the responses to each question individually)</a:t>
            </a:r>
          </a:p>
          <a:p>
            <a:endParaRPr lang="en-US" sz="2800" dirty="0"/>
          </a:p>
          <a:p>
            <a:r>
              <a:rPr lang="en-US" sz="2800" dirty="0"/>
              <a:t>You may want to start thinking about which pieces of information you will want to cover in your presentation </a:t>
            </a:r>
          </a:p>
        </p:txBody>
      </p:sp>
    </p:spTree>
    <p:extLst>
      <p:ext uri="{BB962C8B-B14F-4D97-AF65-F5344CB8AC3E}">
        <p14:creationId xmlns:p14="http://schemas.microsoft.com/office/powerpoint/2010/main" val="263983183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op Sign | Standard Red, White Stop Signs | Frame Options">
            <a:extLst>
              <a:ext uri="{FF2B5EF4-FFF2-40B4-BE49-F238E27FC236}">
                <a16:creationId xmlns:a16="http://schemas.microsoft.com/office/drawing/2014/main" id="{A7132D70-5AFF-48AB-8FB8-21F6CA901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4049" y="2290664"/>
            <a:ext cx="3241999" cy="3051293"/>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E4047455-AD77-444C-B055-8774F2AF0E51}"/>
              </a:ext>
            </a:extLst>
          </p:cNvPr>
          <p:cNvSpPr>
            <a:spLocks noGrp="1"/>
          </p:cNvSpPr>
          <p:nvPr>
            <p:ph type="title"/>
          </p:nvPr>
        </p:nvSpPr>
        <p:spPr>
          <a:xfrm>
            <a:off x="838200" y="365125"/>
            <a:ext cx="10515600" cy="1325563"/>
          </a:xfrm>
        </p:spPr>
        <p:txBody>
          <a:bodyPr/>
          <a:lstStyle/>
          <a:p>
            <a:r>
              <a:rPr lang="en-US" dirty="0"/>
              <a:t>End of Information Covered on Quiz</a:t>
            </a:r>
          </a:p>
        </p:txBody>
      </p:sp>
    </p:spTree>
    <p:extLst>
      <p:ext uri="{BB962C8B-B14F-4D97-AF65-F5344CB8AC3E}">
        <p14:creationId xmlns:p14="http://schemas.microsoft.com/office/powerpoint/2010/main" val="217070852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lstStyle/>
          <a:p>
            <a:r>
              <a:rPr lang="en-US" b="1" dirty="0">
                <a:solidFill>
                  <a:srgbClr val="001541"/>
                </a:solidFill>
              </a:rPr>
              <a:t>Analysis and Interpretation:</a:t>
            </a:r>
            <a:br>
              <a:rPr lang="en-US" b="1" dirty="0">
                <a:solidFill>
                  <a:srgbClr val="001541"/>
                </a:solidFill>
              </a:rPr>
            </a:br>
            <a:r>
              <a:rPr lang="en-US" b="1" dirty="0">
                <a:solidFill>
                  <a:srgbClr val="001541"/>
                </a:solidFill>
              </a:rPr>
              <a:t>Multivariate (Multiple Variables </a:t>
            </a:r>
            <a:r>
              <a:rPr lang="en-US" b="1" dirty="0" err="1">
                <a:solidFill>
                  <a:srgbClr val="001541"/>
                </a:solidFill>
              </a:rPr>
              <a:t>Simultaenously</a:t>
            </a:r>
            <a:r>
              <a:rPr lang="en-US" b="1" dirty="0">
                <a:solidFill>
                  <a:srgbClr val="001541"/>
                </a:solidFill>
              </a:rPr>
              <a:t>)</a:t>
            </a:r>
          </a:p>
        </p:txBody>
      </p:sp>
    </p:spTree>
    <p:extLst>
      <p:ext uri="{BB962C8B-B14F-4D97-AF65-F5344CB8AC3E}">
        <p14:creationId xmlns:p14="http://schemas.microsoft.com/office/powerpoint/2010/main" val="365540694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a:t>Why Use Multivariate Analysis?</a:t>
            </a:r>
          </a:p>
        </p:txBody>
      </p:sp>
      <p:sp>
        <p:nvSpPr>
          <p:cNvPr id="14339" name="Rectangle 3"/>
          <p:cNvSpPr>
            <a:spLocks noGrp="1" noChangeArrowheads="1"/>
          </p:cNvSpPr>
          <p:nvPr>
            <p:ph idx="1"/>
          </p:nvPr>
        </p:nvSpPr>
        <p:spPr/>
        <p:txBody>
          <a:bodyPr>
            <a:normAutofit/>
          </a:bodyPr>
          <a:lstStyle/>
          <a:p>
            <a:pPr eaLnBrk="1" hangingPunct="1"/>
            <a:endParaRPr lang="en-US" altLang="en-US" sz="3200" dirty="0"/>
          </a:p>
          <a:p>
            <a:pPr eaLnBrk="1" hangingPunct="1"/>
            <a:r>
              <a:rPr lang="en-US" altLang="en-US" sz="2800" dirty="0"/>
              <a:t>Multivariate analyses allow researchers a closer look at their data than is possible with univariate analyses.</a:t>
            </a:r>
          </a:p>
        </p:txBody>
      </p:sp>
    </p:spTree>
    <p:extLst>
      <p:ext uri="{BB962C8B-B14F-4D97-AF65-F5344CB8AC3E}">
        <p14:creationId xmlns:p14="http://schemas.microsoft.com/office/powerpoint/2010/main" val="27534501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66800" y="457200"/>
            <a:ext cx="9720072" cy="1499616"/>
          </a:xfrm>
        </p:spPr>
        <p:txBody>
          <a:bodyPr/>
          <a:lstStyle/>
          <a:p>
            <a:pPr eaLnBrk="1" hangingPunct="1"/>
            <a:r>
              <a:rPr lang="en-US" altLang="en-US" dirty="0"/>
              <a:t>A Univariate Analysis Result</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1034" y="1509385"/>
            <a:ext cx="4040756" cy="51435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4438224" y="1524000"/>
            <a:ext cx="4033837" cy="5143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02520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pPr eaLnBrk="1" hangingPunct="1"/>
            <a:r>
              <a:rPr lang="en-US" altLang="en-US" sz="3700"/>
              <a:t>Multivariate Analysis Results: </a:t>
            </a:r>
            <a:br>
              <a:rPr lang="en-US" altLang="en-US" sz="3700"/>
            </a:br>
            <a:r>
              <a:rPr lang="en-US" altLang="en-US" sz="3700"/>
              <a:t>Enhanced Meaning</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1" y="1524000"/>
            <a:ext cx="4033837"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69934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3359" y="1524001"/>
            <a:ext cx="4033837" cy="5115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4"/>
          <p:cNvSpPr>
            <a:spLocks noGrp="1"/>
          </p:cNvSpPr>
          <p:nvPr>
            <p:ph type="title"/>
          </p:nvPr>
        </p:nvSpPr>
        <p:spPr/>
        <p:txBody>
          <a:bodyPr>
            <a:noAutofit/>
          </a:bodyPr>
          <a:lstStyle/>
          <a:p>
            <a:r>
              <a:rPr lang="en-US" dirty="0"/>
              <a:t>Multivariate Analysis Results: Enhanced Meaning</a:t>
            </a:r>
          </a:p>
        </p:txBody>
      </p:sp>
    </p:spTree>
    <p:extLst>
      <p:ext uri="{BB962C8B-B14F-4D97-AF65-F5344CB8AC3E}">
        <p14:creationId xmlns:p14="http://schemas.microsoft.com/office/powerpoint/2010/main" val="28887776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914400" y="1600200"/>
            <a:ext cx="103632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CROSS TABULATION</a:t>
            </a:r>
          </a:p>
          <a:p>
            <a:pPr marL="457200" lvl="1" indent="0">
              <a:buNone/>
            </a:pPr>
            <a:r>
              <a:rPr lang="en-US" dirty="0"/>
              <a:t>A multivariate technique used for studying the relationship between two or more </a:t>
            </a:r>
            <a:r>
              <a:rPr lang="en-US" b="1" u="sng" dirty="0"/>
              <a:t>categorical variables</a:t>
            </a:r>
            <a:r>
              <a:rPr lang="en-US" dirty="0"/>
              <a:t>. The technique considers the joint distribution of sample elements across variables.</a:t>
            </a:r>
          </a:p>
        </p:txBody>
      </p:sp>
    </p:spTree>
    <p:extLst>
      <p:ext uri="{BB962C8B-B14F-4D97-AF65-F5344CB8AC3E}">
        <p14:creationId xmlns:p14="http://schemas.microsoft.com/office/powerpoint/2010/main" val="71528010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2576945" y="3609095"/>
            <a:ext cx="7924800" cy="12192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8" name="Rectangle 4"/>
          <p:cNvSpPr>
            <a:spLocks noGrp="1" noChangeArrowheads="1"/>
          </p:cNvSpPr>
          <p:nvPr>
            <p:ph type="title"/>
          </p:nvPr>
        </p:nvSpPr>
        <p:spPr>
          <a:xfrm>
            <a:off x="2563091" y="274100"/>
            <a:ext cx="7907194" cy="1143461"/>
          </a:xfrm>
        </p:spPr>
        <p:txBody>
          <a:bodyPr/>
          <a:lstStyle/>
          <a:p>
            <a:r>
              <a:rPr lang="en-US" altLang="en-US" sz="3900" i="1" dirty="0"/>
              <a:t>“Which Percentages Should I Use?”</a:t>
            </a:r>
          </a:p>
        </p:txBody>
      </p:sp>
      <p:sp>
        <p:nvSpPr>
          <p:cNvPr id="21507" name="Rectangle 3"/>
          <p:cNvSpPr>
            <a:spLocks noGrp="1" noChangeArrowheads="1"/>
          </p:cNvSpPr>
          <p:nvPr>
            <p:ph idx="1"/>
          </p:nvPr>
        </p:nvSpPr>
        <p:spPr>
          <a:xfrm>
            <a:off x="2590800" y="1600200"/>
            <a:ext cx="7848600" cy="1524000"/>
          </a:xfrm>
        </p:spPr>
        <p:txBody>
          <a:bodyPr/>
          <a:lstStyle/>
          <a:p>
            <a:r>
              <a:rPr lang="en-US" altLang="en-US" dirty="0"/>
              <a:t>Always calculate percentages in the direction of the causal variable.</a:t>
            </a:r>
          </a:p>
          <a:p>
            <a:pPr lvl="1"/>
            <a:endParaRPr lang="en-US" altLang="en-US" dirty="0"/>
          </a:p>
        </p:txBody>
      </p:sp>
      <p:sp>
        <p:nvSpPr>
          <p:cNvPr id="2" name="TextBox 1"/>
          <p:cNvSpPr txBox="1"/>
          <p:nvPr/>
        </p:nvSpPr>
        <p:spPr>
          <a:xfrm>
            <a:off x="2362200" y="3581400"/>
            <a:ext cx="7924800" cy="1261884"/>
          </a:xfrm>
          <a:prstGeom prst="rect">
            <a:avLst/>
          </a:prstGeom>
          <a:noFill/>
        </p:spPr>
        <p:txBody>
          <a:bodyPr wrap="square" rtlCol="0">
            <a:spAutoFit/>
          </a:bodyPr>
          <a:lstStyle/>
          <a:p>
            <a:pPr lvl="1" algn="ctr"/>
            <a:r>
              <a:rPr lang="en-US" altLang="en-US" sz="3200" b="1" i="1" dirty="0">
                <a:solidFill>
                  <a:schemeClr val="tx2"/>
                </a:solidFill>
              </a:rPr>
              <a:t>Hint: </a:t>
            </a:r>
          </a:p>
          <a:p>
            <a:pPr lvl="1" algn="ctr"/>
            <a:r>
              <a:rPr lang="en-US" altLang="en-US" sz="2600" dirty="0"/>
              <a:t>Which variable might have caused the other to occur?</a:t>
            </a:r>
          </a:p>
          <a:p>
            <a:endParaRPr lang="en-US" dirty="0"/>
          </a:p>
        </p:txBody>
      </p:sp>
    </p:spTree>
    <p:extLst>
      <p:ext uri="{BB962C8B-B14F-4D97-AF65-F5344CB8AC3E}">
        <p14:creationId xmlns:p14="http://schemas.microsoft.com/office/powerpoint/2010/main" val="35988485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632364" y="157816"/>
            <a:ext cx="7578148" cy="1143461"/>
          </a:xfrm>
        </p:spPr>
        <p:txBody>
          <a:bodyPr/>
          <a:lstStyle/>
          <a:p>
            <a:pPr eaLnBrk="1" hangingPunct="1"/>
            <a:r>
              <a:rPr lang="en-US" altLang="en-US" dirty="0"/>
              <a:t>Presenting the Results</a:t>
            </a:r>
          </a:p>
        </p:txBody>
      </p:sp>
      <p:sp>
        <p:nvSpPr>
          <p:cNvPr id="302088" name="Rectangle 8"/>
          <p:cNvSpPr>
            <a:spLocks noChangeArrowheads="1"/>
          </p:cNvSpPr>
          <p:nvPr/>
        </p:nvSpPr>
        <p:spPr bwMode="auto">
          <a:xfrm>
            <a:off x="2713183" y="1502006"/>
            <a:ext cx="7550727" cy="3755795"/>
          </a:xfrm>
          <a:prstGeom prst="rect">
            <a:avLst/>
          </a:prstGeom>
          <a:solidFill>
            <a:schemeClr val="accent1">
              <a:lumMod val="20000"/>
              <a:lumOff val="80000"/>
            </a:schemeClr>
          </a:solidFill>
          <a:ln w="12700">
            <a:noFill/>
            <a:miter lim="800000"/>
            <a:headEnd/>
            <a:tailEnd/>
          </a:ln>
          <a:effectLst/>
        </p:spPr>
        <p:txBody>
          <a:bodyPr wrap="none" lIns="81638" tIns="40819" rIns="81638" bIns="40819" anchor="ctr"/>
          <a:lstStyle/>
          <a:p>
            <a:pPr>
              <a:defRPr/>
            </a:pPr>
            <a:endParaRPr lang="en-US"/>
          </a:p>
        </p:txBody>
      </p:sp>
      <p:grpSp>
        <p:nvGrpSpPr>
          <p:cNvPr id="23556" name="Group 7"/>
          <p:cNvGrpSpPr>
            <a:grpSpLocks/>
          </p:cNvGrpSpPr>
          <p:nvPr/>
        </p:nvGrpSpPr>
        <p:grpSpPr bwMode="auto">
          <a:xfrm>
            <a:off x="2877705" y="1661205"/>
            <a:ext cx="7620000" cy="3509291"/>
            <a:chOff x="528" y="1488"/>
            <a:chExt cx="5280" cy="2535"/>
          </a:xfrm>
        </p:grpSpPr>
        <p:sp>
          <p:nvSpPr>
            <p:cNvPr id="27654" name="Text Box 3"/>
            <p:cNvSpPr txBox="1">
              <a:spLocks noChangeArrowheads="1"/>
            </p:cNvSpPr>
            <p:nvPr/>
          </p:nvSpPr>
          <p:spPr bwMode="auto">
            <a:xfrm>
              <a:off x="528" y="1488"/>
              <a:ext cx="5280" cy="2535"/>
            </a:xfrm>
            <a:prstGeom prst="rect">
              <a:avLst/>
            </a:prstGeom>
            <a:noFill/>
            <a:ln w="12700">
              <a:noFill/>
              <a:miter lim="800000"/>
              <a:headEnd/>
              <a:tailEnd/>
            </a:ln>
          </p:spPr>
          <p:txBody>
            <a:bodyPr lIns="91435" tIns="45717" rIns="91435" bIns="45717">
              <a:spAutoFit/>
            </a:bodyPr>
            <a:lstStyle/>
            <a:p>
              <a:pPr eaLnBrk="0" hangingPunct="0">
                <a:spcBef>
                  <a:spcPct val="50000"/>
                </a:spcBef>
                <a:defRPr/>
              </a:pPr>
              <a:r>
                <a:rPr lang="en-US" sz="2100" b="1" dirty="0"/>
                <a:t>Doctor		    	      Utilized Therapy Pool?	               Recommendation?	</a:t>
              </a:r>
              <a:r>
                <a:rPr lang="en-US" sz="2100" b="1" dirty="0">
                  <a:solidFill>
                    <a:schemeClr val="accent2"/>
                  </a:solidFill>
                </a:rPr>
                <a:t>      </a:t>
              </a:r>
              <a:r>
                <a:rPr lang="en-US" sz="2100" b="1" dirty="0"/>
                <a:t>           No	Yes</a:t>
              </a:r>
              <a:r>
                <a:rPr lang="en-US" sz="2100" b="1" dirty="0">
                  <a:solidFill>
                    <a:schemeClr val="accent2"/>
                  </a:solidFill>
                </a:rPr>
                <a:t>	</a:t>
              </a:r>
              <a:r>
                <a:rPr lang="en-US" sz="2100" dirty="0"/>
                <a:t>	total</a:t>
              </a:r>
            </a:p>
            <a:p>
              <a:pPr eaLnBrk="0" hangingPunct="0">
                <a:spcBef>
                  <a:spcPct val="50000"/>
                </a:spcBef>
                <a:defRPr/>
              </a:pPr>
              <a:endParaRPr lang="en-US" sz="700" dirty="0"/>
            </a:p>
            <a:p>
              <a:pPr eaLnBrk="0" hangingPunct="0">
                <a:spcBef>
                  <a:spcPct val="50000"/>
                </a:spcBef>
                <a:defRPr/>
              </a:pPr>
              <a:r>
                <a:rPr lang="en-US" sz="2100" b="1" dirty="0"/>
                <a:t>		No</a:t>
              </a:r>
              <a:r>
                <a:rPr lang="en-US" sz="2100" dirty="0"/>
                <a:t>		  		 	 107	  70		177												(61%)	(40%)</a:t>
              </a:r>
            </a:p>
            <a:p>
              <a:pPr eaLnBrk="0" hangingPunct="0">
                <a:spcBef>
                  <a:spcPct val="50000"/>
                </a:spcBef>
                <a:defRPr/>
              </a:pPr>
              <a:endParaRPr lang="en-US" sz="800" dirty="0"/>
            </a:p>
            <a:p>
              <a:pPr eaLnBrk="0" hangingPunct="0">
                <a:spcBef>
                  <a:spcPct val="50000"/>
                </a:spcBef>
                <a:defRPr/>
              </a:pPr>
              <a:r>
                <a:rPr lang="en-US" sz="2100" b="1" dirty="0"/>
                <a:t>		Yes</a:t>
              </a:r>
              <a:r>
                <a:rPr lang="en-US" sz="2100" dirty="0"/>
                <a:t>	  			  	 20	  	34		  54</a:t>
              </a:r>
            </a:p>
            <a:p>
              <a:pPr eaLnBrk="0" hangingPunct="0">
                <a:spcBef>
                  <a:spcPct val="50000"/>
                </a:spcBef>
                <a:defRPr/>
              </a:pPr>
              <a:r>
                <a:rPr lang="en-US" sz="2100" dirty="0"/>
                <a:t>							(37%)	(63%)</a:t>
              </a:r>
            </a:p>
            <a:p>
              <a:pPr eaLnBrk="0" hangingPunct="0">
                <a:spcBef>
                  <a:spcPct val="50000"/>
                </a:spcBef>
                <a:defRPr/>
              </a:pPr>
              <a:endParaRPr lang="en-US" sz="700" dirty="0"/>
            </a:p>
            <a:p>
              <a:pPr eaLnBrk="0" hangingPunct="0">
                <a:spcBef>
                  <a:spcPct val="50000"/>
                </a:spcBef>
                <a:defRPr/>
              </a:pPr>
              <a:r>
                <a:rPr lang="en-US" sz="2100" dirty="0"/>
                <a:t>			total			  127	 104		231</a:t>
              </a:r>
              <a:endParaRPr lang="en-US" sz="2100" b="1" dirty="0"/>
            </a:p>
          </p:txBody>
        </p:sp>
        <p:sp>
          <p:nvSpPr>
            <p:cNvPr id="23559" name="Line 4"/>
            <p:cNvSpPr>
              <a:spLocks noChangeShapeType="1"/>
            </p:cNvSpPr>
            <p:nvPr/>
          </p:nvSpPr>
          <p:spPr bwMode="auto">
            <a:xfrm>
              <a:off x="576" y="1968"/>
              <a:ext cx="49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0" name="Line 5"/>
            <p:cNvSpPr>
              <a:spLocks noChangeShapeType="1"/>
            </p:cNvSpPr>
            <p:nvPr/>
          </p:nvSpPr>
          <p:spPr bwMode="auto">
            <a:xfrm>
              <a:off x="2496" y="1728"/>
              <a:ext cx="216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1" name="Line 6"/>
            <p:cNvSpPr>
              <a:spLocks noChangeShapeType="1"/>
            </p:cNvSpPr>
            <p:nvPr/>
          </p:nvSpPr>
          <p:spPr bwMode="auto">
            <a:xfrm>
              <a:off x="576" y="3583"/>
              <a:ext cx="49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1" name="Rectangle 10"/>
          <p:cNvSpPr/>
          <p:nvPr/>
        </p:nvSpPr>
        <p:spPr>
          <a:xfrm>
            <a:off x="2721842" y="1502006"/>
            <a:ext cx="7550727" cy="37557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81638" tIns="40819" rIns="81638" bIns="40819" anchor="ctr"/>
          <a:lstStyle/>
          <a:p>
            <a:pPr algn="ctr">
              <a:defRPr/>
            </a:pPr>
            <a:endParaRPr lang="en-US"/>
          </a:p>
        </p:txBody>
      </p:sp>
    </p:spTree>
    <p:extLst>
      <p:ext uri="{BB962C8B-B14F-4D97-AF65-F5344CB8AC3E}">
        <p14:creationId xmlns:p14="http://schemas.microsoft.com/office/powerpoint/2010/main" val="33240686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Presenting Results Graphically </a:t>
            </a:r>
          </a:p>
        </p:txBody>
      </p:sp>
      <p:graphicFrame>
        <p:nvGraphicFramePr>
          <p:cNvPr id="3" name="Chart 2"/>
          <p:cNvGraphicFramePr>
            <a:graphicFrameLocks/>
          </p:cNvGraphicFramePr>
          <p:nvPr/>
        </p:nvGraphicFramePr>
        <p:xfrm>
          <a:off x="1676400" y="1600200"/>
          <a:ext cx="4648200" cy="2819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p:cNvGraphicFramePr>
            <a:graphicFrameLocks/>
          </p:cNvGraphicFramePr>
          <p:nvPr/>
        </p:nvGraphicFramePr>
        <p:xfrm>
          <a:off x="5638800" y="3733800"/>
          <a:ext cx="4800600" cy="2895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2438400" y="5105401"/>
            <a:ext cx="2362200" cy="1200329"/>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2400" dirty="0"/>
              <a:t>Which do you think is better?  Why?</a:t>
            </a:r>
          </a:p>
        </p:txBody>
      </p:sp>
    </p:spTree>
    <p:extLst>
      <p:ext uri="{BB962C8B-B14F-4D97-AF65-F5344CB8AC3E}">
        <p14:creationId xmlns:p14="http://schemas.microsoft.com/office/powerpoint/2010/main" val="124924418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Graphic spid="4" grpId="0">
        <p:bldAsOne/>
      </p:bldGraphic>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676400" y="2590800"/>
            <a:ext cx="92202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BANNER</a:t>
            </a:r>
          </a:p>
          <a:p>
            <a:pPr marL="457200" lvl="1" indent="0">
              <a:buNone/>
            </a:pPr>
            <a:r>
              <a:rPr lang="en-US" dirty="0"/>
              <a:t>A series of cross tabulations between an outcome, or dependent variable, and several (sometimes many) explanatory variables in a single table.</a:t>
            </a:r>
          </a:p>
        </p:txBody>
      </p:sp>
      <p:sp>
        <p:nvSpPr>
          <p:cNvPr id="3" name="Title 2"/>
          <p:cNvSpPr>
            <a:spLocks noGrp="1"/>
          </p:cNvSpPr>
          <p:nvPr>
            <p:ph type="title"/>
          </p:nvPr>
        </p:nvSpPr>
        <p:spPr/>
        <p:txBody>
          <a:bodyPr/>
          <a:lstStyle/>
          <a:p>
            <a:r>
              <a:rPr lang="en-US" dirty="0"/>
              <a:t>Presenting the Results</a:t>
            </a:r>
          </a:p>
        </p:txBody>
      </p:sp>
    </p:spTree>
    <p:extLst>
      <p:ext uri="{BB962C8B-B14F-4D97-AF65-F5344CB8AC3E}">
        <p14:creationId xmlns:p14="http://schemas.microsoft.com/office/powerpoint/2010/main" val="351490540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524001"/>
            <a:ext cx="8305800" cy="5334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txBox="1">
            <a:spLocks noChangeArrowheads="1"/>
          </p:cNvSpPr>
          <p:nvPr/>
        </p:nvSpPr>
        <p:spPr>
          <a:xfrm>
            <a:off x="2632364" y="157816"/>
            <a:ext cx="7578148" cy="1143461"/>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en-US" dirty="0"/>
              <a:t>Presenting the Results</a:t>
            </a:r>
          </a:p>
        </p:txBody>
      </p:sp>
    </p:spTree>
    <p:extLst>
      <p:ext uri="{BB962C8B-B14F-4D97-AF65-F5344CB8AC3E}">
        <p14:creationId xmlns:p14="http://schemas.microsoft.com/office/powerpoint/2010/main" val="62868879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143000" y="762000"/>
            <a:ext cx="8350539" cy="1143461"/>
          </a:xfrm>
          <a:noFill/>
        </p:spPr>
        <p:txBody>
          <a:bodyPr vert="horz" lIns="92063" tIns="46032" rIns="92063" bIns="46032" rtlCol="0" anchor="ctr">
            <a:noAutofit/>
          </a:bodyPr>
          <a:lstStyle/>
          <a:p>
            <a:pPr eaLnBrk="1" hangingPunct="1"/>
            <a:r>
              <a:rPr lang="en-US" altLang="en-US" dirty="0"/>
              <a:t>Cross-tabs: </a:t>
            </a:r>
            <a:br>
              <a:rPr lang="en-US" altLang="en-US" dirty="0"/>
            </a:br>
            <a:r>
              <a:rPr lang="en-US" altLang="en-US" dirty="0"/>
              <a:t>Testing for Statistical Significance</a:t>
            </a:r>
          </a:p>
        </p:txBody>
      </p:sp>
      <p:sp>
        <p:nvSpPr>
          <p:cNvPr id="6" name="Content Placeholder 2"/>
          <p:cNvSpPr txBox="1">
            <a:spLocks/>
          </p:cNvSpPr>
          <p:nvPr/>
        </p:nvSpPr>
        <p:spPr>
          <a:xfrm>
            <a:off x="1981201" y="28194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PEARSON CHI-SQUARE (</a:t>
            </a:r>
            <a:r>
              <a:rPr lang="el-GR" sz="3600" b="1" dirty="0">
                <a:solidFill>
                  <a:schemeClr val="tx2"/>
                </a:solidFill>
              </a:rPr>
              <a:t>χ</a:t>
            </a:r>
            <a:r>
              <a:rPr lang="en-US" sz="3600" b="1" baseline="30000" dirty="0">
                <a:solidFill>
                  <a:schemeClr val="tx2"/>
                </a:solidFill>
              </a:rPr>
              <a:t>2</a:t>
            </a:r>
            <a:r>
              <a:rPr lang="en-US" sz="3600" b="1" dirty="0">
                <a:solidFill>
                  <a:schemeClr val="tx2"/>
                </a:solidFill>
              </a:rPr>
              <a:t>) TEST OF INDEPENDENCE</a:t>
            </a:r>
          </a:p>
          <a:p>
            <a:pPr marL="457200" lvl="1" indent="0">
              <a:buNone/>
            </a:pPr>
            <a:r>
              <a:rPr lang="en-US" dirty="0"/>
              <a:t>A commonly used statistic for testing the null hypothesis that categorical variables are independent of one another.</a:t>
            </a:r>
          </a:p>
        </p:txBody>
      </p:sp>
    </p:spTree>
    <p:extLst>
      <p:ext uri="{BB962C8B-B14F-4D97-AF65-F5344CB8AC3E}">
        <p14:creationId xmlns:p14="http://schemas.microsoft.com/office/powerpoint/2010/main" val="275364869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 can do this in Qualtrics!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5333" y="2056648"/>
            <a:ext cx="7486650" cy="1600200"/>
          </a:xfrm>
          <a:prstGeom prst="rect">
            <a:avLst/>
          </a:prstGeom>
          <a:ln w="28575">
            <a:solidFill>
              <a:schemeClr val="tx2"/>
            </a:solidFill>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333" y="4191001"/>
            <a:ext cx="7400925" cy="2028825"/>
          </a:xfrm>
          <a:prstGeom prst="rect">
            <a:avLst/>
          </a:prstGeom>
          <a:ln w="28575">
            <a:solidFill>
              <a:schemeClr val="tx2"/>
            </a:solidFill>
          </a:ln>
        </p:spPr>
      </p:pic>
    </p:spTree>
    <p:extLst>
      <p:ext uri="{BB962C8B-B14F-4D97-AF65-F5344CB8AC3E}">
        <p14:creationId xmlns:p14="http://schemas.microsoft.com/office/powerpoint/2010/main" val="111412014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the Cross-Tab</a:t>
            </a:r>
          </a:p>
        </p:txBody>
      </p:sp>
      <p:sp>
        <p:nvSpPr>
          <p:cNvPr id="3" name="Content Placeholder 2"/>
          <p:cNvSpPr>
            <a:spLocks noGrp="1"/>
          </p:cNvSpPr>
          <p:nvPr>
            <p:ph idx="1"/>
          </p:nvPr>
        </p:nvSpPr>
        <p:spPr>
          <a:xfrm>
            <a:off x="1371600" y="1828800"/>
            <a:ext cx="10058400" cy="1828800"/>
          </a:xfrm>
        </p:spPr>
        <p:txBody>
          <a:bodyPr>
            <a:noAutofit/>
          </a:bodyPr>
          <a:lstStyle/>
          <a:p>
            <a:r>
              <a:rPr lang="en-US" sz="2400" dirty="0"/>
              <a:t>You will be give a screen with all your questions</a:t>
            </a:r>
          </a:p>
          <a:p>
            <a:pPr lvl="1"/>
            <a:r>
              <a:rPr lang="en-US" sz="2000" dirty="0"/>
              <a:t>For your Independent Variable (the thing you think causes a change in the Dependent Variable) select the blue box (Stub)</a:t>
            </a:r>
          </a:p>
          <a:p>
            <a:pPr lvl="1"/>
            <a:r>
              <a:rPr lang="en-US" sz="2000" dirty="0"/>
              <a:t>For your Dependent Variable select the pink box (Banner)</a:t>
            </a:r>
          </a:p>
          <a:p>
            <a:pPr lvl="2"/>
            <a:r>
              <a:rPr lang="en-US" sz="1600" dirty="0"/>
              <a:t>You can select multiple DVS for the same IV</a:t>
            </a:r>
          </a:p>
          <a:p>
            <a:r>
              <a:rPr lang="en-US" sz="2400" dirty="0"/>
              <a:t>Once you make selections, click on “Create </a:t>
            </a:r>
            <a:r>
              <a:rPr lang="en-US" sz="2400" dirty="0" err="1"/>
              <a:t>Crosstabulation</a:t>
            </a:r>
            <a:r>
              <a:rPr lang="en-US" sz="2400"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962401"/>
            <a:ext cx="9144000" cy="1967023"/>
          </a:xfrm>
          <a:prstGeom prst="rect">
            <a:avLst/>
          </a:prstGeom>
        </p:spPr>
      </p:pic>
    </p:spTree>
    <p:extLst>
      <p:ext uri="{BB962C8B-B14F-4D97-AF65-F5344CB8AC3E}">
        <p14:creationId xmlns:p14="http://schemas.microsoft.com/office/powerpoint/2010/main" val="308070256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p>
        </p:txBody>
      </p:sp>
      <p:sp>
        <p:nvSpPr>
          <p:cNvPr id="5" name="Content Placeholder 4"/>
          <p:cNvSpPr>
            <a:spLocks noGrp="1"/>
          </p:cNvSpPr>
          <p:nvPr>
            <p:ph idx="1"/>
          </p:nvPr>
        </p:nvSpPr>
        <p:spPr>
          <a:xfrm>
            <a:off x="1981200" y="1600201"/>
            <a:ext cx="8458200" cy="1066800"/>
          </a:xfrm>
        </p:spPr>
        <p:txBody>
          <a:bodyPr>
            <a:normAutofit fontScale="92500"/>
          </a:bodyPr>
          <a:lstStyle/>
          <a:p>
            <a:r>
              <a:rPr lang="en-US" dirty="0"/>
              <a:t>If you have a continuous DV (as in example)</a:t>
            </a:r>
          </a:p>
          <a:p>
            <a:r>
              <a:rPr lang="en-US" dirty="0"/>
              <a:t>Try merging your answer choices to create a categorical DV</a:t>
            </a:r>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6657" y="2743201"/>
            <a:ext cx="9144000" cy="3997919"/>
          </a:xfrm>
          <a:prstGeom prst="rect">
            <a:avLst/>
          </a:prstGeom>
        </p:spPr>
      </p:pic>
    </p:spTree>
    <p:extLst>
      <p:ext uri="{BB962C8B-B14F-4D97-AF65-F5344CB8AC3E}">
        <p14:creationId xmlns:p14="http://schemas.microsoft.com/office/powerpoint/2010/main" val="334560195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Merging</a:t>
            </a:r>
          </a:p>
        </p:txBody>
      </p:sp>
      <p:sp>
        <p:nvSpPr>
          <p:cNvPr id="3" name="Content Placeholder 2"/>
          <p:cNvSpPr>
            <a:spLocks noGrp="1"/>
          </p:cNvSpPr>
          <p:nvPr>
            <p:ph idx="1"/>
          </p:nvPr>
        </p:nvSpPr>
        <p:spPr>
          <a:xfrm>
            <a:off x="1981200" y="1600201"/>
            <a:ext cx="8229600" cy="1219200"/>
          </a:xfrm>
        </p:spPr>
        <p:txBody>
          <a:bodyPr>
            <a:normAutofit lnSpcReduction="10000"/>
          </a:bodyPr>
          <a:lstStyle/>
          <a:p>
            <a:r>
              <a:rPr lang="en-US" dirty="0"/>
              <a:t>Move curser over title, you will get a little arrow. </a:t>
            </a:r>
          </a:p>
          <a:p>
            <a:pPr lvl="1"/>
            <a:r>
              <a:rPr lang="en-US" dirty="0"/>
              <a:t>Click on it</a:t>
            </a:r>
          </a:p>
          <a:p>
            <a:pPr lvl="1"/>
            <a:r>
              <a:rPr lang="en-US" dirty="0"/>
              <a:t>Select “Merge”</a:t>
            </a:r>
          </a:p>
          <a:p>
            <a:pPr lvl="1"/>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984664"/>
            <a:ext cx="6324600" cy="5126996"/>
          </a:xfrm>
          <a:prstGeom prst="rect">
            <a:avLst/>
          </a:prstGeom>
        </p:spPr>
      </p:pic>
    </p:spTree>
    <p:extLst>
      <p:ext uri="{BB962C8B-B14F-4D97-AF65-F5344CB8AC3E}">
        <p14:creationId xmlns:p14="http://schemas.microsoft.com/office/powerpoint/2010/main" val="254959895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Lastly</a:t>
            </a:r>
          </a:p>
        </p:txBody>
      </p:sp>
      <p:sp>
        <p:nvSpPr>
          <p:cNvPr id="3" name="Content Placeholder 2"/>
          <p:cNvSpPr>
            <a:spLocks noGrp="1"/>
          </p:cNvSpPr>
          <p:nvPr>
            <p:ph idx="1"/>
          </p:nvPr>
        </p:nvSpPr>
        <p:spPr/>
        <p:txBody>
          <a:bodyPr>
            <a:normAutofit/>
          </a:bodyPr>
          <a:lstStyle/>
          <a:p>
            <a:r>
              <a:rPr lang="en-US" sz="2800" dirty="0"/>
              <a:t>Once you have created categories click “save”</a:t>
            </a:r>
          </a:p>
          <a:p>
            <a:r>
              <a:rPr lang="en-US" sz="2800" dirty="0"/>
              <a:t>Then “recalculate crosstab”</a:t>
            </a:r>
          </a:p>
        </p:txBody>
      </p:sp>
    </p:spTree>
    <p:extLst>
      <p:ext uri="{BB962C8B-B14F-4D97-AF65-F5344CB8AC3E}">
        <p14:creationId xmlns:p14="http://schemas.microsoft.com/office/powerpoint/2010/main" val="63703024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ChangeArrowheads="1"/>
          </p:cNvSpPr>
          <p:nvPr/>
        </p:nvSpPr>
        <p:spPr bwMode="auto">
          <a:xfrm>
            <a:off x="2530434" y="4495800"/>
            <a:ext cx="7827818" cy="1905000"/>
          </a:xfrm>
          <a:prstGeom prst="rect">
            <a:avLst/>
          </a:prstGeom>
          <a:solidFill>
            <a:schemeClr val="accent1">
              <a:lumMod val="20000"/>
              <a:lumOff val="80000"/>
            </a:schemeClr>
          </a:solidFill>
          <a:ln w="12700">
            <a:solidFill>
              <a:schemeClr val="tx1"/>
            </a:solidFill>
            <a:miter lim="800000"/>
            <a:headEnd/>
            <a:tailEnd/>
          </a:ln>
        </p:spPr>
        <p:txBody>
          <a:bodyPr wrap="none" lIns="81638" tIns="40819" rIns="81638" bIns="40819" anchor="ctr"/>
          <a:lstStyle/>
          <a:p>
            <a:pPr>
              <a:defRPr/>
            </a:pPr>
            <a:endParaRPr lang="en-US" sz="2400"/>
          </a:p>
        </p:txBody>
      </p:sp>
      <p:sp>
        <p:nvSpPr>
          <p:cNvPr id="34820" name="Rectangle 4"/>
          <p:cNvSpPr>
            <a:spLocks noGrp="1" noChangeArrowheads="1"/>
          </p:cNvSpPr>
          <p:nvPr>
            <p:ph idx="1"/>
          </p:nvPr>
        </p:nvSpPr>
        <p:spPr>
          <a:xfrm>
            <a:off x="2801470" y="4648200"/>
            <a:ext cx="7598916" cy="2306790"/>
          </a:xfrm>
        </p:spPr>
        <p:txBody>
          <a:bodyPr>
            <a:normAutofit/>
          </a:bodyPr>
          <a:lstStyle/>
          <a:p>
            <a:pPr lvl="1" eaLnBrk="1" hangingPunct="1">
              <a:buFont typeface="Wingdings" pitchFamily="2" charset="2"/>
              <a:buNone/>
            </a:pPr>
            <a:r>
              <a:rPr lang="en-US" altLang="en-US" sz="2800" b="1" i="1" dirty="0">
                <a:solidFill>
                  <a:schemeClr val="tx2"/>
                </a:solidFill>
              </a:rPr>
              <a:t>EXAMPLES</a:t>
            </a:r>
          </a:p>
          <a:p>
            <a:pPr lvl="1" eaLnBrk="1" hangingPunct="1"/>
            <a:r>
              <a:rPr lang="en-US" altLang="en-US" sz="2800" dirty="0"/>
              <a:t>Satisfaction ratings, men vs. women</a:t>
            </a:r>
          </a:p>
          <a:p>
            <a:pPr lvl="1" eaLnBrk="1" hangingPunct="1"/>
            <a:r>
              <a:rPr lang="en-US" altLang="en-US" sz="2800" dirty="0"/>
              <a:t>Age in years, customers vs. noncustomers</a:t>
            </a:r>
          </a:p>
        </p:txBody>
      </p:sp>
      <p:sp>
        <p:nvSpPr>
          <p:cNvPr id="6" name="Content Placeholder 2"/>
          <p:cNvSpPr txBox="1">
            <a:spLocks/>
          </p:cNvSpPr>
          <p:nvPr/>
        </p:nvSpPr>
        <p:spPr>
          <a:xfrm>
            <a:off x="2801470" y="1600200"/>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INDEPENDENT SAMPLES </a:t>
            </a:r>
            <a:r>
              <a:rPr lang="en-US" sz="3600" b="1" i="1" dirty="0">
                <a:solidFill>
                  <a:schemeClr val="tx2"/>
                </a:solidFill>
              </a:rPr>
              <a:t>T</a:t>
            </a:r>
            <a:r>
              <a:rPr lang="en-US" sz="3600" b="1" dirty="0">
                <a:solidFill>
                  <a:schemeClr val="tx2"/>
                </a:solidFill>
              </a:rPr>
              <a:t>-TEST FOR MEANS</a:t>
            </a:r>
          </a:p>
          <a:p>
            <a:pPr marL="457200" lvl="1" indent="0">
              <a:buNone/>
            </a:pPr>
            <a:r>
              <a:rPr lang="en-US" dirty="0"/>
              <a:t>A technique commonly used to determine whether two groups (</a:t>
            </a:r>
            <a:r>
              <a:rPr lang="en-US" b="1" u="sng" dirty="0"/>
              <a:t>categorical</a:t>
            </a:r>
            <a:r>
              <a:rPr lang="en-US" dirty="0"/>
              <a:t>) differ on some characteristic assessed on a </a:t>
            </a:r>
            <a:r>
              <a:rPr lang="en-US" b="1" u="sng" dirty="0"/>
              <a:t>continuous</a:t>
            </a:r>
            <a:r>
              <a:rPr lang="en-US" dirty="0"/>
              <a:t> measure.</a:t>
            </a:r>
          </a:p>
        </p:txBody>
      </p:sp>
    </p:spTree>
    <p:extLst>
      <p:ext uri="{BB962C8B-B14F-4D97-AF65-F5344CB8AC3E}">
        <p14:creationId xmlns:p14="http://schemas.microsoft.com/office/powerpoint/2010/main" val="10853320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371600"/>
            <a:ext cx="91440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3581400" y="5957460"/>
            <a:ext cx="3429000" cy="304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7162800" y="2895600"/>
            <a:ext cx="637330" cy="50582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1752600" y="122233"/>
            <a:ext cx="8783780" cy="1143000"/>
          </a:xfrm>
        </p:spPr>
        <p:txBody>
          <a:bodyPr>
            <a:normAutofit fontScale="90000"/>
          </a:bodyPr>
          <a:lstStyle/>
          <a:p>
            <a:pPr algn="l"/>
            <a:r>
              <a:rPr lang="en-US" sz="2800" dirty="0"/>
              <a:t>Does utilizing the exercise circuit (categorical independent variable) lead to increased number of visits to center (continuous dependent variable)?</a:t>
            </a:r>
          </a:p>
        </p:txBody>
      </p:sp>
    </p:spTree>
    <p:extLst>
      <p:ext uri="{BB962C8B-B14F-4D97-AF65-F5344CB8AC3E}">
        <p14:creationId xmlns:p14="http://schemas.microsoft.com/office/powerpoint/2010/main" val="118949268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563091" y="3373560"/>
            <a:ext cx="7827818" cy="1905000"/>
          </a:xfrm>
          <a:prstGeom prst="rect">
            <a:avLst/>
          </a:prstGeom>
          <a:solidFill>
            <a:schemeClr val="accent1">
              <a:lumMod val="20000"/>
              <a:lumOff val="80000"/>
            </a:schemeClr>
          </a:solidFill>
          <a:ln w="12700">
            <a:solidFill>
              <a:schemeClr val="tx1"/>
            </a:solidFill>
            <a:miter lim="800000"/>
            <a:headEnd/>
            <a:tailEnd/>
          </a:ln>
        </p:spPr>
        <p:txBody>
          <a:bodyPr wrap="none" lIns="81638" tIns="40819" rIns="81638" bIns="40819" anchor="ctr"/>
          <a:lstStyle/>
          <a:p>
            <a:pPr>
              <a:defRPr/>
            </a:pPr>
            <a:endParaRPr lang="en-US"/>
          </a:p>
        </p:txBody>
      </p:sp>
      <p:sp>
        <p:nvSpPr>
          <p:cNvPr id="3" name="Rectangle 4"/>
          <p:cNvSpPr txBox="1">
            <a:spLocks noChangeArrowheads="1"/>
          </p:cNvSpPr>
          <p:nvPr/>
        </p:nvSpPr>
        <p:spPr>
          <a:xfrm>
            <a:off x="2791994" y="3505170"/>
            <a:ext cx="7598916" cy="230679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buFont typeface="Wingdings" pitchFamily="2" charset="2"/>
              <a:buNone/>
            </a:pPr>
            <a:r>
              <a:rPr lang="en-US" altLang="en-US" b="1" i="1" dirty="0">
                <a:solidFill>
                  <a:schemeClr val="tx2"/>
                </a:solidFill>
              </a:rPr>
              <a:t>EXAMPLES</a:t>
            </a:r>
          </a:p>
          <a:p>
            <a:pPr lvl="1"/>
            <a:r>
              <a:rPr lang="en-US" altLang="en-US" dirty="0"/>
              <a:t>Before and after measures</a:t>
            </a:r>
          </a:p>
          <a:p>
            <a:pPr lvl="1"/>
            <a:r>
              <a:rPr lang="en-US" altLang="en-US" dirty="0"/>
              <a:t>Applying same measure to different objects</a:t>
            </a:r>
          </a:p>
        </p:txBody>
      </p:sp>
      <p:sp>
        <p:nvSpPr>
          <p:cNvPr id="4" name="Content Placeholder 2"/>
          <p:cNvSpPr txBox="1">
            <a:spLocks/>
          </p:cNvSpPr>
          <p:nvPr/>
        </p:nvSpPr>
        <p:spPr>
          <a:xfrm>
            <a:off x="2801470" y="1083905"/>
            <a:ext cx="7391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PAIRED SAMPLE </a:t>
            </a:r>
            <a:r>
              <a:rPr lang="en-US" sz="3600" b="1" i="1" dirty="0">
                <a:solidFill>
                  <a:schemeClr val="tx2"/>
                </a:solidFill>
              </a:rPr>
              <a:t>T</a:t>
            </a:r>
            <a:r>
              <a:rPr lang="en-US" sz="3600" b="1" dirty="0">
                <a:solidFill>
                  <a:schemeClr val="tx2"/>
                </a:solidFill>
              </a:rPr>
              <a:t>-TEST</a:t>
            </a:r>
          </a:p>
          <a:p>
            <a:pPr marL="457200" lvl="1" indent="0">
              <a:buNone/>
            </a:pPr>
            <a:r>
              <a:rPr lang="en-US" dirty="0"/>
              <a:t>A technique for comparing two means (</a:t>
            </a:r>
            <a:r>
              <a:rPr lang="en-US" b="1" u="sng" dirty="0"/>
              <a:t>continuous</a:t>
            </a:r>
            <a:r>
              <a:rPr lang="en-US" dirty="0"/>
              <a:t>) when scores for both variables are provided by the same sample.</a:t>
            </a:r>
          </a:p>
        </p:txBody>
      </p:sp>
    </p:spTree>
    <p:extLst>
      <p:ext uri="{BB962C8B-B14F-4D97-AF65-F5344CB8AC3E}">
        <p14:creationId xmlns:p14="http://schemas.microsoft.com/office/powerpoint/2010/main" val="13043239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19200"/>
            <a:ext cx="9144000" cy="563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225656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96291"/>
            <a:ext cx="9144000" cy="53686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8382000" y="4495800"/>
            <a:ext cx="1981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8395855" y="5285508"/>
            <a:ext cx="1981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8388927" y="5992090"/>
            <a:ext cx="19812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pPr algn="l"/>
            <a:r>
              <a:rPr lang="en-US" sz="2800" dirty="0"/>
              <a:t>Do the mean attribute importance levels, provided by the same respondents, differ from one another?</a:t>
            </a:r>
          </a:p>
        </p:txBody>
      </p:sp>
    </p:spTree>
    <p:extLst>
      <p:ext uri="{BB962C8B-B14F-4D97-AF65-F5344CB8AC3E}">
        <p14:creationId xmlns:p14="http://schemas.microsoft.com/office/powerpoint/2010/main" val="184467241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Three Types of t Tests">
            <a:hlinkClick r:id="" action="ppaction://media"/>
            <a:extLst>
              <a:ext uri="{FF2B5EF4-FFF2-40B4-BE49-F238E27FC236}">
                <a16:creationId xmlns:a16="http://schemas.microsoft.com/office/drawing/2014/main" id="{6B58EA30-2473-4B1F-86E5-E6390AAA103D}"/>
              </a:ext>
            </a:extLst>
          </p:cNvPr>
          <p:cNvPicPr>
            <a:picLocks noRot="1" noChangeAspect="1"/>
          </p:cNvPicPr>
          <p:nvPr>
            <a:videoFile r:link="rId1"/>
          </p:nvPr>
        </p:nvPicPr>
        <p:blipFill>
          <a:blip r:embed="rId4"/>
          <a:stretch>
            <a:fillRect/>
          </a:stretch>
        </p:blipFill>
        <p:spPr>
          <a:xfrm>
            <a:off x="2083468" y="1377758"/>
            <a:ext cx="6896936" cy="3879526"/>
          </a:xfrm>
          <a:prstGeom prst="rect">
            <a:avLst/>
          </a:prstGeom>
        </p:spPr>
      </p:pic>
      <p:sp>
        <p:nvSpPr>
          <p:cNvPr id="11" name="Content Placeholder 2">
            <a:extLst>
              <a:ext uri="{FF2B5EF4-FFF2-40B4-BE49-F238E27FC236}">
                <a16:creationId xmlns:a16="http://schemas.microsoft.com/office/drawing/2014/main" id="{8AA17179-A4A7-4107-BA28-83439D7BF1BC}"/>
              </a:ext>
            </a:extLst>
          </p:cNvPr>
          <p:cNvSpPr txBox="1">
            <a:spLocks/>
          </p:cNvSpPr>
          <p:nvPr/>
        </p:nvSpPr>
        <p:spPr>
          <a:xfrm>
            <a:off x="730073" y="227336"/>
            <a:ext cx="9458955" cy="687064"/>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i="1" dirty="0">
                <a:solidFill>
                  <a:schemeClr val="tx2"/>
                </a:solidFill>
              </a:rPr>
              <a:t>T</a:t>
            </a:r>
            <a:r>
              <a:rPr lang="en-US" sz="3600" b="1" dirty="0">
                <a:solidFill>
                  <a:schemeClr val="tx2"/>
                </a:solidFill>
              </a:rPr>
              <a:t>-TEST</a:t>
            </a:r>
          </a:p>
        </p:txBody>
      </p:sp>
    </p:spTree>
    <p:extLst>
      <p:ext uri="{BB962C8B-B14F-4D97-AF65-F5344CB8AC3E}">
        <p14:creationId xmlns:p14="http://schemas.microsoft.com/office/powerpoint/2010/main" val="128605526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txBox="1">
            <a:spLocks/>
          </p:cNvSpPr>
          <p:nvPr/>
        </p:nvSpPr>
        <p:spPr>
          <a:xfrm>
            <a:off x="2057400" y="1083905"/>
            <a:ext cx="813547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PEARSON PRODUCT-MOMENT CORRELATION COEFFICIENT</a:t>
            </a:r>
          </a:p>
          <a:p>
            <a:pPr marL="457200" lvl="1" indent="0">
              <a:buNone/>
            </a:pPr>
            <a:r>
              <a:rPr lang="en-US" dirty="0"/>
              <a:t>A statistic that indicates the degree of linear association between</a:t>
            </a:r>
            <a:r>
              <a:rPr lang="en-US" b="1" u="sng" dirty="0"/>
              <a:t> two continuous variables</a:t>
            </a:r>
            <a:r>
              <a:rPr lang="en-US" dirty="0"/>
              <a:t>. The correlation coefficient can range from -1 to +1.</a:t>
            </a:r>
          </a:p>
        </p:txBody>
      </p:sp>
    </p:spTree>
    <p:extLst>
      <p:ext uri="{BB962C8B-B14F-4D97-AF65-F5344CB8AC3E}">
        <p14:creationId xmlns:p14="http://schemas.microsoft.com/office/powerpoint/2010/main" val="10819290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dirty="0"/>
              <a:t>Is there a correlation between age (continuous independent variable) and fees paid (continuous dependent variable)?</a:t>
            </a:r>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905000"/>
            <a:ext cx="9144000" cy="4939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8915400" y="4260272"/>
            <a:ext cx="914400" cy="6927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7572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838200" y="1083905"/>
            <a:ext cx="104394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REGRESSION ANALYSIS</a:t>
            </a:r>
          </a:p>
          <a:p>
            <a:pPr marL="457200" lvl="1" indent="0">
              <a:buNone/>
            </a:pPr>
            <a:r>
              <a:rPr lang="en-US" dirty="0"/>
              <a:t>A statistical technique used to derive an equation representing the influence of a single (simple regression) or multiple (multiple regression) independent variables on a continuous dependent, or outcome, variable.</a:t>
            </a:r>
          </a:p>
        </p:txBody>
      </p:sp>
    </p:spTree>
    <p:extLst>
      <p:ext uri="{BB962C8B-B14F-4D97-AF65-F5344CB8AC3E}">
        <p14:creationId xmlns:p14="http://schemas.microsoft.com/office/powerpoint/2010/main" val="20619823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3600" b="1" i="1" dirty="0">
                <a:solidFill>
                  <a:schemeClr val="tx2"/>
                </a:solidFill>
              </a:rPr>
              <a:t>QUESTION:</a:t>
            </a:r>
            <a:r>
              <a:rPr lang="en-US" sz="3600" dirty="0"/>
              <a:t> What attributes are driving satisfaction/liking of your chosen brand among your respondents?</a:t>
            </a:r>
          </a:p>
          <a:p>
            <a:pPr marL="0" indent="0">
              <a:buNone/>
            </a:pPr>
            <a:endParaRPr lang="en-US" sz="3600" dirty="0"/>
          </a:p>
          <a:p>
            <a:pPr marL="0" indent="0">
              <a:buNone/>
            </a:pPr>
            <a:r>
              <a:rPr lang="en-US" sz="3600" dirty="0"/>
              <a:t>YOU NEED TO RUN THIS! </a:t>
            </a:r>
          </a:p>
        </p:txBody>
      </p:sp>
    </p:spTree>
    <p:extLst>
      <p:ext uri="{BB962C8B-B14F-4D97-AF65-F5344CB8AC3E}">
        <p14:creationId xmlns:p14="http://schemas.microsoft.com/office/powerpoint/2010/main" val="277924177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295400" y="1083905"/>
            <a:ext cx="9982200" cy="2209810"/>
          </a:xfrm>
          <a:prstGeom prst="rect">
            <a:avLst/>
          </a:prstGeom>
        </p:spPr>
        <p:txBody>
          <a:bodyPr/>
          <a:lst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600" b="1" dirty="0">
                <a:solidFill>
                  <a:schemeClr val="tx2"/>
                </a:solidFill>
              </a:rPr>
              <a:t>COEFFICIENT OF MULTIPLE DETERMINATION (</a:t>
            </a:r>
            <a:r>
              <a:rPr lang="en-US" sz="3600" b="1" i="1" dirty="0">
                <a:solidFill>
                  <a:schemeClr val="tx2"/>
                </a:solidFill>
              </a:rPr>
              <a:t>R</a:t>
            </a:r>
            <a:r>
              <a:rPr lang="en-US" sz="3600" b="1" baseline="30000" dirty="0">
                <a:solidFill>
                  <a:schemeClr val="tx2"/>
                </a:solidFill>
              </a:rPr>
              <a:t>2</a:t>
            </a:r>
            <a:r>
              <a:rPr lang="en-US" sz="3600" b="1" dirty="0">
                <a:solidFill>
                  <a:schemeClr val="tx2"/>
                </a:solidFill>
              </a:rPr>
              <a:t>)</a:t>
            </a:r>
          </a:p>
          <a:p>
            <a:pPr marL="457200" lvl="1" indent="0">
              <a:buNone/>
            </a:pPr>
            <a:r>
              <a:rPr lang="en-US" dirty="0"/>
              <a:t>A measure representing the relative proportion of the total variation in the dependent variable that can be explained or accounted for by the fitted regression equation. </a:t>
            </a:r>
          </a:p>
        </p:txBody>
      </p:sp>
    </p:spTree>
    <p:extLst>
      <p:ext uri="{BB962C8B-B14F-4D97-AF65-F5344CB8AC3E}">
        <p14:creationId xmlns:p14="http://schemas.microsoft.com/office/powerpoint/2010/main" val="149065637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Remember!</a:t>
            </a:r>
          </a:p>
        </p:txBody>
      </p:sp>
      <p:sp>
        <p:nvSpPr>
          <p:cNvPr id="3" name="Content Placeholder 2"/>
          <p:cNvSpPr>
            <a:spLocks noGrp="1"/>
          </p:cNvSpPr>
          <p:nvPr>
            <p:ph idx="1"/>
          </p:nvPr>
        </p:nvSpPr>
        <p:spPr>
          <a:xfrm>
            <a:off x="838200" y="1825625"/>
            <a:ext cx="8818984" cy="4351338"/>
          </a:xfrm>
        </p:spPr>
        <p:txBody>
          <a:bodyPr>
            <a:normAutofit/>
          </a:bodyPr>
          <a:lstStyle/>
          <a:p>
            <a:r>
              <a:rPr lang="en-US" sz="2800" dirty="0"/>
              <a:t>The goal of your project is to make recommendations to your client.</a:t>
            </a:r>
          </a:p>
          <a:p>
            <a:r>
              <a:rPr lang="en-US" sz="2800" dirty="0"/>
              <a:t>Those recommendations need to be based on your research</a:t>
            </a:r>
          </a:p>
          <a:p>
            <a:r>
              <a:rPr lang="en-US" sz="2800" dirty="0"/>
              <a:t>You will likely need to do a regression analysis for your final project.</a:t>
            </a:r>
          </a:p>
        </p:txBody>
      </p:sp>
    </p:spTree>
    <p:extLst>
      <p:ext uri="{BB962C8B-B14F-4D97-AF65-F5344CB8AC3E}">
        <p14:creationId xmlns:p14="http://schemas.microsoft.com/office/powerpoint/2010/main" val="364758831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88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LIDO_APP_VERSION" val="1.14.1.6203"/>
  <p:tag name="SLIDO_PRESENTATION_ID" val="95d3db01-e313-421f-a1a5-cc54b386905c"/>
  <p:tag name="SLIDO_EVENT_UUID" val="526d52bc-93cb-40bb-9361-7c40a8504f9d"/>
  <p:tag name="SLIDO_EVENT_SECTION_UUID" val="f11676dd-ac00-4cbe-8c61-44c0c8c9f163"/>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NDUzMjE5NTF9"/>
  <p:tag name="SLIDO_TYPE" val="SlidoPoll"/>
  <p:tag name="SLIDO_POLL_UUID" val="3f309a01-b00d-447b-923c-150c1192f56d"/>
  <p:tag name="SLIDO_TIMELINE" val="W3sicG9sbFF1ZXN0aW9uVXVpZCI6IjJhZTA2ODA3LWM4NDEtNDM3MS1hYjcwLWUxNTc2YmYyYmE3ZCIsInNob3dSZXN1bHRzIjpmYWxzZSwic2hvd0NvcnJlY3RBbnN3ZXJzIjpmYWxzZSwidm90aW5nTG9ja2VkIjpmYWxzZX0seyJwb2xsUXVlc3Rpb25VdWlkIjoiMmFlMDY4MDctYzg0MS00MzcxLWFiNzAtZTE1NzZiZjJiYTdkIiwic2hvd1Jlc3VsdHMiOnRydWUsInNob3dDb3JyZWN0QW5zd2VycyI6ZmFsc2UsInZvdGluZ0xvY2tlZCI6ZmFsc2V9XQ=="/>
</p:tagLst>
</file>

<file path=ppt/tags/tag3.xml><?xml version="1.0" encoding="utf-8"?>
<p:tagLst xmlns:a="http://schemas.openxmlformats.org/drawingml/2006/main" xmlns:r="http://schemas.openxmlformats.org/officeDocument/2006/relationships" xmlns:p="http://schemas.openxmlformats.org/presentationml/2006/main">
  <p:tag name="SLIDO_ELEMENT" val="title"/>
</p:tagLst>
</file>

<file path=ppt/tags/tag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5.xml><?xml version="1.0" encoding="utf-8"?>
<p:tagLst xmlns:a="http://schemas.openxmlformats.org/drawingml/2006/main" xmlns:r="http://schemas.openxmlformats.org/officeDocument/2006/relationships" xmlns:p="http://schemas.openxmlformats.org/presentationml/2006/main">
  <p:tag name="SLIDO_METADATA" val="eyJUaW1lc3RhbXAiOjE3NDUzMjIwODF9"/>
  <p:tag name="SLIDO_TYPE" val="SlidoPoll"/>
  <p:tag name="SLIDO_POLL_UUID" val="75a14259-93bb-412c-9042-504249b36369"/>
  <p:tag name="SLIDO_TIMELINE" val="W3sicG9sbFF1ZXN0aW9uVXVpZCI6IjljYzBjZjQwLTE0MDMtNDVmZS1iYzEyLTA4MzY3NmEyYTg1MiIsInNob3dSZXN1bHRzIjpmYWxzZSwic2hvd0NvcnJlY3RBbnN3ZXJzIjpmYWxzZSwidm90aW5nTG9ja2VkIjpmYWxzZX0seyJwb2xsUXVlc3Rpb25VdWlkIjoiOWNjMGNmNDAtMTQwMy00NWZlLWJjMTItMDgzNjc2YTJhODUyIiwic2hvd1Jlc3VsdHMiOnRydWUsInNob3dDb3JyZWN0QW5zd2VycyI6ZmFsc2UsInZvdGluZ0xvY2tlZCI6ZmFsc2V9XQ=="/>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U_PPTtemplate2" id="{0469F02D-B852-2749-917C-AD4BF6465C21}" vid="{F25CEA40-8609-7F4F-BE1D-8B08452F0A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xu-powerpoint-template3</Template>
  <TotalTime>1992</TotalTime>
  <Words>3288</Words>
  <Application>Microsoft Office PowerPoint</Application>
  <PresentationFormat>Widescreen</PresentationFormat>
  <Paragraphs>355</Paragraphs>
  <Slides>89</Slides>
  <Notes>9</Notes>
  <HiddenSlides>5</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Arial</vt:lpstr>
      <vt:lpstr>Calibri</vt:lpstr>
      <vt:lpstr>Calibri Light</vt:lpstr>
      <vt:lpstr>CG Times (WN)</vt:lpstr>
      <vt:lpstr>Wingdings</vt:lpstr>
      <vt:lpstr>Office Theme</vt:lpstr>
      <vt:lpstr>Prepping, Testing, &amp; Interpreting Data</vt:lpstr>
      <vt:lpstr>Student Learning Objectives</vt:lpstr>
      <vt:lpstr>Reminder …</vt:lpstr>
      <vt:lpstr>PowerPoint Presentation</vt:lpstr>
      <vt:lpstr>Primary Tasks in the Editing Process</vt:lpstr>
      <vt:lpstr>PowerPoint Presentation</vt:lpstr>
      <vt:lpstr>Coding Closed-Ended Items</vt:lpstr>
      <vt:lpstr>Important:</vt:lpstr>
      <vt:lpstr>Can fix the numbering in Qualtrics</vt:lpstr>
      <vt:lpstr>Coding Closed-Ended Items: Check All That Apply</vt:lpstr>
      <vt:lpstr>Coding Open-Ended Items</vt:lpstr>
      <vt:lpstr>Coding Open-Ended Items</vt:lpstr>
      <vt:lpstr>Process for Coding Exploratory Open-Ended Questions</vt:lpstr>
      <vt:lpstr>Avery Fitness Center Survey</vt:lpstr>
      <vt:lpstr>PowerPoint Presentation</vt:lpstr>
      <vt:lpstr>PowerPoint Presentation</vt:lpstr>
      <vt:lpstr>PowerPoint Presentation</vt:lpstr>
      <vt:lpstr>PowerPoint Presentation</vt:lpstr>
      <vt:lpstr>Cleaning the Data</vt:lpstr>
      <vt:lpstr>PowerPoint Presentation</vt:lpstr>
      <vt:lpstr>Dealing With Bad Respondents</vt:lpstr>
      <vt:lpstr>Handling Missing Data</vt:lpstr>
      <vt:lpstr>Alternative Strategies for Handling Missing Data</vt:lpstr>
      <vt:lpstr>Notes for your projects</vt:lpstr>
      <vt:lpstr>Analysis and Interpretation: Univariate (Individual Variables)</vt:lpstr>
      <vt:lpstr>Quiz: Considerations</vt:lpstr>
      <vt:lpstr>PowerPoint Presentation</vt:lpstr>
      <vt:lpstr>PowerPoint Presentation</vt:lpstr>
      <vt:lpstr>Final Analysis: Considerations</vt:lpstr>
      <vt:lpstr>The Frequency Distribution of Whether to Recommend The Cincinnati Reds suggests ...</vt:lpstr>
      <vt:lpstr>Cincinnati Reds have a Net Promoter Score of +4</vt:lpstr>
      <vt:lpstr>Data Analysis: Two Key Considerations</vt:lpstr>
      <vt:lpstr>PowerPoint Presentation</vt:lpstr>
      <vt:lpstr>Types of Data</vt:lpstr>
      <vt:lpstr>Types of Categorical Data</vt:lpstr>
      <vt:lpstr>Types of Numerical Data</vt:lpstr>
      <vt:lpstr>Basic Univariate Statistics: Categorical Measures </vt:lpstr>
      <vt:lpstr>PowerPoint Presentation</vt:lpstr>
      <vt:lpstr>Qualtrics Generates this for you Automatically</vt:lpstr>
      <vt:lpstr>Use of Percentages</vt:lpstr>
      <vt:lpstr>Frequency Analysis</vt:lpstr>
      <vt:lpstr>Presenting Frequency Analysis Results</vt:lpstr>
      <vt:lpstr>Uses of Frequency Analysis</vt:lpstr>
      <vt:lpstr>PowerPoint Presentation</vt:lpstr>
      <vt:lpstr>PowerPoint Presentation</vt:lpstr>
      <vt:lpstr>PowerPoint Presentation</vt:lpstr>
      <vt:lpstr>Basic Univariate Statistics: Continuous Measures</vt:lpstr>
      <vt:lpstr>Converting Continuous Measures to Categorical Measures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vt:lpstr>
      <vt:lpstr>End of Information Covered on Quiz</vt:lpstr>
      <vt:lpstr>Analysis and Interpretation: Multivariate (Multiple Variables Simultaenously)</vt:lpstr>
      <vt:lpstr>Why Use Multivariate Analysis?</vt:lpstr>
      <vt:lpstr>A Univariate Analysis Result</vt:lpstr>
      <vt:lpstr>Multivariate Analysis Results:  Enhanced Meaning</vt:lpstr>
      <vt:lpstr>Multivariate Analysis Results: Enhanced Meaning</vt:lpstr>
      <vt:lpstr>PowerPoint Presentation</vt:lpstr>
      <vt:lpstr>“Which Percentages Should I Use?”</vt:lpstr>
      <vt:lpstr>Presenting the Results</vt:lpstr>
      <vt:lpstr>Presenting Results Graphically </vt:lpstr>
      <vt:lpstr>Presenting the Results</vt:lpstr>
      <vt:lpstr>PowerPoint Presentation</vt:lpstr>
      <vt:lpstr>Cross-tabs:  Testing for Statistical Significance</vt:lpstr>
      <vt:lpstr>You can do this in Qualtrics!</vt:lpstr>
      <vt:lpstr>Creating the Cross-Tab</vt:lpstr>
      <vt:lpstr>Output</vt:lpstr>
      <vt:lpstr>Merging</vt:lpstr>
      <vt:lpstr>Lastly</vt:lpstr>
      <vt:lpstr>PowerPoint Presentation</vt:lpstr>
      <vt:lpstr>Does utilizing the exercise circuit (categorical independent variable) lead to increased number of visits to center (continuous dependent variable)?</vt:lpstr>
      <vt:lpstr>PowerPoint Presentation</vt:lpstr>
      <vt:lpstr>PowerPoint Presentation</vt:lpstr>
      <vt:lpstr>Do the mean attribute importance levels, provided by the same respondents, differ from one another?</vt:lpstr>
      <vt:lpstr>PowerPoint Presentation</vt:lpstr>
      <vt:lpstr>PowerPoint Presentation</vt:lpstr>
      <vt:lpstr>Is there a correlation between age (continuous independent variable) and fees paid (continuous dependent variable)?</vt:lpstr>
      <vt:lpstr>PowerPoint Presentation</vt:lpstr>
      <vt:lpstr>PowerPoint Presentation</vt:lpstr>
      <vt:lpstr>PowerPoint Presentation</vt:lpstr>
      <vt:lpstr>Remember!</vt:lpstr>
      <vt:lpstr>PowerPoint Presentation</vt:lpstr>
    </vt:vector>
  </TitlesOfParts>
  <Company>Xavier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Strategy</dc:title>
  <dc:creator>Beck, Scott</dc:creator>
  <cp:lastModifiedBy>Beck, Scott</cp:lastModifiedBy>
  <cp:revision>127</cp:revision>
  <cp:lastPrinted>2020-08-26T16:29:50Z</cp:lastPrinted>
  <dcterms:created xsi:type="dcterms:W3CDTF">2020-06-29T15:54:52Z</dcterms:created>
  <dcterms:modified xsi:type="dcterms:W3CDTF">2025-04-22T15:56:36Z</dcterms:modified>
</cp:coreProperties>
</file>