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572" r:id="rId3"/>
    <p:sldId id="573" r:id="rId4"/>
    <p:sldId id="272" r:id="rId5"/>
    <p:sldId id="539" r:id="rId6"/>
    <p:sldId id="540" r:id="rId7"/>
    <p:sldId id="541" r:id="rId8"/>
    <p:sldId id="542" r:id="rId9"/>
    <p:sldId id="543" r:id="rId10"/>
    <p:sldId id="544" r:id="rId11"/>
    <p:sldId id="545" r:id="rId12"/>
    <p:sldId id="546" r:id="rId13"/>
    <p:sldId id="547" r:id="rId14"/>
    <p:sldId id="548" r:id="rId15"/>
    <p:sldId id="549" r:id="rId16"/>
    <p:sldId id="550" r:id="rId17"/>
    <p:sldId id="551" r:id="rId18"/>
    <p:sldId id="552" r:id="rId19"/>
    <p:sldId id="553" r:id="rId20"/>
    <p:sldId id="554" r:id="rId21"/>
    <p:sldId id="574" r:id="rId22"/>
    <p:sldId id="555" r:id="rId23"/>
    <p:sldId id="556" r:id="rId24"/>
    <p:sldId id="557" r:id="rId25"/>
    <p:sldId id="558" r:id="rId26"/>
    <p:sldId id="559" r:id="rId27"/>
    <p:sldId id="560" r:id="rId28"/>
    <p:sldId id="561" r:id="rId29"/>
    <p:sldId id="562" r:id="rId30"/>
    <p:sldId id="563" r:id="rId31"/>
    <p:sldId id="564" r:id="rId32"/>
    <p:sldId id="565" r:id="rId33"/>
    <p:sldId id="566" r:id="rId34"/>
    <p:sldId id="567" r:id="rId35"/>
    <p:sldId id="568" r:id="rId36"/>
    <p:sldId id="569" r:id="rId37"/>
    <p:sldId id="570" r:id="rId38"/>
    <p:sldId id="571" r:id="rId39"/>
    <p:sldId id="266" r:id="rId40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9CC8"/>
    <a:srgbClr val="001541"/>
    <a:srgbClr val="BD707B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/>
    <p:restoredTop sz="94890"/>
  </p:normalViewPr>
  <p:slideViewPr>
    <p:cSldViewPr snapToGrid="0" snapToObjects="1" showGuides="1">
      <p:cViewPr varScale="1">
        <p:scale>
          <a:sx n="62" d="100"/>
          <a:sy n="62" d="100"/>
        </p:scale>
        <p:origin x="68" y="2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03FFF951-6D62-CB4E-866F-40E5C899BB84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134B82A-5292-FA40-A7FB-7C93D521EC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2660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643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963D65B7-7862-7F47-B99E-B3AB2843FF4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73892"/>
            <a:ext cx="5505450" cy="3660458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6433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EEA2CE63-AE64-8646-9F3E-7DE0B8E53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218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72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76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26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74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8:30 stopped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5712DE-AD93-43A0-83DC-E70DA846B4B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30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10AM stopped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5712DE-AD93-43A0-83DC-E70DA846B4B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98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2CE63-AE64-8646-9F3E-7DE0B8E53F2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45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2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31190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9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74295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8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9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153400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5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30456" y="6356350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1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53400" y="6373545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69288" y="6373545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80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53746" y="6356349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3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53400" y="6349643"/>
            <a:ext cx="2743200" cy="36512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973E6DFB-264B-4D4C-9468-2A87659EAF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1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00734-FF99-944C-8656-684769A3B86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E6DFB-264B-4D4C-9468-2A87659E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00734-FF99-944C-8656-684769A3B86B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E6DFB-264B-4D4C-9468-2A87659EA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3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8072" y="969962"/>
            <a:ext cx="9144000" cy="2706687"/>
          </a:xfrm>
        </p:spPr>
        <p:txBody>
          <a:bodyPr/>
          <a:lstStyle/>
          <a:p>
            <a:r>
              <a:rPr lang="en-US" b="1" dirty="0">
                <a:solidFill>
                  <a:srgbClr val="001541"/>
                </a:solidFill>
              </a:rPr>
              <a:t>Designing the Questionnaire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70857" y="3749447"/>
            <a:ext cx="9144000" cy="1655762"/>
          </a:xfrm>
        </p:spPr>
        <p:txBody>
          <a:bodyPr/>
          <a:lstStyle/>
          <a:p>
            <a:r>
              <a:rPr lang="en-US" b="1" dirty="0">
                <a:solidFill>
                  <a:srgbClr val="009CC8"/>
                </a:solidFill>
              </a:rPr>
              <a:t>MKTG 302-01</a:t>
            </a:r>
          </a:p>
          <a:p>
            <a:r>
              <a:rPr lang="en-US" b="1" dirty="0">
                <a:solidFill>
                  <a:srgbClr val="009CC8"/>
                </a:solidFill>
              </a:rPr>
              <a:t>Spring Semester, 2025</a:t>
            </a:r>
          </a:p>
          <a:p>
            <a:r>
              <a:rPr lang="en-US" b="1" dirty="0">
                <a:solidFill>
                  <a:srgbClr val="009CC8"/>
                </a:solidFill>
              </a:rPr>
              <a:t>Scott Beck</a:t>
            </a:r>
          </a:p>
        </p:txBody>
      </p:sp>
    </p:spTree>
    <p:extLst>
      <p:ext uri="{BB962C8B-B14F-4D97-AF65-F5344CB8AC3E}">
        <p14:creationId xmlns:p14="http://schemas.microsoft.com/office/powerpoint/2010/main" val="51856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716" y="669925"/>
            <a:ext cx="9154885" cy="1325563"/>
          </a:xfrm>
        </p:spPr>
        <p:txBody>
          <a:bodyPr/>
          <a:lstStyle/>
          <a:p>
            <a:r>
              <a:rPr lang="en-US" dirty="0">
                <a:solidFill>
                  <a:srgbClr val="001541"/>
                </a:solidFill>
                <a:latin typeface="+mn-lt"/>
              </a:rPr>
              <a:t>Some updates to know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715" y="1607910"/>
            <a:ext cx="9154885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009CC8"/>
                </a:solidFill>
              </a:rPr>
              <a:t>Individual projects submitted should be graded by tomorrow</a:t>
            </a:r>
          </a:p>
          <a:p>
            <a:r>
              <a:rPr lang="en-US" dirty="0">
                <a:solidFill>
                  <a:srgbClr val="009CC8"/>
                </a:solidFill>
              </a:rPr>
              <a:t>Quiz is next Tuesday – NOT in class!</a:t>
            </a:r>
          </a:p>
          <a:p>
            <a:pPr lvl="1"/>
            <a:r>
              <a:rPr lang="en-US" dirty="0">
                <a:solidFill>
                  <a:srgbClr val="009CC8"/>
                </a:solidFill>
              </a:rPr>
              <a:t>Use Canvas, Lockdown Browser including camera monitor</a:t>
            </a:r>
          </a:p>
          <a:p>
            <a:pPr lvl="1"/>
            <a:r>
              <a:rPr lang="en-US" dirty="0">
                <a:solidFill>
                  <a:srgbClr val="009CC8"/>
                </a:solidFill>
              </a:rPr>
              <a:t>Decks 4/5* - 10</a:t>
            </a:r>
          </a:p>
          <a:p>
            <a:r>
              <a:rPr lang="en-US" dirty="0">
                <a:solidFill>
                  <a:srgbClr val="009CC8"/>
                </a:solidFill>
              </a:rPr>
              <a:t>Thursday is a scheduled working session</a:t>
            </a:r>
          </a:p>
          <a:p>
            <a:r>
              <a:rPr lang="en-US" dirty="0">
                <a:solidFill>
                  <a:srgbClr val="009CC8"/>
                </a:solidFill>
              </a:rPr>
              <a:t>Project Description is posted</a:t>
            </a:r>
          </a:p>
          <a:p>
            <a:r>
              <a:rPr lang="en-US" dirty="0">
                <a:solidFill>
                  <a:srgbClr val="009CC8"/>
                </a:solidFill>
              </a:rPr>
              <a:t>Reds Game on April 30</a:t>
            </a:r>
            <a:r>
              <a:rPr lang="en-US" baseline="30000" dirty="0">
                <a:solidFill>
                  <a:srgbClr val="009CC8"/>
                </a:solidFill>
              </a:rPr>
              <a:t>th</a:t>
            </a:r>
            <a:r>
              <a:rPr lang="en-US" dirty="0">
                <a:solidFill>
                  <a:srgbClr val="009CC8"/>
                </a:solidFill>
              </a:rPr>
              <a:t> is on your Calendar</a:t>
            </a:r>
          </a:p>
          <a:p>
            <a:r>
              <a:rPr lang="en-US" dirty="0">
                <a:solidFill>
                  <a:srgbClr val="009CC8"/>
                </a:solidFill>
              </a:rPr>
              <a:t>Please register for “Corporate </a:t>
            </a:r>
            <a:r>
              <a:rPr lang="en-US" dirty="0" err="1">
                <a:solidFill>
                  <a:srgbClr val="009CC8"/>
                </a:solidFill>
              </a:rPr>
              <a:t>ConneXions</a:t>
            </a:r>
            <a:r>
              <a:rPr lang="en-US" dirty="0">
                <a:solidFill>
                  <a:srgbClr val="009CC8"/>
                </a:solidFill>
              </a:rPr>
              <a:t>” for Thursday evening @ 6:00 pm</a:t>
            </a:r>
          </a:p>
          <a:p>
            <a:pPr lvl="1"/>
            <a:r>
              <a:rPr lang="en-US" dirty="0">
                <a:solidFill>
                  <a:srgbClr val="009CC8"/>
                </a:solidFill>
              </a:rPr>
              <a:t>Business Attire Required</a:t>
            </a:r>
          </a:p>
          <a:p>
            <a:pPr lvl="1"/>
            <a:r>
              <a:rPr lang="en-US" dirty="0">
                <a:solidFill>
                  <a:srgbClr val="009CC8"/>
                </a:solidFill>
              </a:rPr>
              <a:t>+1 point on Final Score for our class</a:t>
            </a:r>
          </a:p>
          <a:p>
            <a:pPr lvl="1"/>
            <a:r>
              <a:rPr lang="en-US" dirty="0">
                <a:solidFill>
                  <a:srgbClr val="009CC8"/>
                </a:solidFill>
              </a:rPr>
              <a:t>~ 20 great companies</a:t>
            </a:r>
          </a:p>
        </p:txBody>
      </p:sp>
    </p:spTree>
    <p:extLst>
      <p:ext uri="{BB962C8B-B14F-4D97-AF65-F5344CB8AC3E}">
        <p14:creationId xmlns:p14="http://schemas.microsoft.com/office/powerpoint/2010/main" val="3940578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716" y="669925"/>
            <a:ext cx="9154885" cy="1325563"/>
          </a:xfrm>
        </p:spPr>
        <p:txBody>
          <a:bodyPr/>
          <a:lstStyle/>
          <a:p>
            <a:r>
              <a:rPr lang="en-US" dirty="0">
                <a:solidFill>
                  <a:srgbClr val="001541"/>
                </a:solidFill>
                <a:latin typeface="+mn-lt"/>
              </a:rPr>
              <a:t>Project 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716" y="2130425"/>
            <a:ext cx="9154885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9CC8"/>
                </a:solidFill>
              </a:rPr>
              <a:t>• Mar 27:  First draft of survey is due to me</a:t>
            </a:r>
          </a:p>
          <a:p>
            <a:pPr marL="0" indent="0">
              <a:buNone/>
            </a:pPr>
            <a:r>
              <a:rPr lang="en-US" dirty="0">
                <a:solidFill>
                  <a:srgbClr val="009CC8"/>
                </a:solidFill>
              </a:rPr>
              <a:t>• Apr 1:  Second/Final draft of survey is due.  Questionnaires sent to client for review.</a:t>
            </a:r>
          </a:p>
          <a:p>
            <a:pPr marL="0" indent="0">
              <a:buNone/>
            </a:pPr>
            <a:r>
              <a:rPr lang="en-US" dirty="0">
                <a:solidFill>
                  <a:srgbClr val="009CC8"/>
                </a:solidFill>
              </a:rPr>
              <a:t>• Apr 3:  Data collection begins via </a:t>
            </a:r>
            <a:r>
              <a:rPr lang="en-US" dirty="0" err="1">
                <a:solidFill>
                  <a:srgbClr val="009CC8"/>
                </a:solidFill>
              </a:rPr>
              <a:t>Qualitrics</a:t>
            </a:r>
            <a:r>
              <a:rPr lang="en-US" dirty="0">
                <a:solidFill>
                  <a:srgbClr val="009CC8"/>
                </a:solidFill>
              </a:rPr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rgbClr val="009CC8"/>
                </a:solidFill>
              </a:rPr>
              <a:t>• Apr 10:  We expect to have surveys completed – total of 100 (min) – 200 (max)</a:t>
            </a:r>
          </a:p>
          <a:p>
            <a:pPr marL="0" indent="0">
              <a:buNone/>
            </a:pPr>
            <a:r>
              <a:rPr lang="en-US" dirty="0">
                <a:solidFill>
                  <a:srgbClr val="009CC8"/>
                </a:solidFill>
              </a:rPr>
              <a:t>• Apr 15:  Students will deliver their 1st draft analysis to Professor </a:t>
            </a:r>
          </a:p>
          <a:p>
            <a:pPr marL="0" indent="0">
              <a:buNone/>
            </a:pPr>
            <a:r>
              <a:rPr lang="en-US" dirty="0">
                <a:solidFill>
                  <a:srgbClr val="009CC8"/>
                </a:solidFill>
              </a:rPr>
              <a:t>• Apr 24:  2nd draft is due.</a:t>
            </a:r>
          </a:p>
          <a:p>
            <a:pPr marL="0" indent="0">
              <a:buNone/>
            </a:pPr>
            <a:r>
              <a:rPr lang="en-US" dirty="0">
                <a:solidFill>
                  <a:srgbClr val="009CC8"/>
                </a:solidFill>
              </a:rPr>
              <a:t>• Apr 30: (OPTIONAL) GABP Tour, Cincinnati Reds game – in-person personal interviews with guests, observation research</a:t>
            </a:r>
          </a:p>
          <a:p>
            <a:pPr marL="0" indent="0">
              <a:buNone/>
            </a:pPr>
            <a:r>
              <a:rPr lang="en-US" dirty="0">
                <a:solidFill>
                  <a:srgbClr val="009CC8"/>
                </a:solidFill>
              </a:rPr>
              <a:t>• May 6:  Presentations to client at 8:30 – 10:20am.</a:t>
            </a:r>
          </a:p>
          <a:p>
            <a:pPr lvl="1"/>
            <a:r>
              <a:rPr lang="en-US" dirty="0">
                <a:solidFill>
                  <a:srgbClr val="009CC8"/>
                </a:solidFill>
              </a:rPr>
              <a:t>BAGELS and COFFEE provided!!!</a:t>
            </a:r>
          </a:p>
          <a:p>
            <a:pPr marL="0" indent="0">
              <a:buNone/>
            </a:pPr>
            <a:endParaRPr lang="en-US" dirty="0">
              <a:solidFill>
                <a:srgbClr val="009CC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913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716" y="669925"/>
            <a:ext cx="9154885" cy="1325563"/>
          </a:xfrm>
        </p:spPr>
        <p:txBody>
          <a:bodyPr/>
          <a:lstStyle/>
          <a:p>
            <a:r>
              <a:rPr lang="en-US" dirty="0">
                <a:solidFill>
                  <a:srgbClr val="001541"/>
                </a:solidFill>
                <a:latin typeface="+mn-lt"/>
              </a:rPr>
              <a:t>Student 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716" y="2130425"/>
            <a:ext cx="9154885" cy="4351338"/>
          </a:xfrm>
        </p:spPr>
        <p:txBody>
          <a:bodyPr/>
          <a:lstStyle/>
          <a:p>
            <a:r>
              <a:rPr lang="en-US" dirty="0">
                <a:solidFill>
                  <a:srgbClr val="009CC8"/>
                </a:solidFill>
              </a:rPr>
              <a:t>Learn how to create great questions using different techniques and forms, and</a:t>
            </a:r>
          </a:p>
          <a:p>
            <a:r>
              <a:rPr lang="en-US" dirty="0">
                <a:solidFill>
                  <a:srgbClr val="009CC8"/>
                </a:solidFill>
              </a:rPr>
              <a:t>Prepare well for the client survey for the Reds.</a:t>
            </a:r>
          </a:p>
        </p:txBody>
      </p:sp>
    </p:spTree>
    <p:extLst>
      <p:ext uri="{BB962C8B-B14F-4D97-AF65-F5344CB8AC3E}">
        <p14:creationId xmlns:p14="http://schemas.microsoft.com/office/powerpoint/2010/main" val="100819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952" y="1718733"/>
            <a:ext cx="9075049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to create a questionnaire</a:t>
            </a:r>
          </a:p>
        </p:txBody>
      </p:sp>
    </p:spTree>
    <p:extLst>
      <p:ext uri="{BB962C8B-B14F-4D97-AF65-F5344CB8AC3E}">
        <p14:creationId xmlns:p14="http://schemas.microsoft.com/office/powerpoint/2010/main" val="3963293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b="1" i="1" dirty="0">
                <a:solidFill>
                  <a:schemeClr val="tx2"/>
                </a:solidFill>
              </a:rPr>
              <a:t>STEP 1:</a:t>
            </a:r>
            <a:r>
              <a:rPr lang="en-US" altLang="en-US" dirty="0"/>
              <a:t> Specify What Information Will Be Sought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500" dirty="0"/>
              <a:t>The first step should be relatively easy, assuming that the researchers have done a good job at earlier stages in the research process.</a:t>
            </a:r>
          </a:p>
          <a:p>
            <a:pPr eaLnBrk="1" hangingPunct="1"/>
            <a:r>
              <a:rPr lang="en-US" altLang="en-US" sz="2500" dirty="0"/>
              <a:t>Hypotheses, dummy tables, etc., make it clear what information is needed.</a:t>
            </a:r>
          </a:p>
        </p:txBody>
      </p:sp>
    </p:spTree>
    <p:extLst>
      <p:ext uri="{BB962C8B-B14F-4D97-AF65-F5344CB8AC3E}">
        <p14:creationId xmlns:p14="http://schemas.microsoft.com/office/powerpoint/2010/main" val="3057747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Probing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review what the Reds wants to learn?</a:t>
            </a:r>
          </a:p>
          <a:p>
            <a:r>
              <a:rPr lang="en-US" sz="2400" dirty="0"/>
              <a:t>What did YOU learn?</a:t>
            </a:r>
          </a:p>
        </p:txBody>
      </p:sp>
    </p:spTree>
    <p:extLst>
      <p:ext uri="{BB962C8B-B14F-4D97-AF65-F5344CB8AC3E}">
        <p14:creationId xmlns:p14="http://schemas.microsoft.com/office/powerpoint/2010/main" val="2125810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3785884" y="2565175"/>
            <a:ext cx="5264727" cy="25250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8" tIns="40819" rIns="81638" bIns="408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>
          <a:xfrm>
            <a:off x="1031055" y="708320"/>
            <a:ext cx="7924512" cy="1144845"/>
          </a:xfrm>
        </p:spPr>
        <p:txBody>
          <a:bodyPr/>
          <a:lstStyle/>
          <a:p>
            <a:pPr eaLnBrk="1" hangingPunct="1"/>
            <a:r>
              <a:rPr lang="en-US" altLang="en-US" sz="3700" b="1" i="1" dirty="0">
                <a:solidFill>
                  <a:schemeClr val="tx2"/>
                </a:solidFill>
              </a:rPr>
              <a:t>STEP 2:</a:t>
            </a:r>
            <a:r>
              <a:rPr lang="en-US" altLang="en-US" sz="3700" dirty="0"/>
              <a:t> Determine Method of Administration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idx="1"/>
          </p:nvPr>
        </p:nvSpPr>
        <p:spPr>
          <a:xfrm>
            <a:off x="1447800" y="1904728"/>
            <a:ext cx="9720073" cy="4023360"/>
          </a:xfrm>
        </p:spPr>
        <p:txBody>
          <a:bodyPr/>
          <a:lstStyle/>
          <a:p>
            <a:pPr eaLnBrk="1" hangingPunct="1"/>
            <a:r>
              <a:rPr lang="en-US" altLang="en-US" sz="2500" dirty="0"/>
              <a:t>The degree of </a:t>
            </a:r>
            <a:r>
              <a:rPr lang="en-US" altLang="en-US" sz="2500" b="1" u="sng" dirty="0"/>
              <a:t>structure</a:t>
            </a:r>
            <a:r>
              <a:rPr lang="en-US" altLang="en-US" sz="2500" dirty="0"/>
              <a:t> and </a:t>
            </a:r>
            <a:r>
              <a:rPr lang="en-US" altLang="en-US" sz="2500" b="1" u="sng" dirty="0"/>
              <a:t>disguise</a:t>
            </a:r>
            <a:r>
              <a:rPr lang="en-US" altLang="en-US" sz="2500" dirty="0"/>
              <a:t> influence this decision, as does the specific research situation.</a:t>
            </a:r>
          </a:p>
          <a:p>
            <a:pPr lvl="1" eaLnBrk="1" hangingPunct="1"/>
            <a:endParaRPr lang="en-US" altLang="en-US" sz="2500" dirty="0"/>
          </a:p>
          <a:p>
            <a:pPr lvl="1" algn="ctr" eaLnBrk="1" hangingPunct="1">
              <a:buFont typeface="Arial" pitchFamily="34" charset="0"/>
              <a:buNone/>
            </a:pPr>
            <a:r>
              <a:rPr lang="en-US" altLang="en-US" sz="2500" dirty="0">
                <a:solidFill>
                  <a:schemeClr val="bg1"/>
                </a:solidFill>
              </a:rPr>
              <a:t>Personal Interview</a:t>
            </a:r>
          </a:p>
          <a:p>
            <a:pPr lvl="1" algn="ctr" eaLnBrk="1" hangingPunct="1">
              <a:buFont typeface="Arial" pitchFamily="34" charset="0"/>
              <a:buNone/>
            </a:pPr>
            <a:r>
              <a:rPr lang="en-US" altLang="en-US" sz="2500" dirty="0">
                <a:solidFill>
                  <a:schemeClr val="bg1"/>
                </a:solidFill>
              </a:rPr>
              <a:t>Telephone Interview</a:t>
            </a:r>
          </a:p>
          <a:p>
            <a:pPr lvl="1" algn="ctr" eaLnBrk="1" hangingPunct="1">
              <a:buFont typeface="Arial" pitchFamily="34" charset="0"/>
              <a:buNone/>
            </a:pPr>
            <a:r>
              <a:rPr lang="en-US" altLang="en-US" sz="2500" dirty="0">
                <a:solidFill>
                  <a:schemeClr val="bg1"/>
                </a:solidFill>
              </a:rPr>
              <a:t>Mail Survey</a:t>
            </a:r>
          </a:p>
          <a:p>
            <a:pPr lvl="1" algn="ctr" eaLnBrk="1" hangingPunct="1">
              <a:buFont typeface="Arial" pitchFamily="34" charset="0"/>
              <a:buNone/>
            </a:pPr>
            <a:r>
              <a:rPr lang="en-US" altLang="en-US" sz="2500" dirty="0">
                <a:solidFill>
                  <a:schemeClr val="bg1"/>
                </a:solidFill>
              </a:rPr>
              <a:t>Online Survey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81400" y="5562600"/>
            <a:ext cx="5867400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What are some relative advantages / disadvantages of each method?</a:t>
            </a:r>
          </a:p>
        </p:txBody>
      </p:sp>
    </p:spTree>
    <p:extLst>
      <p:ext uri="{BB962C8B-B14F-4D97-AF65-F5344CB8AC3E}">
        <p14:creationId xmlns:p14="http://schemas.microsoft.com/office/powerpoint/2010/main" val="89404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Control-Depends on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981200"/>
            <a:ext cx="10177272" cy="4724400"/>
          </a:xfrm>
        </p:spPr>
        <p:txBody>
          <a:bodyPr>
            <a:normAutofit/>
          </a:bodyPr>
          <a:lstStyle/>
          <a:p>
            <a:r>
              <a:rPr lang="en-US" sz="2800" dirty="0"/>
              <a:t>Sampling Control</a:t>
            </a:r>
          </a:p>
          <a:p>
            <a:pPr lvl="1"/>
            <a:r>
              <a:rPr lang="en-US" sz="2400" dirty="0"/>
              <a:t>Ability to secure a list of population members (allows for random sampling)</a:t>
            </a:r>
          </a:p>
          <a:p>
            <a:pPr lvl="1"/>
            <a:r>
              <a:rPr lang="en-US" sz="2400" dirty="0"/>
              <a:t>Secure response</a:t>
            </a:r>
          </a:p>
          <a:p>
            <a:pPr lvl="1"/>
            <a:r>
              <a:rPr lang="en-US" sz="2400" dirty="0"/>
              <a:t>Response rate</a:t>
            </a:r>
          </a:p>
          <a:p>
            <a:r>
              <a:rPr lang="en-US" sz="2800" dirty="0"/>
              <a:t>Information Control</a:t>
            </a:r>
          </a:p>
          <a:p>
            <a:pPr lvl="1"/>
            <a:r>
              <a:rPr lang="en-US" sz="2400" dirty="0"/>
              <a:t>Ability to adapt to the situation as needed</a:t>
            </a:r>
          </a:p>
          <a:p>
            <a:pPr lvl="1"/>
            <a:r>
              <a:rPr lang="en-US" sz="2400" dirty="0"/>
              <a:t>Protection from interviewer bias</a:t>
            </a:r>
          </a:p>
          <a:p>
            <a:pPr lvl="1"/>
            <a:r>
              <a:rPr lang="en-US" sz="2400" dirty="0"/>
              <a:t>Ability to obtain personal information</a:t>
            </a:r>
          </a:p>
          <a:p>
            <a:r>
              <a:rPr lang="en-US" sz="2800" dirty="0"/>
              <a:t>Administrative Control</a:t>
            </a:r>
          </a:p>
          <a:p>
            <a:pPr lvl="1"/>
            <a:r>
              <a:rPr lang="en-US" sz="2400" dirty="0"/>
              <a:t> Costs</a:t>
            </a:r>
          </a:p>
          <a:p>
            <a:pPr lvl="1"/>
            <a:r>
              <a:rPr lang="en-US" sz="2400" dirty="0"/>
              <a:t>Quality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91400" y="3276601"/>
            <a:ext cx="3048000" cy="19082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marL="0" lvl="1" algn="ctr"/>
            <a:r>
              <a:rPr lang="en-US" altLang="en-US" sz="2500" dirty="0">
                <a:solidFill>
                  <a:schemeClr val="tx1"/>
                </a:solidFill>
              </a:rPr>
              <a:t>Personal Interview</a:t>
            </a:r>
          </a:p>
          <a:p>
            <a:pPr marL="0" lvl="1" algn="ctr"/>
            <a:r>
              <a:rPr lang="en-US" altLang="en-US" sz="2500" dirty="0">
                <a:solidFill>
                  <a:schemeClr val="tx1"/>
                </a:solidFill>
              </a:rPr>
              <a:t>Telephone Interview</a:t>
            </a:r>
          </a:p>
          <a:p>
            <a:pPr marL="0" lvl="1" algn="ctr"/>
            <a:r>
              <a:rPr lang="en-US" altLang="en-US" sz="2500" dirty="0">
                <a:solidFill>
                  <a:schemeClr val="tx1"/>
                </a:solidFill>
              </a:rPr>
              <a:t>Mail Survey</a:t>
            </a:r>
          </a:p>
          <a:p>
            <a:pPr marL="0" lvl="1" algn="ctr"/>
            <a:r>
              <a:rPr lang="en-US" altLang="en-US" sz="2500" dirty="0">
                <a:solidFill>
                  <a:schemeClr val="tx1"/>
                </a:solidFill>
              </a:rPr>
              <a:t>Online Survey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22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400" b="1" i="1" dirty="0">
                <a:solidFill>
                  <a:schemeClr val="tx2"/>
                </a:solidFill>
              </a:rPr>
              <a:t>STEP 3:</a:t>
            </a:r>
            <a:r>
              <a:rPr lang="en-US" altLang="en-US" sz="4400" dirty="0"/>
              <a:t> Determine Content of Individual Questions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/>
              <a:t>Some key issues:</a:t>
            </a:r>
          </a:p>
          <a:p>
            <a:pPr lvl="1" eaLnBrk="1" hangingPunct="1"/>
            <a:r>
              <a:rPr lang="en-US" altLang="en-US" sz="2800" dirty="0"/>
              <a:t>Is the question necessary?</a:t>
            </a:r>
          </a:p>
          <a:p>
            <a:pPr lvl="1" eaLnBrk="1" hangingPunct="1"/>
            <a:r>
              <a:rPr lang="en-US" altLang="en-US" sz="2800" dirty="0"/>
              <a:t>Are several questions needed instead of one?</a:t>
            </a:r>
          </a:p>
          <a:p>
            <a:pPr lvl="1" eaLnBrk="1" hangingPunct="1"/>
            <a:r>
              <a:rPr lang="en-US" altLang="en-US" sz="2800" dirty="0"/>
              <a:t>Do respondents have the necessary information?</a:t>
            </a:r>
          </a:p>
          <a:p>
            <a:pPr lvl="1" eaLnBrk="1" hangingPunct="1"/>
            <a:r>
              <a:rPr lang="en-US" altLang="en-US" sz="2800" dirty="0"/>
              <a:t>Will respondents give the information?</a:t>
            </a:r>
          </a:p>
          <a:p>
            <a:pPr lvl="1" eaLnBrk="1" hangingPunct="1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74122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6800" y="838200"/>
            <a:ext cx="10744200" cy="480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95600" y="3828472"/>
            <a:ext cx="8229600" cy="1657927"/>
          </a:xfrm>
        </p:spPr>
        <p:txBody>
          <a:bodyPr>
            <a:normAutofit/>
          </a:bodyPr>
          <a:lstStyle/>
          <a:p>
            <a:pPr lvl="1" eaLnBrk="1" hangingPunct="1"/>
            <a:r>
              <a:rPr lang="en-US" altLang="en-US" sz="2400" i="1" dirty="0"/>
              <a:t>“Do you do the grocery shopping for your family?”</a:t>
            </a:r>
          </a:p>
          <a:p>
            <a:pPr lvl="1" eaLnBrk="1" hangingPunct="1"/>
            <a:r>
              <a:rPr lang="en-US" altLang="en-US" sz="2400" i="1" dirty="0"/>
              <a:t>“Have you eaten at Mickey’s restaurant, located at Sixth Street and Manvel Avenue, within the past six months?”</a:t>
            </a:r>
          </a:p>
          <a:p>
            <a:pPr lvl="1" eaLnBrk="1" hangingPunct="1"/>
            <a:r>
              <a:rPr lang="en-US" altLang="en-US" sz="2400" i="1" dirty="0"/>
              <a:t>“Did you vote in the last presidential election?”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447800" y="1093690"/>
            <a:ext cx="7391400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FILTER / SCREENING  QUESTION</a:t>
            </a:r>
          </a:p>
          <a:p>
            <a:pPr marL="457200" lvl="1" indent="0">
              <a:buNone/>
            </a:pPr>
            <a:r>
              <a:rPr lang="en-US" dirty="0"/>
              <a:t>A question used to determine if a respondent is likely to possess the knowledge being sought; also used to determine if an individual qualifies as a member of the defined population.</a:t>
            </a:r>
          </a:p>
        </p:txBody>
      </p:sp>
    </p:spTree>
    <p:extLst>
      <p:ext uri="{BB962C8B-B14F-4D97-AF65-F5344CB8AC3E}">
        <p14:creationId xmlns:p14="http://schemas.microsoft.com/office/powerpoint/2010/main" val="1947509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905000" y="1981200"/>
            <a:ext cx="9067800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TELESCOPING ERROR</a:t>
            </a:r>
          </a:p>
          <a:p>
            <a:pPr marL="457200" lvl="1" indent="0">
              <a:buNone/>
            </a:pPr>
            <a:r>
              <a:rPr lang="en-US" dirty="0"/>
              <a:t>A type of error resulting from the fact that most people remember an event as having occurred more recently than it did.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1905000" y="4267200"/>
            <a:ext cx="8763000" cy="248765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RECALL LOSS</a:t>
            </a:r>
          </a:p>
          <a:p>
            <a:pPr marL="457200" lvl="1" indent="0">
              <a:buNone/>
            </a:pPr>
            <a:r>
              <a:rPr lang="en-US" dirty="0"/>
              <a:t>A type of error caused by a respondent’s forgetting that an event happened at all.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Recall Problems</a:t>
            </a:r>
          </a:p>
        </p:txBody>
      </p:sp>
    </p:spTree>
    <p:extLst>
      <p:ext uri="{BB962C8B-B14F-4D97-AF65-F5344CB8AC3E}">
        <p14:creationId xmlns:p14="http://schemas.microsoft.com/office/powerpoint/2010/main" val="260083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62000"/>
            <a:ext cx="7578148" cy="1143461"/>
          </a:xfrm>
        </p:spPr>
        <p:txBody>
          <a:bodyPr/>
          <a:lstStyle/>
          <a:p>
            <a:pPr eaLnBrk="1" hangingPunct="1"/>
            <a:r>
              <a:rPr lang="en-US" altLang="en-US" dirty="0"/>
              <a:t>Handling Sensitive Questions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2209800"/>
            <a:ext cx="10820400" cy="457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b="1" i="1" dirty="0"/>
              <a:t>Don’t ask unless absolutely necessary!</a:t>
            </a:r>
          </a:p>
          <a:p>
            <a:pPr eaLnBrk="1" hangingPunct="1"/>
            <a:r>
              <a:rPr lang="en-US" altLang="en-US" sz="2800" dirty="0"/>
              <a:t>Guarantee anonymity</a:t>
            </a:r>
          </a:p>
          <a:p>
            <a:pPr eaLnBrk="1" hangingPunct="1"/>
            <a:r>
              <a:rPr lang="en-US" altLang="en-US" sz="2800" dirty="0"/>
              <a:t>Place sensitive questions near end</a:t>
            </a:r>
          </a:p>
          <a:p>
            <a:pPr eaLnBrk="1" hangingPunct="1"/>
            <a:r>
              <a:rPr lang="en-US" altLang="en-US" sz="2800" dirty="0"/>
              <a:t>Include a counterbiasing statement</a:t>
            </a:r>
          </a:p>
          <a:p>
            <a:pPr eaLnBrk="1" hangingPunct="1"/>
            <a:r>
              <a:rPr lang="en-US" altLang="en-US" sz="2800" dirty="0"/>
              <a:t>Ask about how others might feel</a:t>
            </a:r>
          </a:p>
          <a:p>
            <a:pPr eaLnBrk="1" hangingPunct="1"/>
            <a:r>
              <a:rPr lang="en-US" altLang="en-US" sz="2800" dirty="0"/>
              <a:t>Ask for general, rather than specific, information (e.g., categories for answers)</a:t>
            </a:r>
          </a:p>
          <a:p>
            <a:pPr eaLnBrk="1" hangingPunct="1"/>
            <a:r>
              <a:rPr lang="en-US" altLang="en-US" sz="2800" dirty="0"/>
              <a:t>Use randomized response model</a:t>
            </a:r>
          </a:p>
        </p:txBody>
      </p:sp>
    </p:spTree>
    <p:extLst>
      <p:ext uri="{BB962C8B-B14F-4D97-AF65-F5344CB8AC3E}">
        <p14:creationId xmlns:p14="http://schemas.microsoft.com/office/powerpoint/2010/main" val="63305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ChangeArrowheads="1"/>
          </p:cNvSpPr>
          <p:nvPr/>
        </p:nvSpPr>
        <p:spPr bwMode="auto">
          <a:xfrm>
            <a:off x="2133600" y="2743200"/>
            <a:ext cx="7481455" cy="3211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81638" tIns="40819" rIns="81638" bIns="40819" anchor="ctr"/>
          <a:lstStyle/>
          <a:p>
            <a:pPr>
              <a:defRPr/>
            </a:pPr>
            <a:endParaRPr lang="en-US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title"/>
          </p:nvPr>
        </p:nvSpPr>
        <p:spPr>
          <a:xfrm>
            <a:off x="990600" y="806376"/>
            <a:ext cx="7941830" cy="1142077"/>
          </a:xfrm>
        </p:spPr>
        <p:txBody>
          <a:bodyPr/>
          <a:lstStyle/>
          <a:p>
            <a:pPr eaLnBrk="1" hangingPunct="1"/>
            <a:r>
              <a:rPr lang="en-US" altLang="en-US" dirty="0"/>
              <a:t>Counterbiasing Statement</a:t>
            </a:r>
          </a:p>
        </p:txBody>
      </p:sp>
      <p:sp>
        <p:nvSpPr>
          <p:cNvPr id="56324" name="Rectangle 4"/>
          <p:cNvSpPr>
            <a:spLocks noGrp="1" noChangeArrowheads="1"/>
          </p:cNvSpPr>
          <p:nvPr>
            <p:ph idx="1"/>
          </p:nvPr>
        </p:nvSpPr>
        <p:spPr>
          <a:xfrm>
            <a:off x="2131291" y="2362199"/>
            <a:ext cx="7772977" cy="4271537"/>
          </a:xfrm>
        </p:spPr>
        <p:txBody>
          <a:bodyPr vert="horz" lIns="92063" tIns="46032" rIns="92063" bIns="46032" rtlCol="0">
            <a:normAutofit/>
          </a:bodyPr>
          <a:lstStyle/>
          <a:p>
            <a:pPr eaLnBrk="1" hangingPunct="1"/>
            <a:endParaRPr lang="en-US" altLang="en-US" dirty="0"/>
          </a:p>
          <a:p>
            <a:pPr eaLnBrk="1" hangingPunct="1">
              <a:buFontTx/>
              <a:buNone/>
            </a:pPr>
            <a:r>
              <a:rPr lang="en-US" altLang="en-US" dirty="0"/>
              <a:t>	</a:t>
            </a:r>
            <a:r>
              <a:rPr lang="en-US" altLang="en-US" sz="2500" dirty="0"/>
              <a:t>Recent studies show that one of every four households has trouble meeting its monthly financial obligations. Is your household currently experiencing financial difficulties?</a:t>
            </a:r>
          </a:p>
          <a:p>
            <a:pPr eaLnBrk="1" hangingPunct="1">
              <a:buFontTx/>
              <a:buNone/>
            </a:pPr>
            <a:r>
              <a:rPr lang="en-US" altLang="en-US" sz="2500" dirty="0"/>
              <a:t>			Yes</a:t>
            </a:r>
          </a:p>
          <a:p>
            <a:pPr eaLnBrk="1" hangingPunct="1">
              <a:buFontTx/>
              <a:buNone/>
            </a:pPr>
            <a:r>
              <a:rPr lang="en-US" altLang="en-US" sz="2500" dirty="0"/>
              <a:t>			No</a:t>
            </a:r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3656160" y="4508802"/>
            <a:ext cx="277092" cy="26717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638" tIns="40819" rIns="81638" bIns="40819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3656161" y="4957797"/>
            <a:ext cx="277092" cy="26579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81638" tIns="40819" rIns="81638" bIns="40819" anchor="ctr"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7356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3505200" y="2371156"/>
            <a:ext cx="4911437" cy="2039490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8" tIns="40819" rIns="81638" bIns="408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1422" tIns="45711" rIns="91422" bIns="45711" rtlCol="0" anchor="ctr">
            <a:normAutofit/>
          </a:bodyPr>
          <a:lstStyle/>
          <a:p>
            <a:pPr eaLnBrk="1" hangingPunct="1"/>
            <a:r>
              <a:rPr lang="en-US" altLang="en-US" sz="3700" b="1" i="1" dirty="0">
                <a:solidFill>
                  <a:schemeClr val="tx2"/>
                </a:solidFill>
              </a:rPr>
              <a:t>STEP 4:</a:t>
            </a:r>
            <a:r>
              <a:rPr lang="en-US" altLang="en-US" sz="3700" dirty="0"/>
              <a:t> Determine Form of Response to Each Question</a:t>
            </a:r>
          </a:p>
        </p:txBody>
      </p:sp>
      <p:sp>
        <p:nvSpPr>
          <p:cNvPr id="59396" name="Rectangle 2"/>
          <p:cNvSpPr>
            <a:spLocks noGrp="1" noChangeArrowheads="1"/>
          </p:cNvSpPr>
          <p:nvPr>
            <p:ph idx="1"/>
          </p:nvPr>
        </p:nvSpPr>
        <p:spPr>
          <a:xfrm>
            <a:off x="1100881" y="2070977"/>
            <a:ext cx="9720073" cy="4023360"/>
          </a:xfrm>
        </p:spPr>
        <p:txBody>
          <a:bodyPr>
            <a:normAutofit/>
          </a:bodyPr>
          <a:lstStyle/>
          <a:p>
            <a:pPr algn="ctr" eaLnBrk="1" hangingPunct="1">
              <a:buFontTx/>
              <a:buNone/>
            </a:pPr>
            <a:endParaRPr lang="en-US" altLang="en-US" sz="2800" dirty="0"/>
          </a:p>
          <a:p>
            <a:pPr algn="ctr" eaLnBrk="1" hangingPunct="1">
              <a:buFontTx/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Open-Ended Questions</a:t>
            </a:r>
          </a:p>
          <a:p>
            <a:pPr algn="ctr" eaLnBrk="1" hangingPunct="1">
              <a:buFontTx/>
              <a:buNone/>
            </a:pPr>
            <a:r>
              <a:rPr lang="en-US" altLang="en-US" sz="2800" i="1" dirty="0">
                <a:solidFill>
                  <a:schemeClr val="bg1"/>
                </a:solidFill>
              </a:rPr>
              <a:t>versus</a:t>
            </a:r>
          </a:p>
          <a:p>
            <a:pPr algn="ctr" eaLnBrk="1" hangingPunct="1">
              <a:buFontTx/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Closed-Ended Questions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27318" y="4876800"/>
            <a:ext cx="4267200" cy="646331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Structure!!!</a:t>
            </a:r>
          </a:p>
        </p:txBody>
      </p:sp>
    </p:spTree>
    <p:extLst>
      <p:ext uri="{BB962C8B-B14F-4D97-AF65-F5344CB8AC3E}">
        <p14:creationId xmlns:p14="http://schemas.microsoft.com/office/powerpoint/2010/main" val="2003673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85800"/>
            <a:ext cx="7959148" cy="1144845"/>
          </a:xfrm>
        </p:spPr>
        <p:txBody>
          <a:bodyPr/>
          <a:lstStyle/>
          <a:p>
            <a:pPr eaLnBrk="1" hangingPunct="1"/>
            <a:r>
              <a:rPr lang="en-US" altLang="en-US" dirty="0"/>
              <a:t>Closed-Ended Questions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2057400"/>
            <a:ext cx="91440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5160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ChangeArrowheads="1"/>
          </p:cNvSpPr>
          <p:nvPr>
            <p:ph type="title"/>
          </p:nvPr>
        </p:nvSpPr>
        <p:spPr>
          <a:xfrm>
            <a:off x="1143000" y="762000"/>
            <a:ext cx="7959148" cy="1144845"/>
          </a:xfrm>
          <a:noFill/>
        </p:spPr>
        <p:txBody>
          <a:bodyPr vert="horz" lIns="91422" tIns="45711" rIns="91422" bIns="45711" rtlCol="0" anchor="ctr">
            <a:normAutofit/>
          </a:bodyPr>
          <a:lstStyle/>
          <a:p>
            <a:pPr eaLnBrk="1" hangingPunct="1"/>
            <a:r>
              <a:rPr lang="en-US" altLang="en-US" dirty="0"/>
              <a:t>Closed-Ended Questions</a:t>
            </a:r>
          </a:p>
        </p:txBody>
      </p:sp>
      <p:sp>
        <p:nvSpPr>
          <p:cNvPr id="62467" name="Rectangle 2"/>
          <p:cNvSpPr>
            <a:spLocks noGrp="1" noChangeArrowheads="1"/>
          </p:cNvSpPr>
          <p:nvPr>
            <p:ph idx="1"/>
          </p:nvPr>
        </p:nvSpPr>
        <p:spPr>
          <a:xfrm>
            <a:off x="1676400" y="2438400"/>
            <a:ext cx="8845839" cy="3581154"/>
          </a:xfrm>
        </p:spPr>
        <p:txBody>
          <a:bodyPr/>
          <a:lstStyle/>
          <a:p>
            <a:pPr eaLnBrk="1" hangingPunct="1"/>
            <a:r>
              <a:rPr lang="en-US" altLang="en-US" sz="2500" dirty="0"/>
              <a:t>With closed-ended questions, the response categories must be </a:t>
            </a:r>
            <a:r>
              <a:rPr lang="en-US" altLang="en-US" sz="2500" b="1" dirty="0">
                <a:solidFill>
                  <a:schemeClr val="accent1">
                    <a:lumMod val="75000"/>
                  </a:schemeClr>
                </a:solidFill>
              </a:rPr>
              <a:t>exhaustive</a:t>
            </a:r>
            <a:r>
              <a:rPr lang="en-US" altLang="en-US" sz="2500" dirty="0"/>
              <a:t>; all reasonable responses must be included.</a:t>
            </a:r>
          </a:p>
          <a:p>
            <a:pPr eaLnBrk="1" hangingPunct="1"/>
            <a:r>
              <a:rPr lang="en-US" altLang="en-US" sz="2500" dirty="0"/>
              <a:t>In addition, response categories must be </a:t>
            </a:r>
            <a:r>
              <a:rPr lang="en-US" altLang="en-US" sz="2500" b="1" dirty="0">
                <a:solidFill>
                  <a:schemeClr val="accent1">
                    <a:lumMod val="75000"/>
                  </a:schemeClr>
                </a:solidFill>
              </a:rPr>
              <a:t>mutually-exclusive</a:t>
            </a:r>
            <a:r>
              <a:rPr lang="en-US" altLang="en-US" sz="2500" dirty="0"/>
              <a:t>, except in special cases where more than one answer is acceptable (e.g., check all that apply)</a:t>
            </a:r>
          </a:p>
        </p:txBody>
      </p:sp>
    </p:spTree>
    <p:extLst>
      <p:ext uri="{BB962C8B-B14F-4D97-AF65-F5344CB8AC3E}">
        <p14:creationId xmlns:p14="http://schemas.microsoft.com/office/powerpoint/2010/main" val="4038586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How many times have you shopped at Kroger in the last 2 weeks?</a:t>
            </a:r>
          </a:p>
          <a:p>
            <a:pPr lvl="1"/>
            <a:r>
              <a:rPr lang="en-US" sz="2400" dirty="0"/>
              <a:t>1 or 2</a:t>
            </a:r>
          </a:p>
          <a:p>
            <a:pPr lvl="1"/>
            <a:r>
              <a:rPr lang="en-US" sz="2400" dirty="0"/>
              <a:t>2 or 3</a:t>
            </a:r>
          </a:p>
          <a:p>
            <a:pPr lvl="1"/>
            <a:r>
              <a:rPr lang="en-US" sz="2400" dirty="0"/>
              <a:t>3 or 4</a:t>
            </a:r>
          </a:p>
          <a:p>
            <a:pPr lvl="1"/>
            <a:r>
              <a:rPr lang="en-US" sz="2400" dirty="0"/>
              <a:t>4 or 5</a:t>
            </a:r>
          </a:p>
          <a:p>
            <a:pPr lvl="1"/>
            <a:endParaRPr lang="en-US" sz="2400" dirty="0"/>
          </a:p>
          <a:p>
            <a:r>
              <a:rPr lang="en-US" sz="2800" dirty="0"/>
              <a:t>Where did you do your most recent grocery shopping?</a:t>
            </a:r>
          </a:p>
          <a:p>
            <a:pPr lvl="1"/>
            <a:r>
              <a:rPr lang="en-US" sz="2400" dirty="0"/>
              <a:t>Kroger</a:t>
            </a:r>
          </a:p>
          <a:p>
            <a:pPr lvl="1"/>
            <a:r>
              <a:rPr lang="en-US" sz="2400" dirty="0"/>
              <a:t>Whole Foods</a:t>
            </a:r>
          </a:p>
          <a:p>
            <a:pPr lvl="1"/>
            <a:r>
              <a:rPr lang="en-US" sz="2400" dirty="0"/>
              <a:t>Walmart</a:t>
            </a:r>
          </a:p>
        </p:txBody>
      </p:sp>
    </p:spTree>
    <p:extLst>
      <p:ext uri="{BB962C8B-B14F-4D97-AF65-F5344CB8AC3E}">
        <p14:creationId xmlns:p14="http://schemas.microsoft.com/office/powerpoint/2010/main" val="99042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Open-Ended Questions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How old are you? ___________ years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Do you intend to buy a car this year?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 the past month, how many times have you purchased gasoline from Kroger? ______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How satisfied were you with your dining experience at E&amp;O this evening?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Why did you choose to attend Xavier University?</a:t>
            </a: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2424546" y="2033591"/>
            <a:ext cx="7481455" cy="528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1633" tIns="40816" rIns="81633" bIns="40816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/>
            <a:endParaRPr lang="en-US" altLang="en-US" sz="2900" b="1"/>
          </a:p>
        </p:txBody>
      </p:sp>
      <p:sp>
        <p:nvSpPr>
          <p:cNvPr id="2" name="TextBox 1"/>
          <p:cNvSpPr txBox="1"/>
          <p:nvPr/>
        </p:nvSpPr>
        <p:spPr>
          <a:xfrm>
            <a:off x="2514600" y="5355253"/>
            <a:ext cx="8077200" cy="95410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haroni" panose="02010803020104030203" pitchFamily="2" charset="-79"/>
                <a:cs typeface="Aharoni" panose="02010803020104030203" pitchFamily="2" charset="-79"/>
              </a:rPr>
              <a:t>Turn each of the questions above into a closed-ended question </a:t>
            </a:r>
          </a:p>
        </p:txBody>
      </p:sp>
    </p:spTree>
    <p:extLst>
      <p:ext uri="{BB962C8B-B14F-4D97-AF65-F5344CB8AC3E}">
        <p14:creationId xmlns:p14="http://schemas.microsoft.com/office/powerpoint/2010/main" val="3940472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 txBox="1">
            <a:spLocks/>
          </p:cNvSpPr>
          <p:nvPr/>
        </p:nvSpPr>
        <p:spPr>
          <a:xfrm>
            <a:off x="1752600" y="1417239"/>
            <a:ext cx="8229600" cy="271631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chemeClr val="tx2"/>
                </a:solidFill>
              </a:rPr>
              <a:t>RESPONSE ORDER BIAS</a:t>
            </a:r>
          </a:p>
          <a:p>
            <a:pPr marL="457200" lvl="1" indent="0">
              <a:buNone/>
            </a:pPr>
            <a:r>
              <a:rPr lang="en-US" sz="3200" dirty="0"/>
              <a:t>An error that occurs when the response to a question is influenced by the order in which the alternatives are presented.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5257800"/>
            <a:ext cx="8610600" cy="9541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Now, with </a:t>
            </a:r>
            <a:r>
              <a:rPr lang="en-US" sz="2800" dirty="0" err="1"/>
              <a:t>Qualtrics</a:t>
            </a:r>
            <a:r>
              <a:rPr lang="en-US" sz="2800" dirty="0"/>
              <a:t>, we can randomize the order in which answers are presented to avoid this issue.</a:t>
            </a:r>
          </a:p>
        </p:txBody>
      </p:sp>
    </p:spTree>
    <p:extLst>
      <p:ext uri="{BB962C8B-B14F-4D97-AF65-F5344CB8AC3E}">
        <p14:creationId xmlns:p14="http://schemas.microsoft.com/office/powerpoint/2010/main" val="303142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ree stop sign Clipart Images | FreeImages">
            <a:extLst>
              <a:ext uri="{FF2B5EF4-FFF2-40B4-BE49-F238E27FC236}">
                <a16:creationId xmlns:a16="http://schemas.microsoft.com/office/drawing/2014/main" id="{9D5EE18A-D44D-4757-ABC2-D8FE0BEC8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052" y="1345916"/>
            <a:ext cx="4542034" cy="4542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008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5400" dirty="0"/>
              <a:t>Determine Wording of Each Question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en-US" sz="3200" dirty="0"/>
          </a:p>
          <a:p>
            <a:pPr eaLnBrk="1" hangingPunct="1"/>
            <a:r>
              <a:rPr lang="en-US" altLang="en-US" sz="3200" dirty="0"/>
              <a:t>Use simple words</a:t>
            </a:r>
          </a:p>
          <a:p>
            <a:pPr lvl="1" eaLnBrk="1" hangingPunct="1"/>
            <a:r>
              <a:rPr lang="en-US" altLang="en-US" sz="2800" dirty="0"/>
              <a:t>Language used should be driven by the ability level of the population; err on the side of simplicity</a:t>
            </a:r>
          </a:p>
        </p:txBody>
      </p:sp>
    </p:spTree>
    <p:extLst>
      <p:ext uri="{BB962C8B-B14F-4D97-AF65-F5344CB8AC3E}">
        <p14:creationId xmlns:p14="http://schemas.microsoft.com/office/powerpoint/2010/main" val="2949808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125525" y="4525768"/>
            <a:ext cx="1517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versus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Avoid Ambiguous Words and Questions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371600" y="2084832"/>
            <a:ext cx="9372600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/>
              <a:t>How often do you use Venmo to transfer money?</a:t>
            </a:r>
          </a:p>
          <a:p>
            <a:r>
              <a:rPr lang="en-US" sz="2400" b="1" dirty="0"/>
              <a:t>	</a:t>
            </a:r>
            <a:r>
              <a:rPr lang="en-US" sz="2400" dirty="0"/>
              <a:t>_____Never</a:t>
            </a:r>
          </a:p>
          <a:p>
            <a:r>
              <a:rPr lang="en-US" sz="2400" b="1" dirty="0"/>
              <a:t>	</a:t>
            </a:r>
            <a:r>
              <a:rPr lang="en-US" sz="2400" dirty="0"/>
              <a:t>_____Rarely</a:t>
            </a:r>
          </a:p>
          <a:p>
            <a:r>
              <a:rPr lang="en-US" sz="2400" b="1" dirty="0"/>
              <a:t>	</a:t>
            </a:r>
            <a:r>
              <a:rPr lang="en-US" sz="2400" dirty="0"/>
              <a:t>_____Sometimes</a:t>
            </a:r>
          </a:p>
          <a:p>
            <a:r>
              <a:rPr lang="en-US" sz="2400" b="1" dirty="0"/>
              <a:t>	</a:t>
            </a:r>
            <a:r>
              <a:rPr lang="en-US" sz="2400" dirty="0"/>
              <a:t>_____Often</a:t>
            </a:r>
          </a:p>
          <a:p>
            <a:r>
              <a:rPr lang="en-US" sz="2400" b="1" dirty="0"/>
              <a:t>	</a:t>
            </a:r>
            <a:r>
              <a:rPr lang="en-US" sz="2400" dirty="0"/>
              <a:t>_____Always</a:t>
            </a:r>
            <a:endParaRPr lang="en-US" sz="2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5181600"/>
            <a:ext cx="8610600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In the last 2 weeks, how many transactions have you completed using Venmo? ________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245126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662756" y="1752600"/>
            <a:ext cx="5092606" cy="472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711200"/>
            <a:ext cx="7391400" cy="1143000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Some Problem Words: </a:t>
            </a:r>
            <a:r>
              <a:rPr lang="en-US" sz="4800" i="1" dirty="0"/>
              <a:t>Be Careful!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738956" y="1828800"/>
            <a:ext cx="2660316" cy="426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All</a:t>
            </a:r>
          </a:p>
          <a:p>
            <a:r>
              <a:rPr lang="en-US" dirty="0"/>
              <a:t>Always</a:t>
            </a:r>
          </a:p>
          <a:p>
            <a:r>
              <a:rPr lang="en-US" dirty="0"/>
              <a:t>And</a:t>
            </a:r>
          </a:p>
          <a:p>
            <a:r>
              <a:rPr lang="en-US" dirty="0"/>
              <a:t>Dinner</a:t>
            </a:r>
          </a:p>
          <a:p>
            <a:r>
              <a:rPr lang="en-US" dirty="0"/>
              <a:t>Feel</a:t>
            </a:r>
          </a:p>
          <a:p>
            <a:r>
              <a:rPr lang="en-US" dirty="0"/>
              <a:t>Government</a:t>
            </a:r>
          </a:p>
          <a:p>
            <a:r>
              <a:rPr lang="en-US" dirty="0"/>
              <a:t>If</a:t>
            </a:r>
          </a:p>
          <a:p>
            <a:r>
              <a:rPr lang="en-US" dirty="0"/>
              <a:t>Never</a:t>
            </a:r>
          </a:p>
          <a:p>
            <a:r>
              <a:rPr lang="en-US" dirty="0"/>
              <a:t>Occasionally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558357" y="1806390"/>
            <a:ext cx="2429425" cy="426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Often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Rarely</a:t>
            </a:r>
          </a:p>
          <a:p>
            <a:r>
              <a:rPr lang="en-US" dirty="0"/>
              <a:t>Regularly</a:t>
            </a:r>
          </a:p>
          <a:p>
            <a:r>
              <a:rPr lang="en-US" dirty="0"/>
              <a:t>Sometimes</a:t>
            </a:r>
          </a:p>
          <a:p>
            <a:r>
              <a:rPr lang="en-US" dirty="0"/>
              <a:t>Usually</a:t>
            </a:r>
          </a:p>
          <a:p>
            <a:r>
              <a:rPr lang="en-US" dirty="0"/>
              <a:t>Where</a:t>
            </a:r>
          </a:p>
          <a:p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525673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274" y="2232934"/>
            <a:ext cx="8104909" cy="1926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Avoid Leading 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146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800" i="1" dirty="0"/>
              <a:t>REMINDER: </a:t>
            </a:r>
            <a:r>
              <a:rPr lang="en-US" altLang="en-US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No Advocacy Research!</a:t>
            </a:r>
          </a:p>
        </p:txBody>
      </p:sp>
      <p:sp>
        <p:nvSpPr>
          <p:cNvPr id="3" name="Rectangle 2"/>
          <p:cNvSpPr/>
          <p:nvPr/>
        </p:nvSpPr>
        <p:spPr>
          <a:xfrm>
            <a:off x="714703" y="1701349"/>
            <a:ext cx="9274425" cy="4680617"/>
          </a:xfrm>
          <a:prstGeom prst="rect">
            <a:avLst/>
          </a:prstGeom>
        </p:spPr>
        <p:txBody>
          <a:bodyPr wrap="square" lIns="81638" tIns="40819" rIns="81638" bIns="40819">
            <a:spAutoFit/>
          </a:bodyPr>
          <a:lstStyle/>
          <a:p>
            <a:pPr lvl="1">
              <a:lnSpc>
                <a:spcPct val="90000"/>
              </a:lnSpc>
              <a:defRPr/>
            </a:pPr>
            <a:r>
              <a:rPr lang="en-US" sz="4400" dirty="0">
                <a:latin typeface="+mj-lt"/>
              </a:rPr>
              <a:t>Reputable media outlets provide (a) the actual questions, (b) a description of the study, and (c) information about the sample</a:t>
            </a:r>
          </a:p>
          <a:p>
            <a:pPr lvl="1">
              <a:lnSpc>
                <a:spcPct val="90000"/>
              </a:lnSpc>
              <a:defRPr/>
            </a:pPr>
            <a:endParaRPr lang="en-US" sz="4400" dirty="0">
              <a:latin typeface="+mj-lt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sz="2800" b="1" u="sng" dirty="0">
                <a:latin typeface="+mj-lt"/>
              </a:rPr>
              <a:t>Advocacy research </a:t>
            </a:r>
            <a:r>
              <a:rPr lang="en-US" sz="2800" dirty="0">
                <a:latin typeface="+mj-lt"/>
              </a:rPr>
              <a:t>is a type of research that generates evidence and arguments to support a specific position or cause. The goal of advocacy research is to influence the policies of policymakers and others in power.</a:t>
            </a:r>
          </a:p>
        </p:txBody>
      </p:sp>
    </p:spTree>
    <p:extLst>
      <p:ext uri="{BB962C8B-B14F-4D97-AF65-F5344CB8AC3E}">
        <p14:creationId xmlns:p14="http://schemas.microsoft.com/office/powerpoint/2010/main" val="2699286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Words that Might Signal Leading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Allege, allude, arbitrary, blame, claim, demand, error, failure, fault, ignore, ill-advised, ill-informed, incompetence, ineptness, insist, just, maintain, misinformed, must, neglected, one-sided, only, overreact, peremptory, purport, questionable, rejection, rigid, so-called, unfortunately, unilateral, unreasonable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5105400"/>
            <a:ext cx="6400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Source: </a:t>
            </a:r>
            <a:r>
              <a:rPr lang="en-US" sz="1400" dirty="0"/>
              <a:t>“Guide to Writing Survey Questions,” Management Analysis and Development, downloaded from http://www.mad.state.mn.us/ on October 25, 2012.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79794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533400" y="685800"/>
            <a:ext cx="9677400" cy="3962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900" dirty="0"/>
              <a:t>Avoid Assumed Consequences</a:t>
            </a:r>
          </a:p>
          <a:p>
            <a:pPr lvl="1">
              <a:lnSpc>
                <a:spcPct val="90000"/>
              </a:lnSpc>
            </a:pPr>
            <a:r>
              <a:rPr lang="en-US" altLang="en-US" sz="2100" dirty="0"/>
              <a:t>When a question is not framed to clearly state the consequences and thus generates different responses from individuals who assume different consequences.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000" y="2133600"/>
            <a:ext cx="6023501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81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33600" y="2362200"/>
            <a:ext cx="7543800" cy="2667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683" name="Rectangle 2"/>
          <p:cNvSpPr>
            <a:spLocks noGrp="1" noChangeArrowheads="1"/>
          </p:cNvSpPr>
          <p:nvPr>
            <p:ph idx="1"/>
          </p:nvPr>
        </p:nvSpPr>
        <p:spPr>
          <a:xfrm>
            <a:off x="2286000" y="1676400"/>
            <a:ext cx="7391400" cy="3962400"/>
          </a:xfrm>
        </p:spPr>
        <p:txBody>
          <a:bodyPr/>
          <a:lstStyle/>
          <a:p>
            <a:pPr eaLnBrk="1" hangingPunct="1"/>
            <a:r>
              <a:rPr lang="en-US" altLang="en-US" sz="2900" dirty="0"/>
              <a:t>Avoid Generalizations and Estimates</a:t>
            </a:r>
          </a:p>
          <a:p>
            <a:pPr lvl="1" eaLnBrk="1" hangingPunct="1"/>
            <a:endParaRPr lang="en-US" altLang="en-US" sz="2500" dirty="0"/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en-US" sz="2500" dirty="0"/>
              <a:t>Questions should always be asked in specific, rather than general, terms.</a:t>
            </a:r>
          </a:p>
          <a:p>
            <a:pPr lvl="1" eaLnBrk="1" hangingPunct="1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en-US" sz="2500" dirty="0"/>
              <a:t>When asking about the frequency of behaviors (e.g., shopping, purchase), use an appropriate time frame that doesn’t force respondents to make estimates.</a:t>
            </a:r>
          </a:p>
        </p:txBody>
      </p:sp>
    </p:spTree>
    <p:extLst>
      <p:ext uri="{BB962C8B-B14F-4D97-AF65-F5344CB8AC3E}">
        <p14:creationId xmlns:p14="http://schemas.microsoft.com/office/powerpoint/2010/main" val="1310026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183" y="2232935"/>
            <a:ext cx="8312727" cy="2724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657600" y="5105401"/>
            <a:ext cx="5029200" cy="528711"/>
          </a:xfrm>
          <a:prstGeom prst="rect">
            <a:avLst/>
          </a:prstGeom>
          <a:noFill/>
        </p:spPr>
        <p:txBody>
          <a:bodyPr wrap="square" lIns="81638" tIns="40819" rIns="81638" bIns="40819">
            <a:spAutoFit/>
          </a:bodyPr>
          <a:lstStyle/>
          <a:p>
            <a:pPr lvl="1">
              <a:defRPr/>
            </a:pPr>
            <a:r>
              <a:rPr lang="en-US" sz="2900" dirty="0">
                <a:latin typeface="+mj-lt"/>
              </a:rPr>
              <a:t>Watch out for </a:t>
            </a:r>
            <a:r>
              <a:rPr lang="en-US" sz="2900" b="1" i="1" dirty="0">
                <a:solidFill>
                  <a:schemeClr val="tx2"/>
                </a:solidFill>
                <a:latin typeface="+mj-lt"/>
              </a:rPr>
              <a:t>and</a:t>
            </a:r>
            <a:r>
              <a:rPr lang="en-US" sz="2900" dirty="0">
                <a:latin typeface="+mj-lt"/>
              </a:rPr>
              <a:t> </a:t>
            </a:r>
            <a:r>
              <a:rPr lang="en-US" sz="2900" dirty="0" err="1">
                <a:latin typeface="+mj-lt"/>
              </a:rPr>
              <a:t>and</a:t>
            </a:r>
            <a:r>
              <a:rPr lang="en-US" sz="2900" dirty="0">
                <a:latin typeface="+mj-lt"/>
              </a:rPr>
              <a:t> </a:t>
            </a:r>
            <a:r>
              <a:rPr lang="en-US" sz="2900" b="1" i="1" dirty="0">
                <a:solidFill>
                  <a:schemeClr val="tx2"/>
                </a:solidFill>
                <a:latin typeface="+mj-lt"/>
              </a:rPr>
              <a:t>or</a:t>
            </a:r>
            <a:r>
              <a:rPr lang="en-US" sz="2900" dirty="0">
                <a:latin typeface="+mj-lt"/>
              </a:rPr>
              <a:t>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Avoid Double-Barreled 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216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1219200" y="1828800"/>
            <a:ext cx="8982635" cy="19543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DUMMY TABLE</a:t>
            </a:r>
          </a:p>
          <a:p>
            <a:pPr marL="457200" lvl="1" indent="0">
              <a:buNone/>
            </a:pPr>
            <a:r>
              <a:rPr lang="en-US" dirty="0"/>
              <a:t>A table (or figure) used to show how the results of an analysis will be presented.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344203"/>
            <a:ext cx="7272338" cy="3513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Step 6: </a:t>
            </a:r>
            <a:r>
              <a:rPr lang="en-US" dirty="0"/>
              <a:t>Prepare Dummy Tables</a:t>
            </a:r>
          </a:p>
        </p:txBody>
      </p:sp>
    </p:spTree>
    <p:extLst>
      <p:ext uri="{BB962C8B-B14F-4D97-AF65-F5344CB8AC3E}">
        <p14:creationId xmlns:p14="http://schemas.microsoft.com/office/powerpoint/2010/main" val="418131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1422" tIns="45711" rIns="91422" bIns="45711" rtlCol="0" anchor="ctr">
            <a:normAutofit/>
          </a:bodyPr>
          <a:lstStyle/>
          <a:p>
            <a:pPr eaLnBrk="1" hangingPunct="1"/>
            <a:r>
              <a:rPr lang="en-US" altLang="en-US" sz="4800" b="1" i="1" dirty="0">
                <a:solidFill>
                  <a:schemeClr val="tx2"/>
                </a:solidFill>
              </a:rPr>
              <a:t>STEP 7:</a:t>
            </a:r>
            <a:r>
              <a:rPr lang="en-US" altLang="en-US" sz="4800" dirty="0"/>
              <a:t> Determine Question Sequence</a:t>
            </a:r>
          </a:p>
        </p:txBody>
      </p:sp>
      <p:sp>
        <p:nvSpPr>
          <p:cNvPr id="74755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Use simple and interesting opening questions</a:t>
            </a:r>
          </a:p>
          <a:p>
            <a:pPr eaLnBrk="1" hangingPunct="1"/>
            <a:r>
              <a:rPr lang="en-US" altLang="en-US" sz="3200" dirty="0"/>
              <a:t>Use the funnel approach</a:t>
            </a:r>
          </a:p>
          <a:p>
            <a:pPr lvl="1" eaLnBrk="1" hangingPunct="1"/>
            <a:r>
              <a:rPr lang="en-US" altLang="en-US" sz="2800" i="1" dirty="0"/>
              <a:t>Start with broad questions and progressively narrow the scope</a:t>
            </a:r>
          </a:p>
          <a:p>
            <a:pPr lvl="1" eaLnBrk="1" hangingPunct="1"/>
            <a:r>
              <a:rPr lang="en-US" altLang="en-US" sz="2800" b="1" i="1" dirty="0">
                <a:solidFill>
                  <a:schemeClr val="tx2"/>
                </a:solidFill>
              </a:rPr>
              <a:t>Question Order Bias: </a:t>
            </a:r>
            <a:r>
              <a:rPr lang="en-US" altLang="en-US" sz="2800" i="1" dirty="0"/>
              <a:t>The tendency for earlier questions on a questionnaire to influence respondents’ answers to later questions.</a:t>
            </a:r>
          </a:p>
        </p:txBody>
      </p:sp>
    </p:spTree>
    <p:extLst>
      <p:ext uri="{BB962C8B-B14F-4D97-AF65-F5344CB8AC3E}">
        <p14:creationId xmlns:p14="http://schemas.microsoft.com/office/powerpoint/2010/main" val="7106066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Sequence </a:t>
            </a:r>
            <a:r>
              <a:rPr lang="en-US" dirty="0" err="1"/>
              <a:t>cont</a:t>
            </a:r>
            <a:r>
              <a:rPr lang="en-US" dirty="0"/>
              <a:t>…</a:t>
            </a:r>
          </a:p>
        </p:txBody>
      </p:sp>
      <p:sp>
        <p:nvSpPr>
          <p:cNvPr id="75779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900" dirty="0"/>
              <a:t>Design branching questions with care</a:t>
            </a:r>
          </a:p>
          <a:p>
            <a:pPr lvl="1" eaLnBrk="1" hangingPunct="1"/>
            <a:r>
              <a:rPr lang="en-US" altLang="en-US" sz="2500" i="1" dirty="0"/>
              <a:t>Branching questions direct respondents to different places in a questionnaire, based on their responses to the question at hand</a:t>
            </a:r>
            <a:endParaRPr lang="en-US" altLang="en-US" sz="2500" dirty="0"/>
          </a:p>
          <a:p>
            <a:pPr eaLnBrk="1" hangingPunct="1"/>
            <a:r>
              <a:rPr lang="en-US" altLang="en-US" sz="2900" dirty="0"/>
              <a:t>Ask for classification information last</a:t>
            </a:r>
          </a:p>
          <a:p>
            <a:pPr lvl="1"/>
            <a:r>
              <a:rPr lang="en-US" altLang="en-US" sz="2500" b="1" i="1" dirty="0">
                <a:solidFill>
                  <a:schemeClr val="tx2"/>
                </a:solidFill>
              </a:rPr>
              <a:t>Target Information: </a:t>
            </a:r>
            <a:r>
              <a:rPr lang="en-US" altLang="en-US" sz="2500" i="1" dirty="0"/>
              <a:t>The basic information that addresses the subject of the study</a:t>
            </a:r>
          </a:p>
          <a:p>
            <a:pPr lvl="1"/>
            <a:r>
              <a:rPr lang="en-US" altLang="en-US" sz="2500" b="1" i="1" dirty="0">
                <a:solidFill>
                  <a:schemeClr val="tx2"/>
                </a:solidFill>
              </a:rPr>
              <a:t>Classification Information: </a:t>
            </a:r>
            <a:r>
              <a:rPr lang="en-US" altLang="en-US" sz="2500" i="1" dirty="0"/>
              <a:t>Information used to classify respondents, typically for demographic breakdowns</a:t>
            </a:r>
          </a:p>
          <a:p>
            <a:pPr eaLnBrk="1" hangingPunct="1"/>
            <a:r>
              <a:rPr lang="en-US" altLang="en-US" sz="2900" dirty="0"/>
              <a:t>Place difficult or sensitive questions late in the questionnaire</a:t>
            </a:r>
          </a:p>
        </p:txBody>
      </p:sp>
    </p:spTree>
    <p:extLst>
      <p:ext uri="{BB962C8B-B14F-4D97-AF65-F5344CB8AC3E}">
        <p14:creationId xmlns:p14="http://schemas.microsoft.com/office/powerpoint/2010/main" val="23674593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1422" tIns="45711" rIns="91422" bIns="45711" rtlCol="0" anchor="ctr">
            <a:normAutofit/>
          </a:bodyPr>
          <a:lstStyle/>
          <a:p>
            <a:pPr eaLnBrk="1" hangingPunct="1"/>
            <a:r>
              <a:rPr lang="en-US" altLang="en-US" b="1" i="1" dirty="0">
                <a:solidFill>
                  <a:schemeClr val="tx2"/>
                </a:solidFill>
              </a:rPr>
              <a:t>STEP 8</a:t>
            </a:r>
            <a:r>
              <a:rPr lang="en-US" altLang="en-US" i="1" dirty="0">
                <a:solidFill>
                  <a:schemeClr val="tx2"/>
                </a:solidFill>
              </a:rPr>
              <a:t>:</a:t>
            </a:r>
            <a:r>
              <a:rPr lang="en-US" altLang="en-US" dirty="0"/>
              <a:t> Determine Appearance of Questionnaire</a:t>
            </a:r>
          </a:p>
        </p:txBody>
      </p:sp>
      <p:sp>
        <p:nvSpPr>
          <p:cNvPr id="77827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No clutter!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Keep it as short as possible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Use care with branching questions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Use graphics as needed to improve appearance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Include page breaks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Keep similar questions together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Include an organization name (sometimes fictitious) and project title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Go easy on instructions, unless they are absolutely necessary</a:t>
            </a:r>
          </a:p>
        </p:txBody>
      </p:sp>
    </p:spTree>
    <p:extLst>
      <p:ext uri="{BB962C8B-B14F-4D97-AF65-F5344CB8AC3E}">
        <p14:creationId xmlns:p14="http://schemas.microsoft.com/office/powerpoint/2010/main" val="28387085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3429000" y="3581400"/>
            <a:ext cx="5126182" cy="225923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8" tIns="40819" rIns="81638" bIns="40819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8852" name="Rectangle 2"/>
          <p:cNvSpPr>
            <a:spLocks noGrp="1" noChangeArrowheads="1"/>
          </p:cNvSpPr>
          <p:nvPr>
            <p:ph idx="1"/>
          </p:nvPr>
        </p:nvSpPr>
        <p:spPr>
          <a:xfrm>
            <a:off x="1024128" y="2229072"/>
            <a:ext cx="9601200" cy="3611564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900" dirty="0"/>
              <a:t>Good cover letters and scripts are NOT written in a hurry.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	</a:t>
            </a:r>
            <a:r>
              <a:rPr lang="en-US" altLang="en-US" sz="2900" dirty="0"/>
              <a:t>The usual things to include: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900" dirty="0"/>
          </a:p>
          <a:p>
            <a:pPr lvl="2" algn="ctr"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US" altLang="en-US" sz="2100" dirty="0">
                <a:solidFill>
                  <a:schemeClr val="bg1"/>
                </a:solidFill>
              </a:rPr>
              <a:t>Who you are</a:t>
            </a:r>
          </a:p>
          <a:p>
            <a:pPr lvl="2" algn="ctr"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US" altLang="en-US" sz="2100" dirty="0">
                <a:solidFill>
                  <a:schemeClr val="bg1"/>
                </a:solidFill>
              </a:rPr>
              <a:t>Why you are contacting them</a:t>
            </a:r>
          </a:p>
          <a:p>
            <a:pPr lvl="2" algn="ctr"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US" altLang="en-US" sz="2100" dirty="0">
                <a:solidFill>
                  <a:schemeClr val="bg1"/>
                </a:solidFill>
              </a:rPr>
              <a:t>Promise of anonymity or confidentiality</a:t>
            </a:r>
          </a:p>
          <a:p>
            <a:pPr lvl="2" algn="ctr"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US" altLang="en-US" sz="2100" dirty="0">
                <a:solidFill>
                  <a:schemeClr val="bg1"/>
                </a:solidFill>
              </a:rPr>
              <a:t>The request for help</a:t>
            </a:r>
          </a:p>
          <a:p>
            <a:pPr lvl="2" algn="ctr"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US" altLang="en-US" sz="2100" dirty="0">
                <a:solidFill>
                  <a:schemeClr val="bg1"/>
                </a:solidFill>
              </a:rPr>
              <a:t>How long it will take</a:t>
            </a:r>
          </a:p>
          <a:p>
            <a:pPr lvl="2" algn="ctr" eaLnBrk="1" hangingPunct="1">
              <a:lnSpc>
                <a:spcPct val="90000"/>
              </a:lnSpc>
              <a:buFont typeface="Arial" pitchFamily="34" charset="0"/>
              <a:buNone/>
            </a:pPr>
            <a:r>
              <a:rPr lang="en-US" altLang="en-US" sz="2100" dirty="0">
                <a:solidFill>
                  <a:schemeClr val="bg1"/>
                </a:solidFill>
              </a:rPr>
              <a:t>Any incentives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1422" tIns="45711" rIns="91422" bIns="45711" rtlCol="0" anchor="ctr">
            <a:normAutofit/>
          </a:bodyPr>
          <a:lstStyle/>
          <a:p>
            <a:pPr eaLnBrk="1" hangingPunct="1"/>
            <a:r>
              <a:rPr lang="en-US" altLang="en-US" b="1" i="1" dirty="0">
                <a:solidFill>
                  <a:schemeClr val="tx2"/>
                </a:solidFill>
              </a:rPr>
              <a:t>STEP 9:</a:t>
            </a:r>
            <a:r>
              <a:rPr lang="en-US" altLang="en-US" dirty="0"/>
              <a:t> Develop Recruiting Message or Script</a:t>
            </a:r>
          </a:p>
        </p:txBody>
      </p:sp>
    </p:spTree>
    <p:extLst>
      <p:ext uri="{BB962C8B-B14F-4D97-AF65-F5344CB8AC3E}">
        <p14:creationId xmlns:p14="http://schemas.microsoft.com/office/powerpoint/2010/main" val="1524997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1422" tIns="45711" rIns="91422" bIns="45711" rtlCol="0" anchor="ctr">
            <a:normAutofit/>
          </a:bodyPr>
          <a:lstStyle/>
          <a:p>
            <a:pPr eaLnBrk="1" hangingPunct="1"/>
            <a:r>
              <a:rPr lang="en-US" altLang="en-US" sz="3700" b="1" i="1" dirty="0">
                <a:solidFill>
                  <a:schemeClr val="tx2"/>
                </a:solidFill>
              </a:rPr>
              <a:t>STEP 10:</a:t>
            </a:r>
            <a:r>
              <a:rPr lang="en-US" altLang="en-US" sz="3700" dirty="0"/>
              <a:t> Reexamine Steps 1-9, Pretest Questionnaire, and Revise If Necessary</a:t>
            </a:r>
          </a:p>
        </p:txBody>
      </p:sp>
      <p:sp>
        <p:nvSpPr>
          <p:cNvPr id="7987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900" dirty="0"/>
              <a:t>Developing a questionnaire is a VERY difficult process. It normally requires </a:t>
            </a:r>
            <a:r>
              <a:rPr lang="en-US" altLang="en-US" sz="2900" b="1" i="1" dirty="0"/>
              <a:t>several </a:t>
            </a:r>
            <a:r>
              <a:rPr lang="en-US" altLang="en-US" sz="2900" dirty="0"/>
              <a:t>revisions of the data collection form.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810435" y="3352800"/>
            <a:ext cx="7552765" cy="23622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PRETEST</a:t>
            </a:r>
          </a:p>
          <a:p>
            <a:pPr marL="457200" lvl="1" indent="0">
              <a:buNone/>
            </a:pPr>
            <a:r>
              <a:rPr lang="en-US" dirty="0"/>
              <a:t>Use of a questionnaire (or observation form) on a trial basis in a small pilot study to determine how well the questionnaire (or observation form) works.</a:t>
            </a:r>
          </a:p>
        </p:txBody>
      </p:sp>
    </p:spTree>
    <p:extLst>
      <p:ext uri="{BB962C8B-B14F-4D97-AF65-F5344CB8AC3E}">
        <p14:creationId xmlns:p14="http://schemas.microsoft.com/office/powerpoint/2010/main" val="8532090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Pretesting</a:t>
            </a:r>
          </a:p>
        </p:txBody>
      </p:sp>
      <p:sp>
        <p:nvSpPr>
          <p:cNvPr id="8089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900"/>
              <a:t>The real test of a questionnaire is how it performs under actual conditions of data collection.</a:t>
            </a:r>
          </a:p>
          <a:p>
            <a:pPr eaLnBrk="1" hangingPunct="1"/>
            <a:r>
              <a:rPr lang="en-US" altLang="en-US" sz="2900"/>
              <a:t>Data collection should NEVER begin until you have pretested – and probably revised again – the questionnaire.</a:t>
            </a:r>
          </a:p>
        </p:txBody>
      </p:sp>
    </p:spTree>
    <p:extLst>
      <p:ext uri="{BB962C8B-B14F-4D97-AF65-F5344CB8AC3E}">
        <p14:creationId xmlns:p14="http://schemas.microsoft.com/office/powerpoint/2010/main" val="29156857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 will start working on your team survey to be administered through Qualtrics!</a:t>
            </a:r>
          </a:p>
        </p:txBody>
      </p:sp>
    </p:spTree>
    <p:extLst>
      <p:ext uri="{BB962C8B-B14F-4D97-AF65-F5344CB8AC3E}">
        <p14:creationId xmlns:p14="http://schemas.microsoft.com/office/powerpoint/2010/main" val="387851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6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XU_PPTtemplate2" id="{0469F02D-B852-2749-917C-AD4BF6465C21}" vid="{F25CEA40-8609-7F4F-BE1D-8B08452F0A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xu-powerpoint-template3</Template>
  <TotalTime>1429</TotalTime>
  <Words>1628</Words>
  <Application>Microsoft Office PowerPoint</Application>
  <PresentationFormat>Widescreen</PresentationFormat>
  <Paragraphs>220</Paragraphs>
  <Slides>39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Aharoni</vt:lpstr>
      <vt:lpstr>Arial</vt:lpstr>
      <vt:lpstr>Calibri</vt:lpstr>
      <vt:lpstr>Calibri Light</vt:lpstr>
      <vt:lpstr>Wingdings</vt:lpstr>
      <vt:lpstr>Office Theme</vt:lpstr>
      <vt:lpstr>Designing the Questionnaire</vt:lpstr>
      <vt:lpstr>Some updates to know …</vt:lpstr>
      <vt:lpstr>Project Milestones</vt:lpstr>
      <vt:lpstr>Student Learning Objectives</vt:lpstr>
      <vt:lpstr>Steps to create a questionnaire</vt:lpstr>
      <vt:lpstr>STEP 1: Specify What Information Will Be Sought</vt:lpstr>
      <vt:lpstr>Probing Application</vt:lpstr>
      <vt:lpstr>STEP 2: Determine Method of Administration</vt:lpstr>
      <vt:lpstr>Types of Control-Depends on Method</vt:lpstr>
      <vt:lpstr>STEP 3: Determine Content of Individual Questions</vt:lpstr>
      <vt:lpstr>PowerPoint Presentation</vt:lpstr>
      <vt:lpstr>Common Recall Problems</vt:lpstr>
      <vt:lpstr>Handling Sensitive Questions</vt:lpstr>
      <vt:lpstr>Counterbiasing Statement</vt:lpstr>
      <vt:lpstr>STEP 4: Determine Form of Response to Each Question</vt:lpstr>
      <vt:lpstr>Closed-Ended Questions</vt:lpstr>
      <vt:lpstr>Closed-Ended Questions</vt:lpstr>
      <vt:lpstr>BAD Questions</vt:lpstr>
      <vt:lpstr>Open-Ended Questions</vt:lpstr>
      <vt:lpstr>PowerPoint Presentation</vt:lpstr>
      <vt:lpstr>PowerPoint Presentation</vt:lpstr>
      <vt:lpstr>Determine Wording of Each Question</vt:lpstr>
      <vt:lpstr>Avoid Ambiguous Words and Questions</vt:lpstr>
      <vt:lpstr>Some Problem Words: Be Careful!</vt:lpstr>
      <vt:lpstr>Avoid Leading Questions</vt:lpstr>
      <vt:lpstr>REMINDER: No Advocacy Research!</vt:lpstr>
      <vt:lpstr>Words that Might Signal Leading Questions</vt:lpstr>
      <vt:lpstr>PowerPoint Presentation</vt:lpstr>
      <vt:lpstr>PowerPoint Presentation</vt:lpstr>
      <vt:lpstr>Avoid Double-Barreled Questions</vt:lpstr>
      <vt:lpstr>Step 6: Prepare Dummy Tables</vt:lpstr>
      <vt:lpstr>STEP 7: Determine Question Sequence</vt:lpstr>
      <vt:lpstr>Question Sequence cont…</vt:lpstr>
      <vt:lpstr>STEP 8: Determine Appearance of Questionnaire</vt:lpstr>
      <vt:lpstr>STEP 9: Develop Recruiting Message or Script</vt:lpstr>
      <vt:lpstr>STEP 10: Reexamine Steps 1-9, Pretest Questionnaire, and Revise If Necessary</vt:lpstr>
      <vt:lpstr>Pretesting</vt:lpstr>
      <vt:lpstr>Next Time</vt:lpstr>
      <vt:lpstr>PowerPoint Presentation</vt:lpstr>
    </vt:vector>
  </TitlesOfParts>
  <Company>Xavier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Strategy</dc:title>
  <dc:creator>Beck, Scott</dc:creator>
  <cp:lastModifiedBy>Beck, Scott</cp:lastModifiedBy>
  <cp:revision>89</cp:revision>
  <cp:lastPrinted>2020-08-26T16:29:50Z</cp:lastPrinted>
  <dcterms:created xsi:type="dcterms:W3CDTF">2020-06-29T15:54:52Z</dcterms:created>
  <dcterms:modified xsi:type="dcterms:W3CDTF">2025-03-18T13:46:35Z</dcterms:modified>
</cp:coreProperties>
</file>